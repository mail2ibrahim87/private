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Delight and the purpose: a decontamination approach tailored to OQ Base Industries – Salalah.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Site-specific contaminants and focus. Unit details are confirmed in a joint site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Steam is introduced first; the process vapour path is shown in light blue. Contaminants are released from the column internals.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|  Decontamination – OQ Base Industries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2743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for OQ Base Industries</a:t>
            </a:r>
            <a:endParaRPr lang="en-US" sz="4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Salalah, Dhofar</a:t>
            </a:r>
            <a:endParaRPr lang="en-US" sz="1800" dirty="0"/>
          </a:p>
        </p:txBody>
      </p:sp>
      <p:sp>
        <p:nvSpPr>
          <p:cNvPr id="8" name="t_6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_1"/>
          <p:cNvSpPr txBox="1"/>
          <p:nvPr/>
        </p:nvSpPr>
        <p:spPr>
          <a:xfrm>
            <a:off x="68580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_2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731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_4"/>
          <p:cNvSpPr txBox="1"/>
          <p:nvPr/>
        </p:nvSpPr>
        <p:spPr>
          <a:xfrm>
            <a:off x="1737360" y="1847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and your challenges</a:t>
            </a:r>
            <a:endParaRPr lang="en-US" sz="2200" dirty="0"/>
          </a:p>
        </p:txBody>
      </p:sp>
      <p:sp>
        <p:nvSpPr>
          <p:cNvPr id="7" name="s_5"/>
          <p:cNvSpPr/>
          <p:nvPr/>
        </p:nvSpPr>
        <p:spPr>
          <a:xfrm>
            <a:off x="731520" y="278892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73152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_7"/>
          <p:cNvSpPr txBox="1"/>
          <p:nvPr/>
        </p:nvSpPr>
        <p:spPr>
          <a:xfrm>
            <a:off x="1737360" y="28986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methods and chemistry</a:t>
            </a:r>
            <a:endParaRPr lang="en-US" sz="2200" dirty="0"/>
          </a:p>
        </p:txBody>
      </p:sp>
      <p:sp>
        <p:nvSpPr>
          <p:cNvPr id="10" name="s_8"/>
          <p:cNvSpPr/>
          <p:nvPr/>
        </p:nvSpPr>
        <p:spPr>
          <a:xfrm>
            <a:off x="731520" y="3840480"/>
            <a:ext cx="731520" cy="73152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73152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17373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 Base Industries units we decontaminate</a:t>
            </a:r>
            <a:endParaRPr lang="en-US" sz="2200" dirty="0"/>
          </a:p>
        </p:txBody>
      </p:sp>
      <p:sp>
        <p:nvSpPr>
          <p:cNvPr id="13" name="s_11"/>
          <p:cNvSpPr/>
          <p:nvPr/>
        </p:nvSpPr>
        <p:spPr>
          <a:xfrm>
            <a:off x="731520" y="4892040"/>
            <a:ext cx="731520" cy="73152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731520" y="4892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_13"/>
          <p:cNvSpPr txBox="1"/>
          <p:nvPr/>
        </p:nvSpPr>
        <p:spPr>
          <a:xfrm>
            <a:off x="1737360" y="5001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monitoring and why Delight</a:t>
            </a:r>
            <a:endParaRPr lang="en-US" sz="22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and your challenges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OQ Base Industries needs before equipment is opened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 Base Industries: what has to be removed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417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82296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in Salalah: LPG extraction and fractionation, with treating, dehydration and LPG storage.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82296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Salalah, Dhofar</a:t>
            </a:r>
            <a:endParaRPr lang="en-US" sz="1400" dirty="0"/>
          </a:p>
        </p:txBody>
      </p:sp>
      <p:sp>
        <p:nvSpPr>
          <p:cNvPr id="8" name="t_6"/>
          <p:cNvSpPr txBox="1"/>
          <p:nvPr/>
        </p:nvSpPr>
        <p:spPr>
          <a:xfrm>
            <a:off x="6126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61264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0" name="t_8"/>
          <p:cNvSpPr txBox="1"/>
          <p:nvPr/>
        </p:nvSpPr>
        <p:spPr>
          <a:xfrm>
            <a:off x="63093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(LPG &amp; condensate)</a:t>
            </a:r>
            <a:endParaRPr lang="en-US" sz="1400" dirty="0"/>
          </a:p>
        </p:txBody>
      </p:sp>
      <p:sp>
        <p:nvSpPr>
          <p:cNvPr id="11" name="s_9"/>
          <p:cNvSpPr/>
          <p:nvPr/>
        </p:nvSpPr>
        <p:spPr>
          <a:xfrm>
            <a:off x="8869680" y="182880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2" name="t_10"/>
          <p:cNvSpPr txBox="1"/>
          <p:nvPr/>
        </p:nvSpPr>
        <p:spPr>
          <a:xfrm>
            <a:off x="905256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264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4" name="t_12"/>
          <p:cNvSpPr txBox="1"/>
          <p:nvPr/>
        </p:nvSpPr>
        <p:spPr>
          <a:xfrm>
            <a:off x="63093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(traces)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8869680" y="2578608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2700">
            <a:solidFill>
              <a:srgbClr val="BFE3C4"/>
            </a:solidFill>
            <a:prstDash val="solid"/>
          </a:ln>
        </p:spPr>
      </p:sp>
      <p:sp>
        <p:nvSpPr>
          <p:cNvPr id="16" name="t_14"/>
          <p:cNvSpPr txBox="1"/>
          <p:nvPr/>
        </p:nvSpPr>
        <p:spPr>
          <a:xfrm>
            <a:off x="9052560" y="25786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400" dirty="0"/>
          </a:p>
        </p:txBody>
      </p:sp>
      <p:sp>
        <p:nvSpPr>
          <p:cNvPr id="17" name="s_15"/>
          <p:cNvSpPr/>
          <p:nvPr/>
        </p:nvSpPr>
        <p:spPr>
          <a:xfrm>
            <a:off x="6126480" y="3328416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12700">
            <a:solidFill>
              <a:srgbClr val="C6DDF0"/>
            </a:solidFill>
            <a:prstDash val="solid"/>
          </a:ln>
        </p:spPr>
      </p:sp>
      <p:sp>
        <p:nvSpPr>
          <p:cNvPr id="18" name="t_16"/>
          <p:cNvSpPr txBox="1"/>
          <p:nvPr/>
        </p:nvSpPr>
        <p:spPr>
          <a:xfrm>
            <a:off x="630936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&amp; glycol residues</a:t>
            </a:r>
            <a:endParaRPr lang="en-US" sz="1400" dirty="0"/>
          </a:p>
        </p:txBody>
      </p:sp>
      <p:sp>
        <p:nvSpPr>
          <p:cNvPr id="19" name="s_17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AF6EC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Gas-freeing LPG and fractionation equipment quickly, with odour (mercaptan) control near the community.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decontamination?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548640" y="13258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prepares process equipment for safe entry and maintenance as quickly as possible – removing toxic and flammable gases, pyrophoric deposits and hydrocarbons before the equipment is opened.</a:t>
            </a:r>
            <a:endParaRPr lang="en-US" sz="1800" dirty="0"/>
          </a:p>
        </p:txBody>
      </p:sp>
      <p:sp>
        <p:nvSpPr>
          <p:cNvPr id="4" name="t_2"/>
          <p:cNvSpPr txBox="1"/>
          <p:nvPr/>
        </p:nvSpPr>
        <p:spPr>
          <a:xfrm>
            <a:off x="54864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challenges at OQ Base Industries: LEL (LPG &amp; condensate), Mercaptans, H₂S (traces), Pyrophoric FeS, Amine &amp; glycol residues.</a:t>
            </a:r>
            <a:endParaRPr lang="en-US" sz="1500" dirty="0"/>
          </a:p>
        </p:txBody>
      </p:sp>
      <p:sp>
        <p:nvSpPr>
          <p:cNvPr id="5" name="t_3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ELEMENTS WE PLAN FOR</a:t>
            </a:r>
            <a:endParaRPr lang="en-US" sz="1500" dirty="0"/>
          </a:p>
        </p:txBody>
      </p:sp>
      <p:sp>
        <p:nvSpPr>
          <p:cNvPr id="6" name="s_4"/>
          <p:cNvSpPr/>
          <p:nvPr/>
        </p:nvSpPr>
        <p:spPr>
          <a:xfrm>
            <a:off x="118872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7" name="i_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4000500"/>
            <a:ext cx="502920" cy="502920"/>
          </a:xfrm>
          <a:prstGeom prst="rect">
            <a:avLst/>
          </a:prstGeom>
        </p:spPr>
      </p:pic>
      <p:sp>
        <p:nvSpPr>
          <p:cNvPr id="8" name="t_6"/>
          <p:cNvSpPr txBox="1"/>
          <p:nvPr/>
        </p:nvSpPr>
        <p:spPr>
          <a:xfrm>
            <a:off x="86868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of application</a:t>
            </a:r>
            <a:endParaRPr lang="en-US" sz="1400" dirty="0"/>
          </a:p>
        </p:txBody>
      </p:sp>
      <p:sp>
        <p:nvSpPr>
          <p:cNvPr id="9" name="s_7"/>
          <p:cNvSpPr/>
          <p:nvPr/>
        </p:nvSpPr>
        <p:spPr>
          <a:xfrm>
            <a:off x="342900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000500"/>
            <a:ext cx="502920" cy="5029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10896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time</a:t>
            </a:r>
            <a:endParaRPr lang="en-US" sz="1400" dirty="0"/>
          </a:p>
        </p:txBody>
      </p:sp>
      <p:sp>
        <p:nvSpPr>
          <p:cNvPr id="12" name="s_10"/>
          <p:cNvSpPr/>
          <p:nvPr/>
        </p:nvSpPr>
        <p:spPr>
          <a:xfrm>
            <a:off x="566928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740" y="4000500"/>
            <a:ext cx="502920" cy="50292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534924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cleaning needs</a:t>
            </a:r>
            <a:endParaRPr lang="en-US" sz="1400" dirty="0"/>
          </a:p>
        </p:txBody>
      </p:sp>
      <p:sp>
        <p:nvSpPr>
          <p:cNvPr id="15" name="s_13"/>
          <p:cNvSpPr/>
          <p:nvPr/>
        </p:nvSpPr>
        <p:spPr>
          <a:xfrm>
            <a:off x="7909560" y="3749040"/>
            <a:ext cx="1005840" cy="10058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4000500"/>
            <a:ext cx="502920" cy="50292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758952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requirements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10149840" y="3749040"/>
            <a:ext cx="1005840" cy="10058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9" name="i_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0" y="4000500"/>
            <a:ext cx="502920" cy="502920"/>
          </a:xfrm>
          <a:prstGeom prst="rect">
            <a:avLst/>
          </a:prstGeom>
        </p:spPr>
      </p:pic>
      <p:sp>
        <p:nvSpPr>
          <p:cNvPr id="20" name="t_18"/>
          <p:cNvSpPr txBox="1"/>
          <p:nvPr/>
        </p:nvSpPr>
        <p:spPr>
          <a:xfrm>
            <a:off x="9829800" y="4892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effluent quality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 and break up the rest.</a:t>
            </a:r>
            <a:endParaRPr lang="en-US" sz="1500" dirty="0"/>
          </a:p>
        </p:txBody>
      </p:sp>
      <p:sp>
        <p:nvSpPr>
          <p:cNvPr id="8" name="s_6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10" name="t_8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_9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pyrophoric iron sulphide (FeS) and H₂S.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sp>
        <p:nvSpPr>
          <p:cNvPr id="15" name="t_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_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flammable hydrocarbon gases (LEL), benzene and H₂S safely.</a:t>
            </a:r>
            <a:endParaRPr lang="en-US" sz="1500" dirty="0"/>
          </a:p>
        </p:txBody>
      </p:sp>
      <p:sp>
        <p:nvSpPr>
          <p:cNvPr id="18" name="s_16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_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effluent can be handled and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Simultaneous treatment in one application</a:t>
            </a:r>
            <a:endParaRPr lang="en-US" sz="2800" dirty="0"/>
          </a:p>
        </p:txBody>
      </p:sp>
      <p:sp>
        <p:nvSpPr>
          <p:cNvPr id="3" name="t_1"/>
          <p:cNvSpPr txBox="1"/>
          <p:nvPr/>
        </p:nvSpPr>
        <p:spPr>
          <a:xfrm>
            <a:off x="685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500" dirty="0"/>
          </a:p>
        </p:txBody>
      </p:sp>
      <p:sp>
        <p:nvSpPr>
          <p:cNvPr id="4" name="s_2"/>
          <p:cNvSpPr/>
          <p:nvPr/>
        </p:nvSpPr>
        <p:spPr>
          <a:xfrm>
            <a:off x="8686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25146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2697480" y="2103120"/>
            <a:ext cx="1234440" cy="1463040"/>
          </a:xfrm>
          <a:prstGeom prst="downArrow">
            <a:avLst/>
          </a:prstGeom>
          <a:solidFill>
            <a:srgbClr val="0C74BC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25146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Gas-free</a:t>
            </a:r>
            <a:endParaRPr lang="en-US" sz="1400" dirty="0"/>
          </a:p>
        </p:txBody>
      </p:sp>
      <p:sp>
        <p:nvSpPr>
          <p:cNvPr id="9" name="t_7"/>
          <p:cNvSpPr txBox="1"/>
          <p:nvPr/>
        </p:nvSpPr>
        <p:spPr>
          <a:xfrm>
            <a:off x="43434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&amp; mercaptans</a:t>
            </a:r>
            <a:endParaRPr lang="en-US" sz="1500" dirty="0"/>
          </a:p>
        </p:txBody>
      </p:sp>
      <p:sp>
        <p:nvSpPr>
          <p:cNvPr id="10" name="s_8"/>
          <p:cNvSpPr/>
          <p:nvPr/>
        </p:nvSpPr>
        <p:spPr>
          <a:xfrm>
            <a:off x="45262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1" name="t_9"/>
          <p:cNvSpPr txBox="1"/>
          <p:nvPr/>
        </p:nvSpPr>
        <p:spPr>
          <a:xfrm>
            <a:off x="43434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entry limit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1722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500" dirty="0"/>
          </a:p>
        </p:txBody>
      </p:sp>
      <p:sp>
        <p:nvSpPr>
          <p:cNvPr id="13" name="s_11"/>
          <p:cNvSpPr/>
          <p:nvPr/>
        </p:nvSpPr>
        <p:spPr>
          <a:xfrm>
            <a:off x="6355080" y="2103120"/>
            <a:ext cx="1234440" cy="1463040"/>
          </a:xfrm>
          <a:prstGeom prst="downArrow">
            <a:avLst/>
          </a:prstGeom>
          <a:solidFill>
            <a:srgbClr val="3AB54A"/>
          </a:solidFill>
          <a:ln/>
        </p:spPr>
      </p:sp>
      <p:sp>
        <p:nvSpPr>
          <p:cNvPr id="14" name="t_12"/>
          <p:cNvSpPr txBox="1"/>
          <p:nvPr/>
        </p:nvSpPr>
        <p:spPr>
          <a:xfrm>
            <a:off x="61722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Neutralised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80010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organics</a:t>
            </a:r>
            <a:endParaRPr lang="en-US" sz="1500" dirty="0"/>
          </a:p>
        </p:txBody>
      </p:sp>
      <p:sp>
        <p:nvSpPr>
          <p:cNvPr id="16" name="s_14"/>
          <p:cNvSpPr/>
          <p:nvPr/>
        </p:nvSpPr>
        <p:spPr>
          <a:xfrm>
            <a:off x="81838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17" name="t_15"/>
          <p:cNvSpPr txBox="1"/>
          <p:nvPr/>
        </p:nvSpPr>
        <p:spPr>
          <a:xfrm>
            <a:off x="80010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Emulsified / removed</a:t>
            </a:r>
            <a:endParaRPr lang="en-US" sz="1400" dirty="0"/>
          </a:p>
        </p:txBody>
      </p:sp>
      <p:sp>
        <p:nvSpPr>
          <p:cNvPr id="18" name="t_16"/>
          <p:cNvSpPr txBox="1"/>
          <p:nvPr/>
        </p:nvSpPr>
        <p:spPr>
          <a:xfrm>
            <a:off x="9829800" y="13258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solids</a:t>
            </a:r>
            <a:endParaRPr lang="en-US" sz="1500" dirty="0"/>
          </a:p>
        </p:txBody>
      </p:sp>
      <p:sp>
        <p:nvSpPr>
          <p:cNvPr id="19" name="s_17"/>
          <p:cNvSpPr/>
          <p:nvPr/>
        </p:nvSpPr>
        <p:spPr>
          <a:xfrm>
            <a:off x="10012680" y="2103120"/>
            <a:ext cx="1234440" cy="1463040"/>
          </a:xfrm>
          <a:prstGeom prst="downArrow">
            <a:avLst/>
          </a:prstGeom>
          <a:solidFill>
            <a:srgbClr val="1F5F8B"/>
          </a:solidFill>
          <a:ln/>
        </p:spPr>
      </p:sp>
      <p:sp>
        <p:nvSpPr>
          <p:cNvPr id="20" name="t_18"/>
          <p:cNvSpPr txBox="1"/>
          <p:nvPr/>
        </p:nvSpPr>
        <p:spPr>
          <a:xfrm>
            <a:off x="9829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Conditioned</a:t>
            </a:r>
            <a:endParaRPr lang="en-US" sz="1400" dirty="0"/>
          </a:p>
        </p:txBody>
      </p:sp>
      <p:sp>
        <p:nvSpPr>
          <p:cNvPr id="21" name="s_19"/>
          <p:cNvSpPr/>
          <p:nvPr/>
        </p:nvSpPr>
        <p:spPr>
          <a:xfrm>
            <a:off x="685800" y="4434840"/>
            <a:ext cx="3429000" cy="0"/>
          </a:xfrm>
          <a:prstGeom prst="line">
            <a:avLst/>
          </a:prstGeom>
          <a:noFill/>
          <a:ln w="25400">
            <a:solidFill>
              <a:srgbClr val="0C74BC"/>
            </a:solidFill>
            <a:prstDash val="solid"/>
          </a:ln>
        </p:spPr>
      </p:sp>
      <p:sp>
        <p:nvSpPr>
          <p:cNvPr id="22" name="t_20"/>
          <p:cNvSpPr txBox="1"/>
          <p:nvPr/>
        </p:nvSpPr>
        <p:spPr>
          <a:xfrm>
            <a:off x="6858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23" name="s_21"/>
          <p:cNvSpPr/>
          <p:nvPr/>
        </p:nvSpPr>
        <p:spPr>
          <a:xfrm>
            <a:off x="4343400" y="4434840"/>
            <a:ext cx="3429000" cy="0"/>
          </a:xfrm>
          <a:prstGeom prst="line">
            <a:avLst/>
          </a:prstGeom>
          <a:noFill/>
          <a:ln w="25400">
            <a:solidFill>
              <a:srgbClr val="3AB54A"/>
            </a:solidFill>
            <a:prstDash val="solid"/>
          </a:ln>
        </p:spPr>
      </p:sp>
      <p:sp>
        <p:nvSpPr>
          <p:cNvPr id="24" name="t_22"/>
          <p:cNvSpPr txBox="1"/>
          <p:nvPr/>
        </p:nvSpPr>
        <p:spPr>
          <a:xfrm>
            <a:off x="43434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</a:t>
            </a:r>
            <a:endParaRPr lang="en-US" sz="1600" dirty="0"/>
          </a:p>
        </p:txBody>
      </p:sp>
      <p:sp>
        <p:nvSpPr>
          <p:cNvPr id="25" name="s_23"/>
          <p:cNvSpPr/>
          <p:nvPr/>
        </p:nvSpPr>
        <p:spPr>
          <a:xfrm>
            <a:off x="8001000" y="4434840"/>
            <a:ext cx="3429000" cy="0"/>
          </a:xfrm>
          <a:prstGeom prst="line">
            <a:avLst/>
          </a:prstGeom>
          <a:noFill/>
          <a:ln w="25400">
            <a:solidFill>
              <a:srgbClr val="1F5F8B"/>
            </a:solidFill>
            <a:prstDash val="solid"/>
          </a:ln>
        </p:spPr>
      </p:sp>
      <p:sp>
        <p:nvSpPr>
          <p:cNvPr id="26" name="t_24"/>
          <p:cNvSpPr txBox="1"/>
          <p:nvPr/>
        </p:nvSpPr>
        <p:spPr>
          <a:xfrm>
            <a:off x="8001000" y="4526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entry criteria are agreed with the client and confirmed by gas testing before handover.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7" grpId="0" animBg="1"/>
      <p:bldP spid="6" grpId="0" animBg="1"/>
      <p:bldP spid="8" grpId="0" animBg="1"/>
      <p:bldP spid="10" grpId="0" animBg="1"/>
      <p:bldP spid="9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15" grpId="0" animBg="1"/>
      <p:bldP spid="17" grpId="0" animBg="1"/>
      <p:bldP spid="19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 and chemistry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method for each piece of equipment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methods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78308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178308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carried by steam through existing steam-out lines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injection points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route to entry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6172200" y="13716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6446520" y="164592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840230"/>
            <a:ext cx="388620" cy="38862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7406640" y="17190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2000" dirty="0"/>
          </a:p>
        </p:txBody>
      </p:sp>
      <p:sp>
        <p:nvSpPr>
          <p:cNvPr id="12" name="t_10"/>
          <p:cNvSpPr txBox="1"/>
          <p:nvPr/>
        </p:nvSpPr>
        <p:spPr>
          <a:xfrm>
            <a:off x="7406640" y="228600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specific vessels, exchangers and piping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steam is not available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54864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178308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2000" dirty="0"/>
          </a:p>
        </p:txBody>
      </p:sp>
      <p:sp>
        <p:nvSpPr>
          <p:cNvPr id="17" name="t_15"/>
          <p:cNvSpPr txBox="1"/>
          <p:nvPr/>
        </p:nvSpPr>
        <p:spPr>
          <a:xfrm>
            <a:off x="178308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vessels with large volumes of sludge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steam + chemistry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6172200" y="384048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7406640" y="4187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/ post treatment</a:t>
            </a:r>
            <a:endParaRPr lang="en-US" sz="2000" dirty="0"/>
          </a:p>
        </p:txBody>
      </p:sp>
      <p:sp>
        <p:nvSpPr>
          <p:cNvPr id="22" name="t_20"/>
          <p:cNvSpPr txBox="1"/>
          <p:nvPr/>
        </p:nvSpPr>
        <p:spPr>
          <a:xfrm>
            <a:off x="7406640" y="475488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wash / viscosity flush of heavy circuits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 and packing pre-treatment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 post-rinse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t_39"/>
          <p:cNvSpPr txBox="1"/>
          <p:nvPr/>
        </p:nvSpPr>
        <p:spPr>
          <a:xfrm>
            <a:off x="548640" y="14173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optional pre-treatment, steam is introduced through the steam-out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injection points: exchangers, heaters, strippers and drums.</a:t>
            </a:r>
            <a:endParaRPr lang="en-US" sz="1500" dirty="0"/>
          </a:p>
        </p:txBody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4" name="s_42"/>
          <p:cNvSpPr/>
          <p:nvPr/>
        </p:nvSpPr>
        <p:spPr>
          <a:xfrm>
            <a:off x="4800600" y="201168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s_43"/>
          <p:cNvSpPr/>
          <p:nvPr/>
        </p:nvSpPr>
        <p:spPr>
          <a:xfrm>
            <a:off x="5257800" y="265176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6" name="s_44"/>
          <p:cNvSpPr/>
          <p:nvPr/>
        </p:nvSpPr>
        <p:spPr>
          <a:xfrm>
            <a:off x="4892040" y="347472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7" name="s_45"/>
          <p:cNvSpPr/>
          <p:nvPr/>
        </p:nvSpPr>
        <p:spPr>
          <a:xfrm>
            <a:off x="5303520" y="42062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8" name="s_46"/>
          <p:cNvSpPr/>
          <p:nvPr/>
        </p:nvSpPr>
        <p:spPr>
          <a:xfrm>
            <a:off x="4846320" y="48463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s_47"/>
          <p:cNvSpPr/>
          <p:nvPr/>
        </p:nvSpPr>
        <p:spPr>
          <a:xfrm>
            <a:off x="5257800" y="521208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0" name="s_48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1" name="s_49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2" name="s_50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53" name="s_51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54" name="s_52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572000" y="1600200"/>
            <a:ext cx="1097280" cy="4114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4617720" y="20116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4617720" y="24231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4617720" y="28346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4617720" y="32461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461772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4617720" y="406908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4617720" y="448056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4617720" y="489204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4617720" y="530352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6675120" y="1783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>
            <a:off x="6867144" y="173736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_13"/>
          <p:cNvSpPr/>
          <p:nvPr/>
        </p:nvSpPr>
        <p:spPr>
          <a:xfrm>
            <a:off x="6949440" y="192024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6949440" y="205740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6949440" y="2194560"/>
            <a:ext cx="138988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8778240" y="324612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9" name="s_17"/>
          <p:cNvSpPr/>
          <p:nvPr/>
        </p:nvSpPr>
        <p:spPr>
          <a:xfrm>
            <a:off x="9098280" y="45262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 rot="5400000">
            <a:off x="9221724" y="462915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21" name="t_19"/>
          <p:cNvSpPr txBox="1"/>
          <p:nvPr/>
        </p:nvSpPr>
        <p:spPr>
          <a:xfrm>
            <a:off x="4572000" y="5779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22" name="t_20"/>
          <p:cNvSpPr txBox="1"/>
          <p:nvPr/>
        </p:nvSpPr>
        <p:spPr>
          <a:xfrm>
            <a:off x="6675120" y="2377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Condenser</a:t>
            </a:r>
            <a:endParaRPr lang="en-US" sz="1200" dirty="0"/>
          </a:p>
        </p:txBody>
      </p:sp>
      <p:sp>
        <p:nvSpPr>
          <p:cNvPr id="23" name="t_21"/>
          <p:cNvSpPr txBox="1"/>
          <p:nvPr/>
        </p:nvSpPr>
        <p:spPr>
          <a:xfrm>
            <a:off x="877824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Reflux drum</a:t>
            </a:r>
            <a:endParaRPr lang="en-US" sz="1200" dirty="0"/>
          </a:p>
        </p:txBody>
      </p:sp>
      <p:sp>
        <p:nvSpPr>
          <p:cNvPr id="24" name="s_22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9299448" y="3931920"/>
            <a:ext cx="0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H="1">
            <a:off x="6400800" y="4727448"/>
            <a:ext cx="26974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V="1">
            <a:off x="6400800" y="2377440"/>
            <a:ext cx="0" cy="23500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 flipH="1">
            <a:off x="5669280" y="2377440"/>
            <a:ext cx="7315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10058400" y="499262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_32"/>
          <p:cNvSpPr txBox="1"/>
          <p:nvPr/>
        </p:nvSpPr>
        <p:spPr>
          <a:xfrm>
            <a:off x="10305288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5" name="s_33"/>
          <p:cNvSpPr/>
          <p:nvPr/>
        </p:nvSpPr>
        <p:spPr>
          <a:xfrm>
            <a:off x="10058400" y="528523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_34"/>
          <p:cNvSpPr txBox="1"/>
          <p:nvPr/>
        </p:nvSpPr>
        <p:spPr>
          <a:xfrm>
            <a:off x="10305288" y="5230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7" name="s_35"/>
          <p:cNvSpPr/>
          <p:nvPr/>
        </p:nvSpPr>
        <p:spPr>
          <a:xfrm>
            <a:off x="10058400" y="557784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_36"/>
          <p:cNvSpPr txBox="1"/>
          <p:nvPr/>
        </p:nvSpPr>
        <p:spPr>
          <a:xfrm>
            <a:off x="10305288" y="5522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9" name="s_37"/>
          <p:cNvSpPr/>
          <p:nvPr/>
        </p:nvSpPr>
        <p:spPr>
          <a:xfrm>
            <a:off x="10058400" y="587044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0" name="t_38"/>
          <p:cNvSpPr txBox="1"/>
          <p:nvPr/>
        </p:nvSpPr>
        <p:spPr>
          <a:xfrm>
            <a:off x="10305288" y="5815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41" name="s_39"/>
          <p:cNvSpPr/>
          <p:nvPr/>
        </p:nvSpPr>
        <p:spPr>
          <a:xfrm>
            <a:off x="2743200" y="5440680"/>
            <a:ext cx="18288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42" name="t_40"/>
          <p:cNvSpPr txBox="1"/>
          <p:nvPr/>
        </p:nvSpPr>
        <p:spPr>
          <a:xfrm>
            <a:off x="2743200" y="5138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3" name="s_41"/>
          <p:cNvSpPr/>
          <p:nvPr/>
        </p:nvSpPr>
        <p:spPr>
          <a:xfrm flipV="1">
            <a:off x="5120640" y="1325880"/>
            <a:ext cx="0" cy="2743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4" name="s_42"/>
          <p:cNvSpPr/>
          <p:nvPr/>
        </p:nvSpPr>
        <p:spPr>
          <a:xfrm>
            <a:off x="5120640" y="1325880"/>
            <a:ext cx="246888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5" name="s_43"/>
          <p:cNvSpPr/>
          <p:nvPr/>
        </p:nvSpPr>
        <p:spPr>
          <a:xfrm>
            <a:off x="7589520" y="1325880"/>
            <a:ext cx="0" cy="45720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6" name="s_44"/>
          <p:cNvSpPr/>
          <p:nvPr/>
        </p:nvSpPr>
        <p:spPr>
          <a:xfrm>
            <a:off x="8503920" y="2057400"/>
            <a:ext cx="1143000" cy="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</a:ln>
        </p:spPr>
      </p:sp>
      <p:sp>
        <p:nvSpPr>
          <p:cNvPr id="47" name="s_45"/>
          <p:cNvSpPr/>
          <p:nvPr/>
        </p:nvSpPr>
        <p:spPr>
          <a:xfrm>
            <a:off x="9646920" y="2057400"/>
            <a:ext cx="0" cy="1188720"/>
          </a:xfrm>
          <a:prstGeom prst="line">
            <a:avLst/>
          </a:prstGeom>
          <a:noFill/>
          <a:ln w="50800">
            <a:solidFill>
              <a:srgbClr val="7FB8E3"/>
            </a:solidFill>
            <a:prstDash val="solid"/>
            <a:tailEnd type="triangle"/>
          </a:ln>
        </p:spPr>
      </p:sp>
      <p:sp>
        <p:nvSpPr>
          <p:cNvPr id="48" name="t_46"/>
          <p:cNvSpPr txBox="1"/>
          <p:nvPr/>
        </p:nvSpPr>
        <p:spPr>
          <a:xfrm>
            <a:off x="548640" y="14173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overhead is steaming, decon chemistry is injected into the steam line.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vapour-phase degreaser travels with the steam to every surface the steam reaches.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continues until gas tests meet the entry criteria.</a:t>
            </a:r>
            <a:endParaRPr lang="en-US" sz="1500" dirty="0"/>
          </a:p>
        </p:txBody>
      </p:sp>
      <p:sp>
        <p:nvSpPr>
          <p:cNvPr id="49" name="t_47"/>
          <p:cNvSpPr txBox="1"/>
          <p:nvPr/>
        </p:nvSpPr>
        <p:spPr>
          <a:xfrm>
            <a:off x="2743200" y="4160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50" name="s_48"/>
          <p:cNvSpPr/>
          <p:nvPr/>
        </p:nvSpPr>
        <p:spPr>
          <a:xfrm>
            <a:off x="3931920" y="4480560"/>
            <a:ext cx="0" cy="9144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51" name="s_49"/>
          <p:cNvSpPr/>
          <p:nvPr/>
        </p:nvSpPr>
        <p:spPr>
          <a:xfrm>
            <a:off x="7315200" y="11887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2" name="s_50"/>
          <p:cNvSpPr/>
          <p:nvPr/>
        </p:nvSpPr>
        <p:spPr>
          <a:xfrm>
            <a:off x="7863840" y="11887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53" name="s_51"/>
          <p:cNvSpPr/>
          <p:nvPr/>
        </p:nvSpPr>
        <p:spPr>
          <a:xfrm>
            <a:off x="9509760" y="246888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4" name="s_52"/>
          <p:cNvSpPr/>
          <p:nvPr/>
        </p:nvSpPr>
        <p:spPr>
          <a:xfrm>
            <a:off x="9509760" y="283464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5" name="s_53"/>
          <p:cNvSpPr/>
          <p:nvPr/>
        </p:nvSpPr>
        <p:spPr>
          <a:xfrm>
            <a:off x="6126480" y="534924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</p:sp>
      <p:sp>
        <p:nvSpPr>
          <p:cNvPr id="56" name="t_54"/>
          <p:cNvSpPr txBox="1"/>
          <p:nvPr/>
        </p:nvSpPr>
        <p:spPr>
          <a:xfrm>
            <a:off x="6126480" y="5349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Gas-free and pyrophoric-safe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application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4937760" y="2331720"/>
            <a:ext cx="5120640" cy="21945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394960" y="3977640"/>
            <a:ext cx="4206240" cy="292608"/>
          </a:xfrm>
          <a:prstGeom prst="rect">
            <a:avLst/>
          </a:prstGeom>
          <a:solidFill>
            <a:srgbClr val="8B6B4A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10195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6" name="t_4"/>
          <p:cNvSpPr txBox="1"/>
          <p:nvPr/>
        </p:nvSpPr>
        <p:spPr>
          <a:xfrm>
            <a:off x="548640" y="14173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filled above the sludge level.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injected at several points to heat the vessel.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 / degreaser added at temperature.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 continues until gas tests are met; vapours vented safely.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3886200" y="2743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</a:t>
            </a:r>
            <a:endParaRPr lang="en-US" sz="1200" dirty="0"/>
          </a:p>
        </p:txBody>
      </p:sp>
      <p:sp>
        <p:nvSpPr>
          <p:cNvPr id="8" name="s_6"/>
          <p:cNvSpPr/>
          <p:nvPr/>
        </p:nvSpPr>
        <p:spPr>
          <a:xfrm>
            <a:off x="3931920" y="31089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9" name="s_7"/>
          <p:cNvSpPr/>
          <p:nvPr/>
        </p:nvSpPr>
        <p:spPr>
          <a:xfrm>
            <a:off x="5074920" y="3063240"/>
            <a:ext cx="4846320" cy="1325880"/>
          </a:xfrm>
          <a:prstGeom prst="roundRect">
            <a:avLst>
              <a:gd name="adj" fmla="val 41379"/>
            </a:avLst>
          </a:prstGeom>
          <a:solidFill>
            <a:srgbClr val="BFDDF2">
              <a:alpha val="80000"/>
            </a:srgbClr>
          </a:solidFill>
          <a:ln/>
        </p:spPr>
      </p:sp>
      <p:sp>
        <p:nvSpPr>
          <p:cNvPr id="10" name="s_8"/>
          <p:cNvSpPr/>
          <p:nvPr/>
        </p:nvSpPr>
        <p:spPr>
          <a:xfrm flipV="1">
            <a:off x="603504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1" name="s_9"/>
          <p:cNvSpPr/>
          <p:nvPr/>
        </p:nvSpPr>
        <p:spPr>
          <a:xfrm flipV="1">
            <a:off x="749808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2" name="s_10"/>
          <p:cNvSpPr/>
          <p:nvPr/>
        </p:nvSpPr>
        <p:spPr>
          <a:xfrm flipV="1">
            <a:off x="8961120" y="4526280"/>
            <a:ext cx="0" cy="8686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13" name="t_11"/>
          <p:cNvSpPr txBox="1"/>
          <p:nvPr/>
        </p:nvSpPr>
        <p:spPr>
          <a:xfrm>
            <a:off x="566928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713232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5" name="t_13"/>
          <p:cNvSpPr txBox="1"/>
          <p:nvPr/>
        </p:nvSpPr>
        <p:spPr>
          <a:xfrm>
            <a:off x="8595360" y="5440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16" name="t_14"/>
          <p:cNvSpPr txBox="1"/>
          <p:nvPr/>
        </p:nvSpPr>
        <p:spPr>
          <a:xfrm>
            <a:off x="694944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17" name="s_15"/>
          <p:cNvSpPr/>
          <p:nvPr/>
        </p:nvSpPr>
        <p:spPr>
          <a:xfrm>
            <a:off x="7680960" y="1645920"/>
            <a:ext cx="0" cy="68580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18" name="s_16"/>
          <p:cNvSpPr/>
          <p:nvPr/>
        </p:nvSpPr>
        <p:spPr>
          <a:xfrm flipV="1">
            <a:off x="9418320" y="1463040"/>
            <a:ext cx="0" cy="105156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</p:sp>
      <p:sp>
        <p:nvSpPr>
          <p:cNvPr id="19" name="t_17"/>
          <p:cNvSpPr txBox="1"/>
          <p:nvPr/>
        </p:nvSpPr>
        <p:spPr>
          <a:xfrm>
            <a:off x="955548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</a:t>
            </a:r>
            <a:endParaRPr lang="en-US" sz="1200" dirty="0"/>
          </a:p>
        </p:txBody>
      </p:sp>
      <p:sp>
        <p:nvSpPr>
          <p:cNvPr id="20" name="s_18"/>
          <p:cNvSpPr/>
          <p:nvPr/>
        </p:nvSpPr>
        <p:spPr>
          <a:xfrm>
            <a:off x="539496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573328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607161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3" name="s_21"/>
          <p:cNvSpPr/>
          <p:nvPr/>
        </p:nvSpPr>
        <p:spPr>
          <a:xfrm>
            <a:off x="640994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4" name="s_22"/>
          <p:cNvSpPr/>
          <p:nvPr/>
        </p:nvSpPr>
        <p:spPr>
          <a:xfrm>
            <a:off x="674827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708660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6" name="s_24"/>
          <p:cNvSpPr/>
          <p:nvPr/>
        </p:nvSpPr>
        <p:spPr>
          <a:xfrm>
            <a:off x="742492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>
            <a:off x="776325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>
            <a:off x="81015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29" name="s_27"/>
          <p:cNvSpPr/>
          <p:nvPr/>
        </p:nvSpPr>
        <p:spPr>
          <a:xfrm>
            <a:off x="8439912" y="3630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>
            <a:off x="8778240" y="32461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>
            <a:off x="9116568" y="35021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2" name="s_30"/>
          <p:cNvSpPr/>
          <p:nvPr/>
        </p:nvSpPr>
        <p:spPr>
          <a:xfrm>
            <a:off x="9454896" y="3758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3" name="s_31"/>
          <p:cNvSpPr/>
          <p:nvPr/>
        </p:nvSpPr>
        <p:spPr>
          <a:xfrm>
            <a:off x="5586984" y="337413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</p:sp>
      <p:sp>
        <p:nvSpPr>
          <p:cNvPr id="34" name="s_32"/>
          <p:cNvSpPr/>
          <p:nvPr/>
        </p:nvSpPr>
        <p:spPr>
          <a:xfrm>
            <a:off x="10241280" y="503834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488168" y="4983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241280" y="533095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488168" y="5276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241280" y="562356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488168" y="5568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40" name="s_38"/>
          <p:cNvSpPr/>
          <p:nvPr/>
        </p:nvSpPr>
        <p:spPr>
          <a:xfrm>
            <a:off x="10241280" y="591616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1" name="t_39"/>
          <p:cNvSpPr txBox="1"/>
          <p:nvPr/>
        </p:nvSpPr>
        <p:spPr>
          <a:xfrm>
            <a:off x="10488168" y="5861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1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1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Circulation application – viscosity flush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120640" y="1463040"/>
            <a:ext cx="1005840" cy="3931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5166360" y="18999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5166360" y="23368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5166360" y="27736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5166360" y="321056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5166360" y="364744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5166360" y="40843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5166360" y="452120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5166360" y="495808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758952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7781544" y="3520440"/>
            <a:ext cx="10972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_12"/>
          <p:cNvSpPr/>
          <p:nvPr/>
        </p:nvSpPr>
        <p:spPr>
          <a:xfrm>
            <a:off x="7863840" y="370332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7863840" y="384048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7863840" y="3977640"/>
            <a:ext cx="157276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>
            <a:off x="8412480" y="54864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 rot="5400000">
            <a:off x="8535924" y="5589270"/>
            <a:ext cx="185166" cy="205740"/>
          </a:xfrm>
          <a:prstGeom prst="triangle">
            <a:avLst/>
          </a:prstGeom>
          <a:solidFill>
            <a:srgbClr val="94A3B8"/>
          </a:solidFill>
          <a:ln/>
        </p:spPr>
      </p:sp>
      <p:sp>
        <p:nvSpPr>
          <p:cNvPr id="19" name="t_17"/>
          <p:cNvSpPr txBox="1"/>
          <p:nvPr/>
        </p:nvSpPr>
        <p:spPr>
          <a:xfrm>
            <a:off x="3840480" y="54406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758952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shut down and de-inventoried under plant procedures.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stock / flushing oil circulated through the bottoms circuit and exchangers.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 added to penetrate and break down heavy deposits.</a:t>
            </a:r>
            <a:endParaRPr lang="en-US" sz="1500" dirty="0"/>
          </a:p>
        </p:txBody>
      </p:sp>
      <p:sp>
        <p:nvSpPr>
          <p:cNvPr id="22" name="t_20"/>
          <p:cNvSpPr txBox="1"/>
          <p:nvPr/>
        </p:nvSpPr>
        <p:spPr>
          <a:xfrm>
            <a:off x="6400800" y="4572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200" dirty="0"/>
          </a:p>
        </p:txBody>
      </p:sp>
      <p:sp>
        <p:nvSpPr>
          <p:cNvPr id="23" name="s_21"/>
          <p:cNvSpPr/>
          <p:nvPr/>
        </p:nvSpPr>
        <p:spPr>
          <a:xfrm>
            <a:off x="8613648" y="4892040"/>
            <a:ext cx="0" cy="5943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</p:sp>
      <p:sp>
        <p:nvSpPr>
          <p:cNvPr id="24" name="s_22"/>
          <p:cNvSpPr/>
          <p:nvPr/>
        </p:nvSpPr>
        <p:spPr>
          <a:xfrm>
            <a:off x="5623560" y="5394960"/>
            <a:ext cx="0" cy="29260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5" name="s_23"/>
          <p:cNvSpPr/>
          <p:nvPr/>
        </p:nvSpPr>
        <p:spPr>
          <a:xfrm>
            <a:off x="5623560" y="5687568"/>
            <a:ext cx="278892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6" name="s_24"/>
          <p:cNvSpPr/>
          <p:nvPr/>
        </p:nvSpPr>
        <p:spPr>
          <a:xfrm>
            <a:off x="8823960" y="5687568"/>
            <a:ext cx="12344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7" name="s_25"/>
          <p:cNvSpPr/>
          <p:nvPr/>
        </p:nvSpPr>
        <p:spPr>
          <a:xfrm flipV="1">
            <a:off x="10058400" y="3840480"/>
            <a:ext cx="0" cy="1847088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28" name="s_26"/>
          <p:cNvSpPr/>
          <p:nvPr/>
        </p:nvSpPr>
        <p:spPr>
          <a:xfrm flipH="1">
            <a:off x="9601200" y="3840480"/>
            <a:ext cx="45720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29" name="s_27"/>
          <p:cNvSpPr/>
          <p:nvPr/>
        </p:nvSpPr>
        <p:spPr>
          <a:xfrm flipH="1">
            <a:off x="6766560" y="3840480"/>
            <a:ext cx="8229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0" name="s_28"/>
          <p:cNvSpPr/>
          <p:nvPr/>
        </p:nvSpPr>
        <p:spPr>
          <a:xfrm flipV="1">
            <a:off x="6766560" y="2560320"/>
            <a:ext cx="0" cy="128016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</p:sp>
      <p:sp>
        <p:nvSpPr>
          <p:cNvPr id="31" name="s_29"/>
          <p:cNvSpPr/>
          <p:nvPr/>
        </p:nvSpPr>
        <p:spPr>
          <a:xfrm flipH="1">
            <a:off x="6126480" y="2560320"/>
            <a:ext cx="6400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</p:sp>
      <p:sp>
        <p:nvSpPr>
          <p:cNvPr id="32" name="s_30"/>
          <p:cNvSpPr/>
          <p:nvPr/>
        </p:nvSpPr>
        <p:spPr>
          <a:xfrm>
            <a:off x="10424160" y="1517904"/>
            <a:ext cx="155448" cy="1554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_31"/>
          <p:cNvSpPr txBox="1"/>
          <p:nvPr/>
        </p:nvSpPr>
        <p:spPr>
          <a:xfrm>
            <a:off x="10671048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34" name="s_32"/>
          <p:cNvSpPr/>
          <p:nvPr/>
        </p:nvSpPr>
        <p:spPr>
          <a:xfrm>
            <a:off x="10424160" y="1810512"/>
            <a:ext cx="155448" cy="1554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5" name="t_33"/>
          <p:cNvSpPr txBox="1"/>
          <p:nvPr/>
        </p:nvSpPr>
        <p:spPr>
          <a:xfrm>
            <a:off x="10671048" y="1755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36" name="s_34"/>
          <p:cNvSpPr/>
          <p:nvPr/>
        </p:nvSpPr>
        <p:spPr>
          <a:xfrm>
            <a:off x="10424160" y="2103120"/>
            <a:ext cx="155448" cy="1554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7" name="t_35"/>
          <p:cNvSpPr txBox="1"/>
          <p:nvPr/>
        </p:nvSpPr>
        <p:spPr>
          <a:xfrm>
            <a:off x="10671048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38" name="s_36"/>
          <p:cNvSpPr/>
          <p:nvPr/>
        </p:nvSpPr>
        <p:spPr>
          <a:xfrm>
            <a:off x="10424160" y="2395728"/>
            <a:ext cx="155448" cy="15544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9" name="t_37"/>
          <p:cNvSpPr txBox="1"/>
          <p:nvPr/>
        </p:nvSpPr>
        <p:spPr>
          <a:xfrm>
            <a:off x="10671048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5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5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50876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dissolves and lifts hydrocarbons; releases LEL and benzene for safe venting.</a:t>
            </a:r>
            <a:endParaRPr lang="en-US" sz="1300" dirty="0"/>
          </a:p>
        </p:txBody>
      </p:sp>
      <p:sp>
        <p:nvSpPr>
          <p:cNvPr id="8" name="t_6"/>
          <p:cNvSpPr txBox="1"/>
          <p:nvPr/>
        </p:nvSpPr>
        <p:spPr>
          <a:xfrm>
            <a:off x="7772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_7"/>
          <p:cNvSpPr/>
          <p:nvPr/>
        </p:nvSpPr>
        <p:spPr>
          <a:xfrm>
            <a:off x="429768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0" name="s_8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1" name="i_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48790"/>
            <a:ext cx="297180" cy="297180"/>
          </a:xfrm>
          <a:prstGeom prst="rect">
            <a:avLst/>
          </a:prstGeom>
        </p:spPr>
      </p:pic>
      <p:sp>
        <p:nvSpPr>
          <p:cNvPr id="12" name="t_10"/>
          <p:cNvSpPr txBox="1"/>
          <p:nvPr/>
        </p:nvSpPr>
        <p:spPr>
          <a:xfrm>
            <a:off x="525780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_12"/>
          <p:cNvSpPr txBox="1"/>
          <p:nvPr/>
        </p:nvSpPr>
        <p:spPr>
          <a:xfrm>
            <a:off x="45262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tanks, rinses</a:t>
            </a:r>
            <a:endParaRPr lang="en-US" sz="1200" dirty="0"/>
          </a:p>
        </p:txBody>
      </p:sp>
      <p:sp>
        <p:nvSpPr>
          <p:cNvPr id="15" name="s_13"/>
          <p:cNvSpPr/>
          <p:nvPr/>
        </p:nvSpPr>
        <p:spPr>
          <a:xfrm>
            <a:off x="8046720" y="13716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6" name="s_14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48790"/>
            <a:ext cx="297180" cy="29718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9006840" y="16184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_18"/>
          <p:cNvSpPr txBox="1"/>
          <p:nvPr/>
        </p:nvSpPr>
        <p:spPr>
          <a:xfrm>
            <a:off x="82753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Bottoms circuits, coker, quench oil</a:t>
            </a:r>
            <a:endParaRPr lang="en-US" sz="1200" dirty="0"/>
          </a:p>
        </p:txBody>
      </p:sp>
      <p:sp>
        <p:nvSpPr>
          <p:cNvPr id="21" name="s_19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2" name="s_20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3" name="i_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126230"/>
            <a:ext cx="297180" cy="297180"/>
          </a:xfrm>
          <a:prstGeom prst="rect">
            <a:avLst/>
          </a:prstGeom>
        </p:spPr>
      </p:pic>
      <p:sp>
        <p:nvSpPr>
          <p:cNvPr id="24" name="t_22"/>
          <p:cNvSpPr txBox="1"/>
          <p:nvPr/>
        </p:nvSpPr>
        <p:spPr>
          <a:xfrm>
            <a:off x="15087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7772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pyrophoric iron sulphide and H₂S into safe compounds.</a:t>
            </a:r>
            <a:endParaRPr lang="en-US" sz="1300" dirty="0"/>
          </a:p>
        </p:txBody>
      </p:sp>
      <p:sp>
        <p:nvSpPr>
          <p:cNvPr id="26" name="t_24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beds, amine, SWS, SRU</a:t>
            </a:r>
            <a:endParaRPr lang="en-US" sz="1200" dirty="0"/>
          </a:p>
        </p:txBody>
      </p:sp>
      <p:sp>
        <p:nvSpPr>
          <p:cNvPr id="27" name="s_25"/>
          <p:cNvSpPr/>
          <p:nvPr/>
        </p:nvSpPr>
        <p:spPr>
          <a:xfrm>
            <a:off x="429768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8" name="s_26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9" name="i_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126230"/>
            <a:ext cx="297180" cy="297180"/>
          </a:xfrm>
          <a:prstGeom prst="rect">
            <a:avLst/>
          </a:prstGeom>
        </p:spPr>
      </p:pic>
      <p:sp>
        <p:nvSpPr>
          <p:cNvPr id="30" name="t_28"/>
          <p:cNvSpPr txBox="1"/>
          <p:nvPr/>
        </p:nvSpPr>
        <p:spPr>
          <a:xfrm>
            <a:off x="52578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452628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_30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_31"/>
          <p:cNvSpPr/>
          <p:nvPr/>
        </p:nvSpPr>
        <p:spPr>
          <a:xfrm>
            <a:off x="8046720" y="3749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34" name="s_32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5" name="i_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126230"/>
            <a:ext cx="297180" cy="297180"/>
          </a:xfrm>
          <a:prstGeom prst="rect">
            <a:avLst/>
          </a:prstGeom>
        </p:spPr>
      </p:pic>
      <p:sp>
        <p:nvSpPr>
          <p:cNvPr id="36" name="t_34"/>
          <p:cNvSpPr txBox="1"/>
          <p:nvPr/>
        </p:nvSpPr>
        <p:spPr>
          <a:xfrm>
            <a:off x="90068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_35"/>
          <p:cNvSpPr txBox="1"/>
          <p:nvPr/>
        </p:nvSpPr>
        <p:spPr>
          <a:xfrm>
            <a:off x="827532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_36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_37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OQ Base Industries units we decontaminate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challenges, chemistry and treatment options per unit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Inlet Gas Treating (Amine)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and CO₂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and amine residues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Foaming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53766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with oxidiser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Dehydration &amp; Guard Beds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280160" y="1645920"/>
            <a:ext cx="1188720" cy="3291840"/>
          </a:xfrm>
          <a:prstGeom prst="roundRect">
            <a:avLst>
              <a:gd name="adj" fmla="val 46154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371600" y="228600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3474720"/>
            <a:ext cx="1005840" cy="548640"/>
          </a:xfrm>
          <a:prstGeom prst="rect">
            <a:avLst/>
          </a:prstGeom>
          <a:solidFill>
            <a:srgbClr val="B4C2D3"/>
          </a:solidFill>
          <a:ln/>
        </p:spPr>
      </p:sp>
      <p:sp>
        <p:nvSpPr>
          <p:cNvPr id="6" name="s_4"/>
          <p:cNvSpPr/>
          <p:nvPr/>
        </p:nvSpPr>
        <p:spPr>
          <a:xfrm>
            <a:off x="3017520" y="42062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3193542" y="4160520"/>
            <a:ext cx="109728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_6"/>
          <p:cNvSpPr/>
          <p:nvPr/>
        </p:nvSpPr>
        <p:spPr>
          <a:xfrm>
            <a:off x="3268980" y="433197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3268980" y="445770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_8"/>
          <p:cNvSpPr/>
          <p:nvPr/>
        </p:nvSpPr>
        <p:spPr>
          <a:xfrm>
            <a:off x="3268980" y="4583430"/>
            <a:ext cx="160934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3291840" y="2194560"/>
            <a:ext cx="1828800" cy="64008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74520" y="493776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_11"/>
          <p:cNvSpPr/>
          <p:nvPr/>
        </p:nvSpPr>
        <p:spPr>
          <a:xfrm>
            <a:off x="1874520" y="5394960"/>
            <a:ext cx="2148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4023360" y="4709160"/>
            <a:ext cx="0" cy="6858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_13"/>
          <p:cNvSpPr/>
          <p:nvPr/>
        </p:nvSpPr>
        <p:spPr>
          <a:xfrm>
            <a:off x="5029200" y="4462272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 flipV="1">
            <a:off x="5394960" y="2514600"/>
            <a:ext cx="0" cy="194767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_15"/>
          <p:cNvSpPr/>
          <p:nvPr/>
        </p:nvSpPr>
        <p:spPr>
          <a:xfrm flipH="1">
            <a:off x="5120640" y="251460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_16"/>
          <p:cNvSpPr txBox="1"/>
          <p:nvPr/>
        </p:nvSpPr>
        <p:spPr>
          <a:xfrm>
            <a:off x="1280160" y="5440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</a:t>
            </a:r>
            <a:endParaRPr lang="en-US" sz="1200" dirty="0"/>
          </a:p>
        </p:txBody>
      </p:sp>
      <p:sp>
        <p:nvSpPr>
          <p:cNvPr id="19" name="t_17"/>
          <p:cNvSpPr txBox="1"/>
          <p:nvPr/>
        </p:nvSpPr>
        <p:spPr>
          <a:xfrm>
            <a:off x="3017520" y="38587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exchanger</a:t>
            </a:r>
            <a:endParaRPr lang="en-US" sz="1200" dirty="0"/>
          </a:p>
        </p:txBody>
      </p:sp>
      <p:sp>
        <p:nvSpPr>
          <p:cNvPr id="20" name="t_18"/>
          <p:cNvSpPr txBox="1"/>
          <p:nvPr/>
        </p:nvSpPr>
        <p:spPr>
          <a:xfrm>
            <a:off x="329184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</a:t>
            </a:r>
            <a:endParaRPr lang="en-US" sz="1200" dirty="0"/>
          </a:p>
        </p:txBody>
      </p:sp>
      <p:sp>
        <p:nvSpPr>
          <p:cNvPr id="21" name="t_19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2" name="t_20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Adsorbed hydrocarbons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material at bed change-out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4" name="t_22"/>
          <p:cNvSpPr txBox="1"/>
          <p:nvPr/>
        </p:nvSpPr>
        <p:spPr>
          <a:xfrm>
            <a:off x="6309360" y="3172968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4242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46085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before unloading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Cryogenic Extraction / Cold Box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914400" y="2011680"/>
            <a:ext cx="4572000" cy="9144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234440" y="1965960"/>
            <a:ext cx="109728" cy="10058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_3"/>
          <p:cNvSpPr/>
          <p:nvPr/>
        </p:nvSpPr>
        <p:spPr>
          <a:xfrm>
            <a:off x="1371600" y="22402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s_4"/>
          <p:cNvSpPr/>
          <p:nvPr/>
        </p:nvSpPr>
        <p:spPr>
          <a:xfrm>
            <a:off x="1371600" y="24688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1371600" y="2697480"/>
            <a:ext cx="3840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s_6"/>
          <p:cNvSpPr/>
          <p:nvPr/>
        </p:nvSpPr>
        <p:spPr>
          <a:xfrm>
            <a:off x="1463040" y="3931920"/>
            <a:ext cx="3657600" cy="73152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9" name="s_7"/>
          <p:cNvSpPr/>
          <p:nvPr/>
        </p:nvSpPr>
        <p:spPr>
          <a:xfrm>
            <a:off x="1719072" y="3886200"/>
            <a:ext cx="109728" cy="8229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s_8"/>
          <p:cNvSpPr/>
          <p:nvPr/>
        </p:nvSpPr>
        <p:spPr>
          <a:xfrm>
            <a:off x="1828800" y="411480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_9"/>
          <p:cNvSpPr/>
          <p:nvPr/>
        </p:nvSpPr>
        <p:spPr>
          <a:xfrm>
            <a:off x="1828800" y="429768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_10"/>
          <p:cNvSpPr/>
          <p:nvPr/>
        </p:nvSpPr>
        <p:spPr>
          <a:xfrm>
            <a:off x="1828800" y="4480560"/>
            <a:ext cx="307238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t_11"/>
          <p:cNvSpPr txBox="1"/>
          <p:nvPr/>
        </p:nvSpPr>
        <p:spPr>
          <a:xfrm>
            <a:off x="914400" y="4937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&amp; tube exchangers</a:t>
            </a:r>
            <a:endParaRPr lang="en-US" sz="12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5" name="t_13"/>
          <p:cNvSpPr txBox="1"/>
          <p:nvPr/>
        </p:nvSpPr>
        <p:spPr>
          <a:xfrm>
            <a:off x="6309360" y="1737360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light hydrocarbons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500" dirty="0"/>
          </a:p>
        </p:txBody>
      </p:sp>
      <p:sp>
        <p:nvSpPr>
          <p:cNvPr id="16" name="t_14"/>
          <p:cNvSpPr txBox="1"/>
          <p:nvPr/>
        </p:nvSpPr>
        <p:spPr>
          <a:xfrm>
            <a:off x="6309360" y="28072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7" name="t_15"/>
          <p:cNvSpPr txBox="1"/>
          <p:nvPr/>
        </p:nvSpPr>
        <p:spPr>
          <a:xfrm>
            <a:off x="6309360" y="31729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18" name="t_16"/>
          <p:cNvSpPr txBox="1"/>
          <p:nvPr/>
        </p:nvSpPr>
        <p:spPr>
          <a:xfrm>
            <a:off x="6309360" y="38587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9" name="t_17"/>
          <p:cNvSpPr txBox="1"/>
          <p:nvPr/>
        </p:nvSpPr>
        <p:spPr>
          <a:xfrm>
            <a:off x="6309360" y="42245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(warm-up first)</a:t>
            </a:r>
            <a:endParaRPr lang="en-US" sz="1500" dirty="0"/>
          </a:p>
        </p:txBody>
      </p:sp>
      <p:sp>
        <p:nvSpPr>
          <p:cNvPr id="20" name="t_18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Fractionation (C2 / C3 / C4 Columns)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2377440" y="1645920"/>
            <a:ext cx="1097280" cy="402336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423160" y="204825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5" name="s_3"/>
          <p:cNvSpPr/>
          <p:nvPr/>
        </p:nvSpPr>
        <p:spPr>
          <a:xfrm>
            <a:off x="2423160" y="245059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" name="s_4"/>
          <p:cNvSpPr/>
          <p:nvPr/>
        </p:nvSpPr>
        <p:spPr>
          <a:xfrm>
            <a:off x="2423160" y="285292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_5"/>
          <p:cNvSpPr/>
          <p:nvPr/>
        </p:nvSpPr>
        <p:spPr>
          <a:xfrm>
            <a:off x="2423160" y="325526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s_6"/>
          <p:cNvSpPr/>
          <p:nvPr/>
        </p:nvSpPr>
        <p:spPr>
          <a:xfrm>
            <a:off x="2423160" y="3657600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_7"/>
          <p:cNvSpPr/>
          <p:nvPr/>
        </p:nvSpPr>
        <p:spPr>
          <a:xfrm>
            <a:off x="2423160" y="4059936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0" name="s_8"/>
          <p:cNvSpPr/>
          <p:nvPr/>
        </p:nvSpPr>
        <p:spPr>
          <a:xfrm>
            <a:off x="2423160" y="446227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1" name="s_9"/>
          <p:cNvSpPr/>
          <p:nvPr/>
        </p:nvSpPr>
        <p:spPr>
          <a:xfrm>
            <a:off x="2423160" y="4864608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_10"/>
          <p:cNvSpPr/>
          <p:nvPr/>
        </p:nvSpPr>
        <p:spPr>
          <a:xfrm>
            <a:off x="2423160" y="5266944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_11"/>
          <p:cNvSpPr/>
          <p:nvPr/>
        </p:nvSpPr>
        <p:spPr>
          <a:xfrm>
            <a:off x="4206240" y="182880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4" name="s_12"/>
          <p:cNvSpPr/>
          <p:nvPr/>
        </p:nvSpPr>
        <p:spPr>
          <a:xfrm flipV="1">
            <a:off x="2926080" y="1463040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_13"/>
          <p:cNvSpPr/>
          <p:nvPr/>
        </p:nvSpPr>
        <p:spPr>
          <a:xfrm>
            <a:off x="2926080" y="1463040"/>
            <a:ext cx="1965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_14"/>
          <p:cNvSpPr/>
          <p:nvPr/>
        </p:nvSpPr>
        <p:spPr>
          <a:xfrm>
            <a:off x="4892040" y="146304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_15"/>
          <p:cNvSpPr/>
          <p:nvPr/>
        </p:nvSpPr>
        <p:spPr>
          <a:xfrm>
            <a:off x="4023360" y="4846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8" name="s_16"/>
          <p:cNvSpPr/>
          <p:nvPr/>
        </p:nvSpPr>
        <p:spPr>
          <a:xfrm>
            <a:off x="4183380" y="4800600"/>
            <a:ext cx="109728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_17"/>
          <p:cNvSpPr/>
          <p:nvPr/>
        </p:nvSpPr>
        <p:spPr>
          <a:xfrm>
            <a:off x="4251960" y="49606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_18"/>
          <p:cNvSpPr/>
          <p:nvPr/>
        </p:nvSpPr>
        <p:spPr>
          <a:xfrm>
            <a:off x="4251960" y="50749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_19"/>
          <p:cNvSpPr/>
          <p:nvPr/>
        </p:nvSpPr>
        <p:spPr>
          <a:xfrm>
            <a:off x="4251960" y="5189220"/>
            <a:ext cx="1280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_20"/>
          <p:cNvSpPr/>
          <p:nvPr/>
        </p:nvSpPr>
        <p:spPr>
          <a:xfrm>
            <a:off x="3474720" y="5074920"/>
            <a:ext cx="5486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_21"/>
          <p:cNvSpPr txBox="1"/>
          <p:nvPr/>
        </p:nvSpPr>
        <p:spPr>
          <a:xfrm>
            <a:off x="3840480" y="5349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Reboiler / pump-around</a:t>
            </a:r>
            <a:endParaRPr lang="en-US" sz="1200" dirty="0"/>
          </a:p>
        </p:txBody>
      </p:sp>
      <p:sp>
        <p:nvSpPr>
          <p:cNvPr id="24" name="t_22"/>
          <p:cNvSpPr txBox="1"/>
          <p:nvPr/>
        </p:nvSpPr>
        <p:spPr>
          <a:xfrm>
            <a:off x="4206240" y="24231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drum</a:t>
            </a:r>
            <a:endParaRPr lang="en-US" sz="1200" dirty="0"/>
          </a:p>
        </p:txBody>
      </p:sp>
      <p:sp>
        <p:nvSpPr>
          <p:cNvPr id="25" name="t_23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26" name="t_24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and LEL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in reboilers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28" name="t_26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9" name="t_27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30" name="t_28"/>
          <p:cNvSpPr txBox="1"/>
          <p:nvPr/>
        </p:nvSpPr>
        <p:spPr>
          <a:xfrm>
            <a:off x="6309360" y="499262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500" dirty="0"/>
          </a:p>
        </p:txBody>
      </p:sp>
      <p:sp>
        <p:nvSpPr>
          <p:cNvPr id="31" name="t_29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LPG Storage Spheres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828800" y="1645920"/>
            <a:ext cx="2926080" cy="2926080"/>
          </a:xfrm>
          <a:prstGeom prst="ellipse">
            <a:avLst/>
          </a:prstGeom>
          <a:solidFill>
            <a:srgbClr val="CBD5E1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2103120" y="4023360"/>
            <a:ext cx="0" cy="1463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5" name="s_3"/>
          <p:cNvSpPr/>
          <p:nvPr/>
        </p:nvSpPr>
        <p:spPr>
          <a:xfrm>
            <a:off x="2926080" y="4023360"/>
            <a:ext cx="0" cy="1463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6" name="s_4"/>
          <p:cNvSpPr/>
          <p:nvPr/>
        </p:nvSpPr>
        <p:spPr>
          <a:xfrm>
            <a:off x="3657600" y="4023360"/>
            <a:ext cx="0" cy="1463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7" name="s_5"/>
          <p:cNvSpPr/>
          <p:nvPr/>
        </p:nvSpPr>
        <p:spPr>
          <a:xfrm>
            <a:off x="4480560" y="4023360"/>
            <a:ext cx="0" cy="1463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8" name="t_6"/>
          <p:cNvSpPr txBox="1"/>
          <p:nvPr/>
        </p:nvSpPr>
        <p:spPr>
          <a:xfrm>
            <a:off x="2651760" y="5577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sphere</a:t>
            </a:r>
            <a:endParaRPr lang="en-US" sz="1200" dirty="0"/>
          </a:p>
        </p:txBody>
      </p:sp>
      <p:sp>
        <p:nvSpPr>
          <p:cNvPr id="9" name="t_7"/>
          <p:cNvSpPr txBox="1"/>
          <p:nvPr/>
        </p:nvSpPr>
        <p:spPr>
          <a:xfrm>
            <a:off x="630936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CHALLENGES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309360" y="1737360"/>
            <a:ext cx="5303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vapour (LEL)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 odour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sediments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6309360" y="31912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USED</a:t>
            </a:r>
            <a:endParaRPr lang="en-US" sz="1400" dirty="0"/>
          </a:p>
        </p:txBody>
      </p:sp>
      <p:sp>
        <p:nvSpPr>
          <p:cNvPr id="12" name="t_10"/>
          <p:cNvSpPr txBox="1"/>
          <p:nvPr/>
        </p:nvSpPr>
        <p:spPr>
          <a:xfrm>
            <a:off x="6309360" y="3557016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_11"/>
          <p:cNvSpPr txBox="1"/>
          <p:nvPr/>
        </p:nvSpPr>
        <p:spPr>
          <a:xfrm>
            <a:off x="6309360" y="4626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OPTIONS</a:t>
            </a:r>
            <a:endParaRPr lang="en-US" sz="1400" dirty="0"/>
          </a:p>
        </p:txBody>
      </p:sp>
      <p:sp>
        <p:nvSpPr>
          <p:cNvPr id="14" name="t_12"/>
          <p:cNvSpPr txBox="1"/>
          <p:nvPr/>
        </p:nvSpPr>
        <p:spPr>
          <a:xfrm>
            <a:off x="6309360" y="4992624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/ steam with degreaser</a:t>
            </a:r>
            <a:endParaRPr lang="en-US" sz="15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rinse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– confirmed during the joint site survey.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778240" y="1097280"/>
            <a:ext cx="4572000" cy="4572000"/>
          </a:xfrm>
          <a:prstGeom prst="ellipse">
            <a:avLst/>
          </a:prstGeom>
          <a:solidFill>
            <a:srgbClr val="D3E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4" name="t_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5" name="t_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monitoring and why Delight</a:t>
            </a:r>
            <a:endParaRPr lang="en-US" sz="3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E1E8EF"/>
            </a:solidFill>
            <a:prstDash val="solid"/>
          </a:ln>
        </p:spPr>
      </p:sp>
      <p:sp>
        <p:nvSpPr>
          <p:cNvPr id="4" name="s_2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_5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_6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9" name="i_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194560"/>
            <a:ext cx="457200" cy="457200"/>
          </a:xfrm>
          <a:prstGeom prst="rect">
            <a:avLst/>
          </a:prstGeom>
        </p:spPr>
      </p:pic>
      <p:sp>
        <p:nvSpPr>
          <p:cNvPr id="10" name="t_8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_9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_10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3" name="i_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4" name="t_12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_13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_14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7" name="i_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94560"/>
            <a:ext cx="457200" cy="457200"/>
          </a:xfrm>
          <a:prstGeom prst="rect">
            <a:avLst/>
          </a:prstGeom>
        </p:spPr>
      </p:pic>
      <p:sp>
        <p:nvSpPr>
          <p:cNvPr id="18" name="t_16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_17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circulation or boil-out with live monitoring</a:t>
            </a:r>
            <a:endParaRPr lang="en-US" sz="1300" dirty="0"/>
          </a:p>
        </p:txBody>
      </p:sp>
      <p:sp>
        <p:nvSpPr>
          <p:cNvPr id="20" name="s_18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1" name="i_1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2194560"/>
            <a:ext cx="457200" cy="457200"/>
          </a:xfrm>
          <a:prstGeom prst="rect">
            <a:avLst/>
          </a:prstGeom>
        </p:spPr>
      </p:pic>
      <p:sp>
        <p:nvSpPr>
          <p:cNvPr id="22" name="t_20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_21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_22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0" y="2194560"/>
            <a:ext cx="457200" cy="4572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_25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</p:sp>
      <p:sp>
        <p:nvSpPr>
          <p:cNvPr id="5" name="t_3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400" dirty="0"/>
          </a:p>
        </p:txBody>
      </p:sp>
      <p:sp>
        <p:nvSpPr>
          <p:cNvPr id="6" name="t_4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8" name="s_6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</p:sp>
      <p:sp>
        <p:nvSpPr>
          <p:cNvPr id="9" name="t_7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 BASE INDUSTRIES</a:t>
            </a:r>
            <a:endParaRPr lang="en-US" sz="1400" dirty="0"/>
          </a:p>
        </p:txBody>
      </p:sp>
      <p:sp>
        <p:nvSpPr>
          <p:cNvPr id="10" name="t_8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931670"/>
            <a:ext cx="480060" cy="48006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931670"/>
            <a:ext cx="480060" cy="48006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334" y="1931670"/>
            <a:ext cx="480060" cy="48006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31670"/>
            <a:ext cx="480060" cy="48006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</p:sp>
      <p:sp>
        <p:nvSpPr>
          <p:cNvPr id="24" name="t_22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4" name="i_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411480" cy="411480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_4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_5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8" name="i_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766060"/>
            <a:ext cx="411480" cy="411480"/>
          </a:xfrm>
          <a:prstGeom prst="rect">
            <a:avLst/>
          </a:prstGeom>
        </p:spPr>
      </p:pic>
      <p:sp>
        <p:nvSpPr>
          <p:cNvPr id="9" name="t_7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_8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_9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2" name="i_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411480" cy="411480"/>
          </a:xfrm>
          <a:prstGeom prst="rect">
            <a:avLst/>
          </a:prstGeom>
        </p:spPr>
      </p:pic>
      <p:sp>
        <p:nvSpPr>
          <p:cNvPr id="13" name="t_11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_12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_13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6" name="i_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052060"/>
            <a:ext cx="411480" cy="411480"/>
          </a:xfrm>
          <a:prstGeom prst="rect">
            <a:avLst/>
          </a:prstGeom>
        </p:spPr>
      </p:pic>
      <p:sp>
        <p:nvSpPr>
          <p:cNvPr id="17" name="t_15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disposal</a:t>
            </a:r>
            <a:endParaRPr lang="en-US" sz="1800" dirty="0"/>
          </a:p>
        </p:txBody>
      </p:sp>
      <p:sp>
        <p:nvSpPr>
          <p:cNvPr id="18" name="t_16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handled through approved contractors with full documentation.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_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4" name="s_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5" name="i_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_4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_5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_6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9" name="s_7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10" name="i_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817370"/>
            <a:ext cx="342900" cy="342900"/>
          </a:xfrm>
          <a:prstGeom prst="rect">
            <a:avLst/>
          </a:prstGeom>
        </p:spPr>
      </p:pic>
      <p:sp>
        <p:nvSpPr>
          <p:cNvPr id="11" name="t_9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_10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_11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4" name="s_12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15" name="i_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817370"/>
            <a:ext cx="342900" cy="342900"/>
          </a:xfrm>
          <a:prstGeom prst="rect">
            <a:avLst/>
          </a:prstGeom>
        </p:spPr>
      </p:pic>
      <p:sp>
        <p:nvSpPr>
          <p:cNvPr id="16" name="t_14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_15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_16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19" name="s_1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20" name="i_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94810"/>
            <a:ext cx="342900" cy="342900"/>
          </a:xfrm>
          <a:prstGeom prst="rect">
            <a:avLst/>
          </a:prstGeom>
        </p:spPr>
      </p:pic>
      <p:sp>
        <p:nvSpPr>
          <p:cNvPr id="21" name="t_19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_20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_21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4" name="s_22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</p:sp>
      <p:pic>
        <p:nvPicPr>
          <p:cNvPr id="25" name="i_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94810"/>
            <a:ext cx="342900" cy="342900"/>
          </a:xfrm>
          <a:prstGeom prst="rect">
            <a:avLst/>
          </a:prstGeom>
        </p:spPr>
      </p:pic>
      <p:sp>
        <p:nvSpPr>
          <p:cNvPr id="26" name="t_24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_25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_2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9B8">
                <a:alpha val="22000"/>
              </a:srgbClr>
            </a:outerShdw>
          </a:effectLst>
        </p:spPr>
      </p:sp>
      <p:sp>
        <p:nvSpPr>
          <p:cNvPr id="29" name="s_27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</p:sp>
      <p:pic>
        <p:nvPicPr>
          <p:cNvPr id="30" name="i_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94810"/>
            <a:ext cx="342900" cy="342900"/>
          </a:xfrm>
          <a:prstGeom prst="rect">
            <a:avLst/>
          </a:prstGeom>
        </p:spPr>
      </p:pic>
      <p:sp>
        <p:nvSpPr>
          <p:cNvPr id="31" name="t_29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_30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_1"/>
          <p:cNvSpPr/>
          <p:nvPr/>
        </p:nvSpPr>
        <p:spPr>
          <a:xfrm>
            <a:off x="8229600" y="-1280160"/>
            <a:ext cx="5303520" cy="5303520"/>
          </a:xfrm>
          <a:prstGeom prst="ellipse">
            <a:avLst/>
          </a:prstGeom>
          <a:solidFill>
            <a:srgbClr val="D3E6F4"/>
          </a:solidFill>
          <a:ln/>
        </p:spPr>
      </p:sp>
      <p:sp>
        <p:nvSpPr>
          <p:cNvPr id="3" name="s_2"/>
          <p:cNvSpPr/>
          <p:nvPr/>
        </p:nvSpPr>
        <p:spPr>
          <a:xfrm>
            <a:off x="9692640" y="3931920"/>
            <a:ext cx="3474720" cy="3474720"/>
          </a:xfrm>
          <a:prstGeom prst="ellipse">
            <a:avLst/>
          </a:prstGeom>
          <a:solidFill>
            <a:srgbClr val="D9EFD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5" name="t_3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_4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OQ Base Industries shutdown.</a:t>
            </a:r>
            <a:endParaRPr lang="en-US" sz="2000" dirty="0"/>
          </a:p>
        </p:txBody>
      </p:sp>
      <p:sp>
        <p:nvSpPr>
          <p:cNvPr id="7" name="t_5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light Soft Blue">
  <a:themeElements>
    <a:clrScheme name="Delight Soft Blue">
      <a:dk1>
        <a:srgbClr val="1F2937"/>
      </a:dk1>
      <a:lt1>
        <a:srgbClr val="FFFFFF"/>
      </a:lt1>
      <a:dk2>
        <a:srgbClr val="1F5F8B"/>
      </a:dk2>
      <a:lt2>
        <a:srgbClr val="E9F2F9"/>
      </a:lt2>
      <a:accent1>
        <a:srgbClr val="0C74BC"/>
      </a:accent1>
      <a:accent2>
        <a:srgbClr val="3AB54A"/>
      </a:accent2>
      <a:accent3>
        <a:srgbClr val="1F5F8B"/>
      </a:accent3>
      <a:accent4>
        <a:srgbClr val="7FB8E3"/>
      </a:accent4>
      <a:accent5>
        <a:srgbClr val="2E8B3A"/>
      </a:accent5>
      <a:accent6>
        <a:srgbClr val="5B7085"/>
      </a:accent6>
      <a:hlink>
        <a:srgbClr val="0C74BC"/>
      </a:hlink>
      <a:folHlink>
        <a:srgbClr val="1F5F8B"/>
      </a:folHlink>
    </a:clrScheme>
    <a:fontScheme name="Delight Soft B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Delight Equipment International L.L.C.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– OQ Base Industries – Salalah</dc:title>
  <dc:subject>PptxGenJS Presentation</dc:subject>
  <dc:creator>Delight International</dc:creator>
  <cp:lastModifiedBy>Delight International</cp:lastModifiedBy>
  <cp:revision>1</cp:revision>
  <dcterms:created xsi:type="dcterms:W3CDTF">2026-10-05T13:20:41Z</dcterms:created>
  <dcterms:modified xsi:type="dcterms:W3CDTF">2026-10-05T13:20:41Z</dcterms:modified>
</cp:coreProperties>
</file>