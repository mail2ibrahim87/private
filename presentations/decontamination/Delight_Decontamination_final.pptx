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21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2828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Pre-treatment and post-treatment use the same circulation/spray route. Pre-treatment coats the packing geometry so the vapour-phase works deeper; post-treatment is the oxidation wash for pyrophoric FeS before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Tanks are atmospheric: no flare. Vapours are vented through a carbon filter. Bulk sludge is vacuumed to a waste tank for licensed disposal (no oil recovery), then gamma-jetting and circulation run for 8–12 hours; spent wash goes to the effluent tank.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2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4" name="t3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5" name="t4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5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6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8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9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0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1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3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4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5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6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18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19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0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21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3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4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5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26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 &amp; post-treatment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6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7" name="!!bri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6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0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2" name="t2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3" grpId="2" animBg="1"/>
      <p:bldP spid="15" grpId="0" animBg="1"/>
      <p:bldP spid="16" grpId="0" animBg="1"/>
      <p:bldP spid="17" grpId="0" animBg="1"/>
      <p:bldP spid="17" grpId="2" animBg="1"/>
      <p:bldP spid="19" grpId="0" animBg="1"/>
      <p:bldP spid="20" grpId="0" animBg="1"/>
      <p:bldP spid="21" grpId="0" animBg="1"/>
      <p:bldP spid="21" grpId="2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29" grpId="2" animBg="1"/>
      <p:bldP spid="31" grpId="0" animBg="1"/>
      <p:bldP spid="32" grpId="0" animBg="1"/>
      <p:bldP spid="33" grpId="0" animBg="1"/>
      <p:bldP spid="33" grpId="2" animBg="1"/>
      <p:bldP spid="35" grpId="0" animBg="1"/>
      <p:bldP spid="36" grpId="0" animBg="1"/>
      <p:bldP spid="37" grpId="0" animBg="1"/>
      <p:bldP spid="37" grpId="2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5" grpId="2" animBg="1"/>
      <p:bldP spid="47" grpId="0" animBg="1"/>
      <p:bldP spid="48" grpId="0" animBg="1"/>
      <p:bldP spid="49" grpId="0" animBg="1"/>
      <p:bldP spid="49" grpId="2" animBg="1"/>
      <p:bldP spid="51" grpId="0" animBg="1"/>
      <p:bldP spid="52" grpId="0" animBg="1"/>
      <p:bldP spid="53" grpId="0" animBg="1"/>
      <p:bldP spid="53" grpId="2" animBg="1"/>
      <p:bldP spid="55" grpId="0" animBg="1"/>
      <p:bldP spid="56" grpId="0" animBg="1"/>
      <p:bldP spid="58" grpId="0" animBg="1"/>
      <p:bldP spid="59" grpId="0" animBg="1"/>
      <p:bldP spid="60" grpId="0" animBg="1"/>
      <p:bldP spid="61" grpId="0" animBg="1"/>
      <p:bldP spid="61" grpId="2" animBg="1"/>
      <p:bldP spid="63" grpId="0" animBg="1"/>
      <p:bldP spid="64" grpId="0" animBg="1"/>
      <p:bldP spid="65" grpId="0" animBg="1"/>
      <p:bldP spid="65" grpId="2" animBg="1"/>
      <p:bldP spid="67" grpId="0" animBg="1"/>
      <p:bldP spid="68" grpId="0" animBg="1"/>
      <p:bldP spid="69" grpId="0" animBg="1"/>
      <p:bldP spid="69" grpId="2" animBg="1"/>
      <p:bldP spid="71" grpId="0" animBg="1"/>
      <p:bldP spid="7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3" name="!!bri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1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1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6" name="!!mki1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2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2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2" name="!!mki2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0_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2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3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2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33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4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35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6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37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5" name="!!mki0_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3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3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4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1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42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3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44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5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4" name="t46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8" name="!!mki0_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48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49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0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51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2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53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2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5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56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7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58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59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60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3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2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6" name="t63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4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65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6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67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68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69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6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0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1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9" name="t72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3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74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5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76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5" name="!!bri3" descr="preencoded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8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7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78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79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0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81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2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83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4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85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5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6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7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88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89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90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1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2" name="t92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3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4" name="t94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8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5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6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97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98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t99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0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101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!!bri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4" name="!!mki0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18" name="!!mki0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22" name="!!mki0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!!bri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0" name="!!mki1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4" name="!!mki1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38" name="!!mki1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1" name="!!bri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46" name="!!mki2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0" name="!!mki2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54" name="!!mki2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7" name="!!bri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marL="0" indent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62" name="!!mki3_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2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3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5" name="t104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5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7" name="t106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7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t108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73" name="!!mki3_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09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0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6" name="t111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2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8" name="t113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4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0" name="t115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pic>
        <p:nvPicPr>
          <p:cNvPr id="84" name="!!mki3_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6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7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7" name="t118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19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9" name="t120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1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1" name="t122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9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3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4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t125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6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t127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28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t129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0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t131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2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t133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4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135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6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tag137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38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39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7" name="tag140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1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2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0" name="tag143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4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5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3" name="tag146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7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48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tag149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0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1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tag152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3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4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155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t156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7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58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59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60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t161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2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3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4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65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166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7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68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69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170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0" name="t171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2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3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7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175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176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5" name="t177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78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79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0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1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2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Pre/post-treat</a:t>
            </a:r>
            <a:endParaRPr lang="en-US" sz="1300" dirty="0"/>
          </a:p>
        </p:txBody>
      </p:sp>
      <p:sp>
        <p:nvSpPr>
          <p:cNvPr id="8" name="t183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4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t185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6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187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188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189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190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1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192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193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194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5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196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197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198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199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0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201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202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203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9" name="t204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5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206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207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3" name="t208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09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5" name="s210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t211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2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213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214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216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217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218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219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220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221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222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223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224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225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226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t227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28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229"/>
          <p:cNvSpPr/>
          <p:nvPr/>
        </p:nvSpPr>
        <p:spPr>
          <a:xfrm>
            <a:off x="5349240" y="1417320"/>
            <a:ext cx="12801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1" name="s230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231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s232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233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4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235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236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237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9" name="t238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39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240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s241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3" name="t242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3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4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6" name="t245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6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8" name="s247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9" name="t248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40" name="t249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0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6" name="dec96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2" name="t25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2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3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7" name="dec9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5" name="t25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5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6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98" name="dec98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8" name="t25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99" name="n99"/>
          <p:cNvSpPr/>
          <p:nvPr/>
        </p:nvSpPr>
        <p:spPr>
          <a:xfrm>
            <a:off x="6629400" y="125272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0" name="n100"/>
          <p:cNvSpPr/>
          <p:nvPr/>
        </p:nvSpPr>
        <p:spPr>
          <a:xfrm>
            <a:off x="6777533" y="1351483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n101"/>
          <p:cNvSpPr/>
          <p:nvPr/>
        </p:nvSpPr>
        <p:spPr>
          <a:xfrm>
            <a:off x="6777533" y="1417320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n102"/>
          <p:cNvSpPr/>
          <p:nvPr/>
        </p:nvSpPr>
        <p:spPr>
          <a:xfrm>
            <a:off x="6777533" y="1483157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n103"/>
          <p:cNvSpPr txBox="1"/>
          <p:nvPr/>
        </p:nvSpPr>
        <p:spPr>
          <a:xfrm>
            <a:off x="6263640" y="16276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04" name="n104"/>
          <p:cNvSpPr/>
          <p:nvPr/>
        </p:nvSpPr>
        <p:spPr>
          <a:xfrm>
            <a:off x="7543800" y="1417320"/>
            <a:ext cx="4114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n105"/>
          <p:cNvSpPr/>
          <p:nvPr/>
        </p:nvSpPr>
        <p:spPr>
          <a:xfrm>
            <a:off x="7955280" y="1417320"/>
            <a:ext cx="0" cy="6858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6" name="n106"/>
          <p:cNvSpPr/>
          <p:nvPr/>
        </p:nvSpPr>
        <p:spPr>
          <a:xfrm>
            <a:off x="7680960" y="210312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7" name="n107"/>
          <p:cNvSpPr/>
          <p:nvPr/>
        </p:nvSpPr>
        <p:spPr>
          <a:xfrm>
            <a:off x="7735824" y="2404872"/>
            <a:ext cx="1261872" cy="208483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08" name="n108"/>
          <p:cNvSpPr txBox="1"/>
          <p:nvPr/>
        </p:nvSpPr>
        <p:spPr>
          <a:xfrm>
            <a:off x="7589520" y="26791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09" name="n109"/>
          <p:cNvSpPr/>
          <p:nvPr/>
        </p:nvSpPr>
        <p:spPr>
          <a:xfrm flipV="1">
            <a:off x="8641080" y="1417320"/>
            <a:ext cx="0" cy="72237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n110"/>
          <p:cNvSpPr/>
          <p:nvPr/>
        </p:nvSpPr>
        <p:spPr>
          <a:xfrm>
            <a:off x="8641080" y="1417320"/>
            <a:ext cx="13716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1" name="n111"/>
          <p:cNvSpPr/>
          <p:nvPr/>
        </p:nvSpPr>
        <p:spPr>
          <a:xfrm>
            <a:off x="8915400" y="2615184"/>
            <a:ext cx="0" cy="172821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2" name="n112"/>
          <p:cNvSpPr/>
          <p:nvPr/>
        </p:nvSpPr>
        <p:spPr>
          <a:xfrm>
            <a:off x="6400800" y="443484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3" name="n113"/>
          <p:cNvSpPr/>
          <p:nvPr/>
        </p:nvSpPr>
        <p:spPr>
          <a:xfrm>
            <a:off x="6606540" y="457200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n114"/>
          <p:cNvSpPr/>
          <p:nvPr/>
        </p:nvSpPr>
        <p:spPr>
          <a:xfrm>
            <a:off x="6606540" y="466344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n115"/>
          <p:cNvSpPr/>
          <p:nvPr/>
        </p:nvSpPr>
        <p:spPr>
          <a:xfrm>
            <a:off x="6606540" y="4754880"/>
            <a:ext cx="86868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n116"/>
          <p:cNvSpPr txBox="1"/>
          <p:nvPr/>
        </p:nvSpPr>
        <p:spPr>
          <a:xfrm>
            <a:off x="6400800" y="49103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17" name="n117"/>
          <p:cNvSpPr/>
          <p:nvPr/>
        </p:nvSpPr>
        <p:spPr>
          <a:xfrm>
            <a:off x="5879592" y="4800600"/>
            <a:ext cx="521208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8" name="n118"/>
          <p:cNvSpPr/>
          <p:nvPr/>
        </p:nvSpPr>
        <p:spPr>
          <a:xfrm flipV="1">
            <a:off x="7223760" y="416052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n119"/>
          <p:cNvSpPr/>
          <p:nvPr/>
        </p:nvSpPr>
        <p:spPr>
          <a:xfrm flipH="1">
            <a:off x="5943600" y="4160520"/>
            <a:ext cx="12801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20" name="n120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1" name="n121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2" name="n122"/>
          <p:cNvSpPr/>
          <p:nvPr/>
        </p:nvSpPr>
        <p:spPr>
          <a:xfrm>
            <a:off x="5824728" y="47274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3" name="n123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4" name="n124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5" name="n125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6" name="n126"/>
          <p:cNvSpPr/>
          <p:nvPr/>
        </p:nvSpPr>
        <p:spPr>
          <a:xfrm>
            <a:off x="8842248" y="2578608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7" name="n127"/>
          <p:cNvSpPr txBox="1"/>
          <p:nvPr/>
        </p:nvSpPr>
        <p:spPr>
          <a:xfrm>
            <a:off x="9144000" y="2816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</a:rPr>
              <a:t>✓  Steam reached flare</a:t>
            </a:r>
          </a:p>
        </p:txBody>
      </p:sp>
      <p:sp>
        <p:nvSpPr>
          <p:cNvPr id="128" name="n12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9" name="n12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0" name="n13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1" name="n13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2" name="n13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3" name="n13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4" name="n13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5" name="n13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6" name="n13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7" name="n13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8" name="n13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9" name="n13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0" name="n14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1" name="n14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2" name="n14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3" name="n14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4" name="n14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5" name="n14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6" name="n14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7" name="n14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49" name="s25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t2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67"/>
          <p:cNvSpPr/>
          <p:nvPr/>
        </p:nvSpPr>
        <p:spPr>
          <a:xfrm>
            <a:off x="4892040" y="20574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68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69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0"/>
          <p:cNvSpPr/>
          <p:nvPr/>
        </p:nvSpPr>
        <p:spPr>
          <a:xfrm>
            <a:off x="4828032" y="365760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2" name="tag271"/>
          <p:cNvSpPr/>
          <p:nvPr/>
        </p:nvSpPr>
        <p:spPr>
          <a:xfrm>
            <a:off x="4892040" y="37216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2"/>
          <p:cNvSpPr/>
          <p:nvPr/>
        </p:nvSpPr>
        <p:spPr>
          <a:xfrm>
            <a:off x="4800600" y="20574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3"/>
          <p:cNvSpPr/>
          <p:nvPr/>
        </p:nvSpPr>
        <p:spPr>
          <a:xfrm>
            <a:off x="4800600" y="372160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27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27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281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282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283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287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288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289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290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291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292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293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294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295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296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297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298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299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301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3" name="s302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4" name="t303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9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6" presetClass="emph" presetSubtype="0" repeatCount="4000" fill="hold" grpId="2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18" dur="3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6" presetClass="emph" presetSubtype="0" repeatCount="4000" fill="hold" grpId="2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20" dur="3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27" dur="18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33" dur="18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3" nodeType="withEffect">
                                  <p:stCondLst>
                                    <p:cond delay="2800"/>
                                  </p:stCondLst>
                                  <p:childTnLst>
                                    <p:animMotion origin="layout" path="M 0 0 L 0.0638 0.0000 L 0.1088 -0.0200 L 0.1088 -0.0933 L 0.0075 -0.0933 E" pathEditMode="relative" ptsTypes="AAAAA">
                                      <p:cBhvr>
                                        <p:cTn id="39" dur="18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5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5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52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6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1" nodeType="withEffect">
                                  <p:stCondLst>
                                    <p:cond delay="5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6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589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7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62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8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65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8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68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97" dur="42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03" dur="42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09" dur="42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15" dur="42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26" dur="350" autoRev="1" fill="hold"/>
                                        <p:tgtEl>
                                          <p:spTgt spid="96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33" dur="35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140" dur="35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6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50" dur="46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56" dur="46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556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62" dur="4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1" nodeType="withEffect">
                                  <p:stCondLst>
                                    <p:cond delay="592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68" dur="4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628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74" dur="4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66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000 L 0.0000 0.0640 L 0.1988 0.0640 L 0.1988 -0.3627 L 0.2138 -0.4093 L 0.2138 -0.4360 L 0.4275 -0.4360 L 0.4275 -0.2960 L 0.5063 -0.2760 L 0.5063 0.0240 E" pathEditMode="relative" ptsTypes="AAAAAAAAAAA">
                                      <p:cBhvr>
                                        <p:cTn id="180" dur="4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grpId="1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93" dur="42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4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199" dur="42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05" dur="42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11" dur="42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2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8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500"/>
                            </p:stCondLst>
                            <p:childTnLst>
                              <p:par>
                                <p:cTn id="22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950"/>
                            </p:stCondLst>
                            <p:childTnLst>
                              <p:par>
                                <p:cTn id="227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233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239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245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251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4800"/>
                            </p:stCondLst>
                            <p:childTnLst>
                              <p:par>
                                <p:cTn id="25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8" fill="hold">
                      <p:stCondLst>
                        <p:cond delay="indefinite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6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65" dur="42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71" dur="42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77" dur="42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283" dur="42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4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99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304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309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3" fill="hold">
                            <p:stCondLst>
                              <p:cond delay="2000"/>
                            </p:stCondLst>
                            <p:childTnLst>
                              <p:par>
                                <p:cTn id="314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320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326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7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332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338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1" fill="hold">
                      <p:stCondLst>
                        <p:cond delay="indefinite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48" dur="42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54" dur="42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60" dur="42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1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366" dur="42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7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72" dur="9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3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ntr" presetSubtype="0" fill="hold" grpId="0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0" presetClass="path" presetSubtype="0" fill="hold" grpId="3" nodeType="withEffect">
                                  <p:stCondLst>
                                    <p:cond delay="295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78" dur="9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1" presetClass="exit" presetSubtype="0" fill="hold" grpId="1" nodeType="withEffect">
                                  <p:stCondLst>
                                    <p:cond delay="385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84" dur="9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" presetClass="entr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0" presetClass="path" presetSubtype="0" fill="hold" grpId="3" nodeType="withEffect">
                                  <p:stCondLst>
                                    <p:cond delay="3650"/>
                                  </p:stCondLst>
                                  <p:childTnLst>
                                    <p:animMotion origin="layout" path="M 0 0 L 0.0000 0.2800 E" pathEditMode="relative" ptsTypes="AA">
                                      <p:cBhvr>
                                        <p:cTn id="390" dur="9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1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2138 -0.1973 L 0.2138 -0.0573 L 0.2700 -0.0573 L 0.2700 -0.1973 L 0.3675 -0.1973 E" pathEditMode="relative" ptsTypes="AAAAAAA">
                                      <p:cBhvr>
                                        <p:cTn id="397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2138 -0.2773 L 0.2138 -0.1373 L 0.2700 -0.1373 L 0.2700 -0.2773 L 0.3675 -0.2773 E" pathEditMode="relative" ptsTypes="AAAAAAA">
                                      <p:cBhvr>
                                        <p:cTn id="402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6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07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08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09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10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413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419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0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2" fill="hold">
                      <p:stCondLst>
                        <p:cond delay="indefinite"/>
                      </p:stCondLst>
                      <p:childTnLst>
                        <p:par>
                          <p:cTn id="423" fill="hold">
                            <p:stCondLst>
                              <p:cond delay="0"/>
                            </p:stCondLst>
                            <p:childTnLst>
                              <p:par>
                                <p:cTn id="42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29" dur="42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0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35" dur="42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41" dur="42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2" presetID="1" presetClass="exit" presetSubtype="0" fill="hold" grpId="1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6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3263 0.0000 L 0.3263 -0.4267 L 0.3413 -0.4733 L 0.3413 -0.5000 L 0.5550 -0.5000 L 0.5550 -0.3600 L 0.6113 -0.3600 L 0.6113 -0.5000 L 0.7313 -0.5000 L 0.7313 -0.5267 E" pathEditMode="relative" ptsTypes="AAAAAAAAAAA">
                                      <p:cBhvr>
                                        <p:cTn id="447" dur="42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8" presetID="1" presetClass="exit" presetSubtype="0" fill="hold" grpId="1" nodeType="withEffect">
                                  <p:stCondLst>
                                    <p:cond delay="660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59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0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65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6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71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2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477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8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0" fill="hold">
                            <p:stCondLst>
                              <p:cond delay="3000"/>
                            </p:stCondLst>
                            <p:childTnLst>
                              <p:par>
                                <p:cTn id="48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4200"/>
                            </p:stCondLst>
                            <p:childTnLst>
                              <p:par>
                                <p:cTn id="48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488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0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5" fill="hold">
                      <p:stCondLst>
                        <p:cond delay="indefinite"/>
                      </p:stCondLst>
                      <p:childTnLst>
                        <p:par>
                          <p:cTn id="496" fill="hold">
                            <p:stCondLst>
                              <p:cond delay="0"/>
                            </p:stCondLst>
                            <p:childTnLst>
                              <p:par>
                                <p:cTn id="49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6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7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4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8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0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1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3" fill="hold">
                            <p:stCondLst>
                              <p:cond delay="2000"/>
                            </p:stCondLst>
                            <p:childTnLst>
                              <p:par>
                                <p:cTn id="5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6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7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4" fill="hold">
                            <p:stCondLst>
                              <p:cond delay="2500"/>
                            </p:stCondLst>
                            <p:childTnLst>
                              <p:par>
                                <p:cTn id="53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6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3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8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22" grpId="2" animBg="1"/>
      <p:bldP spid="23" grpId="2" animBg="1"/>
      <p:bldP spid="31" grpId="0" animBg="1"/>
      <p:bldP spid="32" grpId="0" animBg="1"/>
      <p:bldP spid="35" grpId="0" animBg="1"/>
      <p:bldP spid="3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49" grpId="0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8" grpId="1" animBg="1"/>
      <p:bldP spid="58" grpId="2" animBg="1"/>
      <p:bldP spid="59" grpId="1" animBg="1"/>
      <p:bldP spid="59" grpId="3" animBg="1"/>
      <p:bldP spid="60" grpId="1" animBg="1"/>
      <p:bldP spid="60" grpId="3" animBg="1"/>
      <p:bldP spid="61" grpId="1" animBg="1"/>
      <p:bldP spid="61" grpId="2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2" animBg="1"/>
      <p:bldP spid="94" grpId="0" animBg="1"/>
      <p:bldP spid="94" grpId="2" animBg="1"/>
      <p:bldP spid="96" grpId="0" animBg="1"/>
      <p:bldP spid="96" grpId="1" animBg="1"/>
      <p:bldP spid="96" grpId="2" animBg="1"/>
      <p:bldP spid="97" grpId="0" animBg="1"/>
      <p:bldP spid="97" grpId="1" animBg="1"/>
      <p:bldP spid="97" grpId="2" animBg="1"/>
      <p:bldP spid="98" grpId="0" animBg="1"/>
      <p:bldP spid="98" grpId="1" animBg="1"/>
      <p:bldP spid="98" grpId="2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8" grpId="0" animBg="1"/>
      <p:bldP spid="128" grpId="1" animBg="1"/>
      <p:bldP spid="128" grpId="3" animBg="1"/>
      <p:bldP spid="129" grpId="0" animBg="1"/>
      <p:bldP spid="129" grpId="1" animBg="1"/>
      <p:bldP spid="129" grpId="3" animBg="1"/>
      <p:bldP spid="130" grpId="0" animBg="1"/>
      <p:bldP spid="130" grpId="1" animBg="1"/>
      <p:bldP spid="130" grpId="3" animBg="1"/>
      <p:bldP spid="131" grpId="0" animBg="1"/>
      <p:bldP spid="131" grpId="1" animBg="1"/>
      <p:bldP spid="131" grpId="3" animBg="1"/>
      <p:bldP spid="132" grpId="0" animBg="1"/>
      <p:bldP spid="132" grpId="1" animBg="1"/>
      <p:bldP spid="132" grpId="3" animBg="1"/>
      <p:bldP spid="133" grpId="0" animBg="1"/>
      <p:bldP spid="133" grpId="1" animBg="1"/>
      <p:bldP spid="133" grpId="3" animBg="1"/>
      <p:bldP spid="134" grpId="0" animBg="1"/>
      <p:bldP spid="134" grpId="1" animBg="1"/>
      <p:bldP spid="134" grpId="3" animBg="1"/>
      <p:bldP spid="135" grpId="0" animBg="1"/>
      <p:bldP spid="135" grpId="1" animBg="1"/>
      <p:bldP spid="135" grpId="3" animBg="1"/>
      <p:bldP spid="136" grpId="0" animBg="1"/>
      <p:bldP spid="136" grpId="1" animBg="1"/>
      <p:bldP spid="136" grpId="3" animBg="1"/>
      <p:bldP spid="137" grpId="0" animBg="1"/>
      <p:bldP spid="137" grpId="1" animBg="1"/>
      <p:bldP spid="137" grpId="3" animBg="1"/>
      <p:bldP spid="138" grpId="0" animBg="1"/>
      <p:bldP spid="138" grpId="1" animBg="1"/>
      <p:bldP spid="138" grpId="3" animBg="1"/>
      <p:bldP spid="139" grpId="0" animBg="1"/>
      <p:bldP spid="139" grpId="1" animBg="1"/>
      <p:bldP spid="139" grpId="3" animBg="1"/>
      <p:bldP spid="140" grpId="0" animBg="1"/>
      <p:bldP spid="140" grpId="1" animBg="1"/>
      <p:bldP spid="140" grpId="3" animBg="1"/>
      <p:bldP spid="141" grpId="0" animBg="1"/>
      <p:bldP spid="141" grpId="1" animBg="1"/>
      <p:bldP spid="141" grpId="3" animBg="1"/>
      <p:bldP spid="142" grpId="0" animBg="1"/>
      <p:bldP spid="142" grpId="1" animBg="1"/>
      <p:bldP spid="142" grpId="3" animBg="1"/>
      <p:bldP spid="143" grpId="0" animBg="1"/>
      <p:bldP spid="143" grpId="1" animBg="1"/>
      <p:bldP spid="143" grpId="3" animBg="1"/>
      <p:bldP spid="144" grpId="0" animBg="1"/>
      <p:bldP spid="144" grpId="1" animBg="1"/>
      <p:bldP spid="144" grpId="3" animBg="1"/>
      <p:bldP spid="145" grpId="0" animBg="1"/>
      <p:bldP spid="145" grpId="1" animBg="1"/>
      <p:bldP spid="145" grpId="3" animBg="1"/>
      <p:bldP spid="146" grpId="0" animBg="1"/>
      <p:bldP spid="146" grpId="1" animBg="1"/>
      <p:bldP spid="146" grpId="3" animBg="1"/>
      <p:bldP spid="147" grpId="0" animBg="1"/>
      <p:bldP spid="147" grpId="1" animBg="1"/>
      <p:bldP spid="147" grpId="3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4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305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306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308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309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310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311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312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s313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314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5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316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6" name="s317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318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s319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320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1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2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323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3" name="s324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4" name="s325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5" name="t326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27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7" name="s328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329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9" name="s330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331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1" name="s332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t333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4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335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5" name="s336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6" name="t337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38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8" name="t33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39" name="t340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28" name="dec128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1" name="t342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3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29" name="dec129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4" name="t345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6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4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0" name="dec13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47" name="t348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49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9" name="t35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7" name="tag358"/>
          <p:cNvSpPr/>
          <p:nvPr/>
        </p:nvSpPr>
        <p:spPr>
          <a:xfrm>
            <a:off x="484632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8" name="tag359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0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1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1" name="tag362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3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4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5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366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367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369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370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371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372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373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374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375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376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377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378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379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380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381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382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383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384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385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386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387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388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389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393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394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395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396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397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398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399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400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401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402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403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404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405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406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407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408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409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410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411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412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413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414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415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416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417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418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419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420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421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425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5" name="s426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6" name="t427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1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92" dur="35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99" dur="35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0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206" dur="350" autoRev="1" fill="hold"/>
                                        <p:tgtEl>
                                          <p:spTgt spid="130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16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22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3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28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34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40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1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46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2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8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4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0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6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2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8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9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4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0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1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6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7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2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3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8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9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4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5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0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6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7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42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3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48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54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8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6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0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74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5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78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82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86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90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94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0.1200 E" pathEditMode="relative" ptsTypes="AA">
                                      <p:cBhvr>
                                        <p:cTn id="403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4" fill="hold">
                            <p:stCondLst>
                              <p:cond delay="900"/>
                            </p:stCondLst>
                            <p:childTnLst>
                              <p:par>
                                <p:cTn id="40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415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6" fill="hold">
                            <p:stCondLst>
                              <p:cond delay="1700"/>
                            </p:stCondLst>
                            <p:childTnLst>
                              <p:par>
                                <p:cTn id="41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8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24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5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29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34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5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46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7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51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56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57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58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9" fill="hold">
                      <p:stCondLst>
                        <p:cond delay="indefinite"/>
                      </p:stCondLst>
                      <p:childTnLst>
                        <p:par>
                          <p:cTn id="460" fill="hold">
                            <p:stCondLst>
                              <p:cond delay="0"/>
                            </p:stCondLst>
                            <p:childTnLst>
                              <p:par>
                                <p:cTn id="4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67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8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4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5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90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1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96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7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502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3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508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9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8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0" fill="hold">
                            <p:stCondLst>
                              <p:cond delay="3800"/>
                            </p:stCondLst>
                            <p:childTnLst>
                              <p:par>
                                <p:cTn id="52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4800"/>
                            </p:stCondLst>
                            <p:childTnLst>
                              <p:par>
                                <p:cTn id="5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28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0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2" fill="hold">
                      <p:stCondLst>
                        <p:cond delay="indefinite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4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8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1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8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0" fill="hold">
                            <p:stCondLst>
                              <p:cond delay="2000"/>
                            </p:stCondLst>
                            <p:childTnLst>
                              <p:par>
                                <p:cTn id="56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4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5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9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1" fill="hold">
                            <p:stCondLst>
                              <p:cond delay="2500"/>
                            </p:stCondLst>
                            <p:childTnLst>
                              <p:par>
                                <p:cTn id="572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3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7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5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11" grpId="1" animBg="1"/>
      <p:bldP spid="12" grpId="0" animBg="1"/>
      <p:bldP spid="12" grpId="1" animBg="1"/>
      <p:bldP spid="17" grpId="2" animBg="1"/>
      <p:bldP spid="18" grpId="2" animBg="1"/>
      <p:bldP spid="21" grpId="0" animBg="1"/>
      <p:bldP spid="22" grpId="0" animBg="1"/>
      <p:bldP spid="23" grpId="0" animBg="1"/>
      <p:bldP spid="24" grpId="0" animBg="1"/>
      <p:bldP spid="26" grpId="0" animBg="1"/>
      <p:bldP spid="30" grpId="0" animBg="1"/>
      <p:bldP spid="31" grpId="0" animBg="1"/>
      <p:bldP spid="34" grpId="0" animBg="1"/>
      <p:bldP spid="3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48" grpId="0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7" grpId="1" animBg="1"/>
      <p:bldP spid="57" grpId="3" animBg="1"/>
      <p:bldP spid="58" grpId="1" animBg="1"/>
      <p:bldP spid="58" grpId="3" animBg="1"/>
      <p:bldP spid="59" grpId="1" animBg="1"/>
      <p:bldP spid="59" grpId="3" animBg="1"/>
      <p:bldP spid="60" grpId="1" animBg="1"/>
      <p:bldP spid="60" grpId="2" animBg="1"/>
      <p:bldP spid="61" grpId="1" animBg="1"/>
      <p:bldP spid="61" grpId="3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4" grpId="3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2" animBg="1"/>
      <p:bldP spid="126" grpId="0" animBg="1"/>
      <p:bldP spid="126" grpId="2" animBg="1"/>
      <p:bldP spid="128" grpId="0" animBg="1"/>
      <p:bldP spid="128" grpId="1" animBg="1"/>
      <p:bldP spid="128" grpId="2" animBg="1"/>
      <p:bldP spid="129" grpId="0" animBg="1"/>
      <p:bldP spid="129" grpId="1" animBg="1"/>
      <p:bldP spid="129" grpId="2" animBg="1"/>
      <p:bldP spid="130" grpId="0" animBg="1"/>
      <p:bldP spid="130" grpId="1" animBg="1"/>
      <p:bldP spid="130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28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429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430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432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433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s434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s435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436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37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438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439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441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442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443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t444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5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t446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47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448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449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s450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451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7" name="s452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453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454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0" name="s455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t456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57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3" name="s458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459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5" name="t460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1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7" name="s462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8" name="s463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9" name="s464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s465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1" name="s466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2" name="t467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68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4" name="t46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0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6" name="s471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472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8" name="s473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9" name="s474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t476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77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78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100" name="n100"/>
          <p:cNvSpPr/>
          <p:nvPr/>
        </p:nvSpPr>
        <p:spPr>
          <a:xfrm flipV="1">
            <a:off x="4572000" y="137160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n101"/>
          <p:cNvSpPr/>
          <p:nvPr/>
        </p:nvSpPr>
        <p:spPr>
          <a:xfrm>
            <a:off x="4572000" y="1371600"/>
            <a:ext cx="1188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2" name="n102"/>
          <p:cNvSpPr/>
          <p:nvPr/>
        </p:nvSpPr>
        <p:spPr>
          <a:xfrm>
            <a:off x="5760720" y="12070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03" name="n103"/>
          <p:cNvSpPr/>
          <p:nvPr/>
        </p:nvSpPr>
        <p:spPr>
          <a:xfrm>
            <a:off x="5908853" y="1305763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n104"/>
          <p:cNvSpPr/>
          <p:nvPr/>
        </p:nvSpPr>
        <p:spPr>
          <a:xfrm>
            <a:off x="5908853" y="1371600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n105"/>
          <p:cNvSpPr/>
          <p:nvPr/>
        </p:nvSpPr>
        <p:spPr>
          <a:xfrm>
            <a:off x="5908853" y="1437437"/>
            <a:ext cx="61813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n106"/>
          <p:cNvSpPr txBox="1"/>
          <p:nvPr/>
        </p:nvSpPr>
        <p:spPr>
          <a:xfrm>
            <a:off x="5486400" y="15727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07" name="n107"/>
          <p:cNvSpPr/>
          <p:nvPr/>
        </p:nvSpPr>
        <p:spPr>
          <a:xfrm>
            <a:off x="6675120" y="1371600"/>
            <a:ext cx="6400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n108"/>
          <p:cNvSpPr/>
          <p:nvPr/>
        </p:nvSpPr>
        <p:spPr>
          <a:xfrm>
            <a:off x="7315200" y="137160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09" name="n109"/>
          <p:cNvSpPr/>
          <p:nvPr/>
        </p:nvSpPr>
        <p:spPr>
          <a:xfrm>
            <a:off x="7040880" y="178308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0" name="n110"/>
          <p:cNvSpPr/>
          <p:nvPr/>
        </p:nvSpPr>
        <p:spPr>
          <a:xfrm>
            <a:off x="7095744" y="2059686"/>
            <a:ext cx="1261872" cy="191110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1" name="n111"/>
          <p:cNvSpPr txBox="1"/>
          <p:nvPr/>
        </p:nvSpPr>
        <p:spPr>
          <a:xfrm>
            <a:off x="6035040" y="192024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12" name="n112"/>
          <p:cNvSpPr/>
          <p:nvPr/>
        </p:nvSpPr>
        <p:spPr>
          <a:xfrm flipV="1">
            <a:off x="8183880" y="1600200"/>
            <a:ext cx="0" cy="210312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n113"/>
          <p:cNvSpPr/>
          <p:nvPr/>
        </p:nvSpPr>
        <p:spPr>
          <a:xfrm>
            <a:off x="8183880" y="160020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14" name="n114"/>
          <p:cNvSpPr/>
          <p:nvPr/>
        </p:nvSpPr>
        <p:spPr>
          <a:xfrm>
            <a:off x="8869680" y="1325880"/>
            <a:ext cx="182880" cy="9601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15" name="n115"/>
          <p:cNvSpPr/>
          <p:nvPr/>
        </p:nvSpPr>
        <p:spPr>
          <a:xfrm>
            <a:off x="8741664" y="822960"/>
            <a:ext cx="438912" cy="548640"/>
          </a:xfrm>
          <a:prstGeom prst="ellipse">
            <a:avLst/>
          </a:prstGeom>
          <a:solidFill>
            <a:srgbClr val="F7C548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6" name="n116"/>
          <p:cNvSpPr/>
          <p:nvPr/>
        </p:nvSpPr>
        <p:spPr>
          <a:xfrm>
            <a:off x="8833104" y="1033272"/>
            <a:ext cx="256032" cy="329184"/>
          </a:xfrm>
          <a:prstGeom prst="ellipse">
            <a:avLst/>
          </a:prstGeom>
          <a:solidFill>
            <a:srgbClr val="FF8C1A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17" name="n117"/>
          <p:cNvSpPr txBox="1"/>
          <p:nvPr/>
        </p:nvSpPr>
        <p:spPr>
          <a:xfrm>
            <a:off x="9144000" y="14630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FLARE / CLOSED VENT</a:t>
            </a:r>
          </a:p>
        </p:txBody>
      </p:sp>
      <p:sp>
        <p:nvSpPr>
          <p:cNvPr id="118" name="n118"/>
          <p:cNvSpPr/>
          <p:nvPr/>
        </p:nvSpPr>
        <p:spPr>
          <a:xfrm>
            <a:off x="7772400" y="2286000"/>
            <a:ext cx="0" cy="228600"/>
          </a:xfrm>
          <a:prstGeom prst="line">
            <a:avLst/>
          </a:prstGeom>
          <a:noFill/>
          <a:ln w="381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n119"/>
          <p:cNvSpPr/>
          <p:nvPr/>
        </p:nvSpPr>
        <p:spPr>
          <a:xfrm>
            <a:off x="7772400" y="2514600"/>
            <a:ext cx="1920240" cy="0"/>
          </a:xfrm>
          <a:prstGeom prst="line">
            <a:avLst/>
          </a:prstGeom>
          <a:noFill/>
          <a:ln w="381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n120"/>
          <p:cNvSpPr/>
          <p:nvPr/>
        </p:nvSpPr>
        <p:spPr>
          <a:xfrm>
            <a:off x="3017520" y="448056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21" name="n121"/>
          <p:cNvSpPr/>
          <p:nvPr/>
        </p:nvSpPr>
        <p:spPr>
          <a:xfrm>
            <a:off x="3223260" y="461772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n122"/>
          <p:cNvSpPr/>
          <p:nvPr/>
        </p:nvSpPr>
        <p:spPr>
          <a:xfrm>
            <a:off x="3223260" y="470916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n123"/>
          <p:cNvSpPr/>
          <p:nvPr/>
        </p:nvSpPr>
        <p:spPr>
          <a:xfrm>
            <a:off x="3223260" y="4800600"/>
            <a:ext cx="457200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n124"/>
          <p:cNvSpPr txBox="1"/>
          <p:nvPr/>
        </p:nvSpPr>
        <p:spPr>
          <a:xfrm>
            <a:off x="2926080" y="495604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25" name="n125"/>
          <p:cNvSpPr/>
          <p:nvPr/>
        </p:nvSpPr>
        <p:spPr>
          <a:xfrm flipH="1">
            <a:off x="3886200" y="4846320"/>
            <a:ext cx="210312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26" name="n126"/>
          <p:cNvSpPr/>
          <p:nvPr/>
        </p:nvSpPr>
        <p:spPr>
          <a:xfrm flipV="1">
            <a:off x="3474720" y="4389120"/>
            <a:ext cx="0" cy="914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n127"/>
          <p:cNvSpPr/>
          <p:nvPr/>
        </p:nvSpPr>
        <p:spPr>
          <a:xfrm>
            <a:off x="3474720" y="438912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5" name="s480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6" name="t4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8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s48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49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7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497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498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499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50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50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50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515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516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517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521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7" name="s522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8" name="t523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animBg="1"/>
      <p:bldP spid="6" grpId="1" animBg="1"/>
      <p:bldP spid="7" grpId="1" animBg="1"/>
      <p:bldP spid="8" grpId="1" animBg="1"/>
      <p:bldP spid="8" grpId="3" animBg="1"/>
      <p:bldP spid="9" grpId="1" animBg="1"/>
      <p:bldP spid="9" grpId="3" animBg="1"/>
      <p:bldP spid="10" grpId="1" animBg="1"/>
      <p:bldP spid="10" grpId="3" animBg="1"/>
      <p:bldP spid="13" grpId="1" animBg="1"/>
      <p:bldP spid="14" grpId="1" animBg="1"/>
      <p:bldP spid="15" grpId="1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5" grpId="0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3" grpId="0" animBg="1"/>
      <p:bldP spid="63" grpId="1" animBg="1"/>
      <p:bldP spid="63" grpId="3" animBg="1"/>
      <p:bldP spid="64" grpId="0" animBg="1"/>
      <p:bldP spid="64" grpId="1" animBg="1"/>
      <p:bldP spid="64" grpId="3" animBg="1"/>
      <p:bldP spid="65" grpId="0" animBg="1"/>
      <p:bldP spid="65" grpId="1" animBg="1"/>
      <p:bldP spid="65" grpId="3" animBg="1"/>
      <p:bldP spid="66" grpId="0" animBg="1"/>
      <p:bldP spid="66" grpId="1" animBg="1"/>
      <p:bldP spid="66" grpId="3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2" animBg="1"/>
      <p:bldP spid="98" grpId="0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4"/>
          <p:cNvSpPr/>
          <p:nvPr/>
        </p:nvSpPr>
        <p:spPr>
          <a:xfrm>
            <a:off x="480060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525"/>
          <p:cNvSpPr/>
          <p:nvPr/>
        </p:nvSpPr>
        <p:spPr>
          <a:xfrm>
            <a:off x="690372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s526"/>
          <p:cNvSpPr/>
          <p:nvPr/>
        </p:nvSpPr>
        <p:spPr>
          <a:xfrm>
            <a:off x="4480560" y="4462272"/>
            <a:ext cx="3291840" cy="5486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527"/>
          <p:cNvSpPr/>
          <p:nvPr/>
        </p:nvSpPr>
        <p:spPr>
          <a:xfrm>
            <a:off x="477316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528"/>
          <p:cNvSpPr/>
          <p:nvPr/>
        </p:nvSpPr>
        <p:spPr>
          <a:xfrm>
            <a:off x="724204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529"/>
          <p:cNvSpPr/>
          <p:nvPr/>
        </p:nvSpPr>
        <p:spPr>
          <a:xfrm>
            <a:off x="445312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s530"/>
          <p:cNvSpPr/>
          <p:nvPr/>
        </p:nvSpPr>
        <p:spPr>
          <a:xfrm>
            <a:off x="760780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531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532"/>
          <p:cNvSpPr/>
          <p:nvPr/>
        </p:nvSpPr>
        <p:spPr>
          <a:xfrm>
            <a:off x="4667098" y="2585923"/>
            <a:ext cx="691286" cy="1320394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s533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534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535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536"/>
          <p:cNvSpPr/>
          <p:nvPr/>
        </p:nvSpPr>
        <p:spPr>
          <a:xfrm>
            <a:off x="6318504" y="2690165"/>
            <a:ext cx="91440" cy="41696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6" name="s537"/>
          <p:cNvSpPr/>
          <p:nvPr/>
        </p:nvSpPr>
        <p:spPr>
          <a:xfrm>
            <a:off x="6971386" y="3211373"/>
            <a:ext cx="91440" cy="3474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s538"/>
          <p:cNvSpPr/>
          <p:nvPr/>
        </p:nvSpPr>
        <p:spPr>
          <a:xfrm>
            <a:off x="5819242" y="3524098"/>
            <a:ext cx="91440" cy="27797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539"/>
          <p:cNvSpPr txBox="1"/>
          <p:nvPr/>
        </p:nvSpPr>
        <p:spPr>
          <a:xfrm>
            <a:off x="4023360" y="45537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vessel – temperature-limited</a:t>
            </a:r>
            <a:endParaRPr lang="en-US" sz="1100" dirty="0"/>
          </a:p>
        </p:txBody>
      </p:sp>
      <p:sp>
        <p:nvSpPr>
          <p:cNvPr id="19" name="t540"/>
          <p:cNvSpPr txBox="1"/>
          <p:nvPr/>
        </p:nvSpPr>
        <p:spPr>
          <a:xfrm>
            <a:off x="4023360" y="4828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20" name="s541"/>
          <p:cNvSpPr/>
          <p:nvPr/>
        </p:nvSpPr>
        <p:spPr>
          <a:xfrm flipV="1">
            <a:off x="7315200" y="14630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1" name="t542"/>
          <p:cNvSpPr txBox="1"/>
          <p:nvPr/>
        </p:nvSpPr>
        <p:spPr>
          <a:xfrm>
            <a:off x="539496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22" name="s543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t544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24" name="s545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t546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26" name="s547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548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549"/>
          <p:cNvSpPr/>
          <p:nvPr/>
        </p:nvSpPr>
        <p:spPr>
          <a:xfrm>
            <a:off x="315468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550"/>
          <p:cNvSpPr/>
          <p:nvPr/>
        </p:nvSpPr>
        <p:spPr>
          <a:xfrm flipV="1">
            <a:off x="4526280" y="4114800"/>
            <a:ext cx="0" cy="10698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0" name="s551"/>
          <p:cNvSpPr/>
          <p:nvPr/>
        </p:nvSpPr>
        <p:spPr>
          <a:xfrm flipV="1">
            <a:off x="4846320" y="2011680"/>
            <a:ext cx="0" cy="1828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552"/>
          <p:cNvSpPr/>
          <p:nvPr/>
        </p:nvSpPr>
        <p:spPr>
          <a:xfrm flipH="1">
            <a:off x="1371600" y="2011680"/>
            <a:ext cx="34747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553"/>
          <p:cNvSpPr/>
          <p:nvPr/>
        </p:nvSpPr>
        <p:spPr>
          <a:xfrm>
            <a:off x="1371600" y="2011680"/>
            <a:ext cx="0" cy="128016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3" name="s554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t555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35" name="t556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36" name="t557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97" name="dec97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Decreasing ↓</a:t>
            </a:r>
            <a:endParaRPr lang="en-US" sz="1300" dirty="0"/>
          </a:p>
        </p:txBody>
      </p:sp>
      <p:sp>
        <p:nvSpPr>
          <p:cNvPr id="37" name="t558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8" name="t559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9" name="t560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40" name="t561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41" name="t562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42" name="t563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43" name="t564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44" name="t565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45" name="t566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98" name="dec98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Decreasing ↓</a:t>
            </a:r>
            <a:endParaRPr lang="en-US" sz="1300" dirty="0"/>
          </a:p>
        </p:txBody>
      </p:sp>
      <p:sp>
        <p:nvSpPr>
          <p:cNvPr id="46" name="t567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7" name="s568"/>
          <p:cNvSpPr/>
          <p:nvPr/>
        </p:nvSpPr>
        <p:spPr>
          <a:xfrm>
            <a:off x="768096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s569"/>
          <p:cNvSpPr/>
          <p:nvPr/>
        </p:nvSpPr>
        <p:spPr>
          <a:xfrm>
            <a:off x="7680960" y="434340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9" name="s570"/>
          <p:cNvSpPr/>
          <p:nvPr/>
        </p:nvSpPr>
        <p:spPr>
          <a:xfrm>
            <a:off x="10012680" y="39319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0" name="s571"/>
          <p:cNvSpPr/>
          <p:nvPr/>
        </p:nvSpPr>
        <p:spPr>
          <a:xfrm>
            <a:off x="10058400" y="46634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s572"/>
          <p:cNvSpPr/>
          <p:nvPr/>
        </p:nvSpPr>
        <p:spPr>
          <a:xfrm>
            <a:off x="10058400" y="42976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2" name="t573"/>
          <p:cNvSpPr txBox="1"/>
          <p:nvPr/>
        </p:nvSpPr>
        <p:spPr>
          <a:xfrm>
            <a:off x="9646920" y="5010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3" name="s574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4" name="t57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55" name="t57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56" name="t57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57" name="t57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8" name="t57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9" name="t58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60" name="t5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61" name="tag582"/>
          <p:cNvSpPr/>
          <p:nvPr/>
        </p:nvSpPr>
        <p:spPr>
          <a:xfrm>
            <a:off x="51206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2" name="tag583"/>
          <p:cNvSpPr/>
          <p:nvPr/>
        </p:nvSpPr>
        <p:spPr>
          <a:xfrm>
            <a:off x="630936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3" name="s584"/>
          <p:cNvSpPr/>
          <p:nvPr/>
        </p:nvSpPr>
        <p:spPr>
          <a:xfrm>
            <a:off x="5605272" y="3456432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tag585"/>
          <p:cNvSpPr/>
          <p:nvPr/>
        </p:nvSpPr>
        <p:spPr>
          <a:xfrm>
            <a:off x="5669280" y="35204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5" name="tag586"/>
          <p:cNvSpPr/>
          <p:nvPr/>
        </p:nvSpPr>
        <p:spPr>
          <a:xfrm>
            <a:off x="5029200" y="26060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6" name="tag587"/>
          <p:cNvSpPr/>
          <p:nvPr/>
        </p:nvSpPr>
        <p:spPr>
          <a:xfrm>
            <a:off x="5577840" y="35204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7" name="s58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58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9" name="s59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0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1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3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4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5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6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7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8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9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0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1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2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3" name="s60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60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60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60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60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609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610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611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612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613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614"/>
          <p:cNvSpPr/>
          <p:nvPr/>
        </p:nvSpPr>
        <p:spPr>
          <a:xfrm>
            <a:off x="4513478" y="2468880"/>
            <a:ext cx="3226003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4" name="s615"/>
          <p:cNvSpPr/>
          <p:nvPr/>
        </p:nvSpPr>
        <p:spPr>
          <a:xfrm>
            <a:off x="4572000" y="516636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5" name="t616"/>
          <p:cNvSpPr txBox="1"/>
          <p:nvPr/>
        </p:nvSpPr>
        <p:spPr>
          <a:xfrm>
            <a:off x="457200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9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78" dur="35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85" dur="35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2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8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04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0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6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2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8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34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40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3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9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65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71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77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83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4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7" dur="3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450 -0.0867 L 0.0450 -0.1800 E" pathEditMode="relative" ptsTypes="AAA">
                                      <p:cBhvr>
                                        <p:cTn id="204" dur="1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1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7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3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9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45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51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5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6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79" dur="1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84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89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3" fill="hold">
                      <p:stCondLst>
                        <p:cond delay="indefinite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id="2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09" dur="1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15" dur="1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21" dur="1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27" dur="1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33" dur="1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1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3100"/>
                            </p:stCondLst>
                            <p:childTnLst>
                              <p:par>
                                <p:cTn id="3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933 E" pathEditMode="relative" ptsTypes="AA">
                                      <p:cBhvr>
                                        <p:cTn id="349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3" fill="hold">
                      <p:stCondLst>
                        <p:cond delay="indefinite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id="3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4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5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7" fill="hold">
                            <p:stCondLst>
                              <p:cond delay="800"/>
                            </p:stCondLst>
                            <p:childTnLst>
                              <p:par>
                                <p:cTn id="3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8" fill="hold">
                            <p:stCondLst>
                              <p:cond delay="1300"/>
                            </p:stCondLst>
                            <p:childTnLst>
                              <p:par>
                                <p:cTn id="379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0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8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2" dur="400" autoRev="1" fill="hold"/>
                                        <p:tgtEl>
                                          <p:spTgt spid="9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1" animBg="1"/>
      <p:bldP spid="13" grpId="1" animBg="1"/>
      <p:bldP spid="14" grpId="1" animBg="1"/>
      <p:bldP spid="15" grpId="1" animBg="1"/>
      <p:bldP spid="15" grpId="3" animBg="1"/>
      <p:bldP spid="16" grpId="1" animBg="1"/>
      <p:bldP spid="16" grpId="3" animBg="1"/>
      <p:bldP spid="17" grpId="1" animBg="1"/>
      <p:bldP spid="17" grpId="3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6" grpId="1" animBg="1"/>
      <p:bldP spid="37" grpId="0" animBg="1"/>
      <p:bldP spid="39" grpId="1" animBg="1"/>
      <p:bldP spid="40" grpId="0" animBg="1"/>
      <p:bldP spid="42" grpId="1" animBg="1"/>
      <p:bldP spid="43" grpId="0" animBg="1"/>
      <p:bldP spid="45" grpId="1" animBg="1"/>
      <p:bldP spid="46" grpId="0" animBg="1"/>
      <p:bldP spid="50" grpId="0" animBg="1"/>
      <p:bldP spid="51" grpId="0" animBg="1"/>
      <p:bldP spid="53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1" grpId="1" animBg="1"/>
      <p:bldP spid="61" grpId="2" animBg="1"/>
      <p:bldP spid="62" grpId="1" animBg="1"/>
      <p:bldP spid="62" grpId="3" animBg="1"/>
      <p:bldP spid="63" grpId="1" animBg="1"/>
      <p:bldP spid="63" grpId="2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7" grpId="3" animBg="1"/>
      <p:bldP spid="68" grpId="0" animBg="1"/>
      <p:bldP spid="68" grpId="1" animBg="1"/>
      <p:bldP spid="68" grpId="3" animBg="1"/>
      <p:bldP spid="69" grpId="0" animBg="1"/>
      <p:bldP spid="69" grpId="1" animBg="1"/>
      <p:bldP spid="69" grpId="3" animBg="1"/>
      <p:bldP spid="70" grpId="0" animBg="1"/>
      <p:bldP spid="70" grpId="1" animBg="1"/>
      <p:bldP spid="70" grpId="3" animBg="1"/>
      <p:bldP spid="71" grpId="0" animBg="1"/>
      <p:bldP spid="71" grpId="1" animBg="1"/>
      <p:bldP spid="71" grpId="3" animBg="1"/>
      <p:bldP spid="72" grpId="0" animBg="1"/>
      <p:bldP spid="72" grpId="1" animBg="1"/>
      <p:bldP spid="72" grpId="3" animBg="1"/>
      <p:bldP spid="73" grpId="0" animBg="1"/>
      <p:bldP spid="73" grpId="1" animBg="1"/>
      <p:bldP spid="73" grpId="3" animBg="1"/>
      <p:bldP spid="74" grpId="0" animBg="1"/>
      <p:bldP spid="74" grpId="1" animBg="1"/>
      <p:bldP spid="74" grpId="3" animBg="1"/>
      <p:bldP spid="75" grpId="0" animBg="1"/>
      <p:bldP spid="75" grpId="1" animBg="1"/>
      <p:bldP spid="75" grpId="3" animBg="1"/>
      <p:bldP spid="76" grpId="0" animBg="1"/>
      <p:bldP spid="76" grpId="1" animBg="1"/>
      <p:bldP spid="76" grpId="3" animBg="1"/>
      <p:bldP spid="77" grpId="0" animBg="1"/>
      <p:bldP spid="77" grpId="1" animBg="1"/>
      <p:bldP spid="77" grpId="3" animBg="1"/>
      <p:bldP spid="78" grpId="0" animBg="1"/>
      <p:bldP spid="78" grpId="1" animBg="1"/>
      <p:bldP spid="78" grpId="3" animBg="1"/>
      <p:bldP spid="79" grpId="0" animBg="1"/>
      <p:bldP spid="79" grpId="1" animBg="1"/>
      <p:bldP spid="79" grpId="3" animBg="1"/>
      <p:bldP spid="80" grpId="0" animBg="1"/>
      <p:bldP spid="80" grpId="1" animBg="1"/>
      <p:bldP spid="80" grpId="3" animBg="1"/>
      <p:bldP spid="81" grpId="0" animBg="1"/>
      <p:bldP spid="81" grpId="1" animBg="1"/>
      <p:bldP spid="81" grpId="3" animBg="1"/>
      <p:bldP spid="82" grpId="0" animBg="1"/>
      <p:bldP spid="82" grpId="1" animBg="1"/>
      <p:bldP spid="82" grpId="3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2" animBg="1"/>
      <p:bldP spid="95" grpId="0" animBg="1"/>
      <p:bldP spid="95" grpId="2" animBg="1"/>
      <p:bldP spid="97" grpId="0" animBg="1"/>
      <p:bldP spid="97" grpId="1" animBg="1"/>
      <p:bldP spid="97" grpId="2" animBg="1"/>
      <p:bldP spid="98" grpId="0" animBg="1"/>
      <p:bldP spid="98" grpId="1" animBg="1"/>
      <p:bldP spid="9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 &amp; post-treatment – packed columns</a:t>
            </a:r>
            <a:endParaRPr lang="en-US" sz="2800" dirty="0"/>
          </a:p>
        </p:txBody>
      </p:sp>
      <p:sp>
        <p:nvSpPr>
          <p:cNvPr id="3" name="ph0"/>
          <p:cNvSpPr/>
          <p:nvPr/>
        </p:nvSpPr>
        <p:spPr>
          <a:xfrm>
            <a:off x="548640" y="14173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4" name="tag617"/>
          <p:cNvSpPr/>
          <p:nvPr/>
        </p:nvSpPr>
        <p:spPr>
          <a:xfrm>
            <a:off x="548640" y="14173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5" name="ph1"/>
          <p:cNvSpPr/>
          <p:nvPr/>
        </p:nvSpPr>
        <p:spPr>
          <a:xfrm>
            <a:off x="548640" y="1856232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6" name="tag618"/>
          <p:cNvSpPr/>
          <p:nvPr/>
        </p:nvSpPr>
        <p:spPr>
          <a:xfrm>
            <a:off x="548640" y="1856232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7" name="ph2"/>
          <p:cNvSpPr/>
          <p:nvPr/>
        </p:nvSpPr>
        <p:spPr>
          <a:xfrm>
            <a:off x="548640" y="2295144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8" name="tag619"/>
          <p:cNvSpPr/>
          <p:nvPr/>
        </p:nvSpPr>
        <p:spPr>
          <a:xfrm>
            <a:off x="548640" y="2295144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9" name="s620"/>
          <p:cNvSpPr/>
          <p:nvPr/>
        </p:nvSpPr>
        <p:spPr>
          <a:xfrm>
            <a:off x="4937760" y="1691640"/>
            <a:ext cx="1280160" cy="36118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621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622"/>
          <p:cNvSpPr/>
          <p:nvPr/>
        </p:nvSpPr>
        <p:spPr>
          <a:xfrm>
            <a:off x="5029200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s623"/>
          <p:cNvSpPr/>
          <p:nvPr/>
        </p:nvSpPr>
        <p:spPr>
          <a:xfrm>
            <a:off x="5248656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624"/>
          <p:cNvSpPr/>
          <p:nvPr/>
        </p:nvSpPr>
        <p:spPr>
          <a:xfrm>
            <a:off x="5468112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625"/>
          <p:cNvSpPr/>
          <p:nvPr/>
        </p:nvSpPr>
        <p:spPr>
          <a:xfrm>
            <a:off x="5687568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626"/>
          <p:cNvSpPr/>
          <p:nvPr/>
        </p:nvSpPr>
        <p:spPr>
          <a:xfrm>
            <a:off x="5907024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627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628"/>
          <p:cNvSpPr/>
          <p:nvPr/>
        </p:nvSpPr>
        <p:spPr>
          <a:xfrm>
            <a:off x="4974336" y="206654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629"/>
          <p:cNvSpPr/>
          <p:nvPr/>
        </p:nvSpPr>
        <p:spPr>
          <a:xfrm>
            <a:off x="4956048" y="205740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s630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631"/>
          <p:cNvSpPr/>
          <p:nvPr/>
        </p:nvSpPr>
        <p:spPr>
          <a:xfrm>
            <a:off x="5029200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632"/>
          <p:cNvSpPr/>
          <p:nvPr/>
        </p:nvSpPr>
        <p:spPr>
          <a:xfrm>
            <a:off x="5248656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633"/>
          <p:cNvSpPr/>
          <p:nvPr/>
        </p:nvSpPr>
        <p:spPr>
          <a:xfrm>
            <a:off x="5468112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634"/>
          <p:cNvSpPr/>
          <p:nvPr/>
        </p:nvSpPr>
        <p:spPr>
          <a:xfrm>
            <a:off x="5687568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635"/>
          <p:cNvSpPr/>
          <p:nvPr/>
        </p:nvSpPr>
        <p:spPr>
          <a:xfrm>
            <a:off x="5907024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s636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s637"/>
          <p:cNvSpPr/>
          <p:nvPr/>
        </p:nvSpPr>
        <p:spPr>
          <a:xfrm>
            <a:off x="4974336" y="302666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638"/>
          <p:cNvSpPr/>
          <p:nvPr/>
        </p:nvSpPr>
        <p:spPr>
          <a:xfrm>
            <a:off x="4956048" y="30175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s639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640"/>
          <p:cNvSpPr/>
          <p:nvPr/>
        </p:nvSpPr>
        <p:spPr>
          <a:xfrm>
            <a:off x="5029200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641"/>
          <p:cNvSpPr/>
          <p:nvPr/>
        </p:nvSpPr>
        <p:spPr>
          <a:xfrm>
            <a:off x="5248656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642"/>
          <p:cNvSpPr/>
          <p:nvPr/>
        </p:nvSpPr>
        <p:spPr>
          <a:xfrm>
            <a:off x="5468112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s643"/>
          <p:cNvSpPr/>
          <p:nvPr/>
        </p:nvSpPr>
        <p:spPr>
          <a:xfrm>
            <a:off x="5687568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3" name="s644"/>
          <p:cNvSpPr/>
          <p:nvPr/>
        </p:nvSpPr>
        <p:spPr>
          <a:xfrm>
            <a:off x="5907024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s645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5" name="s646"/>
          <p:cNvSpPr/>
          <p:nvPr/>
        </p:nvSpPr>
        <p:spPr>
          <a:xfrm>
            <a:off x="4974336" y="398678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6" name="s647"/>
          <p:cNvSpPr/>
          <p:nvPr/>
        </p:nvSpPr>
        <p:spPr>
          <a:xfrm>
            <a:off x="4956048" y="39776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7" name="t648"/>
          <p:cNvSpPr txBox="1"/>
          <p:nvPr/>
        </p:nvSpPr>
        <p:spPr>
          <a:xfrm>
            <a:off x="46634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38" name="s649"/>
          <p:cNvSpPr/>
          <p:nvPr/>
        </p:nvSpPr>
        <p:spPr>
          <a:xfrm>
            <a:off x="3931920" y="1417320"/>
            <a:ext cx="16459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9" name="s650"/>
          <p:cNvSpPr/>
          <p:nvPr/>
        </p:nvSpPr>
        <p:spPr>
          <a:xfrm>
            <a:off x="5577840" y="1417320"/>
            <a:ext cx="0" cy="27432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0" name="t651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 CHEMISTRY</a:t>
            </a:r>
            <a:endParaRPr lang="en-US" sz="1200" dirty="0"/>
          </a:p>
        </p:txBody>
      </p:sp>
      <p:sp>
        <p:nvSpPr>
          <p:cNvPr id="41" name="t652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42" name="s653"/>
          <p:cNvSpPr/>
          <p:nvPr/>
        </p:nvSpPr>
        <p:spPr>
          <a:xfrm>
            <a:off x="3840480" y="4846320"/>
            <a:ext cx="109728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3" name="t654"/>
          <p:cNvSpPr txBox="1"/>
          <p:nvPr/>
        </p:nvSpPr>
        <p:spPr>
          <a:xfrm>
            <a:off x="384048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44" name="s655"/>
          <p:cNvSpPr/>
          <p:nvPr/>
        </p:nvSpPr>
        <p:spPr>
          <a:xfrm flipV="1">
            <a:off x="5897880" y="146304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5" name="s656"/>
          <p:cNvSpPr/>
          <p:nvPr/>
        </p:nvSpPr>
        <p:spPr>
          <a:xfrm>
            <a:off x="5897880" y="146304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6" name="s657"/>
          <p:cNvSpPr/>
          <p:nvPr/>
        </p:nvSpPr>
        <p:spPr>
          <a:xfrm>
            <a:off x="8595360" y="1463040"/>
            <a:ext cx="0" cy="6400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658"/>
          <p:cNvSpPr/>
          <p:nvPr/>
        </p:nvSpPr>
        <p:spPr>
          <a:xfrm>
            <a:off x="8595360" y="210312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8" name="s659"/>
          <p:cNvSpPr/>
          <p:nvPr/>
        </p:nvSpPr>
        <p:spPr>
          <a:xfrm>
            <a:off x="8778240" y="173736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9" name="s660"/>
          <p:cNvSpPr/>
          <p:nvPr/>
        </p:nvSpPr>
        <p:spPr>
          <a:xfrm>
            <a:off x="8650224" y="123444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0" name="s661"/>
          <p:cNvSpPr/>
          <p:nvPr/>
        </p:nvSpPr>
        <p:spPr>
          <a:xfrm>
            <a:off x="8741664" y="144475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1" name="t662"/>
          <p:cNvSpPr txBox="1"/>
          <p:nvPr/>
        </p:nvSpPr>
        <p:spPr>
          <a:xfrm>
            <a:off x="83210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52" name="tag663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3" name="tag664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4" name="tag665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5" name="tag666"/>
          <p:cNvSpPr/>
          <p:nvPr/>
        </p:nvSpPr>
        <p:spPr>
          <a:xfrm>
            <a:off x="6400800" y="22860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6" name="tag667"/>
          <p:cNvSpPr/>
          <p:nvPr/>
        </p:nvSpPr>
        <p:spPr>
          <a:xfrm>
            <a:off x="6400800" y="3246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7" name="tag668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8" name="tag669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9" name="tag670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60" name="s671"/>
          <p:cNvSpPr/>
          <p:nvPr/>
        </p:nvSpPr>
        <p:spPr>
          <a:xfrm>
            <a:off x="6400800" y="4617720"/>
            <a:ext cx="566928" cy="5029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1" name="t672"/>
          <p:cNvSpPr txBox="1"/>
          <p:nvPr/>
        </p:nvSpPr>
        <p:spPr>
          <a:xfrm>
            <a:off x="6400800" y="47091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62" name="t673"/>
          <p:cNvSpPr txBox="1"/>
          <p:nvPr/>
        </p:nvSpPr>
        <p:spPr>
          <a:xfrm>
            <a:off x="7086600" y="4572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left on the packing – ignites in air</a:t>
            </a:r>
            <a:endParaRPr lang="en-US" sz="1300" dirty="0"/>
          </a:p>
        </p:txBody>
      </p:sp>
      <p:sp>
        <p:nvSpPr>
          <p:cNvPr id="63" name="s674"/>
          <p:cNvSpPr/>
          <p:nvPr/>
        </p:nvSpPr>
        <p:spPr>
          <a:xfrm>
            <a:off x="5577840" y="530352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4" name="s675"/>
          <p:cNvSpPr/>
          <p:nvPr/>
        </p:nvSpPr>
        <p:spPr>
          <a:xfrm>
            <a:off x="5577840" y="553212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5" name="s676"/>
          <p:cNvSpPr/>
          <p:nvPr/>
        </p:nvSpPr>
        <p:spPr>
          <a:xfrm flipV="1">
            <a:off x="8778240" y="5074920"/>
            <a:ext cx="0" cy="4572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6" name="s677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67" name="s678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8" name="s679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9" name="s680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0" name="t681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71" name="s682"/>
          <p:cNvSpPr/>
          <p:nvPr/>
        </p:nvSpPr>
        <p:spPr>
          <a:xfrm>
            <a:off x="548640" y="2880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2" name="t683"/>
          <p:cNvSpPr txBox="1"/>
          <p:nvPr/>
        </p:nvSpPr>
        <p:spPr>
          <a:xfrm>
            <a:off x="731520" y="2990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73" name="t684"/>
          <p:cNvSpPr txBox="1"/>
          <p:nvPr/>
        </p:nvSpPr>
        <p:spPr>
          <a:xfrm>
            <a:off x="731520" y="3383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74" name="t685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1" name="dec131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75" name="t686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6" name="t687"/>
          <p:cNvSpPr txBox="1"/>
          <p:nvPr/>
        </p:nvSpPr>
        <p:spPr>
          <a:xfrm>
            <a:off x="731520" y="3794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77" name="t688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2" name="dec132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78" name="t689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9" name="t690"/>
          <p:cNvSpPr txBox="1"/>
          <p:nvPr/>
        </p:nvSpPr>
        <p:spPr>
          <a:xfrm>
            <a:off x="731520" y="4206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80" name="t691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3" name="dec133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81" name="t692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134" name="n134"/>
          <p:cNvSpPr/>
          <p:nvPr/>
        </p:nvSpPr>
        <p:spPr>
          <a:xfrm>
            <a:off x="6583680" y="129844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35" name="n135"/>
          <p:cNvSpPr/>
          <p:nvPr/>
        </p:nvSpPr>
        <p:spPr>
          <a:xfrm>
            <a:off x="6731813" y="1397203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6" name="n136"/>
          <p:cNvSpPr/>
          <p:nvPr/>
        </p:nvSpPr>
        <p:spPr>
          <a:xfrm>
            <a:off x="6731813" y="1463040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7" name="n137"/>
          <p:cNvSpPr/>
          <p:nvPr/>
        </p:nvSpPr>
        <p:spPr>
          <a:xfrm>
            <a:off x="6731813" y="1528877"/>
            <a:ext cx="435254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8" name="n138"/>
          <p:cNvSpPr txBox="1"/>
          <p:nvPr/>
        </p:nvSpPr>
        <p:spPr>
          <a:xfrm>
            <a:off x="6309360" y="1051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Overhead condenser</a:t>
            </a:r>
          </a:p>
        </p:txBody>
      </p:sp>
      <p:sp>
        <p:nvSpPr>
          <p:cNvPr id="139" name="n139"/>
          <p:cNvSpPr/>
          <p:nvPr/>
        </p:nvSpPr>
        <p:spPr>
          <a:xfrm>
            <a:off x="7315200" y="1463040"/>
            <a:ext cx="2743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0" name="n140"/>
          <p:cNvSpPr/>
          <p:nvPr/>
        </p:nvSpPr>
        <p:spPr>
          <a:xfrm>
            <a:off x="7589520" y="146304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41" name="n141"/>
          <p:cNvSpPr/>
          <p:nvPr/>
        </p:nvSpPr>
        <p:spPr>
          <a:xfrm>
            <a:off x="69494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42" name="n142"/>
          <p:cNvSpPr/>
          <p:nvPr/>
        </p:nvSpPr>
        <p:spPr>
          <a:xfrm>
            <a:off x="7004304" y="1994306"/>
            <a:ext cx="1078992" cy="145938"/>
          </a:xfrm>
          <a:prstGeom prst="roundRect">
            <a:avLst>
              <a:gd name="adj" fmla="val 50000"/>
            </a:avLst>
          </a:prstGeom>
          <a:solidFill>
            <a:srgbClr val="D6E7F5"/>
          </a:solidFill>
          <a:ln>
            <a:noFill/>
          </a:ln>
        </p:spPr>
        <p:txBody>
          <a:bodyPr/>
          <a:lstStyle/>
          <a:p>
            <a:endParaRPr lang="en-AE"/>
          </a:p>
        </p:txBody>
      </p:sp>
      <p:sp>
        <p:nvSpPr>
          <p:cNvPr id="143" name="n143"/>
          <p:cNvSpPr txBox="1"/>
          <p:nvPr/>
        </p:nvSpPr>
        <p:spPr>
          <a:xfrm>
            <a:off x="6263640" y="181051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7085"/>
                </a:solidFill>
                <a:latin typeface="Calibri" pitchFamily="34" charset="0"/>
              </a:rPr>
              <a:t>Reflux drum</a:t>
            </a:r>
          </a:p>
        </p:txBody>
      </p:sp>
      <p:sp>
        <p:nvSpPr>
          <p:cNvPr id="144" name="n144"/>
          <p:cNvSpPr/>
          <p:nvPr/>
        </p:nvSpPr>
        <p:spPr>
          <a:xfrm flipV="1">
            <a:off x="7909560" y="1463040"/>
            <a:ext cx="0" cy="338328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5" name="n145"/>
          <p:cNvSpPr/>
          <p:nvPr/>
        </p:nvSpPr>
        <p:spPr>
          <a:xfrm>
            <a:off x="7909560" y="1463040"/>
            <a:ext cx="6858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6" name="n146"/>
          <p:cNvSpPr/>
          <p:nvPr/>
        </p:nvSpPr>
        <p:spPr>
          <a:xfrm>
            <a:off x="8138160" y="1975104"/>
            <a:ext cx="128016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7" name="n147"/>
          <p:cNvSpPr/>
          <p:nvPr/>
        </p:nvSpPr>
        <p:spPr>
          <a:xfrm>
            <a:off x="8266176" y="1975104"/>
            <a:ext cx="0" cy="2139696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8" name="n148"/>
          <p:cNvSpPr/>
          <p:nvPr/>
        </p:nvSpPr>
        <p:spPr>
          <a:xfrm>
            <a:off x="8266176" y="4114800"/>
            <a:ext cx="156362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9" name="n149"/>
          <p:cNvSpPr/>
          <p:nvPr/>
        </p:nvSpPr>
        <p:spPr>
          <a:xfrm>
            <a:off x="982980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0" name="n150"/>
          <p:cNvSpPr/>
          <p:nvPr/>
        </p:nvSpPr>
        <p:spPr>
          <a:xfrm>
            <a:off x="3794760" y="502920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19050">
            <a:solidFill>
              <a:srgbClr val="94A3B8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51" name="n151"/>
          <p:cNvSpPr/>
          <p:nvPr/>
        </p:nvSpPr>
        <p:spPr>
          <a:xfrm>
            <a:off x="3967582" y="514441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2" name="n152"/>
          <p:cNvSpPr/>
          <p:nvPr/>
        </p:nvSpPr>
        <p:spPr>
          <a:xfrm>
            <a:off x="3967582" y="522122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3" name="n153"/>
          <p:cNvSpPr/>
          <p:nvPr/>
        </p:nvSpPr>
        <p:spPr>
          <a:xfrm>
            <a:off x="3967582" y="5298034"/>
            <a:ext cx="614477" cy="0"/>
          </a:xfrm>
          <a:prstGeom prst="line">
            <a:avLst/>
          </a:prstGeom>
          <a:noFill/>
          <a:ln w="12700">
            <a:solidFill>
              <a:srgbClr val="B4C2D3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4" name="n154"/>
          <p:cNvSpPr txBox="1"/>
          <p:nvPr/>
        </p:nvSpPr>
        <p:spPr>
          <a:xfrm>
            <a:off x="3794760" y="5422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</a:rPr>
              <a:t>Reboiler</a:t>
            </a:r>
          </a:p>
        </p:txBody>
      </p:sp>
      <p:sp>
        <p:nvSpPr>
          <p:cNvPr id="155" name="n155"/>
          <p:cNvSpPr/>
          <p:nvPr/>
        </p:nvSpPr>
        <p:spPr>
          <a:xfrm>
            <a:off x="4754880" y="5138928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6" name="n156"/>
          <p:cNvSpPr/>
          <p:nvPr/>
        </p:nvSpPr>
        <p:spPr>
          <a:xfrm>
            <a:off x="5257800" y="5230368"/>
            <a:ext cx="0" cy="109728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7" name="n157"/>
          <p:cNvSpPr/>
          <p:nvPr/>
        </p:nvSpPr>
        <p:spPr>
          <a:xfrm flipH="1">
            <a:off x="4754880" y="5340096"/>
            <a:ext cx="5029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158" name="n158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59" name="n159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0" name="n160"/>
          <p:cNvSpPr/>
          <p:nvPr/>
        </p:nvSpPr>
        <p:spPr>
          <a:xfrm>
            <a:off x="5184648" y="5184648"/>
            <a:ext cx="146304" cy="146304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1" name="n161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2" name="n162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3" name="n163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164" name="n164"/>
          <p:cNvSpPr/>
          <p:nvPr/>
        </p:nvSpPr>
        <p:spPr>
          <a:xfrm>
            <a:off x="8193024" y="1901952"/>
            <a:ext cx="146304" cy="146304"/>
          </a:xfrm>
          <a:prstGeom prst="ellipse">
            <a:avLst/>
          </a:prstGeom>
          <a:solidFill>
            <a:srgbClr val="8FC1E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AE"/>
          </a:p>
        </p:txBody>
      </p:sp>
      <p:sp>
        <p:nvSpPr>
          <p:cNvPr id="82" name="s69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3" name="t69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hold hydrocarbon film and pyrophoric iron sulphide deep inside the packing geometry.</a:t>
            </a:r>
            <a:endParaRPr lang="en-US" sz="1400" dirty="0"/>
          </a:p>
        </p:txBody>
      </p:sp>
      <p:sp>
        <p:nvSpPr>
          <p:cNvPr id="84" name="t69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PRE-TREATMENT: decon chemistry is fed from the top and coats every surface of the packing.</a:t>
            </a:r>
            <a:endParaRPr lang="en-US" sz="1400" dirty="0"/>
          </a:p>
        </p:txBody>
      </p:sp>
      <p:sp>
        <p:nvSpPr>
          <p:cNvPr id="85" name="t69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With the packing pre-wetted, the vapour-phase that follows reaches deep into every bed.</a:t>
            </a:r>
            <a:endParaRPr lang="en-US" sz="1400" dirty="0"/>
          </a:p>
        </p:txBody>
      </p:sp>
      <p:sp>
        <p:nvSpPr>
          <p:cNvPr id="86" name="t69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VAPOUR-PHASE: steam carries the chemistry up through the beds – LEL and benzene go to flare.</a:t>
            </a:r>
            <a:endParaRPr lang="en-US" sz="1400" dirty="0"/>
          </a:p>
        </p:txBody>
      </p:sp>
      <p:sp>
        <p:nvSpPr>
          <p:cNvPr id="87" name="t69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can remain on the packing – it would self-heat once the column is opened.</a:t>
            </a:r>
            <a:endParaRPr lang="en-US" sz="1400" dirty="0"/>
          </a:p>
        </p:txBody>
      </p:sp>
      <p:sp>
        <p:nvSpPr>
          <p:cNvPr id="88" name="t69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POST-TREATMENT: an oxidiser wash trickles through each bed – FeS becomes stable iron oxide.</a:t>
            </a:r>
            <a:endParaRPr lang="en-US" sz="1400" dirty="0"/>
          </a:p>
        </p:txBody>
      </p:sp>
      <p:sp>
        <p:nvSpPr>
          <p:cNvPr id="89" name="t70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spent wash drains to the effluent tank.</a:t>
            </a:r>
            <a:endParaRPr lang="en-US" sz="1400" dirty="0"/>
          </a:p>
        </p:txBody>
      </p:sp>
      <p:sp>
        <p:nvSpPr>
          <p:cNvPr id="90" name="t70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pass – the column is safe to open and the packing safe to unload.</a:t>
            </a:r>
            <a:endParaRPr lang="en-US" sz="1400" dirty="0"/>
          </a:p>
        </p:txBody>
      </p:sp>
      <p:sp>
        <p:nvSpPr>
          <p:cNvPr id="91" name="s702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703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704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705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706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707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708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709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710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711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712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713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714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715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716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717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718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719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720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721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722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723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724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725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726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727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728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729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730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731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732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733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734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735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5" name="s736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6" name="s737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s738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8" name="s739"/>
          <p:cNvSpPr/>
          <p:nvPr/>
        </p:nvSpPr>
        <p:spPr>
          <a:xfrm>
            <a:off x="548640" y="484632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9" name="t740"/>
          <p:cNvSpPr txBox="1"/>
          <p:nvPr/>
        </p:nvSpPr>
        <p:spPr>
          <a:xfrm>
            <a:off x="548640" y="4846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1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7" dur="350" autoRev="1" fill="hold"/>
                                        <p:tgtEl>
                                          <p:spTgt spid="131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34" dur="350" autoRev="1" fill="hold"/>
                                        <p:tgtEl>
                                          <p:spTgt spid="13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41" dur="350" autoRev="1" fill="hold"/>
                                        <p:tgtEl>
                                          <p:spTgt spid="13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0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6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2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8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7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4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9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0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6" dur="22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02" dur="22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08" dur="22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8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114" dur="22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5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9" dur="4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0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1" dur="4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3" dur="4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61" dur="16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67" dur="16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120 L -0.0788 0.0120 L -0.0788 -0.0173 L -0.0113 -0.0173 E" pathEditMode="relative" ptsTypes="AAAAA">
                                      <p:cBhvr>
                                        <p:cTn id="173" dur="16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20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79" dur="13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355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85" dur="13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485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91" dur="13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4250"/>
                                  </p:stCondLst>
                                  <p:childTnLst>
                                    <p:animMotion origin="layout" path="M 0 0 L 0.0000 0.3120 L 0.1283 0.3120 L 0.1283 0.3720 E" pathEditMode="relative" ptsTypes="AAAA">
                                      <p:cBhvr>
                                        <p:cTn id="197" dur="13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0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0" dur="18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1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6" dur="18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42" dur="18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48" dur="18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9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54" dur="18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60" dur="18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66" dur="18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72" dur="18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3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78" dur="18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9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84" dur="1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90" dur="1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1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96" dur="18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0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-0.0900 -0.1440 L 0.0488 -0.1440 L 0.0488 -0.0693 L 0.0750 -0.0693 L 0.0750 -0.1440 L 0.1313 -0.1440 L 0.1313 -0.0507 L 0.1538 -0.0507 E" pathEditMode="relative" ptsTypes="AAAAAAAAA">
                                      <p:cBhvr>
                                        <p:cTn id="318" dur="1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9" presetID="10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-0.0900 -0.2840 L 0.0488 -0.2840 L 0.0488 -0.2093 L 0.0750 -0.2093 L 0.0750 -0.2840 L 0.1313 -0.2840 L 0.1313 -0.1907 L 0.1538 -0.1907 E" pathEditMode="relative" ptsTypes="AAAAAAAAA">
                                      <p:cBhvr>
                                        <p:cTn id="323" dur="1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328" dur="35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329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330" dur="350" autoRev="1" fill="hold"/>
                                        <p:tgtEl>
                                          <p:spTgt spid="50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331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2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4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53" presetClass="entr" presetSubtype="16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3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4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5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" presetClass="exit" presetSubtype="0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53" presetClass="entr" presetSubtype="1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0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1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2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" presetClass="exit" presetSubtype="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53" presetClass="entr" presetSubtype="16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7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8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0" fill="hold">
                      <p:stCondLst>
                        <p:cond delay="indefinite"/>
                      </p:stCondLst>
                      <p:childTnLst>
                        <p:par>
                          <p:cTn id="371" fill="hold">
                            <p:stCondLst>
                              <p:cond delay="0"/>
                            </p:stCondLst>
                            <p:childTnLst>
                              <p:par>
                                <p:cTn id="37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6" fill="hold">
                            <p:stCondLst>
                              <p:cond delay="500"/>
                            </p:stCondLst>
                            <p:childTnLst>
                              <p:par>
                                <p:cTn id="387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4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89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0" dur="4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91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2" dur="4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9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5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8" fill="hold">
                      <p:stCondLst>
                        <p:cond delay="indefinite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id="4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27" dur="22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0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33" dur="22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4" presetID="1" presetClass="exit" presetSubtype="0" fill="hold" grpId="1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0" presetClass="path" presetSubtype="0" fill="hold" grpId="3" nodeType="withEffect">
                                  <p:stCondLst>
                                    <p:cond delay="8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39" dur="22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0" presetID="1" presetClass="exit" presetSubtype="0" fill="hold" grpId="1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0" presetClass="path" presetSubtype="0" fill="hold" grpId="3" nodeType="withEffect">
                                  <p:stCondLst>
                                    <p:cond delay="10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45" dur="22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0" presetClass="path" presetSubtype="0" fill="hold" grpId="3" nodeType="with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1" dur="22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2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7" dur="22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17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63" dur="22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69" dur="22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414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75" dur="22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436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81" dur="22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458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9" presetID="10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2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7" fill="hold">
                      <p:stCondLst>
                        <p:cond delay="indefinite"/>
                      </p:stCondLst>
                      <p:childTnLst>
                        <p:par>
                          <p:cTn id="518" fill="hold">
                            <p:stCondLst>
                              <p:cond delay="0"/>
                            </p:stCondLst>
                            <p:childTnLst>
                              <p:par>
                                <p:cTn id="5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36" dur="18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7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42" dur="18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3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48" dur="18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9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1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54" dur="18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5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560" dur="18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1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3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5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8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9" fill="hold">
                      <p:stCondLst>
                        <p:cond delay="indefinite"/>
                      </p:stCondLst>
                      <p:childTnLst>
                        <p:par>
                          <p:cTn id="570" fill="hold">
                            <p:stCondLst>
                              <p:cond delay="0"/>
                            </p:stCondLst>
                            <p:childTnLst>
                              <p:par>
                                <p:cTn id="57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6" fill="hold">
                            <p:stCondLst>
                              <p:cond delay="500"/>
                            </p:stCondLst>
                            <p:childTnLst>
                              <p:par>
                                <p:cTn id="57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9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0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4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5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6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8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89" dur="40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90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1" dur="40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8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  <p:bldP spid="25" grpId="1" animBg="1"/>
      <p:bldP spid="25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8" grpId="0" animBg="1"/>
      <p:bldP spid="39" grpId="0" animBg="1"/>
      <p:bldP spid="40" grpId="0" animBg="1"/>
      <p:bldP spid="40" grpId="1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2" animBg="1"/>
      <p:bldP spid="50" grpId="2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5" grpId="3" animBg="1"/>
      <p:bldP spid="56" grpId="0" animBg="1"/>
      <p:bldP spid="56" grpId="1" animBg="1"/>
      <p:bldP spid="56" grpId="3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8" grpId="0" animBg="1"/>
      <p:bldP spid="69" grpId="0" animBg="1"/>
      <p:bldP spid="74" grpId="1" animBg="1"/>
      <p:bldP spid="75" grpId="0" animBg="1"/>
      <p:bldP spid="77" grpId="1" animBg="1"/>
      <p:bldP spid="78" grpId="0" animBg="1"/>
      <p:bldP spid="80" grpId="1" animBg="1"/>
      <p:bldP spid="81" grpId="0" animBg="1"/>
      <p:bldP spid="82" grpId="0" animBg="1"/>
      <p:bldP spid="83" grpId="0" animBg="1"/>
      <p:bldP spid="83" grpId="1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1" animBg="1"/>
      <p:bldP spid="110" grpId="3" animBg="1"/>
      <p:bldP spid="111" grpId="0" animBg="1"/>
      <p:bldP spid="111" grpId="1" animBg="1"/>
      <p:bldP spid="111" grpId="3" animBg="1"/>
      <p:bldP spid="112" grpId="0" animBg="1"/>
      <p:bldP spid="112" grpId="1" animBg="1"/>
      <p:bldP spid="112" grpId="3" animBg="1"/>
      <p:bldP spid="113" grpId="0" animBg="1"/>
      <p:bldP spid="113" grpId="1" animBg="1"/>
      <p:bldP spid="113" grpId="3" animBg="1"/>
      <p:bldP spid="114" grpId="0" animBg="1"/>
      <p:bldP spid="114" grpId="1" animBg="1"/>
      <p:bldP spid="114" grpId="3" animBg="1"/>
      <p:bldP spid="115" grpId="0" animBg="1"/>
      <p:bldP spid="115" grpId="1" animBg="1"/>
      <p:bldP spid="115" grpId="3" animBg="1"/>
      <p:bldP spid="116" grpId="0" animBg="1"/>
      <p:bldP spid="116" grpId="1" animBg="1"/>
      <p:bldP spid="116" grpId="3" animBg="1"/>
      <p:bldP spid="117" grpId="0" animBg="1"/>
      <p:bldP spid="117" grpId="1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7" grpId="3" animBg="1"/>
      <p:bldP spid="128" grpId="0" animBg="1"/>
      <p:bldP spid="128" grpId="2" animBg="1"/>
      <p:bldP spid="129" grpId="0" animBg="1"/>
      <p:bldP spid="129" grpId="2" animBg="1"/>
      <p:bldP spid="131" grpId="0" animBg="1"/>
      <p:bldP spid="131" grpId="1" animBg="1"/>
      <p:bldP spid="131" grpId="2" animBg="1"/>
      <p:bldP spid="132" grpId="0" animBg="1"/>
      <p:bldP spid="132" grpId="1" animBg="1"/>
      <p:bldP spid="132" grpId="2" animBg="1"/>
      <p:bldP spid="133" grpId="0" animBg="1"/>
      <p:bldP spid="133" grpId="1" animBg="1"/>
      <p:bldP spid="133" grpId="2" animBg="1"/>
      <p:bldP spid="158" grpId="0" animBg="1"/>
      <p:bldP spid="158" grpId="1" animBg="1"/>
      <p:bldP spid="158" grpId="3" animBg="1"/>
      <p:bldP spid="159" grpId="0" animBg="1"/>
      <p:bldP spid="159" grpId="1" animBg="1"/>
      <p:bldP spid="159" grpId="3" animBg="1"/>
      <p:bldP spid="160" grpId="0" animBg="1"/>
      <p:bldP spid="160" grpId="1" animBg="1"/>
      <p:bldP spid="160" grpId="3" animBg="1"/>
      <p:bldP spid="161" grpId="0" animBg="1"/>
      <p:bldP spid="161" grpId="1" animBg="1"/>
      <p:bldP spid="161" grpId="3" animBg="1"/>
      <p:bldP spid="162" grpId="0" animBg="1"/>
      <p:bldP spid="162" grpId="1" animBg="1"/>
      <p:bldP spid="162" grpId="3" animBg="1"/>
      <p:bldP spid="163" grpId="0" animBg="1"/>
      <p:bldP spid="163" grpId="1" animBg="1"/>
      <p:bldP spid="163" grpId="3" animBg="1"/>
      <p:bldP spid="164" grpId="0" animBg="1"/>
      <p:bldP spid="164" grpId="1" animBg="1"/>
      <p:bldP spid="164" grpId="3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741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742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" name="s743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s744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745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s746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s747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748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s749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750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751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752"/>
          <p:cNvSpPr/>
          <p:nvPr/>
        </p:nvSpPr>
        <p:spPr>
          <a:xfrm flipH="1" flipV="1">
            <a:off x="397764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s753"/>
          <p:cNvSpPr/>
          <p:nvPr/>
        </p:nvSpPr>
        <p:spPr>
          <a:xfrm flipH="1">
            <a:off x="397764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754"/>
          <p:cNvSpPr/>
          <p:nvPr/>
        </p:nvSpPr>
        <p:spPr>
          <a:xfrm flipH="1">
            <a:off x="41148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s755"/>
          <p:cNvSpPr/>
          <p:nvPr/>
        </p:nvSpPr>
        <p:spPr>
          <a:xfrm flipH="1">
            <a:off x="512064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756"/>
          <p:cNvSpPr/>
          <p:nvPr/>
        </p:nvSpPr>
        <p:spPr>
          <a:xfrm>
            <a:off x="594360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s757"/>
          <p:cNvSpPr/>
          <p:nvPr/>
        </p:nvSpPr>
        <p:spPr>
          <a:xfrm>
            <a:off x="59436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s758"/>
          <p:cNvSpPr/>
          <p:nvPr/>
        </p:nvSpPr>
        <p:spPr>
          <a:xfrm>
            <a:off x="594360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759"/>
          <p:cNvSpPr/>
          <p:nvPr/>
        </p:nvSpPr>
        <p:spPr>
          <a:xfrm flipV="1">
            <a:off x="594360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s760"/>
          <p:cNvSpPr/>
          <p:nvPr/>
        </p:nvSpPr>
        <p:spPr>
          <a:xfrm flipH="1" flipV="1">
            <a:off x="484632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3" name="s761"/>
          <p:cNvSpPr/>
          <p:nvPr/>
        </p:nvSpPr>
        <p:spPr>
          <a:xfrm flipV="1">
            <a:off x="594360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s762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5" name="t763"/>
          <p:cNvSpPr txBox="1"/>
          <p:nvPr/>
        </p:nvSpPr>
        <p:spPr>
          <a:xfrm>
            <a:off x="5029200" y="4462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26" name="s764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7" name="s765"/>
          <p:cNvSpPr/>
          <p:nvPr/>
        </p:nvSpPr>
        <p:spPr>
          <a:xfrm flipH="1">
            <a:off x="3108960" y="1691640"/>
            <a:ext cx="14630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28" name="s766"/>
          <p:cNvSpPr/>
          <p:nvPr/>
        </p:nvSpPr>
        <p:spPr>
          <a:xfrm>
            <a:off x="2377440" y="1463040"/>
            <a:ext cx="731520" cy="822960"/>
          </a:xfrm>
          <a:prstGeom prst="roundRect">
            <a:avLst>
              <a:gd name="adj" fmla="val 15000"/>
            </a:avLst>
          </a:prstGeom>
          <a:solidFill>
            <a:srgbClr val="4A5560"/>
          </a:solidFill>
          <a:ln w="12700">
            <a:solidFill>
              <a:srgbClr val="1F3A52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9" name="s767"/>
          <p:cNvSpPr/>
          <p:nvPr/>
        </p:nvSpPr>
        <p:spPr>
          <a:xfrm>
            <a:off x="2468880" y="16459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s768"/>
          <p:cNvSpPr/>
          <p:nvPr/>
        </p:nvSpPr>
        <p:spPr>
          <a:xfrm>
            <a:off x="2468880" y="18745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1" name="s769"/>
          <p:cNvSpPr/>
          <p:nvPr/>
        </p:nvSpPr>
        <p:spPr>
          <a:xfrm>
            <a:off x="2468880" y="21031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t770"/>
          <p:cNvSpPr txBox="1"/>
          <p:nvPr/>
        </p:nvSpPr>
        <p:spPr>
          <a:xfrm>
            <a:off x="201168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FILTER</a:t>
            </a:r>
            <a:endParaRPr lang="en-US" sz="1100" dirty="0"/>
          </a:p>
        </p:txBody>
      </p:sp>
      <p:sp>
        <p:nvSpPr>
          <p:cNvPr id="33" name="s771"/>
          <p:cNvSpPr/>
          <p:nvPr/>
        </p:nvSpPr>
        <p:spPr>
          <a:xfrm flipV="1">
            <a:off x="2743200" y="1188720"/>
            <a:ext cx="0" cy="274320"/>
          </a:xfrm>
          <a:prstGeom prst="line">
            <a:avLst/>
          </a:prstGeom>
          <a:noFill/>
          <a:ln w="3175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4" name="t772"/>
          <p:cNvSpPr txBox="1"/>
          <p:nvPr/>
        </p:nvSpPr>
        <p:spPr>
          <a:xfrm>
            <a:off x="2834640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vent</a:t>
            </a:r>
            <a:endParaRPr lang="en-US" sz="1000" dirty="0"/>
          </a:p>
        </p:txBody>
      </p:sp>
      <p:sp>
        <p:nvSpPr>
          <p:cNvPr id="35" name="s773"/>
          <p:cNvSpPr/>
          <p:nvPr/>
        </p:nvSpPr>
        <p:spPr>
          <a:xfrm>
            <a:off x="8046720" y="4892040"/>
            <a:ext cx="54864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6" name="s774"/>
          <p:cNvSpPr/>
          <p:nvPr/>
        </p:nvSpPr>
        <p:spPr>
          <a:xfrm>
            <a:off x="8595360" y="46634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2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7" name="t775"/>
          <p:cNvSpPr txBox="1"/>
          <p:nvPr/>
        </p:nvSpPr>
        <p:spPr>
          <a:xfrm>
            <a:off x="804672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pump</a:t>
            </a:r>
            <a:endParaRPr lang="en-US" sz="1000" dirty="0"/>
          </a:p>
        </p:txBody>
      </p:sp>
      <p:sp>
        <p:nvSpPr>
          <p:cNvPr id="38" name="s776"/>
          <p:cNvSpPr/>
          <p:nvPr/>
        </p:nvSpPr>
        <p:spPr>
          <a:xfrm>
            <a:off x="9052560" y="4892040"/>
            <a:ext cx="36576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39" name="s777"/>
          <p:cNvSpPr/>
          <p:nvPr/>
        </p:nvSpPr>
        <p:spPr>
          <a:xfrm>
            <a:off x="9418320" y="41605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s778"/>
          <p:cNvSpPr/>
          <p:nvPr/>
        </p:nvSpPr>
        <p:spPr>
          <a:xfrm>
            <a:off x="9464040" y="4892040"/>
            <a:ext cx="1280160" cy="27432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1" name="s779"/>
          <p:cNvSpPr/>
          <p:nvPr/>
        </p:nvSpPr>
        <p:spPr>
          <a:xfrm>
            <a:off x="9464040" y="4526280"/>
            <a:ext cx="1280160" cy="365760"/>
          </a:xfrm>
          <a:prstGeom prst="rect">
            <a:avLst/>
          </a:prstGeom>
          <a:solidFill>
            <a:srgbClr val="5C463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2" name="t780"/>
          <p:cNvSpPr txBox="1"/>
          <p:nvPr/>
        </p:nvSpPr>
        <p:spPr>
          <a:xfrm>
            <a:off x="9052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DISPOSAL</a:t>
            </a:r>
            <a:endParaRPr lang="en-US" sz="1100" dirty="0"/>
          </a:p>
        </p:txBody>
      </p:sp>
      <p:sp>
        <p:nvSpPr>
          <p:cNvPr id="43" name="s781"/>
          <p:cNvSpPr/>
          <p:nvPr/>
        </p:nvSpPr>
        <p:spPr>
          <a:xfrm>
            <a:off x="8046720" y="4023360"/>
            <a:ext cx="100584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4" name="s782"/>
          <p:cNvSpPr/>
          <p:nvPr/>
        </p:nvSpPr>
        <p:spPr>
          <a:xfrm>
            <a:off x="9052560" y="37947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5" name="t783"/>
          <p:cNvSpPr txBox="1"/>
          <p:nvPr/>
        </p:nvSpPr>
        <p:spPr>
          <a:xfrm>
            <a:off x="850392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 pump</a:t>
            </a:r>
            <a:endParaRPr lang="en-US" sz="1000" dirty="0"/>
          </a:p>
        </p:txBody>
      </p:sp>
      <p:sp>
        <p:nvSpPr>
          <p:cNvPr id="46" name="s784"/>
          <p:cNvSpPr/>
          <p:nvPr/>
        </p:nvSpPr>
        <p:spPr>
          <a:xfrm flipV="1">
            <a:off x="9281160" y="1508760"/>
            <a:ext cx="0" cy="22860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7" name="s785"/>
          <p:cNvSpPr/>
          <p:nvPr/>
        </p:nvSpPr>
        <p:spPr>
          <a:xfrm flipH="1">
            <a:off x="5943600" y="1508760"/>
            <a:ext cx="333756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8" name="s786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49" name="t787"/>
          <p:cNvSpPr txBox="1"/>
          <p:nvPr/>
        </p:nvSpPr>
        <p:spPr>
          <a:xfrm>
            <a:off x="60350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50" name="s788"/>
          <p:cNvSpPr/>
          <p:nvPr/>
        </p:nvSpPr>
        <p:spPr>
          <a:xfrm flipH="1">
            <a:off x="9281160" y="1920240"/>
            <a:ext cx="1325880" cy="0"/>
          </a:xfrm>
          <a:prstGeom prst="line">
            <a:avLst/>
          </a:prstGeom>
          <a:noFill/>
          <a:ln w="38100">
            <a:solidFill>
              <a:srgbClr val="3AB54A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1" name="t789"/>
          <p:cNvSpPr txBox="1"/>
          <p:nvPr/>
        </p:nvSpPr>
        <p:spPr>
          <a:xfrm>
            <a:off x="950976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000" dirty="0"/>
          </a:p>
        </p:txBody>
      </p:sp>
      <p:sp>
        <p:nvSpPr>
          <p:cNvPr id="52" name="s790"/>
          <p:cNvSpPr/>
          <p:nvPr/>
        </p:nvSpPr>
        <p:spPr>
          <a:xfrm>
            <a:off x="9509760" y="402336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3" name="s791"/>
          <p:cNvSpPr/>
          <p:nvPr/>
        </p:nvSpPr>
        <p:spPr>
          <a:xfrm flipV="1">
            <a:off x="10058400" y="32918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4" name="s792"/>
          <p:cNvSpPr/>
          <p:nvPr/>
        </p:nvSpPr>
        <p:spPr>
          <a:xfrm>
            <a:off x="10058400" y="329184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AE"/>
          </a:p>
        </p:txBody>
      </p:sp>
      <p:sp>
        <p:nvSpPr>
          <p:cNvPr id="55" name="s793"/>
          <p:cNvSpPr/>
          <p:nvPr/>
        </p:nvSpPr>
        <p:spPr>
          <a:xfrm>
            <a:off x="10241280" y="2606040"/>
            <a:ext cx="1188720" cy="9144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56" name="s794"/>
          <p:cNvSpPr/>
          <p:nvPr/>
        </p:nvSpPr>
        <p:spPr>
          <a:xfrm>
            <a:off x="10287000" y="3200400"/>
            <a:ext cx="1097280" cy="27432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7" name="s795"/>
          <p:cNvSpPr/>
          <p:nvPr/>
        </p:nvSpPr>
        <p:spPr>
          <a:xfrm>
            <a:off x="10287000" y="2834640"/>
            <a:ext cx="1097280" cy="365760"/>
          </a:xfrm>
          <a:prstGeom prst="rect">
            <a:avLst/>
          </a:prstGeom>
          <a:solidFill>
            <a:srgbClr val="B8A68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8" name="t796"/>
          <p:cNvSpPr txBox="1"/>
          <p:nvPr/>
        </p:nvSpPr>
        <p:spPr>
          <a:xfrm>
            <a:off x="9875520" y="3547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9" name="s797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0" name="t798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VENTS / SAMPLE POINT</a:t>
            </a:r>
            <a:endParaRPr lang="en-US" sz="1200" dirty="0"/>
          </a:p>
        </p:txBody>
      </p:sp>
      <p:sp>
        <p:nvSpPr>
          <p:cNvPr id="61" name="t799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62" name="t800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8" name="dec138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3" name="t801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4" name="t802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65" name="t803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39" name="dec139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6" name="t804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7" name="t805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68" name="t806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140" name="dec140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decreasing</a:t>
            </a:r>
            <a:endParaRPr lang="en-US" sz="1300" dirty="0"/>
          </a:p>
        </p:txBody>
      </p:sp>
      <p:sp>
        <p:nvSpPr>
          <p:cNvPr id="69" name="t807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0" name="s80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1" name="t80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72" name="t81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The tank vent is routed through a carbon filter – vapours are treated before release.</a:t>
            </a:r>
            <a:endParaRPr lang="en-US" sz="1400" dirty="0"/>
          </a:p>
        </p:txBody>
      </p:sp>
      <p:sp>
        <p:nvSpPr>
          <p:cNvPr id="73" name="t81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Bulk sludge is removed first: a vacuum pump transfers it to a waste tank for licensed disposal.</a:t>
            </a:r>
            <a:endParaRPr lang="en-US" sz="1400" dirty="0"/>
          </a:p>
        </p:txBody>
      </p:sp>
      <p:sp>
        <p:nvSpPr>
          <p:cNvPr id="74" name="t81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A gamma-jet nozzle is lowered through the roof manway; wash water with decon chemistry is circulated to it.</a:t>
            </a:r>
            <a:endParaRPr lang="en-US" sz="1400" dirty="0"/>
          </a:p>
        </p:txBody>
      </p:sp>
      <p:sp>
        <p:nvSpPr>
          <p:cNvPr id="75" name="t81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Gamma-jetting and circulation run for 8–12 hours – the jets sweep shell, roof and floor.</a:t>
            </a:r>
            <a:endParaRPr lang="en-US" sz="1400" dirty="0"/>
          </a:p>
        </p:txBody>
      </p:sp>
      <p:sp>
        <p:nvSpPr>
          <p:cNvPr id="76" name="t81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H₂S is converted into stable compounds; benzene and LEL vapours leave through the carbon filter.</a:t>
            </a:r>
            <a:endParaRPr lang="en-US" sz="1400" dirty="0"/>
          </a:p>
        </p:txBody>
      </p:sp>
      <p:sp>
        <p:nvSpPr>
          <p:cNvPr id="77" name="t81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Walls and floor are clean – the spent wash is drained to the effluent tank.</a:t>
            </a:r>
            <a:endParaRPr lang="en-US" sz="1400" dirty="0"/>
          </a:p>
        </p:txBody>
      </p:sp>
      <p:sp>
        <p:nvSpPr>
          <p:cNvPr id="78" name="t81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safe entry.</a:t>
            </a:r>
            <a:endParaRPr lang="en-US" sz="1400" dirty="0"/>
          </a:p>
        </p:txBody>
      </p:sp>
      <p:sp>
        <p:nvSpPr>
          <p:cNvPr id="79" name="tag817"/>
          <p:cNvSpPr/>
          <p:nvPr/>
        </p:nvSpPr>
        <p:spPr>
          <a:xfrm>
            <a:off x="420624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0" name="tag818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tag819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2" name="tag820"/>
          <p:cNvSpPr/>
          <p:nvPr/>
        </p:nvSpPr>
        <p:spPr>
          <a:xfrm>
            <a:off x="4114800" y="26517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83" name="s821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4" name="s822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5" name="s823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6" name="s824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7" name="s825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8" name="s826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9" name="s827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0" name="s828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1" name="s829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2" name="s830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3" name="s831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4" name="s832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5" name="s833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6" name="s834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7" name="s835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8" name="s836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9" name="s837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0" name="s83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1" name="s83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2" name="s84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3" name="s84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4" name="s84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5" name="s84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6" name="s84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7" name="s84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8" name="s84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9" name="s84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0" name="s84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1" name="s84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2" name="s85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3" name="s85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4" name="s85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5" name="s85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6" name="s85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7" name="s85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8" name="s85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9" name="s85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0" name="s85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1" name="s85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2" name="s86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3" name="s86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4" name="s86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5" name="s86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6" name="s86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7" name="s86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8" name="s86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9" name="s86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0" name="s868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1" name="s869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2" name="s870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3" name="s871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4" name="s872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5" name="s873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6" name="t874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1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repeatCount="2000" fill="hold" grpId="2" nodeType="withEffect" nodePh="1">
                                  <p:stCondLst>
                                    <p:cond delay="90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animScale>
                                      <p:cBhvr>
                                        <p:cTn id="25" dur="350" autoRev="1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48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54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0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6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8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84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6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6" presetClass="emph" presetSubtype="0" repeatCount="3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139" dur="350" autoRev="1" fill="hold"/>
                                        <p:tgtEl>
                                          <p:spTgt spid="138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6" presetClass="emph" presetSubtype="0" repeatCount="3000" fill="hold" grpId="2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146" dur="350" autoRev="1" fill="hold"/>
                                        <p:tgtEl>
                                          <p:spTgt spid="139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6" presetClass="emph" presetSubtype="0" repeatCount="3000" fill="hold" grpId="2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153" dur="350" autoRev="1" fill="hold"/>
                                        <p:tgtEl>
                                          <p:spTgt spid="140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0" dur="2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6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2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8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84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90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96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02" dur="7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08" dur="7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14" dur="7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50" dur="6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56" dur="6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262" dur="6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268" dur="65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9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274" dur="6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280" dur="65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1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286" dur="65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7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292" dur="6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3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298" dur="65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9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04" dur="65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10" dur="6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1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16" dur="6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22" dur="65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28" dur="65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9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34" dur="6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5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40" dur="6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1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46" dur="6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52" dur="65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3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58" dur="6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9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64" dur="6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70" dur="65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76" dur="65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82" dur="65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88" dur="6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94" dur="6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400" dur="6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1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406" dur="65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7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412" dur="6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3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418" dur="65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424" dur="6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5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7" fill="hold">
                      <p:stCondLst>
                        <p:cond delay="indefinite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3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3375 -0.1640 E" pathEditMode="relative" ptsTypes="AAAA">
                                      <p:cBhvr>
                                        <p:cTn id="443" dur="18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3375 -0.2373 E" pathEditMode="relative" ptsTypes="AAAA">
                                      <p:cBhvr>
                                        <p:cTn id="448" dur="18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9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2" fill="hold">
                      <p:stCondLst>
                        <p:cond delay="indefinite"/>
                      </p:stCondLst>
                      <p:childTnLst>
                        <p:par>
                          <p:cTn id="453" fill="hold">
                            <p:stCondLst>
                              <p:cond delay="0"/>
                            </p:stCondLst>
                            <p:childTnLst>
                              <p:par>
                                <p:cTn id="4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8" dur="3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0" dur="8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2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4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0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22" presetClass="entr" presetSubtype="8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7" presetID="22" presetClass="entr" presetSubtype="1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22" presetClass="entr" presetSubtype="8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2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3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16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7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22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3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28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0" presetClass="path" presetSubtype="0" fill="hold" grpId="3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34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5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22" presetClass="entr" presetSubtype="4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9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22" presetClass="entr" presetSubtype="4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3" fill="hold">
                            <p:stCondLst>
                              <p:cond delay="5200"/>
                            </p:stCondLst>
                            <p:childTnLst>
                              <p:par>
                                <p:cTn id="5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547" dur="11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9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1" fill="hold">
                      <p:stCondLst>
                        <p:cond delay="indefinite"/>
                      </p:stCondLst>
                      <p:childTnLst>
                        <p:par>
                          <p:cTn id="552" fill="hold">
                            <p:stCondLst>
                              <p:cond delay="0"/>
                            </p:stCondLst>
                            <p:childTnLst>
                              <p:par>
                                <p:cTn id="5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2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3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9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0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6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7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8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9" fill="hold">
                            <p:stCondLst>
                              <p:cond delay="2000"/>
                            </p:stCondLst>
                            <p:childTnLst>
                              <p:par>
                                <p:cTn id="58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2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3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4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7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9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0" fill="hold">
                            <p:stCondLst>
                              <p:cond delay="2500"/>
                            </p:stCondLst>
                            <p:childTnLst>
                              <p:par>
                                <p:cTn id="59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2" dur="400" autoRev="1" fill="hold"/>
                                        <p:tgtEl>
                                          <p:spTgt spid="13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9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4" dur="400" autoRev="1" fill="hold"/>
                                        <p:tgtEl>
                                          <p:spTgt spid="13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  <p:bldP spid="7" grpId="1" animBg="1"/>
      <p:bldP spid="8" grpId="1" animBg="1"/>
      <p:bldP spid="10" grpId="1" animBg="1"/>
      <p:bldP spid="11" grpId="1" animBg="1"/>
      <p:bldP spid="13" grpId="0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6" grpId="0" animBg="1"/>
      <p:bldP spid="27" grpId="0" animBg="1"/>
      <p:bldP spid="28" grpId="2"/>
      <p:bldP spid="33" grpId="0" animBg="1"/>
      <p:bldP spid="34" grpId="0" animBg="1"/>
      <p:bldP spid="35" grpId="0" animBg="1"/>
      <p:bldP spid="38" grpId="0" animBg="1"/>
      <p:bldP spid="40" grpId="0" animBg="1"/>
      <p:bldP spid="41" grpId="0" animBg="1"/>
      <p:bldP spid="43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62" grpId="1" animBg="1"/>
      <p:bldP spid="63" grpId="0" animBg="1"/>
      <p:bldP spid="65" grpId="1" animBg="1"/>
      <p:bldP spid="66" grpId="0" animBg="1"/>
      <p:bldP spid="68" grpId="1" animBg="1"/>
      <p:bldP spid="69" grpId="0" animBg="1"/>
      <p:bldP spid="70" grpId="0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77" grpId="0" animBg="1"/>
      <p:bldP spid="77" grpId="1" animBg="1"/>
      <p:bldP spid="78" grpId="0" animBg="1"/>
      <p:bldP spid="79" grpId="1" animBg="1"/>
      <p:bldP spid="79" grpId="2" animBg="1"/>
      <p:bldP spid="80" grpId="1" animBg="1"/>
      <p:bldP spid="80" grpId="3" animBg="1"/>
      <p:bldP spid="81" grpId="1" animBg="1"/>
      <p:bldP spid="81" grpId="3" animBg="1"/>
      <p:bldP spid="82" grpId="0" animBg="1"/>
      <p:bldP spid="82" grpId="1" animBg="1"/>
      <p:bldP spid="83" grpId="0" animBg="1"/>
      <p:bldP spid="83" grpId="1" animBg="1"/>
      <p:bldP spid="83" grpId="3" animBg="1"/>
      <p:bldP spid="84" grpId="0" animBg="1"/>
      <p:bldP spid="84" grpId="1" animBg="1"/>
      <p:bldP spid="84" grpId="3" animBg="1"/>
      <p:bldP spid="85" grpId="0" animBg="1"/>
      <p:bldP spid="85" grpId="1" animBg="1"/>
      <p:bldP spid="85" grpId="3" animBg="1"/>
      <p:bldP spid="86" grpId="0" animBg="1"/>
      <p:bldP spid="86" grpId="1" animBg="1"/>
      <p:bldP spid="86" grpId="3" animBg="1"/>
      <p:bldP spid="87" grpId="0" animBg="1"/>
      <p:bldP spid="87" grpId="1" animBg="1"/>
      <p:bldP spid="87" grpId="3" animBg="1"/>
      <p:bldP spid="88" grpId="0" animBg="1"/>
      <p:bldP spid="88" grpId="1" animBg="1"/>
      <p:bldP spid="88" grpId="3" animBg="1"/>
      <p:bldP spid="89" grpId="0" animBg="1"/>
      <p:bldP spid="89" grpId="1" animBg="1"/>
      <p:bldP spid="89" grpId="3" animBg="1"/>
      <p:bldP spid="90" grpId="0" animBg="1"/>
      <p:bldP spid="90" grpId="1" animBg="1"/>
      <p:bldP spid="90" grpId="3" animBg="1"/>
      <p:bldP spid="91" grpId="0" animBg="1"/>
      <p:bldP spid="91" grpId="1" animBg="1"/>
      <p:bldP spid="91" grpId="3" animBg="1"/>
      <p:bldP spid="92" grpId="0" animBg="1"/>
      <p:bldP spid="92" grpId="1" animBg="1"/>
      <p:bldP spid="92" grpId="3" animBg="1"/>
      <p:bldP spid="93" grpId="0" animBg="1"/>
      <p:bldP spid="93" grpId="1" animBg="1"/>
      <p:bldP spid="93" grpId="3" animBg="1"/>
      <p:bldP spid="94" grpId="0" animBg="1"/>
      <p:bldP spid="94" grpId="1" animBg="1"/>
      <p:bldP spid="94" grpId="3" animBg="1"/>
      <p:bldP spid="95" grpId="0" animBg="1"/>
      <p:bldP spid="95" grpId="1" animBg="1"/>
      <p:bldP spid="95" grpId="3" animBg="1"/>
      <p:bldP spid="96" grpId="0" animBg="1"/>
      <p:bldP spid="96" grpId="1" animBg="1"/>
      <p:bldP spid="96" grpId="3" animBg="1"/>
      <p:bldP spid="97" grpId="0" animBg="1"/>
      <p:bldP spid="97" grpId="1" animBg="1"/>
      <p:bldP spid="97" grpId="3" animBg="1"/>
      <p:bldP spid="98" grpId="0" animBg="1"/>
      <p:bldP spid="98" grpId="1" animBg="1"/>
      <p:bldP spid="98" grpId="3" animBg="1"/>
      <p:bldP spid="99" grpId="0" animBg="1"/>
      <p:bldP spid="99" grpId="1" animBg="1"/>
      <p:bldP spid="99" grpId="3" animBg="1"/>
      <p:bldP spid="100" grpId="0" animBg="1"/>
      <p:bldP spid="100" grpId="1" animBg="1"/>
      <p:bldP spid="100" grpId="3" animBg="1"/>
      <p:bldP spid="101" grpId="0" animBg="1"/>
      <p:bldP spid="101" grpId="1" animBg="1"/>
      <p:bldP spid="101" grpId="3" animBg="1"/>
      <p:bldP spid="102" grpId="0" animBg="1"/>
      <p:bldP spid="102" grpId="1" animBg="1"/>
      <p:bldP spid="102" grpId="3" animBg="1"/>
      <p:bldP spid="103" grpId="0" animBg="1"/>
      <p:bldP spid="103" grpId="1" animBg="1"/>
      <p:bldP spid="103" grpId="3" animBg="1"/>
      <p:bldP spid="104" grpId="0" animBg="1"/>
      <p:bldP spid="104" grpId="1" animBg="1"/>
      <p:bldP spid="104" grpId="3" animBg="1"/>
      <p:bldP spid="105" grpId="0" animBg="1"/>
      <p:bldP spid="105" grpId="1" animBg="1"/>
      <p:bldP spid="105" grpId="3" animBg="1"/>
      <p:bldP spid="106" grpId="0" animBg="1"/>
      <p:bldP spid="106" grpId="1" animBg="1"/>
      <p:bldP spid="106" grpId="3" animBg="1"/>
      <p:bldP spid="107" grpId="0" animBg="1"/>
      <p:bldP spid="107" grpId="1" animBg="1"/>
      <p:bldP spid="107" grpId="3" animBg="1"/>
      <p:bldP spid="108" grpId="0" animBg="1"/>
      <p:bldP spid="108" grpId="1" animBg="1"/>
      <p:bldP spid="108" grpId="3" animBg="1"/>
      <p:bldP spid="109" grpId="0" animBg="1"/>
      <p:bldP spid="109" grpId="1" animBg="1"/>
      <p:bldP spid="109" grpId="3" animBg="1"/>
      <p:bldP spid="110" grpId="0" animBg="1"/>
      <p:bldP spid="110" grpId="1" animBg="1"/>
      <p:bldP spid="110" grpId="3" animBg="1"/>
      <p:bldP spid="111" grpId="0" animBg="1"/>
      <p:bldP spid="111" grpId="1" animBg="1"/>
      <p:bldP spid="111" grpId="3" animBg="1"/>
      <p:bldP spid="112" grpId="0" animBg="1"/>
      <p:bldP spid="112" grpId="1" animBg="1"/>
      <p:bldP spid="112" grpId="3" animBg="1"/>
      <p:bldP spid="113" grpId="0" animBg="1"/>
      <p:bldP spid="113" grpId="1" animBg="1"/>
      <p:bldP spid="113" grpId="3" animBg="1"/>
      <p:bldP spid="114" grpId="0" animBg="1"/>
      <p:bldP spid="114" grpId="1" animBg="1"/>
      <p:bldP spid="114" grpId="3" animBg="1"/>
      <p:bldP spid="115" grpId="0" animBg="1"/>
      <p:bldP spid="115" grpId="1" animBg="1"/>
      <p:bldP spid="115" grpId="3" animBg="1"/>
      <p:bldP spid="116" grpId="0" animBg="1"/>
      <p:bldP spid="116" grpId="1" animBg="1"/>
      <p:bldP spid="116" grpId="3" animBg="1"/>
      <p:bldP spid="117" grpId="0" animBg="1"/>
      <p:bldP spid="117" grpId="1" animBg="1"/>
      <p:bldP spid="117" grpId="3" animBg="1"/>
      <p:bldP spid="118" grpId="0" animBg="1"/>
      <p:bldP spid="118" grpId="1" animBg="1"/>
      <p:bldP spid="118" grpId="3" animBg="1"/>
      <p:bldP spid="119" grpId="0" animBg="1"/>
      <p:bldP spid="119" grpId="1" animBg="1"/>
      <p:bldP spid="119" grpId="3" animBg="1"/>
      <p:bldP spid="120" grpId="0" animBg="1"/>
      <p:bldP spid="120" grpId="1" animBg="1"/>
      <p:bldP spid="120" grpId="3" animBg="1"/>
      <p:bldP spid="121" grpId="0" animBg="1"/>
      <p:bldP spid="121" grpId="1" animBg="1"/>
      <p:bldP spid="121" grpId="3" animBg="1"/>
      <p:bldP spid="122" grpId="0" animBg="1"/>
      <p:bldP spid="122" grpId="1" animBg="1"/>
      <p:bldP spid="122" grpId="3" animBg="1"/>
      <p:bldP spid="123" grpId="0" animBg="1"/>
      <p:bldP spid="123" grpId="1" animBg="1"/>
      <p:bldP spid="123" grpId="3" animBg="1"/>
      <p:bldP spid="124" grpId="0" animBg="1"/>
      <p:bldP spid="124" grpId="1" animBg="1"/>
      <p:bldP spid="124" grpId="3" animBg="1"/>
      <p:bldP spid="125" grpId="0" animBg="1"/>
      <p:bldP spid="125" grpId="1" animBg="1"/>
      <p:bldP spid="125" grpId="3" animBg="1"/>
      <p:bldP spid="126" grpId="0" animBg="1"/>
      <p:bldP spid="126" grpId="1" animBg="1"/>
      <p:bldP spid="126" grpId="3" animBg="1"/>
      <p:bldP spid="127" grpId="0" animBg="1"/>
      <p:bldP spid="127" grpId="1" animBg="1"/>
      <p:bldP spid="127" grpId="3" animBg="1"/>
      <p:bldP spid="128" grpId="0" animBg="1"/>
      <p:bldP spid="128" grpId="1" animBg="1"/>
      <p:bldP spid="128" grpId="3" animBg="1"/>
      <p:bldP spid="129" grpId="0" animBg="1"/>
      <p:bldP spid="129" grpId="1" animBg="1"/>
      <p:bldP spid="129" grpId="3" animBg="1"/>
      <p:bldP spid="130" grpId="0" animBg="1"/>
      <p:bldP spid="130" grpId="1" animBg="1"/>
      <p:bldP spid="130" grpId="3" animBg="1"/>
      <p:bldP spid="131" grpId="0" animBg="1"/>
      <p:bldP spid="131" grpId="1" animBg="1"/>
      <p:bldP spid="131" grpId="3" animBg="1"/>
      <p:bldP spid="132" grpId="0" animBg="1"/>
      <p:bldP spid="132" grpId="1" animBg="1"/>
      <p:bldP spid="132" grpId="3" animBg="1"/>
      <p:bldP spid="133" grpId="0" animBg="1"/>
      <p:bldP spid="133" grpId="1" animBg="1"/>
      <p:bldP spid="133" grpId="3" animBg="1"/>
      <p:bldP spid="134" grpId="0" animBg="1"/>
      <p:bldP spid="134" grpId="1" animBg="1"/>
      <p:bldP spid="134" grpId="3" animBg="1"/>
      <p:bldP spid="135" grpId="0" animBg="1"/>
      <p:bldP spid="135" grpId="2" animBg="1"/>
      <p:bldP spid="136" grpId="0" animBg="1"/>
      <p:bldP spid="136" grpId="2" animBg="1"/>
      <p:bldP spid="138" grpId="0" animBg="1"/>
      <p:bldP spid="138" grpId="1" animBg="1"/>
      <p:bldP spid="138" grpId="2" animBg="1"/>
      <p:bldP spid="139" grpId="0" animBg="1"/>
      <p:bldP spid="139" grpId="1" animBg="1"/>
      <p:bldP spid="139" grpId="2" animBg="1"/>
      <p:bldP spid="140" grpId="0" animBg="1"/>
      <p:bldP spid="140" grpId="1" animBg="1"/>
      <p:bldP spid="140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875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876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87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878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879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880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881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88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883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884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885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886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88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888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889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890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891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892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893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894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895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896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897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898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899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900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901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902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903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1" animBg="1"/>
      <p:bldP spid="20" grpId="3" animBg="1"/>
      <p:bldP spid="21" grpId="1" animBg="1"/>
      <p:bldP spid="21" grpId="3" animBg="1"/>
      <p:bldP spid="22" grpId="1" animBg="1"/>
      <p:bldP spid="22" grpId="3" animBg="1"/>
      <p:bldP spid="23" grpId="1" animBg="1"/>
      <p:bldP spid="23" grpId="3" animBg="1"/>
      <p:bldP spid="24" grpId="1" animBg="1"/>
      <p:bldP spid="24" grpId="3" animBg="1"/>
      <p:bldP spid="25" grpId="1" animBg="1"/>
      <p:bldP spid="25" grpId="3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904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05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0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907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908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909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910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0" name="s911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1" name="i9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913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914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915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91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s917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7" name="i9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919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920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921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922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2" name="s923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3" name="i92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925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926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927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Post-treatment wash, packed beds, SWS, SRU</a:t>
            </a:r>
            <a:endParaRPr lang="en-US" sz="1200" dirty="0"/>
          </a:p>
        </p:txBody>
      </p:sp>
      <p:sp>
        <p:nvSpPr>
          <p:cNvPr id="27" name="s928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8" name="s929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9" name="i93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931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932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933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934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34" name="s935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35" name="i93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937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938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939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940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94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942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943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5" name="t944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945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" name="s946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4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948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949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950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9" name="i95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952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953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954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3" name="i95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956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957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958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7" name="i95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960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961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962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1" name="i96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964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965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966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i96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968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969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970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71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t972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973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974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8" name="s975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t976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977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978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979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98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981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982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983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984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98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986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987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988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989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99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991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992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993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994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99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996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997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998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4" name="t999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1000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4" name="i100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1002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1003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1004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8" name="i100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1006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1007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1008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2" name="i100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1010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1011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1012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6" name="i10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1014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1015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goes back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1016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4" name="s1017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5" name="i101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1019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1020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1021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9" name="s1022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0" name="i10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1024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1025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102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4" name="s1027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15" name="i10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1029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1030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1031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9" name="s1032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0" name="i103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1034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1035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1036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4" name="s1037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25" name="i103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1039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1040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1041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blurRad="76200" dist="25400" dir="5400000" algn="bl" rotWithShape="0">
              <a:srgbClr val="9AA9B8">
                <a:alpha val="22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9" name="s1042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  <p:txBody>
          <a:bodyPr/>
          <a:lstStyle/>
          <a:p>
            <a:endParaRPr lang="en-AE"/>
          </a:p>
        </p:txBody>
      </p:sp>
      <p:pic>
        <p:nvPicPr>
          <p:cNvPr id="30" name="i104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1044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1045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04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1047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1048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5" name="t1049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3281</Words>
  <Application>Microsoft Office PowerPoint</Application>
  <PresentationFormat>Widescreen</PresentationFormat>
  <Paragraphs>600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Mohammed Ibrahim</cp:lastModifiedBy>
  <cp:revision>2</cp:revision>
  <dcterms:created xsi:type="dcterms:W3CDTF">2026-10-06T08:11:19Z</dcterms:created>
  <dcterms:modified xsi:type="dcterms:W3CDTF">2026-10-06T08:17:03Z</dcterms:modified>
</cp:coreProperties>
</file>