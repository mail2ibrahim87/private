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21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2828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Delight decontamination: where it is needed in oil &amp; gas, how we do it, and what happens to every contaminant.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value chain branch by branch. The green ticks mark where Delight decontaminates. The next four slides zoom into each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upstream: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midstream: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downstream: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petrochemicals: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this slide for each client meeting (type into the grey boxes).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hazards that must be removed before entry – the colours are used for these contaminants throughout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is chosen per piece of equipment; most units combine two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clicks. H₂S and FeS are converted in place and leave with the condensate; only the vapours go to the flare. The column cleans in stages from oily brown to Delight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Chemistry goes in with the steam through the bottom risers. The vessel cleans in stages from oily brown to Delight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returning-oil sample is how the end point is judged on site. Loaded oil goes to slop / rerun, then vapour-phase gas-frees the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where steam is not allowed: tanks and lined / coated / low-design-temperature vessels.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Pre-treatment and post-treatment use the same circulation/spray route. Pre-treatment coats the packing geometry so the vapour-phase works deeper; post-treatment is the oxidation wash for pyrophoric FeS before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Tanks are atmospheric: no flare. Vapours are vented through a carbon filter. Bulk sludge is vacuumed to a waste tank for licensed disposal (no oil recovery), then gamma-jetting and circulation run for 8–12 hours; spent wash goes to the effluent tank.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vapours to the flare. Click 2: H₂S, FeS, ammonia, mercaptans and sludge are converted / emulsified and drained. Click 3: heavy oil is recovered.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FT">
    <p:bg>
      <p:bgPr>
        <a:solidFill>
          <a:srgbClr val="E9F2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4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3" name="t2"/>
          <p:cNvSpPr txBox="1"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SERVICES</a:t>
            </a:r>
            <a:endParaRPr lang="en-US" sz="1600" dirty="0"/>
          </a:p>
        </p:txBody>
      </p:sp>
      <p:sp>
        <p:nvSpPr>
          <p:cNvPr id="4" name="t3"/>
          <p:cNvSpPr txBox="1"/>
          <p:nvPr/>
        </p:nvSpPr>
        <p:spPr>
          <a:xfrm>
            <a:off x="685800" y="27432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fast entry – across the oil &amp; gas value chain</a:t>
            </a:r>
            <a:endParaRPr lang="en-US" sz="4000" dirty="0"/>
          </a:p>
        </p:txBody>
      </p:sp>
      <p:sp>
        <p:nvSpPr>
          <p:cNvPr id="5" name="t4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International  ·  Maintenance Simplified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Delight International at a glance</a:t>
            </a:r>
            <a:endParaRPr lang="en-US" sz="2800" dirty="0"/>
          </a:p>
        </p:txBody>
      </p:sp>
      <p:sp>
        <p:nvSpPr>
          <p:cNvPr id="3" name="s5"/>
          <p:cNvSpPr/>
          <p:nvPr/>
        </p:nvSpPr>
        <p:spPr>
          <a:xfrm>
            <a:off x="548640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6"/>
          <p:cNvSpPr/>
          <p:nvPr/>
        </p:nvSpPr>
        <p:spPr>
          <a:xfrm>
            <a:off x="1371600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029" y="2013509"/>
            <a:ext cx="499262" cy="499262"/>
          </a:xfrm>
          <a:prstGeom prst="rect">
            <a:avLst/>
          </a:prstGeom>
        </p:spPr>
      </p:pic>
      <p:sp>
        <p:nvSpPr>
          <p:cNvPr id="6" name="t8"/>
          <p:cNvSpPr txBox="1"/>
          <p:nvPr/>
        </p:nvSpPr>
        <p:spPr>
          <a:xfrm>
            <a:off x="6858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700" dirty="0"/>
          </a:p>
        </p:txBody>
      </p:sp>
      <p:sp>
        <p:nvSpPr>
          <p:cNvPr id="7" name="t9"/>
          <p:cNvSpPr txBox="1"/>
          <p:nvPr/>
        </p:nvSpPr>
        <p:spPr>
          <a:xfrm>
            <a:off x="731520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8" name="s10"/>
          <p:cNvSpPr/>
          <p:nvPr/>
        </p:nvSpPr>
        <p:spPr>
          <a:xfrm>
            <a:off x="3364992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1"/>
          <p:cNvSpPr/>
          <p:nvPr/>
        </p:nvSpPr>
        <p:spPr>
          <a:xfrm>
            <a:off x="4187952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2013509"/>
            <a:ext cx="499262" cy="499262"/>
          </a:xfrm>
          <a:prstGeom prst="rect">
            <a:avLst/>
          </a:prstGeom>
        </p:spPr>
      </p:pic>
      <p:sp>
        <p:nvSpPr>
          <p:cNvPr id="11" name="t13"/>
          <p:cNvSpPr txBox="1"/>
          <p:nvPr/>
        </p:nvSpPr>
        <p:spPr>
          <a:xfrm>
            <a:off x="3502152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700" dirty="0"/>
          </a:p>
        </p:txBody>
      </p:sp>
      <p:sp>
        <p:nvSpPr>
          <p:cNvPr id="12" name="t14"/>
          <p:cNvSpPr txBox="1"/>
          <p:nvPr/>
        </p:nvSpPr>
        <p:spPr>
          <a:xfrm>
            <a:off x="3547872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</a:t>
            </a:r>
            <a:endParaRPr lang="en-US" sz="1400" dirty="0"/>
          </a:p>
        </p:txBody>
      </p:sp>
      <p:sp>
        <p:nvSpPr>
          <p:cNvPr id="13" name="s15"/>
          <p:cNvSpPr/>
          <p:nvPr/>
        </p:nvSpPr>
        <p:spPr>
          <a:xfrm>
            <a:off x="6181344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6"/>
          <p:cNvSpPr/>
          <p:nvPr/>
        </p:nvSpPr>
        <p:spPr>
          <a:xfrm>
            <a:off x="7004304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733" y="2013509"/>
            <a:ext cx="499262" cy="499262"/>
          </a:xfrm>
          <a:prstGeom prst="rect">
            <a:avLst/>
          </a:prstGeom>
        </p:spPr>
      </p:pic>
      <p:sp>
        <p:nvSpPr>
          <p:cNvPr id="16" name="t18"/>
          <p:cNvSpPr txBox="1"/>
          <p:nvPr/>
        </p:nvSpPr>
        <p:spPr>
          <a:xfrm>
            <a:off x="6318504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we serve</a:t>
            </a:r>
            <a:endParaRPr lang="en-US" sz="1700" dirty="0"/>
          </a:p>
        </p:txBody>
      </p:sp>
      <p:sp>
        <p:nvSpPr>
          <p:cNvPr id="17" name="t19"/>
          <p:cNvSpPr txBox="1"/>
          <p:nvPr/>
        </p:nvSpPr>
        <p:spPr>
          <a:xfrm>
            <a:off x="6364224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Onshore, offshore, marine, power and oil &amp; gas</a:t>
            </a:r>
            <a:endParaRPr lang="en-US" sz="1400" dirty="0"/>
          </a:p>
        </p:txBody>
      </p:sp>
      <p:sp>
        <p:nvSpPr>
          <p:cNvPr id="18" name="s20"/>
          <p:cNvSpPr/>
          <p:nvPr/>
        </p:nvSpPr>
        <p:spPr>
          <a:xfrm>
            <a:off x="8997696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21"/>
          <p:cNvSpPr/>
          <p:nvPr/>
        </p:nvSpPr>
        <p:spPr>
          <a:xfrm>
            <a:off x="9820656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1085" y="2013509"/>
            <a:ext cx="499262" cy="499262"/>
          </a:xfrm>
          <a:prstGeom prst="rect">
            <a:avLst/>
          </a:prstGeom>
        </p:spPr>
      </p:pic>
      <p:sp>
        <p:nvSpPr>
          <p:cNvPr id="21" name="t23"/>
          <p:cNvSpPr txBox="1"/>
          <p:nvPr/>
        </p:nvSpPr>
        <p:spPr>
          <a:xfrm>
            <a:off x="9134856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700" dirty="0"/>
          </a:p>
        </p:txBody>
      </p:sp>
      <p:sp>
        <p:nvSpPr>
          <p:cNvPr id="22" name="t24"/>
          <p:cNvSpPr txBox="1"/>
          <p:nvPr/>
        </p:nvSpPr>
        <p:spPr>
          <a:xfrm>
            <a:off x="9180576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maintenance, specialised services, flange management, pipeline, marine and tank cleaning</a:t>
            </a:r>
            <a:endParaRPr lang="en-US" sz="1400" dirty="0"/>
          </a:p>
        </p:txBody>
      </p:sp>
      <p:sp>
        <p:nvSpPr>
          <p:cNvPr id="23" name="s25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26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at Delight:  </a:t>
            </a: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viscosity flush, chemical circulation, packing pre- &amp; post-treatment and tank gamma-jet – planned, executed and validated by one team.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decontamination fits in oil &amp; gas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4178808" y="1280160"/>
            <a:ext cx="3840480" cy="658368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4178808" y="12801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1600" dirty="0"/>
          </a:p>
        </p:txBody>
      </p:sp>
      <p:sp>
        <p:nvSpPr>
          <p:cNvPr id="5" name="!!bar_v"/>
          <p:cNvSpPr/>
          <p:nvPr/>
        </p:nvSpPr>
        <p:spPr>
          <a:xfrm>
            <a:off x="6099048" y="1938528"/>
            <a:ext cx="0" cy="256032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1783080" y="2194560"/>
            <a:ext cx="8641080" cy="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178308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50292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06040"/>
            <a:ext cx="566928" cy="56692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128016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1350" dirty="0"/>
          </a:p>
        </p:txBody>
      </p:sp>
      <p:sp>
        <p:nvSpPr>
          <p:cNvPr id="11" name="!!lf0_0"/>
          <p:cNvSpPr/>
          <p:nvPr/>
        </p:nvSpPr>
        <p:spPr>
          <a:xfrm>
            <a:off x="50292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68580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250" dirty="0"/>
          </a:p>
        </p:txBody>
      </p:sp>
      <p:sp>
        <p:nvSpPr>
          <p:cNvPr id="13" name="!!mk0_0"/>
          <p:cNvSpPr/>
          <p:nvPr/>
        </p:nvSpPr>
        <p:spPr>
          <a:xfrm>
            <a:off x="267919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3794760"/>
            <a:ext cx="164592" cy="164592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50292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68580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250" dirty="0"/>
          </a:p>
        </p:txBody>
      </p:sp>
      <p:sp>
        <p:nvSpPr>
          <p:cNvPr id="17" name="!!mk0_1"/>
          <p:cNvSpPr/>
          <p:nvPr/>
        </p:nvSpPr>
        <p:spPr>
          <a:xfrm>
            <a:off x="267919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4453128"/>
            <a:ext cx="164592" cy="164592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50292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68580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250" dirty="0"/>
          </a:p>
        </p:txBody>
      </p:sp>
      <p:sp>
        <p:nvSpPr>
          <p:cNvPr id="21" name="!!mk0_2"/>
          <p:cNvSpPr/>
          <p:nvPr/>
        </p:nvSpPr>
        <p:spPr>
          <a:xfrm>
            <a:off x="267919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111496"/>
            <a:ext cx="164592" cy="164592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466344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338328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06040"/>
            <a:ext cx="566928" cy="56692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416052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1350" dirty="0"/>
          </a:p>
        </p:txBody>
      </p:sp>
      <p:sp>
        <p:nvSpPr>
          <p:cNvPr id="27" name="!!lf1_0"/>
          <p:cNvSpPr/>
          <p:nvPr/>
        </p:nvSpPr>
        <p:spPr>
          <a:xfrm>
            <a:off x="338328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356616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250" dirty="0"/>
          </a:p>
        </p:txBody>
      </p:sp>
      <p:sp>
        <p:nvSpPr>
          <p:cNvPr id="29" name="!!mk1_0"/>
          <p:cNvSpPr/>
          <p:nvPr/>
        </p:nvSpPr>
        <p:spPr>
          <a:xfrm>
            <a:off x="555955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3794760"/>
            <a:ext cx="164592" cy="164592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338328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356616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250" dirty="0"/>
          </a:p>
        </p:txBody>
      </p:sp>
      <p:sp>
        <p:nvSpPr>
          <p:cNvPr id="33" name="!!mk1_1"/>
          <p:cNvSpPr/>
          <p:nvPr/>
        </p:nvSpPr>
        <p:spPr>
          <a:xfrm>
            <a:off x="555955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4453128"/>
            <a:ext cx="164592" cy="164592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338328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356616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250" dirty="0"/>
          </a:p>
        </p:txBody>
      </p:sp>
      <p:sp>
        <p:nvSpPr>
          <p:cNvPr id="37" name="!!mk1_2"/>
          <p:cNvSpPr/>
          <p:nvPr/>
        </p:nvSpPr>
        <p:spPr>
          <a:xfrm>
            <a:off x="555955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5111496"/>
            <a:ext cx="164592" cy="164592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754380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626364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606040"/>
            <a:ext cx="566928" cy="56692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704088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1350" dirty="0"/>
          </a:p>
        </p:txBody>
      </p:sp>
      <p:sp>
        <p:nvSpPr>
          <p:cNvPr id="43" name="!!lf2_0"/>
          <p:cNvSpPr/>
          <p:nvPr/>
        </p:nvSpPr>
        <p:spPr>
          <a:xfrm>
            <a:off x="626364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lft2_0"/>
          <p:cNvSpPr txBox="1"/>
          <p:nvPr/>
        </p:nvSpPr>
        <p:spPr>
          <a:xfrm>
            <a:off x="644652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250" dirty="0"/>
          </a:p>
        </p:txBody>
      </p:sp>
      <p:sp>
        <p:nvSpPr>
          <p:cNvPr id="45" name="!!mk2_0"/>
          <p:cNvSpPr/>
          <p:nvPr/>
        </p:nvSpPr>
        <p:spPr>
          <a:xfrm>
            <a:off x="843991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6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3794760"/>
            <a:ext cx="164592" cy="164592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626364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2_1"/>
          <p:cNvSpPr txBox="1"/>
          <p:nvPr/>
        </p:nvSpPr>
        <p:spPr>
          <a:xfrm>
            <a:off x="644652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250" dirty="0"/>
          </a:p>
        </p:txBody>
      </p:sp>
      <p:sp>
        <p:nvSpPr>
          <p:cNvPr id="49" name="!!mk2_1"/>
          <p:cNvSpPr/>
          <p:nvPr/>
        </p:nvSpPr>
        <p:spPr>
          <a:xfrm>
            <a:off x="843991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4453128"/>
            <a:ext cx="164592" cy="164592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626364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2_2"/>
          <p:cNvSpPr txBox="1"/>
          <p:nvPr/>
        </p:nvSpPr>
        <p:spPr>
          <a:xfrm>
            <a:off x="644652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250" dirty="0"/>
          </a:p>
        </p:txBody>
      </p:sp>
      <p:sp>
        <p:nvSpPr>
          <p:cNvPr id="53" name="!!mk2_2"/>
          <p:cNvSpPr/>
          <p:nvPr/>
        </p:nvSpPr>
        <p:spPr>
          <a:xfrm>
            <a:off x="843991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5111496"/>
            <a:ext cx="164592" cy="164592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042416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br3"/>
          <p:cNvSpPr/>
          <p:nvPr/>
        </p:nvSpPr>
        <p:spPr>
          <a:xfrm>
            <a:off x="914400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7" name="!!bri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0" y="2606040"/>
            <a:ext cx="566928" cy="56692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992124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1350" dirty="0"/>
          </a:p>
        </p:txBody>
      </p:sp>
      <p:sp>
        <p:nvSpPr>
          <p:cNvPr id="59" name="!!lf3_0"/>
          <p:cNvSpPr/>
          <p:nvPr/>
        </p:nvSpPr>
        <p:spPr>
          <a:xfrm>
            <a:off x="914400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3_0"/>
          <p:cNvSpPr txBox="1"/>
          <p:nvPr/>
        </p:nvSpPr>
        <p:spPr>
          <a:xfrm>
            <a:off x="932688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250" dirty="0"/>
          </a:p>
        </p:txBody>
      </p:sp>
      <p:sp>
        <p:nvSpPr>
          <p:cNvPr id="61" name="!!mk3_0"/>
          <p:cNvSpPr/>
          <p:nvPr/>
        </p:nvSpPr>
        <p:spPr>
          <a:xfrm>
            <a:off x="1132027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3794760"/>
            <a:ext cx="164592" cy="164592"/>
          </a:xfrm>
          <a:prstGeom prst="rect">
            <a:avLst/>
          </a:prstGeom>
        </p:spPr>
      </p:pic>
      <p:sp>
        <p:nvSpPr>
          <p:cNvPr id="63" name="!!lf3_1"/>
          <p:cNvSpPr/>
          <p:nvPr/>
        </p:nvSpPr>
        <p:spPr>
          <a:xfrm>
            <a:off x="914400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!!lft3_1"/>
          <p:cNvSpPr txBox="1"/>
          <p:nvPr/>
        </p:nvSpPr>
        <p:spPr>
          <a:xfrm>
            <a:off x="932688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250" dirty="0"/>
          </a:p>
        </p:txBody>
      </p:sp>
      <p:sp>
        <p:nvSpPr>
          <p:cNvPr id="65" name="!!mk3_1"/>
          <p:cNvSpPr/>
          <p:nvPr/>
        </p:nvSpPr>
        <p:spPr>
          <a:xfrm>
            <a:off x="1132027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6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4453128"/>
            <a:ext cx="164592" cy="164592"/>
          </a:xfrm>
          <a:prstGeom prst="rect">
            <a:avLst/>
          </a:prstGeom>
        </p:spPr>
      </p:pic>
      <p:sp>
        <p:nvSpPr>
          <p:cNvPr id="67" name="!!lf3_2"/>
          <p:cNvSpPr/>
          <p:nvPr/>
        </p:nvSpPr>
        <p:spPr>
          <a:xfrm>
            <a:off x="914400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!!lft3_2"/>
          <p:cNvSpPr txBox="1"/>
          <p:nvPr/>
        </p:nvSpPr>
        <p:spPr>
          <a:xfrm>
            <a:off x="932688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250" dirty="0"/>
          </a:p>
        </p:txBody>
      </p:sp>
      <p:sp>
        <p:nvSpPr>
          <p:cNvPr id="69" name="!!mk3_2"/>
          <p:cNvSpPr/>
          <p:nvPr/>
        </p:nvSpPr>
        <p:spPr>
          <a:xfrm>
            <a:off x="1132027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0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5111496"/>
            <a:ext cx="164592" cy="164592"/>
          </a:xfrm>
          <a:prstGeom prst="rect">
            <a:avLst/>
          </a:prstGeom>
        </p:spPr>
      </p:pic>
      <p:sp>
        <p:nvSpPr>
          <p:cNvPr id="71" name="s27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2" name="t2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holds hydrocarbons, H₂S or pyrophoric scale – and needs decontamination before entry.</a:t>
            </a:r>
            <a:endParaRPr lang="en-US" sz="15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2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3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7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8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7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7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400"/>
                            </p:stCondLst>
                            <p:childTnLst>
                              <p:par>
                                <p:cTn id="3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4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5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00"/>
                            </p:stCondLst>
                            <p:childTnLst>
                              <p:par>
                                <p:cTn id="362" presetID="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3" dur="4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5" dur="4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7" dur="4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9" dur="4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1" dur="4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3" dur="4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5" dur="4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4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9" dur="4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1" dur="4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3" dur="40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5" dur="40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3" grpId="2" animBg="1"/>
      <p:bldP spid="15" grpId="0" animBg="1"/>
      <p:bldP spid="16" grpId="0" animBg="1"/>
      <p:bldP spid="17" grpId="0" animBg="1"/>
      <p:bldP spid="17" grpId="2" animBg="1"/>
      <p:bldP spid="19" grpId="0" animBg="1"/>
      <p:bldP spid="20" grpId="0" animBg="1"/>
      <p:bldP spid="21" grpId="0" animBg="1"/>
      <p:bldP spid="21" grpId="2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29" grpId="2" animBg="1"/>
      <p:bldP spid="31" grpId="0" animBg="1"/>
      <p:bldP spid="32" grpId="0" animBg="1"/>
      <p:bldP spid="33" grpId="0" animBg="1"/>
      <p:bldP spid="33" grpId="2" animBg="1"/>
      <p:bldP spid="35" grpId="0" animBg="1"/>
      <p:bldP spid="36" grpId="0" animBg="1"/>
      <p:bldP spid="37" grpId="0" animBg="1"/>
      <p:bldP spid="37" grpId="2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5" grpId="2" animBg="1"/>
      <p:bldP spid="47" grpId="0" animBg="1"/>
      <p:bldP spid="48" grpId="0" animBg="1"/>
      <p:bldP spid="49" grpId="0" animBg="1"/>
      <p:bldP spid="49" grpId="2" animBg="1"/>
      <p:bldP spid="51" grpId="0" animBg="1"/>
      <p:bldP spid="52" grpId="0" animBg="1"/>
      <p:bldP spid="53" grpId="0" animBg="1"/>
      <p:bldP spid="53" grpId="2" animBg="1"/>
      <p:bldP spid="55" grpId="0" animBg="1"/>
      <p:bldP spid="56" grpId="0" animBg="1"/>
      <p:bldP spid="58" grpId="0" animBg="1"/>
      <p:bldP spid="59" grpId="0" animBg="1"/>
      <p:bldP spid="60" grpId="0" animBg="1"/>
      <p:bldP spid="61" grpId="0" animBg="1"/>
      <p:bldP spid="61" grpId="2" animBg="1"/>
      <p:bldP spid="63" grpId="0" animBg="1"/>
      <p:bldP spid="64" grpId="0" animBg="1"/>
      <p:bldP spid="65" grpId="0" animBg="1"/>
      <p:bldP spid="65" grpId="2" animBg="1"/>
      <p:bldP spid="67" grpId="0" animBg="1"/>
      <p:bldP spid="68" grpId="0" animBg="1"/>
      <p:bldP spid="69" grpId="0" animBg="1"/>
      <p:bldP spid="69" grpId="2" animBg="1"/>
      <p:bldP spid="71" grpId="0" animBg="1"/>
      <p:bldP spid="7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Upstream – production &amp; gas processing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3" name="!!bri1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14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15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17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1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19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21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1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23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25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6" name="!!mki1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2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2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2" name="!!mki2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0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0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600" dirty="0"/>
          </a:p>
        </p:txBody>
      </p:sp>
      <p:sp>
        <p:nvSpPr>
          <p:cNvPr id="61" name="!!mk0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0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29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Separators, heater-treaters, desalters</a:t>
            </a:r>
            <a:endParaRPr lang="en-US" sz="1400" dirty="0"/>
          </a:p>
        </p:txBody>
      </p:sp>
      <p:sp>
        <p:nvSpPr>
          <p:cNvPr id="64" name="s30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31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32"/>
          <p:cNvSpPr/>
          <p:nvPr/>
        </p:nvSpPr>
        <p:spPr>
          <a:xfrm>
            <a:off x="477774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33"/>
          <p:cNvSpPr txBox="1"/>
          <p:nvPr/>
        </p:nvSpPr>
        <p:spPr>
          <a:xfrm>
            <a:off x="477774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34"/>
          <p:cNvSpPr/>
          <p:nvPr/>
        </p:nvSpPr>
        <p:spPr>
          <a:xfrm>
            <a:off x="5440680" y="192024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35"/>
          <p:cNvSpPr txBox="1"/>
          <p:nvPr/>
        </p:nvSpPr>
        <p:spPr>
          <a:xfrm>
            <a:off x="5440680" y="19202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0" name="s36"/>
          <p:cNvSpPr/>
          <p:nvPr/>
        </p:nvSpPr>
        <p:spPr>
          <a:xfrm>
            <a:off x="6336792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37"/>
          <p:cNvSpPr txBox="1"/>
          <p:nvPr/>
        </p:nvSpPr>
        <p:spPr>
          <a:xfrm>
            <a:off x="6336792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72" name="!!lf0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!!lft0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600" dirty="0"/>
          </a:p>
        </p:txBody>
      </p:sp>
      <p:sp>
        <p:nvSpPr>
          <p:cNvPr id="74" name="!!mk0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5" name="!!mki0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38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Slug catchers, amine, glycol, condensate stabilisers</a:t>
            </a:r>
            <a:endParaRPr lang="en-US" sz="1400" dirty="0"/>
          </a:p>
        </p:txBody>
      </p:sp>
      <p:sp>
        <p:nvSpPr>
          <p:cNvPr id="77" name="s39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40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41"/>
          <p:cNvSpPr/>
          <p:nvPr/>
        </p:nvSpPr>
        <p:spPr>
          <a:xfrm>
            <a:off x="477774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42"/>
          <p:cNvSpPr txBox="1"/>
          <p:nvPr/>
        </p:nvSpPr>
        <p:spPr>
          <a:xfrm>
            <a:off x="477774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81" name="s43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44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3" name="s45"/>
          <p:cNvSpPr/>
          <p:nvPr/>
        </p:nvSpPr>
        <p:spPr>
          <a:xfrm>
            <a:off x="664768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4" name="t46"/>
          <p:cNvSpPr txBox="1"/>
          <p:nvPr/>
        </p:nvSpPr>
        <p:spPr>
          <a:xfrm>
            <a:off x="664768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5" name="!!lf0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!!lft0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600" dirty="0"/>
          </a:p>
        </p:txBody>
      </p:sp>
      <p:sp>
        <p:nvSpPr>
          <p:cNvPr id="87" name="!!mk0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8" name="!!mki0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47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Produced-water and condensate tanks</a:t>
            </a:r>
            <a:endParaRPr lang="en-US" sz="1400" dirty="0"/>
          </a:p>
        </p:txBody>
      </p:sp>
      <p:sp>
        <p:nvSpPr>
          <p:cNvPr id="90" name="s48"/>
          <p:cNvSpPr/>
          <p:nvPr/>
        </p:nvSpPr>
        <p:spPr>
          <a:xfrm>
            <a:off x="4114800" y="475488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49"/>
          <p:cNvSpPr txBox="1"/>
          <p:nvPr/>
        </p:nvSpPr>
        <p:spPr>
          <a:xfrm>
            <a:off x="4114800" y="47548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92" name="s50"/>
          <p:cNvSpPr/>
          <p:nvPr/>
        </p:nvSpPr>
        <p:spPr>
          <a:xfrm>
            <a:off x="501091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51"/>
          <p:cNvSpPr txBox="1"/>
          <p:nvPr/>
        </p:nvSpPr>
        <p:spPr>
          <a:xfrm>
            <a:off x="501091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4" name="s52"/>
          <p:cNvSpPr/>
          <p:nvPr/>
        </p:nvSpPr>
        <p:spPr>
          <a:xfrm>
            <a:off x="567385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53"/>
          <p:cNvSpPr txBox="1"/>
          <p:nvPr/>
        </p:nvSpPr>
        <p:spPr>
          <a:xfrm>
            <a:off x="567385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Midstream – transport &amp; storage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2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1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1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600" dirty="0"/>
          </a:p>
        </p:txBody>
      </p:sp>
      <p:sp>
        <p:nvSpPr>
          <p:cNvPr id="61" name="!!mk1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54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traps, receivers and slug catchers</a:t>
            </a:r>
            <a:endParaRPr lang="en-US" sz="1400" dirty="0"/>
          </a:p>
        </p:txBody>
      </p:sp>
      <p:sp>
        <p:nvSpPr>
          <p:cNvPr id="64" name="s55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56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6" name="s57"/>
          <p:cNvSpPr/>
          <p:nvPr/>
        </p:nvSpPr>
        <p:spPr>
          <a:xfrm>
            <a:off x="4777740" y="19202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58"/>
          <p:cNvSpPr txBox="1"/>
          <p:nvPr/>
        </p:nvSpPr>
        <p:spPr>
          <a:xfrm>
            <a:off x="4777740" y="1920240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Pigging debris</a:t>
            </a:r>
            <a:endParaRPr lang="en-US" sz="1200" dirty="0"/>
          </a:p>
        </p:txBody>
      </p:sp>
      <p:sp>
        <p:nvSpPr>
          <p:cNvPr id="68" name="s59"/>
          <p:cNvSpPr/>
          <p:nvPr/>
        </p:nvSpPr>
        <p:spPr>
          <a:xfrm>
            <a:off x="6295644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60"/>
          <p:cNvSpPr txBox="1"/>
          <p:nvPr/>
        </p:nvSpPr>
        <p:spPr>
          <a:xfrm>
            <a:off x="6295644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!!lf1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!!lft1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600" dirty="0"/>
          </a:p>
        </p:txBody>
      </p:sp>
      <p:sp>
        <p:nvSpPr>
          <p:cNvPr id="72" name="!!mk1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3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61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and product storage tanks</a:t>
            </a:r>
            <a:endParaRPr lang="en-US" sz="1400" dirty="0"/>
          </a:p>
        </p:txBody>
      </p:sp>
      <p:sp>
        <p:nvSpPr>
          <p:cNvPr id="75" name="s62"/>
          <p:cNvSpPr/>
          <p:nvPr/>
        </p:nvSpPr>
        <p:spPr>
          <a:xfrm>
            <a:off x="4114800" y="33375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6" name="t63"/>
          <p:cNvSpPr txBox="1"/>
          <p:nvPr/>
        </p:nvSpPr>
        <p:spPr>
          <a:xfrm>
            <a:off x="4114800" y="333756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7" name="s64"/>
          <p:cNvSpPr/>
          <p:nvPr/>
        </p:nvSpPr>
        <p:spPr>
          <a:xfrm>
            <a:off x="5010912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65"/>
          <p:cNvSpPr txBox="1"/>
          <p:nvPr/>
        </p:nvSpPr>
        <p:spPr>
          <a:xfrm>
            <a:off x="5010912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9" name="s66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67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1" name="s68"/>
          <p:cNvSpPr/>
          <p:nvPr/>
        </p:nvSpPr>
        <p:spPr>
          <a:xfrm>
            <a:off x="664768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69"/>
          <p:cNvSpPr txBox="1"/>
          <p:nvPr/>
        </p:nvSpPr>
        <p:spPr>
          <a:xfrm>
            <a:off x="664768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3" name="!!lf1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!!lft1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600" dirty="0"/>
          </a:p>
        </p:txBody>
      </p:sp>
      <p:sp>
        <p:nvSpPr>
          <p:cNvPr id="85" name="!!mk1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6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7" name="t70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Fractionation columns, LPG spheres and bullets</a:t>
            </a:r>
            <a:endParaRPr lang="en-US" sz="1400" dirty="0"/>
          </a:p>
        </p:txBody>
      </p:sp>
      <p:sp>
        <p:nvSpPr>
          <p:cNvPr id="88" name="s71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9" name="t72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0" name="s73"/>
          <p:cNvSpPr/>
          <p:nvPr/>
        </p:nvSpPr>
        <p:spPr>
          <a:xfrm>
            <a:off x="4777740" y="4754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74"/>
          <p:cNvSpPr txBox="1"/>
          <p:nvPr/>
        </p:nvSpPr>
        <p:spPr>
          <a:xfrm>
            <a:off x="4777740" y="47548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92" name="s75"/>
          <p:cNvSpPr/>
          <p:nvPr/>
        </p:nvSpPr>
        <p:spPr>
          <a:xfrm>
            <a:off x="5984748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76"/>
          <p:cNvSpPr txBox="1"/>
          <p:nvPr/>
        </p:nvSpPr>
        <p:spPr>
          <a:xfrm>
            <a:off x="5984748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Downstream – refining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2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2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600" dirty="0"/>
          </a:p>
        </p:txBody>
      </p:sp>
      <p:sp>
        <p:nvSpPr>
          <p:cNvPr id="61" name="!!mk2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77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CDU, VDU, desalter, pre-heat trains</a:t>
            </a:r>
            <a:endParaRPr lang="en-US" sz="1400" dirty="0"/>
          </a:p>
        </p:txBody>
      </p:sp>
      <p:sp>
        <p:nvSpPr>
          <p:cNvPr id="64" name="s78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79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80"/>
          <p:cNvSpPr/>
          <p:nvPr/>
        </p:nvSpPr>
        <p:spPr>
          <a:xfrm>
            <a:off x="477774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81"/>
          <p:cNvSpPr txBox="1"/>
          <p:nvPr/>
        </p:nvSpPr>
        <p:spPr>
          <a:xfrm>
            <a:off x="477774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8" name="s82"/>
          <p:cNvSpPr/>
          <p:nvPr/>
        </p:nvSpPr>
        <p:spPr>
          <a:xfrm>
            <a:off x="575157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83"/>
          <p:cNvSpPr txBox="1"/>
          <p:nvPr/>
        </p:nvSpPr>
        <p:spPr>
          <a:xfrm>
            <a:off x="575157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s84"/>
          <p:cNvSpPr/>
          <p:nvPr/>
        </p:nvSpPr>
        <p:spPr>
          <a:xfrm>
            <a:off x="6414516" y="1920240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85"/>
          <p:cNvSpPr txBox="1"/>
          <p:nvPr/>
        </p:nvSpPr>
        <p:spPr>
          <a:xfrm>
            <a:off x="6414516" y="1920240"/>
            <a:ext cx="10195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72" name="!!lf2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!!lft2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600" dirty="0"/>
          </a:p>
        </p:txBody>
      </p:sp>
      <p:sp>
        <p:nvSpPr>
          <p:cNvPr id="74" name="!!mk2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5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86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Hydrotreaters, hydrocracker, FCC, coker</a:t>
            </a:r>
            <a:endParaRPr lang="en-US" sz="1400" dirty="0"/>
          </a:p>
        </p:txBody>
      </p:sp>
      <p:sp>
        <p:nvSpPr>
          <p:cNvPr id="77" name="s87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88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89"/>
          <p:cNvSpPr/>
          <p:nvPr/>
        </p:nvSpPr>
        <p:spPr>
          <a:xfrm>
            <a:off x="477774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90"/>
          <p:cNvSpPr txBox="1"/>
          <p:nvPr/>
        </p:nvSpPr>
        <p:spPr>
          <a:xfrm>
            <a:off x="477774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1" name="s91"/>
          <p:cNvSpPr/>
          <p:nvPr/>
        </p:nvSpPr>
        <p:spPr>
          <a:xfrm>
            <a:off x="5440680" y="3337560"/>
            <a:ext cx="630936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92"/>
          <p:cNvSpPr txBox="1"/>
          <p:nvPr/>
        </p:nvSpPr>
        <p:spPr>
          <a:xfrm>
            <a:off x="5440680" y="3337560"/>
            <a:ext cx="630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</a:t>
            </a:r>
            <a:endParaRPr lang="en-US" sz="1200" dirty="0"/>
          </a:p>
        </p:txBody>
      </p:sp>
      <p:sp>
        <p:nvSpPr>
          <p:cNvPr id="83" name="s93"/>
          <p:cNvSpPr/>
          <p:nvPr/>
        </p:nvSpPr>
        <p:spPr>
          <a:xfrm>
            <a:off x="6181344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4" name="t94"/>
          <p:cNvSpPr txBox="1"/>
          <p:nvPr/>
        </p:nvSpPr>
        <p:spPr>
          <a:xfrm>
            <a:off x="6181344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5" name="!!lf2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!!lft2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600" dirty="0"/>
          </a:p>
        </p:txBody>
      </p:sp>
      <p:sp>
        <p:nvSpPr>
          <p:cNvPr id="87" name="!!mk2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8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95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 strippers, amine regenerators, SRU / TGT</a:t>
            </a:r>
            <a:endParaRPr lang="en-US" sz="1400" dirty="0"/>
          </a:p>
        </p:txBody>
      </p:sp>
      <p:sp>
        <p:nvSpPr>
          <p:cNvPr id="90" name="s96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97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2" name="s98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99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4" name="s100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101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Petrochemicals – chemicals &amp; polymers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45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6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49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53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1311128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7" name="!!bri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59" name="!!lf3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3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600" dirty="0"/>
          </a:p>
        </p:txBody>
      </p:sp>
      <p:sp>
        <p:nvSpPr>
          <p:cNvPr id="61" name="!!mk3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102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Reformer, extraction and xylene columns, aromatics tanks</a:t>
            </a:r>
            <a:endParaRPr lang="en-US" sz="1400" dirty="0"/>
          </a:p>
        </p:txBody>
      </p:sp>
      <p:sp>
        <p:nvSpPr>
          <p:cNvPr id="64" name="s103"/>
          <p:cNvSpPr/>
          <p:nvPr/>
        </p:nvSpPr>
        <p:spPr>
          <a:xfrm>
            <a:off x="411480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104"/>
          <p:cNvSpPr txBox="1"/>
          <p:nvPr/>
        </p:nvSpPr>
        <p:spPr>
          <a:xfrm>
            <a:off x="411480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6" name="s105"/>
          <p:cNvSpPr/>
          <p:nvPr/>
        </p:nvSpPr>
        <p:spPr>
          <a:xfrm>
            <a:off x="508863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106"/>
          <p:cNvSpPr txBox="1"/>
          <p:nvPr/>
        </p:nvSpPr>
        <p:spPr>
          <a:xfrm>
            <a:off x="508863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107"/>
          <p:cNvSpPr/>
          <p:nvPr/>
        </p:nvSpPr>
        <p:spPr>
          <a:xfrm>
            <a:off x="5751576" y="1920240"/>
            <a:ext cx="148590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108"/>
          <p:cNvSpPr txBox="1"/>
          <p:nvPr/>
        </p:nvSpPr>
        <p:spPr>
          <a:xfrm>
            <a:off x="5751576" y="1920240"/>
            <a:ext cx="1485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aromatics</a:t>
            </a:r>
            <a:endParaRPr lang="en-US" sz="1200" dirty="0"/>
          </a:p>
        </p:txBody>
      </p:sp>
      <p:sp>
        <p:nvSpPr>
          <p:cNvPr id="70" name="!!lf3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!!lft3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600" dirty="0"/>
          </a:p>
        </p:txBody>
      </p:sp>
      <p:sp>
        <p:nvSpPr>
          <p:cNvPr id="72" name="!!mk3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3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109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towers, caustic tower, compressor KO drums</a:t>
            </a:r>
            <a:endParaRPr lang="en-US" sz="1400" dirty="0"/>
          </a:p>
        </p:txBody>
      </p:sp>
      <p:sp>
        <p:nvSpPr>
          <p:cNvPr id="75" name="s110"/>
          <p:cNvSpPr/>
          <p:nvPr/>
        </p:nvSpPr>
        <p:spPr>
          <a:xfrm>
            <a:off x="411480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6" name="t111"/>
          <p:cNvSpPr txBox="1"/>
          <p:nvPr/>
        </p:nvSpPr>
        <p:spPr>
          <a:xfrm>
            <a:off x="411480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/ coke</a:t>
            </a:r>
            <a:endParaRPr lang="en-US" sz="1200" dirty="0"/>
          </a:p>
        </p:txBody>
      </p:sp>
      <p:sp>
        <p:nvSpPr>
          <p:cNvPr id="77" name="s112"/>
          <p:cNvSpPr/>
          <p:nvPr/>
        </p:nvSpPr>
        <p:spPr>
          <a:xfrm>
            <a:off x="532180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113"/>
          <p:cNvSpPr txBox="1"/>
          <p:nvPr/>
        </p:nvSpPr>
        <p:spPr>
          <a:xfrm>
            <a:off x="532180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</a:t>
            </a:r>
            <a:endParaRPr lang="en-US" sz="1200" dirty="0"/>
          </a:p>
        </p:txBody>
      </p:sp>
      <p:sp>
        <p:nvSpPr>
          <p:cNvPr id="79" name="s114"/>
          <p:cNvSpPr/>
          <p:nvPr/>
        </p:nvSpPr>
        <p:spPr>
          <a:xfrm>
            <a:off x="6295644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115"/>
          <p:cNvSpPr txBox="1"/>
          <p:nvPr/>
        </p:nvSpPr>
        <p:spPr>
          <a:xfrm>
            <a:off x="6295644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!!lf3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!!lft3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600" dirty="0"/>
          </a:p>
        </p:txBody>
      </p:sp>
      <p:sp>
        <p:nvSpPr>
          <p:cNvPr id="83" name="!!mk3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4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5" name="t116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Desulphurisation, synthesis, distillation, ammonia sections</a:t>
            </a:r>
            <a:endParaRPr lang="en-US" sz="1400" dirty="0"/>
          </a:p>
        </p:txBody>
      </p:sp>
      <p:sp>
        <p:nvSpPr>
          <p:cNvPr id="86" name="s117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7" name="t118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8" name="s119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9" name="t120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0" name="s121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122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facility</a:t>
            </a:r>
            <a:endParaRPr lang="en-US" sz="2800" dirty="0"/>
          </a:p>
        </p:txBody>
      </p:sp>
      <p:sp>
        <p:nvSpPr>
          <p:cNvPr id="3" name="t123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CLIENT</a:t>
            </a:r>
            <a:endParaRPr lang="en-US" sz="1200" dirty="0"/>
          </a:p>
        </p:txBody>
      </p:sp>
      <p:sp>
        <p:nvSpPr>
          <p:cNvPr id="4" name="s124"/>
          <p:cNvSpPr/>
          <p:nvPr/>
        </p:nvSpPr>
        <p:spPr>
          <a:xfrm>
            <a:off x="54864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t125"/>
          <p:cNvSpPr txBox="1"/>
          <p:nvPr/>
        </p:nvSpPr>
        <p:spPr>
          <a:xfrm>
            <a:off x="6172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SCOPE</a:t>
            </a:r>
            <a:endParaRPr lang="en-US" sz="1200" dirty="0"/>
          </a:p>
        </p:txBody>
      </p:sp>
      <p:sp>
        <p:nvSpPr>
          <p:cNvPr id="6" name="s126"/>
          <p:cNvSpPr/>
          <p:nvPr/>
        </p:nvSpPr>
        <p:spPr>
          <a:xfrm>
            <a:off x="617220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t127"/>
          <p:cNvSpPr txBox="1"/>
          <p:nvPr/>
        </p:nvSpPr>
        <p:spPr>
          <a:xfrm>
            <a:off x="54864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CONTAMINANTS</a:t>
            </a:r>
            <a:endParaRPr lang="en-US" sz="1200" dirty="0"/>
          </a:p>
        </p:txBody>
      </p:sp>
      <p:sp>
        <p:nvSpPr>
          <p:cNvPr id="8" name="s128"/>
          <p:cNvSpPr/>
          <p:nvPr/>
        </p:nvSpPr>
        <p:spPr>
          <a:xfrm>
            <a:off x="54864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t129"/>
          <p:cNvSpPr txBox="1"/>
          <p:nvPr/>
        </p:nvSpPr>
        <p:spPr>
          <a:xfrm>
            <a:off x="617220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WINDOW</a:t>
            </a:r>
            <a:endParaRPr lang="en-US" sz="1200" dirty="0"/>
          </a:p>
        </p:txBody>
      </p:sp>
      <p:sp>
        <p:nvSpPr>
          <p:cNvPr id="10" name="s130"/>
          <p:cNvSpPr/>
          <p:nvPr/>
        </p:nvSpPr>
        <p:spPr>
          <a:xfrm>
            <a:off x="617220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t131"/>
          <p:cNvSpPr txBox="1"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AVAILABLE (STEAM, N₂, WATER)</a:t>
            </a:r>
            <a:endParaRPr lang="en-US" sz="1200" dirty="0"/>
          </a:p>
        </p:txBody>
      </p:sp>
      <p:sp>
        <p:nvSpPr>
          <p:cNvPr id="12" name="s132"/>
          <p:cNvSpPr/>
          <p:nvPr/>
        </p:nvSpPr>
        <p:spPr>
          <a:xfrm>
            <a:off x="54864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t133"/>
          <p:cNvSpPr txBox="1"/>
          <p:nvPr/>
        </p:nvSpPr>
        <p:spPr>
          <a:xfrm>
            <a:off x="6172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CRITERIA / PERMIT REQUIREMENTS</a:t>
            </a:r>
            <a:endParaRPr lang="en-US" sz="1200" dirty="0"/>
          </a:p>
        </p:txBody>
      </p:sp>
      <p:sp>
        <p:nvSpPr>
          <p:cNvPr id="14" name="s134"/>
          <p:cNvSpPr/>
          <p:nvPr/>
        </p:nvSpPr>
        <p:spPr>
          <a:xfrm>
            <a:off x="617220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t135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with the client before the meeting – their position on the value chain and what we will remove.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removed – and why</a:t>
            </a:r>
            <a:endParaRPr lang="en-US" sz="2800" dirty="0"/>
          </a:p>
        </p:txBody>
      </p:sp>
      <p:sp>
        <p:nvSpPr>
          <p:cNvPr id="3" name="s136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tag137"/>
          <p:cNvSpPr/>
          <p:nvPr/>
        </p:nvSpPr>
        <p:spPr>
          <a:xfrm>
            <a:off x="77724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" name="t138"/>
          <p:cNvSpPr txBox="1"/>
          <p:nvPr/>
        </p:nvSpPr>
        <p:spPr>
          <a:xfrm>
            <a:off x="77724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gas – fatal at low concentrations</a:t>
            </a:r>
            <a:endParaRPr lang="en-US" sz="1500" dirty="0"/>
          </a:p>
        </p:txBody>
      </p:sp>
      <p:sp>
        <p:nvSpPr>
          <p:cNvPr id="6" name="s139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7" name="tag140"/>
          <p:cNvSpPr/>
          <p:nvPr/>
        </p:nvSpPr>
        <p:spPr>
          <a:xfrm>
            <a:off x="452628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" name="t141"/>
          <p:cNvSpPr txBox="1"/>
          <p:nvPr/>
        </p:nvSpPr>
        <p:spPr>
          <a:xfrm>
            <a:off x="452628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Carcinogenic vapour – strict exposure limits</a:t>
            </a:r>
            <a:endParaRPr lang="en-US" sz="1500" dirty="0"/>
          </a:p>
        </p:txBody>
      </p:sp>
      <p:sp>
        <p:nvSpPr>
          <p:cNvPr id="9" name="s142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0" name="tag143"/>
          <p:cNvSpPr/>
          <p:nvPr/>
        </p:nvSpPr>
        <p:spPr>
          <a:xfrm>
            <a:off x="827532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 hydrocarbons</a:t>
            </a:r>
            <a:endParaRPr lang="en-US" sz="1200" dirty="0"/>
          </a:p>
        </p:txBody>
      </p:sp>
      <p:sp>
        <p:nvSpPr>
          <p:cNvPr id="11" name="t144"/>
          <p:cNvSpPr txBox="1"/>
          <p:nvPr/>
        </p:nvSpPr>
        <p:spPr>
          <a:xfrm>
            <a:off x="827532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 / explosive atmosphere</a:t>
            </a:r>
            <a:endParaRPr lang="en-US" sz="1500" dirty="0"/>
          </a:p>
        </p:txBody>
      </p:sp>
      <p:sp>
        <p:nvSpPr>
          <p:cNvPr id="12" name="s145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3" name="tag146"/>
          <p:cNvSpPr/>
          <p:nvPr/>
        </p:nvSpPr>
        <p:spPr>
          <a:xfrm>
            <a:off x="77724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</a:t>
            </a:r>
            <a:endParaRPr lang="en-US" sz="1200" dirty="0"/>
          </a:p>
        </p:txBody>
      </p:sp>
      <p:sp>
        <p:nvSpPr>
          <p:cNvPr id="14" name="t147"/>
          <p:cNvSpPr txBox="1"/>
          <p:nvPr/>
        </p:nvSpPr>
        <p:spPr>
          <a:xfrm>
            <a:off x="77724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Self-heats and ignites when exposed to air</a:t>
            </a:r>
            <a:endParaRPr lang="en-US" sz="1500" dirty="0"/>
          </a:p>
        </p:txBody>
      </p:sp>
      <p:sp>
        <p:nvSpPr>
          <p:cNvPr id="15" name="s148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tag149"/>
          <p:cNvSpPr/>
          <p:nvPr/>
        </p:nvSpPr>
        <p:spPr>
          <a:xfrm>
            <a:off x="452628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&amp; sludge</a:t>
            </a:r>
            <a:endParaRPr lang="en-US" sz="1200" dirty="0"/>
          </a:p>
        </p:txBody>
      </p:sp>
      <p:sp>
        <p:nvSpPr>
          <p:cNvPr id="17" name="t150"/>
          <p:cNvSpPr txBox="1"/>
          <p:nvPr/>
        </p:nvSpPr>
        <p:spPr>
          <a:xfrm>
            <a:off x="452628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gases, blocks inspection, slows mechanical cleaning</a:t>
            </a:r>
            <a:endParaRPr lang="en-US" sz="1500" dirty="0"/>
          </a:p>
        </p:txBody>
      </p:sp>
      <p:sp>
        <p:nvSpPr>
          <p:cNvPr id="18" name="s151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tag152"/>
          <p:cNvSpPr/>
          <p:nvPr/>
        </p:nvSpPr>
        <p:spPr>
          <a:xfrm>
            <a:off x="827532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&amp; mercaptans</a:t>
            </a:r>
            <a:endParaRPr lang="en-US" sz="1200" dirty="0"/>
          </a:p>
        </p:txBody>
      </p:sp>
      <p:sp>
        <p:nvSpPr>
          <p:cNvPr id="20" name="t153"/>
          <p:cNvSpPr txBox="1"/>
          <p:nvPr/>
        </p:nvSpPr>
        <p:spPr>
          <a:xfrm>
            <a:off x="827532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and odorous – sour-water and LPG units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objectives</a:t>
            </a:r>
            <a:endParaRPr lang="en-US" sz="2800" dirty="0"/>
          </a:p>
        </p:txBody>
      </p:sp>
      <p:sp>
        <p:nvSpPr>
          <p:cNvPr id="3" name="s154"/>
          <p:cNvSpPr/>
          <p:nvPr/>
        </p:nvSpPr>
        <p:spPr>
          <a:xfrm>
            <a:off x="54864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155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t156"/>
          <p:cNvSpPr txBox="1"/>
          <p:nvPr/>
        </p:nvSpPr>
        <p:spPr>
          <a:xfrm>
            <a:off x="8686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157"/>
          <p:cNvSpPr txBox="1"/>
          <p:nvPr/>
        </p:nvSpPr>
        <p:spPr>
          <a:xfrm>
            <a:off x="192024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De-oiling / de-sludging</a:t>
            </a:r>
            <a:endParaRPr lang="en-US" sz="2000" dirty="0"/>
          </a:p>
        </p:txBody>
      </p:sp>
      <p:sp>
        <p:nvSpPr>
          <p:cNvPr id="7" name="t158"/>
          <p:cNvSpPr txBox="1"/>
          <p:nvPr/>
        </p:nvSpPr>
        <p:spPr>
          <a:xfrm>
            <a:off x="192024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heavy deposits for easier removal; reduce hazardous sludge.</a:t>
            </a:r>
            <a:endParaRPr lang="en-US" sz="1500" dirty="0"/>
          </a:p>
        </p:txBody>
      </p:sp>
      <p:sp>
        <p:nvSpPr>
          <p:cNvPr id="8" name="s159"/>
          <p:cNvSpPr/>
          <p:nvPr/>
        </p:nvSpPr>
        <p:spPr>
          <a:xfrm>
            <a:off x="617220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60"/>
          <p:cNvSpPr/>
          <p:nvPr/>
        </p:nvSpPr>
        <p:spPr>
          <a:xfrm>
            <a:off x="6492240" y="18745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t161"/>
          <p:cNvSpPr txBox="1"/>
          <p:nvPr/>
        </p:nvSpPr>
        <p:spPr>
          <a:xfrm>
            <a:off x="649224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162"/>
          <p:cNvSpPr txBox="1"/>
          <p:nvPr/>
        </p:nvSpPr>
        <p:spPr>
          <a:xfrm>
            <a:off x="75438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oxidation</a:t>
            </a:r>
            <a:endParaRPr lang="en-US" sz="2000" dirty="0"/>
          </a:p>
        </p:txBody>
      </p:sp>
      <p:sp>
        <p:nvSpPr>
          <p:cNvPr id="12" name="t163"/>
          <p:cNvSpPr txBox="1"/>
          <p:nvPr/>
        </p:nvSpPr>
        <p:spPr>
          <a:xfrm>
            <a:off x="754380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pyrophoric FeS and H₂S into stable, safe compounds.</a:t>
            </a:r>
            <a:endParaRPr lang="en-US" sz="1500" dirty="0"/>
          </a:p>
        </p:txBody>
      </p:sp>
      <p:sp>
        <p:nvSpPr>
          <p:cNvPr id="13" name="s164"/>
          <p:cNvSpPr/>
          <p:nvPr/>
        </p:nvSpPr>
        <p:spPr>
          <a:xfrm>
            <a:off x="54864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65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166"/>
          <p:cNvSpPr txBox="1"/>
          <p:nvPr/>
        </p:nvSpPr>
        <p:spPr>
          <a:xfrm>
            <a:off x="86868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167"/>
          <p:cNvSpPr txBox="1"/>
          <p:nvPr/>
        </p:nvSpPr>
        <p:spPr>
          <a:xfrm>
            <a:off x="192024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Degassing</a:t>
            </a:r>
            <a:endParaRPr lang="en-US" sz="2000" dirty="0"/>
          </a:p>
        </p:txBody>
      </p:sp>
      <p:sp>
        <p:nvSpPr>
          <p:cNvPr id="17" name="t168"/>
          <p:cNvSpPr txBox="1"/>
          <p:nvPr/>
        </p:nvSpPr>
        <p:spPr>
          <a:xfrm>
            <a:off x="192024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LEL hydrocarbons and benzene to the flare / closed vent.</a:t>
            </a:r>
            <a:endParaRPr lang="en-US" sz="1500" dirty="0"/>
          </a:p>
        </p:txBody>
      </p:sp>
      <p:sp>
        <p:nvSpPr>
          <p:cNvPr id="18" name="s169"/>
          <p:cNvSpPr/>
          <p:nvPr/>
        </p:nvSpPr>
        <p:spPr>
          <a:xfrm>
            <a:off x="617220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170"/>
          <p:cNvSpPr/>
          <p:nvPr/>
        </p:nvSpPr>
        <p:spPr>
          <a:xfrm>
            <a:off x="6492240" y="420624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0" name="t171"/>
          <p:cNvSpPr txBox="1"/>
          <p:nvPr/>
        </p:nvSpPr>
        <p:spPr>
          <a:xfrm>
            <a:off x="649224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172"/>
          <p:cNvSpPr txBox="1"/>
          <p:nvPr/>
        </p:nvSpPr>
        <p:spPr>
          <a:xfrm>
            <a:off x="754380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Neutralising</a:t>
            </a:r>
            <a:endParaRPr lang="en-US" sz="2000" dirty="0"/>
          </a:p>
        </p:txBody>
      </p:sp>
      <p:sp>
        <p:nvSpPr>
          <p:cNvPr id="22" name="t173"/>
          <p:cNvSpPr txBox="1"/>
          <p:nvPr/>
        </p:nvSpPr>
        <p:spPr>
          <a:xfrm>
            <a:off x="754380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pH and treat ammonia so the effluent can be disposed of.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7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3" name="t175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176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decontaminate</a:t>
            </a:r>
            <a:endParaRPr lang="en-US" sz="3400" dirty="0"/>
          </a:p>
        </p:txBody>
      </p:sp>
      <p:sp>
        <p:nvSpPr>
          <p:cNvPr id="5" name="t177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methods – each shown with where every contaminant goes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method, where?</a:t>
            </a:r>
            <a:endParaRPr lang="en-US" sz="2800" dirty="0"/>
          </a:p>
        </p:txBody>
      </p:sp>
      <p:sp>
        <p:nvSpPr>
          <p:cNvPr id="3" name="t178"/>
          <p:cNvSpPr txBox="1"/>
          <p:nvPr/>
        </p:nvSpPr>
        <p:spPr>
          <a:xfrm>
            <a:off x="39319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</a:t>
            </a:r>
            <a:endParaRPr lang="en-US" sz="1300" dirty="0"/>
          </a:p>
        </p:txBody>
      </p:sp>
      <p:sp>
        <p:nvSpPr>
          <p:cNvPr id="4" name="t179"/>
          <p:cNvSpPr txBox="1"/>
          <p:nvPr/>
        </p:nvSpPr>
        <p:spPr>
          <a:xfrm>
            <a:off x="521208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</a:t>
            </a:r>
            <a:endParaRPr lang="en-US" sz="1300" dirty="0"/>
          </a:p>
        </p:txBody>
      </p:sp>
      <p:sp>
        <p:nvSpPr>
          <p:cNvPr id="5" name="t180"/>
          <p:cNvSpPr txBox="1"/>
          <p:nvPr/>
        </p:nvSpPr>
        <p:spPr>
          <a:xfrm>
            <a:off x="649224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</a:t>
            </a:r>
            <a:endParaRPr lang="en-US" sz="1300" dirty="0"/>
          </a:p>
        </p:txBody>
      </p:sp>
      <p:sp>
        <p:nvSpPr>
          <p:cNvPr id="6" name="t181"/>
          <p:cNvSpPr txBox="1"/>
          <p:nvPr/>
        </p:nvSpPr>
        <p:spPr>
          <a:xfrm>
            <a:off x="777240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</a:t>
            </a:r>
            <a:endParaRPr lang="en-US" sz="1300" dirty="0"/>
          </a:p>
        </p:txBody>
      </p:sp>
      <p:sp>
        <p:nvSpPr>
          <p:cNvPr id="7" name="t182"/>
          <p:cNvSpPr txBox="1"/>
          <p:nvPr/>
        </p:nvSpPr>
        <p:spPr>
          <a:xfrm>
            <a:off x="905256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Pre/post-treat</a:t>
            </a:r>
            <a:endParaRPr lang="en-US" sz="1300" dirty="0"/>
          </a:p>
        </p:txBody>
      </p:sp>
      <p:sp>
        <p:nvSpPr>
          <p:cNvPr id="8" name="t183"/>
          <p:cNvSpPr txBox="1"/>
          <p:nvPr/>
        </p:nvSpPr>
        <p:spPr>
          <a:xfrm>
            <a:off x="103327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</a:t>
            </a:r>
            <a:endParaRPr lang="en-US" sz="1300" dirty="0"/>
          </a:p>
        </p:txBody>
      </p:sp>
      <p:sp>
        <p:nvSpPr>
          <p:cNvPr id="9" name="s184"/>
          <p:cNvSpPr/>
          <p:nvPr/>
        </p:nvSpPr>
        <p:spPr>
          <a:xfrm>
            <a:off x="548640" y="196596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t185"/>
          <p:cNvSpPr txBox="1"/>
          <p:nvPr/>
        </p:nvSpPr>
        <p:spPr>
          <a:xfrm>
            <a:off x="731520" y="196596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&amp; towers</a:t>
            </a:r>
            <a:endParaRPr lang="en-US" sz="1400" dirty="0"/>
          </a:p>
        </p:txBody>
      </p:sp>
      <p:sp>
        <p:nvSpPr>
          <p:cNvPr id="11" name="s186"/>
          <p:cNvSpPr/>
          <p:nvPr/>
        </p:nvSpPr>
        <p:spPr>
          <a:xfrm>
            <a:off x="4434840" y="207568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187"/>
          <p:cNvSpPr/>
          <p:nvPr/>
        </p:nvSpPr>
        <p:spPr>
          <a:xfrm>
            <a:off x="699516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188"/>
          <p:cNvSpPr/>
          <p:nvPr/>
        </p:nvSpPr>
        <p:spPr>
          <a:xfrm>
            <a:off x="955548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189"/>
          <p:cNvSpPr/>
          <p:nvPr/>
        </p:nvSpPr>
        <p:spPr>
          <a:xfrm>
            <a:off x="548640" y="2532888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190"/>
          <p:cNvSpPr txBox="1"/>
          <p:nvPr/>
        </p:nvSpPr>
        <p:spPr>
          <a:xfrm>
            <a:off x="731520" y="253288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Drums, separators &amp; desalters</a:t>
            </a:r>
            <a:endParaRPr lang="en-US" sz="1400" dirty="0"/>
          </a:p>
        </p:txBody>
      </p:sp>
      <p:sp>
        <p:nvSpPr>
          <p:cNvPr id="16" name="s191"/>
          <p:cNvSpPr/>
          <p:nvPr/>
        </p:nvSpPr>
        <p:spPr>
          <a:xfrm>
            <a:off x="4434840" y="26426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192"/>
          <p:cNvSpPr/>
          <p:nvPr/>
        </p:nvSpPr>
        <p:spPr>
          <a:xfrm>
            <a:off x="5715000" y="2642616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193"/>
          <p:cNvSpPr/>
          <p:nvPr/>
        </p:nvSpPr>
        <p:spPr>
          <a:xfrm>
            <a:off x="548640" y="3099816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194"/>
          <p:cNvSpPr txBox="1"/>
          <p:nvPr/>
        </p:nvSpPr>
        <p:spPr>
          <a:xfrm>
            <a:off x="731520" y="309981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bottoms, coker &amp; quench oil</a:t>
            </a:r>
            <a:endParaRPr lang="en-US" sz="1400" dirty="0"/>
          </a:p>
        </p:txBody>
      </p:sp>
      <p:sp>
        <p:nvSpPr>
          <p:cNvPr id="20" name="s195"/>
          <p:cNvSpPr/>
          <p:nvPr/>
        </p:nvSpPr>
        <p:spPr>
          <a:xfrm>
            <a:off x="443484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196"/>
          <p:cNvSpPr/>
          <p:nvPr/>
        </p:nvSpPr>
        <p:spPr>
          <a:xfrm>
            <a:off x="5715000" y="320954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197"/>
          <p:cNvSpPr/>
          <p:nvPr/>
        </p:nvSpPr>
        <p:spPr>
          <a:xfrm>
            <a:off x="699516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198"/>
          <p:cNvSpPr/>
          <p:nvPr/>
        </p:nvSpPr>
        <p:spPr>
          <a:xfrm>
            <a:off x="548640" y="3666744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199"/>
          <p:cNvSpPr txBox="1"/>
          <p:nvPr/>
        </p:nvSpPr>
        <p:spPr>
          <a:xfrm>
            <a:off x="731520" y="366674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Exchangers &amp; air coolers</a:t>
            </a:r>
            <a:endParaRPr lang="en-US" sz="1400" dirty="0"/>
          </a:p>
        </p:txBody>
      </p:sp>
      <p:sp>
        <p:nvSpPr>
          <p:cNvPr id="25" name="s200"/>
          <p:cNvSpPr/>
          <p:nvPr/>
        </p:nvSpPr>
        <p:spPr>
          <a:xfrm>
            <a:off x="443484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201"/>
          <p:cNvSpPr/>
          <p:nvPr/>
        </p:nvSpPr>
        <p:spPr>
          <a:xfrm>
            <a:off x="6995160" y="3776472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202"/>
          <p:cNvSpPr/>
          <p:nvPr/>
        </p:nvSpPr>
        <p:spPr>
          <a:xfrm>
            <a:off x="827532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203"/>
          <p:cNvSpPr/>
          <p:nvPr/>
        </p:nvSpPr>
        <p:spPr>
          <a:xfrm>
            <a:off x="548640" y="4233672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9" name="t204"/>
          <p:cNvSpPr txBox="1"/>
          <p:nvPr/>
        </p:nvSpPr>
        <p:spPr>
          <a:xfrm>
            <a:off x="731520" y="423367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 &amp; trays</a:t>
            </a:r>
            <a:endParaRPr lang="en-US" sz="1400" dirty="0"/>
          </a:p>
        </p:txBody>
      </p:sp>
      <p:sp>
        <p:nvSpPr>
          <p:cNvPr id="30" name="s205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206"/>
          <p:cNvSpPr/>
          <p:nvPr/>
        </p:nvSpPr>
        <p:spPr>
          <a:xfrm>
            <a:off x="9555480" y="4343400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207"/>
          <p:cNvSpPr/>
          <p:nvPr/>
        </p:nvSpPr>
        <p:spPr>
          <a:xfrm>
            <a:off x="548640" y="480060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3" name="t208"/>
          <p:cNvSpPr txBox="1"/>
          <p:nvPr/>
        </p:nvSpPr>
        <p:spPr>
          <a:xfrm>
            <a:off x="731520" y="48006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Tanks &amp; temperature-limited vessels</a:t>
            </a:r>
            <a:endParaRPr lang="en-US" sz="1400" dirty="0"/>
          </a:p>
        </p:txBody>
      </p:sp>
      <p:sp>
        <p:nvSpPr>
          <p:cNvPr id="34" name="s209"/>
          <p:cNvSpPr/>
          <p:nvPr/>
        </p:nvSpPr>
        <p:spPr>
          <a:xfrm>
            <a:off x="827532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5" name="s210"/>
          <p:cNvSpPr/>
          <p:nvPr/>
        </p:nvSpPr>
        <p:spPr>
          <a:xfrm>
            <a:off x="1083564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t211"/>
          <p:cNvSpPr txBox="1"/>
          <p:nvPr/>
        </p:nvSpPr>
        <p:spPr>
          <a:xfrm>
            <a:off x="54864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method     </a:t>
            </a: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combination / where applicable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5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8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50"/>
                            </p:stCondLst>
                            <p:childTnLst>
                              <p:par>
                                <p:cTn id="1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70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Vapour-phase – where each contaminant goes</a:t>
            </a:r>
            <a:endParaRPr lang="en-US" sz="2800" dirty="0"/>
          </a:p>
        </p:txBody>
      </p:sp>
      <p:sp>
        <p:nvSpPr>
          <p:cNvPr id="3" name="s212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213"/>
          <p:cNvSpPr/>
          <p:nvPr/>
        </p:nvSpPr>
        <p:spPr>
          <a:xfrm>
            <a:off x="4897526" y="2093976"/>
            <a:ext cx="213970" cy="2761488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214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215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216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217"/>
          <p:cNvSpPr/>
          <p:nvPr/>
        </p:nvSpPr>
        <p:spPr>
          <a:xfrm>
            <a:off x="5408676" y="236281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218"/>
          <p:cNvSpPr/>
          <p:nvPr/>
        </p:nvSpPr>
        <p:spPr>
          <a:xfrm>
            <a:off x="5610758" y="340522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219"/>
          <p:cNvSpPr/>
          <p:nvPr/>
        </p:nvSpPr>
        <p:spPr>
          <a:xfrm>
            <a:off x="5254142" y="403067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220"/>
          <p:cNvSpPr/>
          <p:nvPr/>
        </p:nvSpPr>
        <p:spPr>
          <a:xfrm>
            <a:off x="4800600" y="21717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221"/>
          <p:cNvSpPr/>
          <p:nvPr/>
        </p:nvSpPr>
        <p:spPr>
          <a:xfrm>
            <a:off x="4800600" y="26060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222"/>
          <p:cNvSpPr/>
          <p:nvPr/>
        </p:nvSpPr>
        <p:spPr>
          <a:xfrm>
            <a:off x="4800600" y="304038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223"/>
          <p:cNvSpPr/>
          <p:nvPr/>
        </p:nvSpPr>
        <p:spPr>
          <a:xfrm>
            <a:off x="4800600" y="347472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224"/>
          <p:cNvSpPr/>
          <p:nvPr/>
        </p:nvSpPr>
        <p:spPr>
          <a:xfrm>
            <a:off x="4800600" y="390906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225"/>
          <p:cNvSpPr/>
          <p:nvPr/>
        </p:nvSpPr>
        <p:spPr>
          <a:xfrm>
            <a:off x="4800600" y="43434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226"/>
          <p:cNvSpPr/>
          <p:nvPr/>
        </p:nvSpPr>
        <p:spPr>
          <a:xfrm>
            <a:off x="4800600" y="47777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t227"/>
          <p:cNvSpPr txBox="1"/>
          <p:nvPr/>
        </p:nvSpPr>
        <p:spPr>
          <a:xfrm>
            <a:off x="475488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19" name="s228"/>
          <p:cNvSpPr/>
          <p:nvPr/>
        </p:nvSpPr>
        <p:spPr>
          <a:xfrm flipV="1">
            <a:off x="5349240" y="141732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229"/>
          <p:cNvSpPr/>
          <p:nvPr/>
        </p:nvSpPr>
        <p:spPr>
          <a:xfrm>
            <a:off x="5349240" y="1417320"/>
            <a:ext cx="12801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1" name="s230"/>
          <p:cNvSpPr/>
          <p:nvPr/>
        </p:nvSpPr>
        <p:spPr>
          <a:xfrm>
            <a:off x="1001268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231"/>
          <p:cNvSpPr/>
          <p:nvPr/>
        </p:nvSpPr>
        <p:spPr>
          <a:xfrm>
            <a:off x="988466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s232"/>
          <p:cNvSpPr/>
          <p:nvPr/>
        </p:nvSpPr>
        <p:spPr>
          <a:xfrm>
            <a:off x="997610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233"/>
          <p:cNvSpPr txBox="1"/>
          <p:nvPr/>
        </p:nvSpPr>
        <p:spPr>
          <a:xfrm>
            <a:off x="955548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5" name="s234"/>
          <p:cNvSpPr/>
          <p:nvPr/>
        </p:nvSpPr>
        <p:spPr>
          <a:xfrm>
            <a:off x="5349240" y="521208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235"/>
          <p:cNvSpPr/>
          <p:nvPr/>
        </p:nvSpPr>
        <p:spPr>
          <a:xfrm>
            <a:off x="5349240" y="5532120"/>
            <a:ext cx="30632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236"/>
          <p:cNvSpPr/>
          <p:nvPr/>
        </p:nvSpPr>
        <p:spPr>
          <a:xfrm flipV="1">
            <a:off x="8412480" y="5029200"/>
            <a:ext cx="0" cy="5029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237"/>
          <p:cNvSpPr/>
          <p:nvPr/>
        </p:nvSpPr>
        <p:spPr>
          <a:xfrm>
            <a:off x="8412480" y="502920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9" name="t238"/>
          <p:cNvSpPr txBox="1"/>
          <p:nvPr/>
        </p:nvSpPr>
        <p:spPr>
          <a:xfrm>
            <a:off x="61264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Condensate drain</a:t>
            </a:r>
            <a:endParaRPr lang="en-US" sz="1100" dirty="0"/>
          </a:p>
        </p:txBody>
      </p:sp>
      <p:sp>
        <p:nvSpPr>
          <p:cNvPr id="30" name="s239"/>
          <p:cNvSpPr/>
          <p:nvPr/>
        </p:nvSpPr>
        <p:spPr>
          <a:xfrm>
            <a:off x="8778240" y="4343400"/>
            <a:ext cx="146304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240"/>
          <p:cNvSpPr/>
          <p:nvPr/>
        </p:nvSpPr>
        <p:spPr>
          <a:xfrm>
            <a:off x="8823960" y="516636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s241"/>
          <p:cNvSpPr/>
          <p:nvPr/>
        </p:nvSpPr>
        <p:spPr>
          <a:xfrm>
            <a:off x="8823960" y="480060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3" name="t242"/>
          <p:cNvSpPr txBox="1"/>
          <p:nvPr/>
        </p:nvSpPr>
        <p:spPr>
          <a:xfrm>
            <a:off x="8412480" y="5513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4" name="t243"/>
          <p:cNvSpPr txBox="1"/>
          <p:nvPr/>
        </p:nvSpPr>
        <p:spPr>
          <a:xfrm>
            <a:off x="548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35" name="s244"/>
          <p:cNvSpPr/>
          <p:nvPr/>
        </p:nvSpPr>
        <p:spPr>
          <a:xfrm>
            <a:off x="1188720" y="4846320"/>
            <a:ext cx="356616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6" name="t245"/>
          <p:cNvSpPr txBox="1"/>
          <p:nvPr/>
        </p:nvSpPr>
        <p:spPr>
          <a:xfrm>
            <a:off x="20116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37" name="s246"/>
          <p:cNvSpPr/>
          <p:nvPr/>
        </p:nvSpPr>
        <p:spPr>
          <a:xfrm>
            <a:off x="2743200" y="4407408"/>
            <a:ext cx="0" cy="438912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8" name="s247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9" name="t248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40" name="t249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1" name="t250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6" name="dec96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2" name="t251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3" name="t252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4" name="t253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7" name="dec9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5" name="t254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6" name="t255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7" name="t256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8" name="dec98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8" name="t257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99" name="n99"/>
          <p:cNvSpPr/>
          <p:nvPr/>
        </p:nvSpPr>
        <p:spPr>
          <a:xfrm>
            <a:off x="6629400" y="125272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0" name="n100"/>
          <p:cNvSpPr/>
          <p:nvPr/>
        </p:nvSpPr>
        <p:spPr>
          <a:xfrm>
            <a:off x="6777533" y="1351483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n101"/>
          <p:cNvSpPr/>
          <p:nvPr/>
        </p:nvSpPr>
        <p:spPr>
          <a:xfrm>
            <a:off x="6777533" y="1417320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n102"/>
          <p:cNvSpPr/>
          <p:nvPr/>
        </p:nvSpPr>
        <p:spPr>
          <a:xfrm>
            <a:off x="6777533" y="1483157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n103"/>
          <p:cNvSpPr txBox="1"/>
          <p:nvPr/>
        </p:nvSpPr>
        <p:spPr>
          <a:xfrm>
            <a:off x="6263640" y="16276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04" name="n104"/>
          <p:cNvSpPr/>
          <p:nvPr/>
        </p:nvSpPr>
        <p:spPr>
          <a:xfrm>
            <a:off x="7543800" y="1417320"/>
            <a:ext cx="4114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n105"/>
          <p:cNvSpPr/>
          <p:nvPr/>
        </p:nvSpPr>
        <p:spPr>
          <a:xfrm>
            <a:off x="7955280" y="1417320"/>
            <a:ext cx="0" cy="6858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6" name="n106"/>
          <p:cNvSpPr/>
          <p:nvPr/>
        </p:nvSpPr>
        <p:spPr>
          <a:xfrm>
            <a:off x="7680960" y="210312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7" name="n107"/>
          <p:cNvSpPr/>
          <p:nvPr/>
        </p:nvSpPr>
        <p:spPr>
          <a:xfrm>
            <a:off x="7735824" y="2404872"/>
            <a:ext cx="1261872" cy="208483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08" name="n108"/>
          <p:cNvSpPr txBox="1"/>
          <p:nvPr/>
        </p:nvSpPr>
        <p:spPr>
          <a:xfrm>
            <a:off x="7589520" y="26791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09" name="n109"/>
          <p:cNvSpPr/>
          <p:nvPr/>
        </p:nvSpPr>
        <p:spPr>
          <a:xfrm flipV="1">
            <a:off x="8641080" y="1417320"/>
            <a:ext cx="0" cy="72237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n110"/>
          <p:cNvSpPr/>
          <p:nvPr/>
        </p:nvSpPr>
        <p:spPr>
          <a:xfrm>
            <a:off x="8641080" y="1417320"/>
            <a:ext cx="13716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1" name="n111"/>
          <p:cNvSpPr/>
          <p:nvPr/>
        </p:nvSpPr>
        <p:spPr>
          <a:xfrm>
            <a:off x="8915400" y="2615184"/>
            <a:ext cx="0" cy="172821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2" name="n112"/>
          <p:cNvSpPr/>
          <p:nvPr/>
        </p:nvSpPr>
        <p:spPr>
          <a:xfrm>
            <a:off x="6400800" y="443484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3" name="n113"/>
          <p:cNvSpPr/>
          <p:nvPr/>
        </p:nvSpPr>
        <p:spPr>
          <a:xfrm>
            <a:off x="6606540" y="457200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n114"/>
          <p:cNvSpPr/>
          <p:nvPr/>
        </p:nvSpPr>
        <p:spPr>
          <a:xfrm>
            <a:off x="6606540" y="466344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n115"/>
          <p:cNvSpPr/>
          <p:nvPr/>
        </p:nvSpPr>
        <p:spPr>
          <a:xfrm>
            <a:off x="6606540" y="475488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n116"/>
          <p:cNvSpPr txBox="1"/>
          <p:nvPr/>
        </p:nvSpPr>
        <p:spPr>
          <a:xfrm>
            <a:off x="6400800" y="49103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17" name="n117"/>
          <p:cNvSpPr/>
          <p:nvPr/>
        </p:nvSpPr>
        <p:spPr>
          <a:xfrm>
            <a:off x="5879592" y="4800600"/>
            <a:ext cx="521208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8" name="n118"/>
          <p:cNvSpPr/>
          <p:nvPr/>
        </p:nvSpPr>
        <p:spPr>
          <a:xfrm flipV="1">
            <a:off x="7223760" y="416052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n119"/>
          <p:cNvSpPr/>
          <p:nvPr/>
        </p:nvSpPr>
        <p:spPr>
          <a:xfrm flipH="1">
            <a:off x="5943600" y="4160520"/>
            <a:ext cx="12801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20" name="n120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1" name="n121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2" name="n122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3" name="n123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4" name="n124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5" name="n125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6" name="n126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7" name="n127"/>
          <p:cNvSpPr txBox="1"/>
          <p:nvPr/>
        </p:nvSpPr>
        <p:spPr>
          <a:xfrm>
            <a:off x="9144000" y="2816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</a:rPr>
              <a:t>✓  Steam reached flare</a:t>
            </a:r>
          </a:p>
        </p:txBody>
      </p:sp>
      <p:sp>
        <p:nvSpPr>
          <p:cNvPr id="49" name="s25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t25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unit is shut down, drained and isolated – the column still holds H₂S, benzene, LEL gases, pyrophoric FeS and heavy oil.</a:t>
            </a:r>
            <a:endParaRPr lang="en-US" sz="1400" dirty="0"/>
          </a:p>
        </p:txBody>
      </p:sp>
      <p:sp>
        <p:nvSpPr>
          <p:cNvPr id="51" name="t26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Steam is introduced through the existing steam-out lines and heats the whole column.</a:t>
            </a:r>
            <a:endParaRPr lang="en-US" sz="1400" dirty="0"/>
          </a:p>
        </p:txBody>
      </p:sp>
      <p:sp>
        <p:nvSpPr>
          <p:cNvPr id="52" name="t26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chemistry is injected into the steam and reaches every surface the steam reaches.</a:t>
            </a:r>
            <a:endParaRPr lang="en-US" sz="1400" dirty="0"/>
          </a:p>
        </p:txBody>
      </p:sp>
      <p:sp>
        <p:nvSpPr>
          <p:cNvPr id="53" name="t26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stable, non-volatile compounds that stay in the condensate and drain to the effluent tank.</a:t>
            </a:r>
            <a:endParaRPr lang="en-US" sz="1400" dirty="0"/>
          </a:p>
        </p:txBody>
      </p:sp>
      <p:sp>
        <p:nvSpPr>
          <p:cNvPr id="54" name="t26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is oxidised in place to stable iron oxide – it can no longer self-heat – and is washed out.</a:t>
            </a:r>
            <a:endParaRPr lang="en-US" sz="1400" dirty="0"/>
          </a:p>
        </p:txBody>
      </p:sp>
      <p:sp>
        <p:nvSpPr>
          <p:cNvPr id="55" name="t2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hydrocarbons are swept to the flare / closed vent; dissolved benzene drains with the condensate.</a:t>
            </a:r>
            <a:endParaRPr lang="en-US" sz="1400" dirty="0"/>
          </a:p>
        </p:txBody>
      </p:sp>
      <p:sp>
        <p:nvSpPr>
          <p:cNvPr id="56" name="t2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Softened deposits and heavy oil drain with the condensate – the column is clean.</a:t>
            </a:r>
            <a:endParaRPr lang="en-US" sz="1400" dirty="0"/>
          </a:p>
        </p:txBody>
      </p:sp>
      <p:sp>
        <p:nvSpPr>
          <p:cNvPr id="57" name="t2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column is handed over for safe entry.</a:t>
            </a:r>
            <a:endParaRPr lang="en-US" sz="1400" dirty="0"/>
          </a:p>
        </p:txBody>
      </p:sp>
      <p:sp>
        <p:nvSpPr>
          <p:cNvPr id="58" name="tag267"/>
          <p:cNvSpPr/>
          <p:nvPr/>
        </p:nvSpPr>
        <p:spPr>
          <a:xfrm>
            <a:off x="4892040" y="20574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9" name="tag268"/>
          <p:cNvSpPr/>
          <p:nvPr/>
        </p:nvSpPr>
        <p:spPr>
          <a:xfrm>
            <a:off x="48920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0" name="tag269"/>
          <p:cNvSpPr/>
          <p:nvPr/>
        </p:nvSpPr>
        <p:spPr>
          <a:xfrm>
            <a:off x="489204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1" name="s270"/>
          <p:cNvSpPr/>
          <p:nvPr/>
        </p:nvSpPr>
        <p:spPr>
          <a:xfrm>
            <a:off x="4828032" y="365760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2" name="tag271"/>
          <p:cNvSpPr/>
          <p:nvPr/>
        </p:nvSpPr>
        <p:spPr>
          <a:xfrm>
            <a:off x="4892040" y="37216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3" name="tag272"/>
          <p:cNvSpPr/>
          <p:nvPr/>
        </p:nvSpPr>
        <p:spPr>
          <a:xfrm>
            <a:off x="4800600" y="20574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4" name="tag273"/>
          <p:cNvSpPr/>
          <p:nvPr/>
        </p:nvSpPr>
        <p:spPr>
          <a:xfrm>
            <a:off x="4800600" y="372160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5" name="s274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275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276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27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27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27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28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281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282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283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284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285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286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287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288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289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290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291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292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293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294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295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296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297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298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299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300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301"/>
          <p:cNvSpPr/>
          <p:nvPr/>
        </p:nvSpPr>
        <p:spPr>
          <a:xfrm>
            <a:off x="4849978" y="18288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s302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4" name="t303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9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6" presetClass="emph" presetSubtype="0" repeatCount="4000" fill="hold" grpId="2" nodeType="withEffect">
                                  <p:stCondLst>
                                    <p:cond delay="4900"/>
                                  </p:stCondLst>
                                  <p:childTnLst>
                                    <p:animScale>
                                      <p:cBhvr>
                                        <p:cTn id="18" dur="3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6" presetClass="emph" presetSubtype="0" repeatCount="4000" fill="hold" grpId="2" nodeType="withEffect">
                                  <p:stCondLst>
                                    <p:cond delay="4900"/>
                                  </p:stCondLst>
                                  <p:childTnLst>
                                    <p:animScale>
                                      <p:cBhvr>
                                        <p:cTn id="20" dur="3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27" dur="18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33" dur="18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3" nodeType="withEffect">
                                  <p:stCondLst>
                                    <p:cond delay="28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39" dur="18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5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3" nodeType="withEffect">
                                  <p:stCondLst>
                                    <p:cond delay="103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5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52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0" presetClass="path" presetSubtype="0" fill="hold" grpId="3" nodeType="withEffect">
                                  <p:stCondLst>
                                    <p:cond delay="136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6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1" nodeType="withEffect">
                                  <p:stCondLst>
                                    <p:cond delay="5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169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6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589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7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62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8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65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8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68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02" dur="350" autoRev="1" fill="hold"/>
                                        <p:tgtEl>
                                          <p:spTgt spid="96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09" dur="35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1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116" dur="35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26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grpId="3" nodeType="with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32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38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9" presetID="1" presetClass="exit" presetSubtype="0" fill="hold" grpId="1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0" presetClass="path" presetSubtype="0" fill="hold" grpId="3" nodeType="withEffect">
                                  <p:stCondLst>
                                    <p:cond delay="168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44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50" dur="24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grpId="1" nodeType="withEffect">
                                  <p:stCondLst>
                                    <p:cond delay="444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56" dur="24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0" dur="30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500"/>
                            </p:stCondLst>
                            <p:childTnLst>
                              <p:par>
                                <p:cTn id="17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950"/>
                            </p:stCondLst>
                            <p:childTnLst>
                              <p:par>
                                <p:cTn id="179" presetID="10" presetClass="exit" presetSubtype="0" fill="hold" grpId="1" nodeType="after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85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3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91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2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97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8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203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4" presetID="1" presetClass="exit" presetSubtype="0" fill="hold" grpId="1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4800"/>
                            </p:stCondLst>
                            <p:childTnLst>
                              <p:par>
                                <p:cTn id="20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2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3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3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2000"/>
                            </p:stCondLst>
                            <p:childTnLst>
                              <p:par>
                                <p:cTn id="242" presetID="10" presetClass="exit" presetSubtype="0" fill="hold" grpId="1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48" dur="18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9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0" presetClass="path" presetSubtype="0" fill="hold" grpId="3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54" dur="18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60" dur="18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66" dur="18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9" fill="hold">
                      <p:stCondLst>
                        <p:cond delay="indefinite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276" dur="9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7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" presetClass="entr" presetSubtype="0" fill="hold" grpId="0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295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282" dur="9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" presetClass="exit" presetSubtype="0" fill="hold" grpId="1" nodeType="withEffect">
                                  <p:stCondLst>
                                    <p:cond delay="385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288" dur="9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9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0" presetClass="path" presetSubtype="0" fill="hold" grpId="3" nodeType="withEffect">
                                  <p:stCondLst>
                                    <p:cond delay="365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294" dur="9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" presetClass="exit" presetSubtype="0" fill="hold" grpId="1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973 L 0.2138 -0.1973 L 0.2138 -0.0573 L 0.2700 -0.0573 L 0.2700 -0.1973 L 0.3675 -0.1973 E" pathEditMode="relative" ptsTypes="AAAAAAA">
                                      <p:cBhvr>
                                        <p:cTn id="301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2773 L 0.2138 -0.2773 L 0.2138 -0.1373 L 0.2700 -0.1373 L 0.2700 -0.2773 L 0.3675 -0.2773 E" pathEditMode="relative" ptsTypes="AAAAAAA">
                                      <p:cBhvr>
                                        <p:cTn id="306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7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8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311" dur="3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312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313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314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317" dur="18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8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323" dur="18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4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6" fill="hold">
                      <p:stCondLst>
                        <p:cond delay="indefinite"/>
                      </p:stCondLst>
                      <p:childTnLst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4" dur="1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1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339" dur="1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0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345" dur="1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6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351" dur="1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2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357" dur="1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8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0" fill="hold">
                            <p:stCondLst>
                              <p:cond delay="3000"/>
                            </p:stCondLst>
                            <p:childTnLst>
                              <p:par>
                                <p:cTn id="361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2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4200"/>
                            </p:stCondLst>
                            <p:childTnLst>
                              <p:par>
                                <p:cTn id="36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68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0" dur="3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5" fill="hold">
                      <p:stCondLst>
                        <p:cond delay="indefinite"/>
                      </p:stCondLst>
                      <p:childTnLst>
                        <p:par>
                          <p:cTn id="376" fill="hold">
                            <p:stCondLst>
                              <p:cond delay="0"/>
                            </p:stCondLst>
                            <p:childTnLst>
                              <p:par>
                                <p:cTn id="3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6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7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4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8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0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1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3" fill="hold">
                            <p:stCondLst>
                              <p:cond delay="2000"/>
                            </p:stCondLst>
                            <p:childTnLst>
                              <p:par>
                                <p:cTn id="40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6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4" fill="hold">
                            <p:stCondLst>
                              <p:cond delay="2500"/>
                            </p:stCondLst>
                            <p:childTnLst>
                              <p:par>
                                <p:cTn id="41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6" dur="400" autoRev="1" fill="hold"/>
                                        <p:tgtEl>
                                          <p:spTgt spid="9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41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8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22" grpId="2" animBg="1"/>
      <p:bldP spid="23" grpId="2" animBg="1"/>
      <p:bldP spid="31" grpId="0" animBg="1"/>
      <p:bldP spid="32" grpId="0" animBg="1"/>
      <p:bldP spid="35" grpId="0" animBg="1"/>
      <p:bldP spid="37" grpId="0" animBg="1"/>
      <p:bldP spid="41" grpId="1" animBg="1"/>
      <p:bldP spid="42" grpId="0" animBg="1"/>
      <p:bldP spid="44" grpId="1" animBg="1"/>
      <p:bldP spid="45" grpId="0" animBg="1"/>
      <p:bldP spid="47" grpId="1" animBg="1"/>
      <p:bldP spid="48" grpId="0" animBg="1"/>
      <p:bldP spid="49" grpId="0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8" grpId="1" animBg="1"/>
      <p:bldP spid="58" grpId="2" animBg="1"/>
      <p:bldP spid="59" grpId="1" animBg="1"/>
      <p:bldP spid="59" grpId="3" animBg="1"/>
      <p:bldP spid="60" grpId="1" animBg="1"/>
      <p:bldP spid="60" grpId="3" animBg="1"/>
      <p:bldP spid="61" grpId="1" animBg="1"/>
      <p:bldP spid="61" grpId="2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2" animBg="1"/>
      <p:bldP spid="94" grpId="0" animBg="1"/>
      <p:bldP spid="94" grpId="2" animBg="1"/>
      <p:bldP spid="96" grpId="0" animBg="1"/>
      <p:bldP spid="96" grpId="1" animBg="1"/>
      <p:bldP spid="96" grpId="2" animBg="1"/>
      <p:bldP spid="97" grpId="0" animBg="1"/>
      <p:bldP spid="97" grpId="1" animBg="1"/>
      <p:bldP spid="97" grpId="2" animBg="1"/>
      <p:bldP spid="98" grpId="0" animBg="1"/>
      <p:bldP spid="98" grpId="1" animBg="1"/>
      <p:bldP spid="98" grpId="2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Boil-out – vessels with sludge</a:t>
            </a:r>
            <a:endParaRPr lang="en-US" sz="2800" dirty="0"/>
          </a:p>
        </p:txBody>
      </p:sp>
      <p:sp>
        <p:nvSpPr>
          <p:cNvPr id="3" name="s304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305"/>
          <p:cNvSpPr/>
          <p:nvPr/>
        </p:nvSpPr>
        <p:spPr>
          <a:xfrm>
            <a:off x="4590288" y="2275027"/>
            <a:ext cx="987552" cy="166786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306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307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308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309"/>
          <p:cNvSpPr/>
          <p:nvPr/>
        </p:nvSpPr>
        <p:spPr>
          <a:xfrm>
            <a:off x="6949440" y="2406701"/>
            <a:ext cx="91440" cy="52669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310"/>
          <p:cNvSpPr/>
          <p:nvPr/>
        </p:nvSpPr>
        <p:spPr>
          <a:xfrm>
            <a:off x="7882128" y="3065069"/>
            <a:ext cx="91440" cy="43891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311"/>
          <p:cNvSpPr/>
          <p:nvPr/>
        </p:nvSpPr>
        <p:spPr>
          <a:xfrm>
            <a:off x="6236208" y="3460090"/>
            <a:ext cx="91440" cy="351130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312"/>
          <p:cNvSpPr/>
          <p:nvPr/>
        </p:nvSpPr>
        <p:spPr>
          <a:xfrm>
            <a:off x="4480560" y="3657600"/>
            <a:ext cx="4389120" cy="384048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s313"/>
          <p:cNvSpPr/>
          <p:nvPr/>
        </p:nvSpPr>
        <p:spPr>
          <a:xfrm>
            <a:off x="4251960" y="2697480"/>
            <a:ext cx="4846320" cy="960120"/>
          </a:xfrm>
          <a:prstGeom prst="roundRect">
            <a:avLst>
              <a:gd name="adj" fmla="val 28571"/>
            </a:avLst>
          </a:prstGeom>
          <a:solidFill>
            <a:srgbClr val="BFDDF2">
              <a:alpha val="8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314"/>
          <p:cNvSpPr txBox="1"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/ drum</a:t>
            </a:r>
            <a:endParaRPr lang="en-US" sz="1100" dirty="0"/>
          </a:p>
        </p:txBody>
      </p:sp>
      <p:sp>
        <p:nvSpPr>
          <p:cNvPr id="14" name="s315"/>
          <p:cNvSpPr/>
          <p:nvPr/>
        </p:nvSpPr>
        <p:spPr>
          <a:xfrm flipV="1">
            <a:off x="8595360" y="141732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316"/>
          <p:cNvSpPr/>
          <p:nvPr/>
        </p:nvSpPr>
        <p:spPr>
          <a:xfrm>
            <a:off x="8595360" y="1417320"/>
            <a:ext cx="20116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6" name="s317"/>
          <p:cNvSpPr/>
          <p:nvPr/>
        </p:nvSpPr>
        <p:spPr>
          <a:xfrm>
            <a:off x="1060704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318"/>
          <p:cNvSpPr/>
          <p:nvPr/>
        </p:nvSpPr>
        <p:spPr>
          <a:xfrm>
            <a:off x="1047902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s319"/>
          <p:cNvSpPr/>
          <p:nvPr/>
        </p:nvSpPr>
        <p:spPr>
          <a:xfrm>
            <a:off x="1057046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320"/>
          <p:cNvSpPr txBox="1"/>
          <p:nvPr/>
        </p:nvSpPr>
        <p:spPr>
          <a:xfrm>
            <a:off x="1014984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0" name="t321"/>
          <p:cNvSpPr txBox="1"/>
          <p:nvPr/>
        </p:nvSpPr>
        <p:spPr>
          <a:xfrm>
            <a:off x="1056132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21" name="s322"/>
          <p:cNvSpPr/>
          <p:nvPr/>
        </p:nvSpPr>
        <p:spPr>
          <a:xfrm flipH="1">
            <a:off x="5669280" y="4846320"/>
            <a:ext cx="566928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323"/>
          <p:cNvSpPr/>
          <p:nvPr/>
        </p:nvSpPr>
        <p:spPr>
          <a:xfrm flipV="1">
            <a:off x="566928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3" name="s324"/>
          <p:cNvSpPr/>
          <p:nvPr/>
        </p:nvSpPr>
        <p:spPr>
          <a:xfrm flipV="1">
            <a:off x="667512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4" name="s325"/>
          <p:cNvSpPr/>
          <p:nvPr/>
        </p:nvSpPr>
        <p:spPr>
          <a:xfrm flipV="1">
            <a:off x="768096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5" name="t326"/>
          <p:cNvSpPr txBox="1"/>
          <p:nvPr/>
        </p:nvSpPr>
        <p:spPr>
          <a:xfrm>
            <a:off x="850392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26" name="s327"/>
          <p:cNvSpPr/>
          <p:nvPr/>
        </p:nvSpPr>
        <p:spPr>
          <a:xfrm flipV="1">
            <a:off x="9692640" y="4846320"/>
            <a:ext cx="0" cy="548640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7" name="s328"/>
          <p:cNvSpPr/>
          <p:nvPr/>
        </p:nvSpPr>
        <p:spPr>
          <a:xfrm>
            <a:off x="5120640" y="4206240"/>
            <a:ext cx="0" cy="8686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329"/>
          <p:cNvSpPr/>
          <p:nvPr/>
        </p:nvSpPr>
        <p:spPr>
          <a:xfrm flipH="1">
            <a:off x="2103120" y="5074920"/>
            <a:ext cx="30175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9" name="s330"/>
          <p:cNvSpPr/>
          <p:nvPr/>
        </p:nvSpPr>
        <p:spPr>
          <a:xfrm>
            <a:off x="640080" y="4343400"/>
            <a:ext cx="146304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331"/>
          <p:cNvSpPr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1" name="s332"/>
          <p:cNvSpPr/>
          <p:nvPr/>
        </p:nvSpPr>
        <p:spPr>
          <a:xfrm>
            <a:off x="685800" y="470916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t333"/>
          <p:cNvSpPr txBox="1"/>
          <p:nvPr/>
        </p:nvSpPr>
        <p:spPr>
          <a:xfrm>
            <a:off x="27432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3" name="s334"/>
          <p:cNvSpPr/>
          <p:nvPr/>
        </p:nvSpPr>
        <p:spPr>
          <a:xfrm>
            <a:off x="9710928" y="2194560"/>
            <a:ext cx="201168" cy="1737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335"/>
          <p:cNvSpPr/>
          <p:nvPr/>
        </p:nvSpPr>
        <p:spPr>
          <a:xfrm>
            <a:off x="9747504" y="2377440"/>
            <a:ext cx="128016" cy="153619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5" name="s336"/>
          <p:cNvSpPr/>
          <p:nvPr/>
        </p:nvSpPr>
        <p:spPr>
          <a:xfrm>
            <a:off x="9646920" y="379476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6" name="t337"/>
          <p:cNvSpPr txBox="1"/>
          <p:nvPr/>
        </p:nvSpPr>
        <p:spPr>
          <a:xfrm>
            <a:off x="93726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</a:t>
            </a:r>
            <a:endParaRPr lang="en-US" sz="1100" dirty="0"/>
          </a:p>
        </p:txBody>
      </p:sp>
      <p:sp>
        <p:nvSpPr>
          <p:cNvPr id="37" name="s338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8" name="t339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39" name="t340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0" name="t341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28" name="dec128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1" name="t342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2" name="t343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3" name="t344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29" name="dec129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4" name="t345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5" name="t346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6" name="t347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0" name="dec13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7" name="t348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s349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9" name="t35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vessel is drained and isolated – sludge on the bottom, H₂S, benzene and LEL above it, pyrophoric FeS in the deposits.</a:t>
            </a:r>
            <a:endParaRPr lang="en-US" sz="1400" dirty="0"/>
          </a:p>
        </p:txBody>
      </p:sp>
      <p:sp>
        <p:nvSpPr>
          <p:cNvPr id="50" name="t35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Water is filled above the sludge level.</a:t>
            </a:r>
            <a:endParaRPr lang="en-US" sz="1400" dirty="0"/>
          </a:p>
        </p:txBody>
      </p:sp>
      <p:sp>
        <p:nvSpPr>
          <p:cNvPr id="51" name="t35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Steam is injected at several points along the bottom and brings the water to the boil.</a:t>
            </a:r>
            <a:endParaRPr lang="en-US" sz="1400" dirty="0"/>
          </a:p>
        </p:txBody>
      </p:sp>
      <p:sp>
        <p:nvSpPr>
          <p:cNvPr id="52" name="t35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Decon chemistry is injected with the steam; the rolling boil lifts and emulsifies the sludge.</a:t>
            </a:r>
            <a:endParaRPr lang="en-US" sz="1400" dirty="0"/>
          </a:p>
        </p:txBody>
      </p:sp>
      <p:sp>
        <p:nvSpPr>
          <p:cNvPr id="53" name="t35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dissolves and is converted into stable compounds; FeS is oxidised to iron oxide – both stay in the water.</a:t>
            </a:r>
            <a:endParaRPr lang="en-US" sz="1400" dirty="0"/>
          </a:p>
        </p:txBody>
      </p:sp>
      <p:sp>
        <p:nvSpPr>
          <p:cNvPr id="54" name="t35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vapours leave through the vent to the flare / closed vent.</a:t>
            </a:r>
            <a:endParaRPr lang="en-US" sz="1400" dirty="0"/>
          </a:p>
        </p:txBody>
      </p:sp>
      <p:sp>
        <p:nvSpPr>
          <p:cNvPr id="55" name="t35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vessel is drained to the effluent tank and rinsed – the vessel is clean.</a:t>
            </a:r>
            <a:endParaRPr lang="en-US" sz="1400" dirty="0"/>
          </a:p>
        </p:txBody>
      </p:sp>
      <p:sp>
        <p:nvSpPr>
          <p:cNvPr id="56" name="t35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vessel is handed over for safe entry.</a:t>
            </a:r>
            <a:endParaRPr lang="en-US" sz="1400" dirty="0"/>
          </a:p>
        </p:txBody>
      </p:sp>
      <p:sp>
        <p:nvSpPr>
          <p:cNvPr id="57" name="tag358"/>
          <p:cNvSpPr/>
          <p:nvPr/>
        </p:nvSpPr>
        <p:spPr>
          <a:xfrm>
            <a:off x="484632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8" name="tag359"/>
          <p:cNvSpPr/>
          <p:nvPr/>
        </p:nvSpPr>
        <p:spPr>
          <a:xfrm>
            <a:off x="603504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9" name="tag360"/>
          <p:cNvSpPr/>
          <p:nvPr/>
        </p:nvSpPr>
        <p:spPr>
          <a:xfrm>
            <a:off x="722376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0" name="s361"/>
          <p:cNvSpPr/>
          <p:nvPr/>
        </p:nvSpPr>
        <p:spPr>
          <a:xfrm>
            <a:off x="7708392" y="3602736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1" name="tag362"/>
          <p:cNvSpPr/>
          <p:nvPr/>
        </p:nvSpPr>
        <p:spPr>
          <a:xfrm>
            <a:off x="7772400" y="36667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2" name="tag363"/>
          <p:cNvSpPr/>
          <p:nvPr/>
        </p:nvSpPr>
        <p:spPr>
          <a:xfrm>
            <a:off x="475488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3" name="tag364"/>
          <p:cNvSpPr/>
          <p:nvPr/>
        </p:nvSpPr>
        <p:spPr>
          <a:xfrm>
            <a:off x="768096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4" name="s365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366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367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368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369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370"/>
          <p:cNvSpPr/>
          <p:nvPr/>
        </p:nvSpPr>
        <p:spPr>
          <a:xfrm>
            <a:off x="4965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371"/>
          <p:cNvSpPr/>
          <p:nvPr/>
        </p:nvSpPr>
        <p:spPr>
          <a:xfrm>
            <a:off x="54498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372"/>
          <p:cNvSpPr/>
          <p:nvPr/>
        </p:nvSpPr>
        <p:spPr>
          <a:xfrm>
            <a:off x="59344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373"/>
          <p:cNvSpPr/>
          <p:nvPr/>
        </p:nvSpPr>
        <p:spPr>
          <a:xfrm>
            <a:off x="641908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374"/>
          <p:cNvSpPr/>
          <p:nvPr/>
        </p:nvSpPr>
        <p:spPr>
          <a:xfrm>
            <a:off x="69037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375"/>
          <p:cNvSpPr/>
          <p:nvPr/>
        </p:nvSpPr>
        <p:spPr>
          <a:xfrm>
            <a:off x="73883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376"/>
          <p:cNvSpPr/>
          <p:nvPr/>
        </p:nvSpPr>
        <p:spPr>
          <a:xfrm>
            <a:off x="78729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377"/>
          <p:cNvSpPr/>
          <p:nvPr/>
        </p:nvSpPr>
        <p:spPr>
          <a:xfrm>
            <a:off x="83576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378"/>
          <p:cNvSpPr/>
          <p:nvPr/>
        </p:nvSpPr>
        <p:spPr>
          <a:xfrm>
            <a:off x="88422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379"/>
          <p:cNvSpPr/>
          <p:nvPr/>
        </p:nvSpPr>
        <p:spPr>
          <a:xfrm>
            <a:off x="48463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380"/>
          <p:cNvSpPr/>
          <p:nvPr/>
        </p:nvSpPr>
        <p:spPr>
          <a:xfrm>
            <a:off x="53309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381"/>
          <p:cNvSpPr/>
          <p:nvPr/>
        </p:nvSpPr>
        <p:spPr>
          <a:xfrm>
            <a:off x="58155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382"/>
          <p:cNvSpPr/>
          <p:nvPr/>
        </p:nvSpPr>
        <p:spPr>
          <a:xfrm>
            <a:off x="63002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383"/>
          <p:cNvSpPr/>
          <p:nvPr/>
        </p:nvSpPr>
        <p:spPr>
          <a:xfrm>
            <a:off x="67848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384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385"/>
          <p:cNvSpPr/>
          <p:nvPr/>
        </p:nvSpPr>
        <p:spPr>
          <a:xfrm>
            <a:off x="77541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386"/>
          <p:cNvSpPr/>
          <p:nvPr/>
        </p:nvSpPr>
        <p:spPr>
          <a:xfrm>
            <a:off x="82387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387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388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389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390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391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392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393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394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395"/>
          <p:cNvSpPr/>
          <p:nvPr/>
        </p:nvSpPr>
        <p:spPr>
          <a:xfrm>
            <a:off x="559612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396"/>
          <p:cNvSpPr/>
          <p:nvPr/>
        </p:nvSpPr>
        <p:spPr>
          <a:xfrm>
            <a:off x="61539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397"/>
          <p:cNvSpPr/>
          <p:nvPr/>
        </p:nvSpPr>
        <p:spPr>
          <a:xfrm>
            <a:off x="671169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398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399"/>
          <p:cNvSpPr/>
          <p:nvPr/>
        </p:nvSpPr>
        <p:spPr>
          <a:xfrm>
            <a:off x="782726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400"/>
          <p:cNvSpPr/>
          <p:nvPr/>
        </p:nvSpPr>
        <p:spPr>
          <a:xfrm>
            <a:off x="83850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401"/>
          <p:cNvSpPr/>
          <p:nvPr/>
        </p:nvSpPr>
        <p:spPr>
          <a:xfrm>
            <a:off x="894283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402"/>
          <p:cNvSpPr/>
          <p:nvPr/>
        </p:nvSpPr>
        <p:spPr>
          <a:xfrm>
            <a:off x="50200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403"/>
          <p:cNvSpPr/>
          <p:nvPr/>
        </p:nvSpPr>
        <p:spPr>
          <a:xfrm>
            <a:off x="557784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404"/>
          <p:cNvSpPr/>
          <p:nvPr/>
        </p:nvSpPr>
        <p:spPr>
          <a:xfrm>
            <a:off x="61356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405"/>
          <p:cNvSpPr/>
          <p:nvPr/>
        </p:nvSpPr>
        <p:spPr>
          <a:xfrm>
            <a:off x="669340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406"/>
          <p:cNvSpPr/>
          <p:nvPr/>
        </p:nvSpPr>
        <p:spPr>
          <a:xfrm>
            <a:off x="7251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407"/>
          <p:cNvSpPr/>
          <p:nvPr/>
        </p:nvSpPr>
        <p:spPr>
          <a:xfrm>
            <a:off x="780897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408"/>
          <p:cNvSpPr/>
          <p:nvPr/>
        </p:nvSpPr>
        <p:spPr>
          <a:xfrm>
            <a:off x="83667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409"/>
          <p:cNvSpPr/>
          <p:nvPr/>
        </p:nvSpPr>
        <p:spPr>
          <a:xfrm>
            <a:off x="89245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410"/>
          <p:cNvSpPr/>
          <p:nvPr/>
        </p:nvSpPr>
        <p:spPr>
          <a:xfrm>
            <a:off x="500176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411"/>
          <p:cNvSpPr/>
          <p:nvPr/>
        </p:nvSpPr>
        <p:spPr>
          <a:xfrm>
            <a:off x="46634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412"/>
          <p:cNvSpPr/>
          <p:nvPr/>
        </p:nvSpPr>
        <p:spPr>
          <a:xfrm>
            <a:off x="51663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413"/>
          <p:cNvSpPr/>
          <p:nvPr/>
        </p:nvSpPr>
        <p:spPr>
          <a:xfrm>
            <a:off x="56692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414"/>
          <p:cNvSpPr/>
          <p:nvPr/>
        </p:nvSpPr>
        <p:spPr>
          <a:xfrm>
            <a:off x="617220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415"/>
          <p:cNvSpPr/>
          <p:nvPr/>
        </p:nvSpPr>
        <p:spPr>
          <a:xfrm>
            <a:off x="667512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416"/>
          <p:cNvSpPr/>
          <p:nvPr/>
        </p:nvSpPr>
        <p:spPr>
          <a:xfrm>
            <a:off x="71780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417"/>
          <p:cNvSpPr/>
          <p:nvPr/>
        </p:nvSpPr>
        <p:spPr>
          <a:xfrm>
            <a:off x="76809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418"/>
          <p:cNvSpPr/>
          <p:nvPr/>
        </p:nvSpPr>
        <p:spPr>
          <a:xfrm>
            <a:off x="81838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419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420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421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422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423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424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425"/>
          <p:cNvSpPr/>
          <p:nvPr/>
        </p:nvSpPr>
        <p:spPr>
          <a:xfrm>
            <a:off x="4370832" y="2103120"/>
            <a:ext cx="460857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5" name="s426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6" name="t427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1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46" dur="13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2" dur="13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8" dur="13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64" dur="13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400"/>
                            </p:stCondLst>
                            <p:childTnLst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77" dur="1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0" presetClass="path" presetSubtype="0" fill="hold" grpId="3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3" dur="11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9" dur="1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3" nodeType="withEffect">
                                  <p:stCondLst>
                                    <p:cond delay="7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95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1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7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3" nodeType="withEffect">
                                  <p:stCondLst>
                                    <p:cond delay="12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3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1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9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3" nodeType="withEffect">
                                  <p:stCondLst>
                                    <p:cond delay="1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25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1" dur="11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7" dur="11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20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3" dur="11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9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92" dur="35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99" dur="35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0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206" dur="350" autoRev="1" fill="hold"/>
                                        <p:tgtEl>
                                          <p:spTgt spid="130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16" dur="1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0" presetClass="path" presetSubtype="0" fill="hold" grpId="3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22" dur="1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3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28" dur="1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34" dur="1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" presetClass="exit" presetSubtype="0" fill="hold" grpId="1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40" dur="1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1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46" dur="1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2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0" presetClass="path" presetSubtype="0" fill="hold" grpId="3" nodeType="withEffect">
                                  <p:stCondLst>
                                    <p:cond delay="10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8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0" presetClass="path" presetSubtype="0" fill="hold" grpId="3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4" dur="1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0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0" presetClass="path" presetSubtype="0" fill="hold" grpId="3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6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7" presetID="1" presetClass="exit" presetSubtype="0" fill="hold" grpId="1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2" dur="11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8" dur="11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9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0" presetClass="path" presetSubtype="0" fill="hold" grpId="3" nodeType="withEffect">
                                  <p:stCondLst>
                                    <p:cond delay="18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4" dur="11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" presetClass="exit" presetSubtype="0" fill="hold" grpId="1" nodeType="withEffect">
                                  <p:stCondLst>
                                    <p:cond delay="298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0" dur="11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1" presetID="1" presetClass="exit" presetSubtype="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6" dur="1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7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2" dur="11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3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8" dur="11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9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presetSubtype="0" fill="hold" grpId="0" nodeType="withEffect">
                                  <p:stCondLst>
                                    <p:cond delay="258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0" presetClass="path" presetSubtype="0" fill="hold" grpId="3" nodeType="withEffect">
                                  <p:stCondLst>
                                    <p:cond delay="2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4" dur="11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5" presetID="1" presetClass="exit" presetSubtype="0" fill="hold" grpId="1" nodeType="withEffect">
                                  <p:stCondLst>
                                    <p:cond delay="368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0" presetClass="path" presetSubtype="0" fill="hold" grpId="3" nodeType="withEffect">
                                  <p:stCondLst>
                                    <p:cond delay="27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0" dur="11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1" presetClass="exit" presetSubtype="0" fill="hold" grpId="1" nodeType="withEffect">
                                  <p:stCondLst>
                                    <p:cond delay="382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6" dur="11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7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42" dur="11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3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48" dur="11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9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0" presetClass="path" presetSubtype="0" fill="hold" grpId="3" nodeType="withEffect">
                                  <p:stCondLst>
                                    <p:cond delay="32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54" dur="11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1" presetClass="exit" presetSubtype="0" fill="hold" grpId="1" nodeType="withEffect">
                                  <p:stCondLst>
                                    <p:cond delay="438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8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2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66" dur="1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14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70" dur="1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74" dur="1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5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0" presetClass="path" presetSubtype="0" fill="hold" grpId="3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78" dur="1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82" dur="1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0" presetClass="path" presetSubtype="0" fill="hold" grpId="3" nodeType="withEffect">
                                  <p:stCondLst>
                                    <p:cond delay="205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86" dur="1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90" dur="1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94" dur="1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>
                      <p:stCondLst>
                        <p:cond delay="indefinite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0.1200 E" pathEditMode="relative" ptsTypes="AA">
                                      <p:cBhvr>
                                        <p:cTn id="403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4" fill="hold">
                            <p:stCondLst>
                              <p:cond delay="900"/>
                            </p:stCondLst>
                            <p:childTnLst>
                              <p:par>
                                <p:cTn id="40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947 E" pathEditMode="relative" ptsTypes="AA">
                                      <p:cBhvr>
                                        <p:cTn id="415" dur="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6" fill="hold">
                            <p:stCondLst>
                              <p:cond delay="1700"/>
                            </p:stCondLst>
                            <p:childTnLst>
                              <p:par>
                                <p:cTn id="41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8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24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5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29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34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5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725 0.0000 L 0.1725 -0.1373 L 0.3375 -0.1373 E" pathEditMode="relative" ptsTypes="AAAA">
                                      <p:cBhvr>
                                        <p:cTn id="446" dur="18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7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750 0.0000 L 0.0750 -0.1373 L 0.2400 -0.1373 E" pathEditMode="relative" ptsTypes="AAAA">
                                      <p:cBhvr>
                                        <p:cTn id="451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56" dur="3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57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58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9" fill="hold">
                      <p:stCondLst>
                        <p:cond delay="indefinite"/>
                      </p:stCondLst>
                      <p:childTnLst>
                        <p:par>
                          <p:cTn id="460" fill="hold">
                            <p:stCondLst>
                              <p:cond delay="0"/>
                            </p:stCondLst>
                            <p:childTnLst>
                              <p:par>
                                <p:cTn id="4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2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67" dur="2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78" dur="16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0" presetClass="path" presetSubtype="0" fill="hold" grpId="3" nodeType="withEffect">
                                  <p:stCondLst>
                                    <p:cond delay="58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4" dur="16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5" presetID="1" presetClass="exit" presetSubtype="0" fill="hold" grpId="1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0" presetClass="path" presetSubtype="0" fill="hold" grpId="3" nodeType="withEffect">
                                  <p:stCondLst>
                                    <p:cond delay="86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90" dur="1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1" presetID="1" presetClass="exit" presetSubtype="0" fill="hold" grpId="1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0" presetClass="path" presetSubtype="0" fill="hold" grpId="3" nodeType="withEffect">
                                  <p:stCondLst>
                                    <p:cond delay="114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96" dur="16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7" presetID="1" presetClass="exit" presetSubtype="0" fill="hold" grpId="1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502" dur="16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3" presetID="1" presetClass="exit" presetSubtype="0" fill="hold" grpId="1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508" dur="16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9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7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8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0" fill="hold">
                            <p:stCondLst>
                              <p:cond delay="3800"/>
                            </p:stCondLst>
                            <p:childTnLst>
                              <p:par>
                                <p:cTn id="521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4800"/>
                            </p:stCondLst>
                            <p:childTnLst>
                              <p:par>
                                <p:cTn id="5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600 E" pathEditMode="relative" ptsTypes="AA">
                                      <p:cBhvr>
                                        <p:cTn id="528" dur="11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0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2" fill="hold">
                      <p:stCondLst>
                        <p:cond delay="indefinite"/>
                      </p:stCondLst>
                      <p:childTnLst>
                        <p:par>
                          <p:cTn id="533" fill="hold">
                            <p:stCondLst>
                              <p:cond delay="0"/>
                            </p:stCondLst>
                            <p:childTnLst>
                              <p:par>
                                <p:cTn id="5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4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8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0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1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8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0" fill="hold">
                            <p:stCondLst>
                              <p:cond delay="2000"/>
                            </p:stCondLst>
                            <p:childTnLst>
                              <p:par>
                                <p:cTn id="56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3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4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5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9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1" fill="hold">
                            <p:stCondLst>
                              <p:cond delay="2500"/>
                            </p:stCondLst>
                            <p:childTnLst>
                              <p:par>
                                <p:cTn id="572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3" dur="400" autoRev="1" fill="hold"/>
                                        <p:tgtEl>
                                          <p:spTgt spid="12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7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5" dur="400" autoRev="1" fill="hold"/>
                                        <p:tgtEl>
                                          <p:spTgt spid="12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11" grpId="1" animBg="1"/>
      <p:bldP spid="12" grpId="0" animBg="1"/>
      <p:bldP spid="12" grpId="1" animBg="1"/>
      <p:bldP spid="17" grpId="2" animBg="1"/>
      <p:bldP spid="18" grpId="2" animBg="1"/>
      <p:bldP spid="21" grpId="0" animBg="1"/>
      <p:bldP spid="22" grpId="0" animBg="1"/>
      <p:bldP spid="23" grpId="0" animBg="1"/>
      <p:bldP spid="24" grpId="0" animBg="1"/>
      <p:bldP spid="26" grpId="0" animBg="1"/>
      <p:bldP spid="30" grpId="0" animBg="1"/>
      <p:bldP spid="31" grpId="0" animBg="1"/>
      <p:bldP spid="34" grpId="0" animBg="1"/>
      <p:bldP spid="36" grpId="0" animBg="1"/>
      <p:bldP spid="40" grpId="1" animBg="1"/>
      <p:bldP spid="41" grpId="0" animBg="1"/>
      <p:bldP spid="43" grpId="1" animBg="1"/>
      <p:bldP spid="44" grpId="0" animBg="1"/>
      <p:bldP spid="46" grpId="1" animBg="1"/>
      <p:bldP spid="47" grpId="0" animBg="1"/>
      <p:bldP spid="48" grpId="0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7" grpId="1" animBg="1"/>
      <p:bldP spid="57" grpId="3" animBg="1"/>
      <p:bldP spid="58" grpId="1" animBg="1"/>
      <p:bldP spid="58" grpId="3" animBg="1"/>
      <p:bldP spid="59" grpId="1" animBg="1"/>
      <p:bldP spid="59" grpId="3" animBg="1"/>
      <p:bldP spid="60" grpId="1" animBg="1"/>
      <p:bldP spid="60" grpId="2" animBg="1"/>
      <p:bldP spid="61" grpId="1" animBg="1"/>
      <p:bldP spid="61" grpId="3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4" grpId="3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3" animBg="1"/>
      <p:bldP spid="111" grpId="0" animBg="1"/>
      <p:bldP spid="111" grpId="3" animBg="1"/>
      <p:bldP spid="112" grpId="0" animBg="1"/>
      <p:bldP spid="112" grpId="3" animBg="1"/>
      <p:bldP spid="113" grpId="0" animBg="1"/>
      <p:bldP spid="113" grpId="3" animBg="1"/>
      <p:bldP spid="114" grpId="0" animBg="1"/>
      <p:bldP spid="114" grpId="3" animBg="1"/>
      <p:bldP spid="115" grpId="0" animBg="1"/>
      <p:bldP spid="115" grpId="3" animBg="1"/>
      <p:bldP spid="116" grpId="0" animBg="1"/>
      <p:bldP spid="116" grpId="3" animBg="1"/>
      <p:bldP spid="117" grpId="0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2" animBg="1"/>
      <p:bldP spid="126" grpId="0" animBg="1"/>
      <p:bldP spid="126" grpId="2" animBg="1"/>
      <p:bldP spid="128" grpId="0" animBg="1"/>
      <p:bldP spid="128" grpId="1" animBg="1"/>
      <p:bldP spid="128" grpId="2" animBg="1"/>
      <p:bldP spid="129" grpId="0" animBg="1"/>
      <p:bldP spid="129" grpId="1" animBg="1"/>
      <p:bldP spid="129" grpId="2" animBg="1"/>
      <p:bldP spid="130" grpId="0" animBg="1"/>
      <p:bldP spid="130" grpId="1" animBg="1"/>
      <p:bldP spid="130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Viscosity flush / oil wash – heavy deposits</a:t>
            </a:r>
            <a:endParaRPr lang="en-US" sz="2800" dirty="0"/>
          </a:p>
        </p:txBody>
      </p:sp>
      <p:sp>
        <p:nvSpPr>
          <p:cNvPr id="3" name="s428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429"/>
          <p:cNvSpPr/>
          <p:nvPr/>
        </p:nvSpPr>
        <p:spPr>
          <a:xfrm>
            <a:off x="4155034" y="1975104"/>
            <a:ext cx="197510" cy="2816352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430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431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432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433"/>
          <p:cNvSpPr/>
          <p:nvPr/>
        </p:nvSpPr>
        <p:spPr>
          <a:xfrm>
            <a:off x="4626864" y="227137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434"/>
          <p:cNvSpPr/>
          <p:nvPr/>
        </p:nvSpPr>
        <p:spPr>
          <a:xfrm>
            <a:off x="4813402" y="331378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435"/>
          <p:cNvSpPr/>
          <p:nvPr/>
        </p:nvSpPr>
        <p:spPr>
          <a:xfrm>
            <a:off x="4484218" y="393923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t436"/>
          <p:cNvSpPr txBox="1"/>
          <p:nvPr/>
        </p:nvSpPr>
        <p:spPr>
          <a:xfrm>
            <a:off x="3749040" y="51389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bottoms</a:t>
            </a:r>
            <a:endParaRPr lang="en-US" sz="1100" dirty="0"/>
          </a:p>
        </p:txBody>
      </p:sp>
      <p:sp>
        <p:nvSpPr>
          <p:cNvPr id="12" name="s437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1905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438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439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440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441"/>
          <p:cNvSpPr/>
          <p:nvPr/>
        </p:nvSpPr>
        <p:spPr>
          <a:xfrm>
            <a:off x="7406640" y="406908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442"/>
          <p:cNvSpPr/>
          <p:nvPr/>
        </p:nvSpPr>
        <p:spPr>
          <a:xfrm>
            <a:off x="7406640" y="420624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443"/>
          <p:cNvSpPr/>
          <p:nvPr/>
        </p:nvSpPr>
        <p:spPr>
          <a:xfrm>
            <a:off x="7406640" y="434340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t444"/>
          <p:cNvSpPr txBox="1"/>
          <p:nvPr/>
        </p:nvSpPr>
        <p:spPr>
          <a:xfrm>
            <a:off x="7132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</a:t>
            </a:r>
            <a:endParaRPr lang="en-US" sz="1100" dirty="0"/>
          </a:p>
        </p:txBody>
      </p:sp>
      <p:sp>
        <p:nvSpPr>
          <p:cNvPr id="20" name="s445"/>
          <p:cNvSpPr/>
          <p:nvPr/>
        </p:nvSpPr>
        <p:spPr>
          <a:xfrm>
            <a:off x="6035040" y="52578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t446"/>
          <p:cNvSpPr txBox="1"/>
          <p:nvPr/>
        </p:nvSpPr>
        <p:spPr>
          <a:xfrm>
            <a:off x="5897880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000" dirty="0"/>
          </a:p>
        </p:txBody>
      </p:sp>
      <p:sp>
        <p:nvSpPr>
          <p:cNvPr id="22" name="s447"/>
          <p:cNvSpPr/>
          <p:nvPr/>
        </p:nvSpPr>
        <p:spPr>
          <a:xfrm>
            <a:off x="4572000" y="5120640"/>
            <a:ext cx="0" cy="3383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448"/>
          <p:cNvSpPr/>
          <p:nvPr/>
        </p:nvSpPr>
        <p:spPr>
          <a:xfrm>
            <a:off x="4572000" y="5458968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449"/>
          <p:cNvSpPr/>
          <p:nvPr/>
        </p:nvSpPr>
        <p:spPr>
          <a:xfrm>
            <a:off x="6446520" y="5458968"/>
            <a:ext cx="32461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s450"/>
          <p:cNvSpPr/>
          <p:nvPr/>
        </p:nvSpPr>
        <p:spPr>
          <a:xfrm flipV="1">
            <a:off x="9692640" y="4206240"/>
            <a:ext cx="0" cy="12527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451"/>
          <p:cNvSpPr/>
          <p:nvPr/>
        </p:nvSpPr>
        <p:spPr>
          <a:xfrm flipH="1">
            <a:off x="9144000" y="42062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7" name="s452"/>
          <p:cNvSpPr/>
          <p:nvPr/>
        </p:nvSpPr>
        <p:spPr>
          <a:xfrm flipH="1">
            <a:off x="5669280" y="4206240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453"/>
          <p:cNvSpPr/>
          <p:nvPr/>
        </p:nvSpPr>
        <p:spPr>
          <a:xfrm flipV="1">
            <a:off x="5669280" y="2743200"/>
            <a:ext cx="0" cy="146304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454"/>
          <p:cNvSpPr/>
          <p:nvPr/>
        </p:nvSpPr>
        <p:spPr>
          <a:xfrm flipH="1">
            <a:off x="5120640" y="274320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0" name="s455"/>
          <p:cNvSpPr/>
          <p:nvPr/>
        </p:nvSpPr>
        <p:spPr>
          <a:xfrm>
            <a:off x="731520" y="4114800"/>
            <a:ext cx="1371600" cy="960120"/>
          </a:xfrm>
          <a:prstGeom prst="roundRect">
            <a:avLst>
              <a:gd name="adj" fmla="val 19048"/>
            </a:avLst>
          </a:prstGeom>
          <a:solidFill>
            <a:srgbClr val="F6E7C8"/>
          </a:solidFill>
          <a:ln w="1905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t456"/>
          <p:cNvSpPr txBox="1"/>
          <p:nvPr/>
        </p:nvSpPr>
        <p:spPr>
          <a:xfrm>
            <a:off x="548640" y="5120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/ cutter stock</a:t>
            </a:r>
            <a:endParaRPr lang="en-US" sz="1100" dirty="0"/>
          </a:p>
        </p:txBody>
      </p:sp>
      <p:sp>
        <p:nvSpPr>
          <p:cNvPr id="32" name="s457"/>
          <p:cNvSpPr/>
          <p:nvPr/>
        </p:nvSpPr>
        <p:spPr>
          <a:xfrm>
            <a:off x="2103120" y="4754880"/>
            <a:ext cx="82296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3" name="s458"/>
          <p:cNvSpPr/>
          <p:nvPr/>
        </p:nvSpPr>
        <p:spPr>
          <a:xfrm>
            <a:off x="2926080" y="4754880"/>
            <a:ext cx="0" cy="70408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459"/>
          <p:cNvSpPr/>
          <p:nvPr/>
        </p:nvSpPr>
        <p:spPr>
          <a:xfrm>
            <a:off x="2926080" y="5458968"/>
            <a:ext cx="16459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5" name="t460"/>
          <p:cNvSpPr txBox="1"/>
          <p:nvPr/>
        </p:nvSpPr>
        <p:spPr>
          <a:xfrm>
            <a:off x="5394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100" dirty="0"/>
          </a:p>
        </p:txBody>
      </p:sp>
      <p:sp>
        <p:nvSpPr>
          <p:cNvPr id="36" name="s461"/>
          <p:cNvSpPr/>
          <p:nvPr/>
        </p:nvSpPr>
        <p:spPr>
          <a:xfrm>
            <a:off x="6236208" y="4846320"/>
            <a:ext cx="0" cy="4114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7" name="s462"/>
          <p:cNvSpPr/>
          <p:nvPr/>
        </p:nvSpPr>
        <p:spPr>
          <a:xfrm flipV="1">
            <a:off x="9692640" y="2377440"/>
            <a:ext cx="0" cy="18288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8" name="s463"/>
          <p:cNvSpPr/>
          <p:nvPr/>
        </p:nvSpPr>
        <p:spPr>
          <a:xfrm>
            <a:off x="9692640" y="23774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9" name="s464"/>
          <p:cNvSpPr/>
          <p:nvPr/>
        </p:nvSpPr>
        <p:spPr>
          <a:xfrm>
            <a:off x="10241280" y="178308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s465"/>
          <p:cNvSpPr/>
          <p:nvPr/>
        </p:nvSpPr>
        <p:spPr>
          <a:xfrm>
            <a:off x="10287000" y="2606040"/>
            <a:ext cx="1188720" cy="274320"/>
          </a:xfrm>
          <a:prstGeom prst="rect">
            <a:avLst/>
          </a:prstGeom>
          <a:solidFill>
            <a:srgbClr val="6B5236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1" name="s466"/>
          <p:cNvSpPr/>
          <p:nvPr/>
        </p:nvSpPr>
        <p:spPr>
          <a:xfrm>
            <a:off x="10287000" y="2240280"/>
            <a:ext cx="1188720" cy="365760"/>
          </a:xfrm>
          <a:prstGeom prst="rect">
            <a:avLst/>
          </a:prstGeom>
          <a:solidFill>
            <a:srgbClr val="6B5236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2" name="t467"/>
          <p:cNvSpPr txBox="1"/>
          <p:nvPr/>
        </p:nvSpPr>
        <p:spPr>
          <a:xfrm>
            <a:off x="98755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 / RERUN TANK</a:t>
            </a:r>
            <a:endParaRPr lang="en-US" sz="1100" dirty="0"/>
          </a:p>
        </p:txBody>
      </p:sp>
      <p:sp>
        <p:nvSpPr>
          <p:cNvPr id="43" name="s468"/>
          <p:cNvSpPr/>
          <p:nvPr/>
        </p:nvSpPr>
        <p:spPr>
          <a:xfrm>
            <a:off x="548640" y="1371600"/>
            <a:ext cx="3108960" cy="2194560"/>
          </a:xfrm>
          <a:prstGeom prst="roundRect">
            <a:avLst>
              <a:gd name="adj" fmla="val 5000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t469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– RETURNING OIL</a:t>
            </a:r>
            <a:endParaRPr lang="en-US" sz="1200" dirty="0"/>
          </a:p>
        </p:txBody>
      </p:sp>
      <p:sp>
        <p:nvSpPr>
          <p:cNvPr id="45" name="s470"/>
          <p:cNvSpPr/>
          <p:nvPr/>
        </p:nvSpPr>
        <p:spPr>
          <a:xfrm>
            <a:off x="1051560" y="1874520"/>
            <a:ext cx="2743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6" name="s471"/>
          <p:cNvSpPr/>
          <p:nvPr/>
        </p:nvSpPr>
        <p:spPr>
          <a:xfrm>
            <a:off x="868680" y="2103120"/>
            <a:ext cx="640080" cy="12344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472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F2D58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8" name="s473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C79A3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9" name="s474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5A4025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s475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1C1F21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t476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flushing oil</a:t>
            </a:r>
            <a:endParaRPr lang="en-US" sz="1400" dirty="0"/>
          </a:p>
        </p:txBody>
      </p:sp>
      <p:sp>
        <p:nvSpPr>
          <p:cNvPr id="52" name="t477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– picking up deposits</a:t>
            </a:r>
            <a:endParaRPr lang="en-US" sz="1400" dirty="0"/>
          </a:p>
        </p:txBody>
      </p:sp>
      <p:sp>
        <p:nvSpPr>
          <p:cNvPr id="53" name="t478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 each pass</a:t>
            </a:r>
            <a:endParaRPr lang="en-US" sz="1400" dirty="0"/>
          </a:p>
        </p:txBody>
      </p:sp>
      <p:sp>
        <p:nvSpPr>
          <p:cNvPr id="54" name="t479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– flush complete</a:t>
            </a:r>
            <a:endParaRPr lang="en-US" sz="1400" dirty="0"/>
          </a:p>
        </p:txBody>
      </p:sp>
      <p:sp>
        <p:nvSpPr>
          <p:cNvPr id="100" name="n100"/>
          <p:cNvSpPr/>
          <p:nvPr/>
        </p:nvSpPr>
        <p:spPr>
          <a:xfrm flipV="1">
            <a:off x="4572000" y="137160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n101"/>
          <p:cNvSpPr/>
          <p:nvPr/>
        </p:nvSpPr>
        <p:spPr>
          <a:xfrm>
            <a:off x="4572000" y="1371600"/>
            <a:ext cx="1188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2" name="n102"/>
          <p:cNvSpPr/>
          <p:nvPr/>
        </p:nvSpPr>
        <p:spPr>
          <a:xfrm>
            <a:off x="5760720" y="12070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3" name="n103"/>
          <p:cNvSpPr/>
          <p:nvPr/>
        </p:nvSpPr>
        <p:spPr>
          <a:xfrm>
            <a:off x="5908853" y="1305763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n104"/>
          <p:cNvSpPr/>
          <p:nvPr/>
        </p:nvSpPr>
        <p:spPr>
          <a:xfrm>
            <a:off x="5908853" y="1371600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n105"/>
          <p:cNvSpPr/>
          <p:nvPr/>
        </p:nvSpPr>
        <p:spPr>
          <a:xfrm>
            <a:off x="5908853" y="1437437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n106"/>
          <p:cNvSpPr txBox="1"/>
          <p:nvPr/>
        </p:nvSpPr>
        <p:spPr>
          <a:xfrm>
            <a:off x="5486400" y="15727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07" name="n107"/>
          <p:cNvSpPr/>
          <p:nvPr/>
        </p:nvSpPr>
        <p:spPr>
          <a:xfrm>
            <a:off x="6675120" y="1371600"/>
            <a:ext cx="6400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n108"/>
          <p:cNvSpPr/>
          <p:nvPr/>
        </p:nvSpPr>
        <p:spPr>
          <a:xfrm>
            <a:off x="7315200" y="137160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9" name="n109"/>
          <p:cNvSpPr/>
          <p:nvPr/>
        </p:nvSpPr>
        <p:spPr>
          <a:xfrm>
            <a:off x="7040880" y="178308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0" name="n110"/>
          <p:cNvSpPr/>
          <p:nvPr/>
        </p:nvSpPr>
        <p:spPr>
          <a:xfrm>
            <a:off x="7095744" y="2059686"/>
            <a:ext cx="1261872" cy="191110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1" name="n111"/>
          <p:cNvSpPr txBox="1"/>
          <p:nvPr/>
        </p:nvSpPr>
        <p:spPr>
          <a:xfrm>
            <a:off x="6035040" y="192024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12" name="n112"/>
          <p:cNvSpPr/>
          <p:nvPr/>
        </p:nvSpPr>
        <p:spPr>
          <a:xfrm flipV="1">
            <a:off x="8183880" y="1600200"/>
            <a:ext cx="0" cy="210312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n113"/>
          <p:cNvSpPr/>
          <p:nvPr/>
        </p:nvSpPr>
        <p:spPr>
          <a:xfrm>
            <a:off x="8183880" y="160020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4" name="n114"/>
          <p:cNvSpPr/>
          <p:nvPr/>
        </p:nvSpPr>
        <p:spPr>
          <a:xfrm>
            <a:off x="8869680" y="1325880"/>
            <a:ext cx="182880" cy="9601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5" name="n115"/>
          <p:cNvSpPr/>
          <p:nvPr/>
        </p:nvSpPr>
        <p:spPr>
          <a:xfrm>
            <a:off x="8741664" y="822960"/>
            <a:ext cx="438912" cy="548640"/>
          </a:xfrm>
          <a:prstGeom prst="ellipse">
            <a:avLst/>
          </a:prstGeom>
          <a:solidFill>
            <a:srgbClr val="F7C548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6" name="n116"/>
          <p:cNvSpPr/>
          <p:nvPr/>
        </p:nvSpPr>
        <p:spPr>
          <a:xfrm>
            <a:off x="8833104" y="1033272"/>
            <a:ext cx="256032" cy="329184"/>
          </a:xfrm>
          <a:prstGeom prst="ellipse">
            <a:avLst/>
          </a:prstGeom>
          <a:solidFill>
            <a:srgbClr val="FF8C1A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7" name="n117"/>
          <p:cNvSpPr txBox="1"/>
          <p:nvPr/>
        </p:nvSpPr>
        <p:spPr>
          <a:xfrm>
            <a:off x="9144000" y="14630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FLARE / CLOSED VENT</a:t>
            </a:r>
          </a:p>
        </p:txBody>
      </p:sp>
      <p:sp>
        <p:nvSpPr>
          <p:cNvPr id="118" name="n118"/>
          <p:cNvSpPr/>
          <p:nvPr/>
        </p:nvSpPr>
        <p:spPr>
          <a:xfrm>
            <a:off x="7772400" y="2286000"/>
            <a:ext cx="0" cy="228600"/>
          </a:xfrm>
          <a:prstGeom prst="line">
            <a:avLst/>
          </a:prstGeom>
          <a:noFill/>
          <a:ln w="381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n119"/>
          <p:cNvSpPr/>
          <p:nvPr/>
        </p:nvSpPr>
        <p:spPr>
          <a:xfrm>
            <a:off x="7772400" y="2514600"/>
            <a:ext cx="1920240" cy="0"/>
          </a:xfrm>
          <a:prstGeom prst="line">
            <a:avLst/>
          </a:prstGeom>
          <a:noFill/>
          <a:ln w="381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n120"/>
          <p:cNvSpPr/>
          <p:nvPr/>
        </p:nvSpPr>
        <p:spPr>
          <a:xfrm>
            <a:off x="3017520" y="448056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1" name="n121"/>
          <p:cNvSpPr/>
          <p:nvPr/>
        </p:nvSpPr>
        <p:spPr>
          <a:xfrm>
            <a:off x="3223260" y="461772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n122"/>
          <p:cNvSpPr/>
          <p:nvPr/>
        </p:nvSpPr>
        <p:spPr>
          <a:xfrm>
            <a:off x="3223260" y="470916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n123"/>
          <p:cNvSpPr/>
          <p:nvPr/>
        </p:nvSpPr>
        <p:spPr>
          <a:xfrm>
            <a:off x="3223260" y="480060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n124"/>
          <p:cNvSpPr txBox="1"/>
          <p:nvPr/>
        </p:nvSpPr>
        <p:spPr>
          <a:xfrm>
            <a:off x="2926080" y="495604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25" name="n125"/>
          <p:cNvSpPr/>
          <p:nvPr/>
        </p:nvSpPr>
        <p:spPr>
          <a:xfrm flipH="1">
            <a:off x="3886200" y="4846320"/>
            <a:ext cx="210312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26" name="n126"/>
          <p:cNvSpPr/>
          <p:nvPr/>
        </p:nvSpPr>
        <p:spPr>
          <a:xfrm flipV="1">
            <a:off x="3474720" y="4389120"/>
            <a:ext cx="0" cy="914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n127"/>
          <p:cNvSpPr/>
          <p:nvPr/>
        </p:nvSpPr>
        <p:spPr>
          <a:xfrm>
            <a:off x="3474720" y="438912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5" name="s480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6" name="t4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Heavy bottoms, coker and quench circuits hold tar-like deposits that steam alone cannot shift.</a:t>
            </a:r>
            <a:endParaRPr lang="en-US" sz="1400" dirty="0"/>
          </a:p>
        </p:txBody>
      </p:sp>
      <p:sp>
        <p:nvSpPr>
          <p:cNvPr id="57" name="t48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Hot flushing oil (cutter stock) fills the bottoms circuit: column → pump → exchangers → column.</a:t>
            </a:r>
            <a:endParaRPr lang="en-US" sz="1400" dirty="0"/>
          </a:p>
        </p:txBody>
      </p:sp>
      <p:sp>
        <p:nvSpPr>
          <p:cNvPr id="58" name="t48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oil circulates continuously through the circuit.</a:t>
            </a:r>
            <a:endParaRPr lang="en-US" sz="1400" dirty="0"/>
          </a:p>
        </p:txBody>
      </p:sp>
      <p:sp>
        <p:nvSpPr>
          <p:cNvPr id="59" name="t4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Oil-based solvent is added – it penetrates and softens the heavy deposits; the returning oil turns dark.</a:t>
            </a:r>
            <a:endParaRPr lang="en-US" sz="1400" dirty="0"/>
          </a:p>
        </p:txBody>
      </p:sp>
      <p:sp>
        <p:nvSpPr>
          <p:cNvPr id="60" name="t48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Pass after pass the deposits dissolve – the exchanger and column clean up and the sample gets lighter.</a:t>
            </a:r>
            <a:endParaRPr lang="en-US" sz="1400" dirty="0"/>
          </a:p>
        </p:txBody>
      </p:sp>
      <p:sp>
        <p:nvSpPr>
          <p:cNvPr id="61" name="t48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loaded oil is sent to the slop / rerun tank – not to effluent.</a:t>
            </a:r>
            <a:endParaRPr lang="en-US" sz="1400" dirty="0"/>
          </a:p>
        </p:txBody>
      </p:sp>
      <p:sp>
        <p:nvSpPr>
          <p:cNvPr id="62" name="t48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Circuit clean – followed by vapour-phase for final gas-freeing.</a:t>
            </a:r>
            <a:endParaRPr lang="en-US" sz="1400" dirty="0"/>
          </a:p>
        </p:txBody>
      </p:sp>
      <p:sp>
        <p:nvSpPr>
          <p:cNvPr id="63" name="s48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s48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49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49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49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49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49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49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49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497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498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499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500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50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50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50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50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50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50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50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50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50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51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51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51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51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51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515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516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517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518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519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520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521"/>
          <p:cNvSpPr/>
          <p:nvPr/>
        </p:nvSpPr>
        <p:spPr>
          <a:xfrm>
            <a:off x="4111142" y="1737360"/>
            <a:ext cx="92171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7" name="s522"/>
          <p:cNvSpPr/>
          <p:nvPr/>
        </p:nvSpPr>
        <p:spPr>
          <a:xfrm>
            <a:off x="548640" y="370332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8" name="t523"/>
          <p:cNvSpPr txBox="1"/>
          <p:nvPr/>
        </p:nvSpPr>
        <p:spPr>
          <a:xfrm>
            <a:off x="548640" y="3703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VAPOUR-PHASE GAS-FREEING</a:t>
            </a:r>
            <a:endParaRPr lang="en-US" sz="1500" dirty="0"/>
          </a:p>
        </p:txBody>
      </p:sp>
      <p:sp>
        <p:nvSpPr>
          <p:cNvPr id="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300"/>
                            </p:stCondLst>
                            <p:childTnLst>
                              <p:par>
                                <p:cTn id="5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69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75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0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3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9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45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51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5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75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1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7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1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0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6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2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8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0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6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7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3" dur="13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9" dur="13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25" dur="13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1" dur="13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7" dur="1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43" dur="13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22" presetClass="entr" presetSubtype="4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1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00"/>
                            </p:stCondLst>
                            <p:childTnLst>
                              <p:par>
                                <p:cTn id="3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77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2500"/>
                            </p:stCondLst>
                            <p:childTnLst>
                              <p:par>
                                <p:cTn id="3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3000"/>
                            </p:stCondLst>
                            <p:childTnLst>
                              <p:par>
                                <p:cTn id="39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4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6" dur="40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13" grpId="1" animBg="1"/>
      <p:bldP spid="14" grpId="1" animBg="1"/>
      <p:bldP spid="15" grpId="1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5" grpId="0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3" grpId="0" animBg="1"/>
      <p:bldP spid="63" grpId="1" animBg="1"/>
      <p:bldP spid="63" grpId="3" animBg="1"/>
      <p:bldP spid="64" grpId="0" animBg="1"/>
      <p:bldP spid="64" grpId="1" animBg="1"/>
      <p:bldP spid="64" grpId="3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2" animBg="1"/>
      <p:bldP spid="98" grpId="0" animBg="1"/>
      <p:bldP spid="98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circulation – tanks &amp; heat-limited vessels</a:t>
            </a:r>
            <a:endParaRPr lang="en-US" sz="2800" dirty="0"/>
          </a:p>
        </p:txBody>
      </p:sp>
      <p:sp>
        <p:nvSpPr>
          <p:cNvPr id="3" name="s524"/>
          <p:cNvSpPr/>
          <p:nvPr/>
        </p:nvSpPr>
        <p:spPr>
          <a:xfrm>
            <a:off x="480060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525"/>
          <p:cNvSpPr/>
          <p:nvPr/>
        </p:nvSpPr>
        <p:spPr>
          <a:xfrm>
            <a:off x="690372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s526"/>
          <p:cNvSpPr/>
          <p:nvPr/>
        </p:nvSpPr>
        <p:spPr>
          <a:xfrm>
            <a:off x="4480560" y="4462272"/>
            <a:ext cx="3291840" cy="548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s527"/>
          <p:cNvSpPr/>
          <p:nvPr/>
        </p:nvSpPr>
        <p:spPr>
          <a:xfrm>
            <a:off x="477316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528"/>
          <p:cNvSpPr/>
          <p:nvPr/>
        </p:nvSpPr>
        <p:spPr>
          <a:xfrm>
            <a:off x="724204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529"/>
          <p:cNvSpPr/>
          <p:nvPr/>
        </p:nvSpPr>
        <p:spPr>
          <a:xfrm>
            <a:off x="445312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s530"/>
          <p:cNvSpPr/>
          <p:nvPr/>
        </p:nvSpPr>
        <p:spPr>
          <a:xfrm>
            <a:off x="760780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531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532"/>
          <p:cNvSpPr/>
          <p:nvPr/>
        </p:nvSpPr>
        <p:spPr>
          <a:xfrm>
            <a:off x="4667098" y="2585923"/>
            <a:ext cx="691286" cy="1320394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s533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534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535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536"/>
          <p:cNvSpPr/>
          <p:nvPr/>
        </p:nvSpPr>
        <p:spPr>
          <a:xfrm>
            <a:off x="6318504" y="2690165"/>
            <a:ext cx="91440" cy="416966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6" name="s537"/>
          <p:cNvSpPr/>
          <p:nvPr/>
        </p:nvSpPr>
        <p:spPr>
          <a:xfrm>
            <a:off x="6971386" y="3211373"/>
            <a:ext cx="91440" cy="34747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s538"/>
          <p:cNvSpPr/>
          <p:nvPr/>
        </p:nvSpPr>
        <p:spPr>
          <a:xfrm>
            <a:off x="5819242" y="3524098"/>
            <a:ext cx="91440" cy="277978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t539"/>
          <p:cNvSpPr txBox="1"/>
          <p:nvPr/>
        </p:nvSpPr>
        <p:spPr>
          <a:xfrm>
            <a:off x="4023360" y="45537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vessel – temperature-limited</a:t>
            </a:r>
            <a:endParaRPr lang="en-US" sz="1100" dirty="0"/>
          </a:p>
        </p:txBody>
      </p:sp>
      <p:sp>
        <p:nvSpPr>
          <p:cNvPr id="19" name="t540"/>
          <p:cNvSpPr txBox="1"/>
          <p:nvPr/>
        </p:nvSpPr>
        <p:spPr>
          <a:xfrm>
            <a:off x="4023360" y="4828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steam: lined, coated or low design temperature</a:t>
            </a:r>
            <a:endParaRPr lang="en-US" sz="1100" dirty="0"/>
          </a:p>
        </p:txBody>
      </p:sp>
      <p:sp>
        <p:nvSpPr>
          <p:cNvPr id="20" name="s541"/>
          <p:cNvSpPr/>
          <p:nvPr/>
        </p:nvSpPr>
        <p:spPr>
          <a:xfrm flipV="1">
            <a:off x="7315200" y="14630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1" name="t542"/>
          <p:cNvSpPr txBox="1"/>
          <p:nvPr/>
        </p:nvSpPr>
        <p:spPr>
          <a:xfrm>
            <a:off x="5394960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flare / closed vent</a:t>
            </a:r>
            <a:endParaRPr lang="en-US" sz="1100" dirty="0"/>
          </a:p>
        </p:txBody>
      </p:sp>
      <p:sp>
        <p:nvSpPr>
          <p:cNvPr id="22" name="s543"/>
          <p:cNvSpPr/>
          <p:nvPr/>
        </p:nvSpPr>
        <p:spPr>
          <a:xfrm>
            <a:off x="731520" y="3291840"/>
            <a:ext cx="1280160" cy="1280160"/>
          </a:xfrm>
          <a:prstGeom prst="roundRect">
            <a:avLst>
              <a:gd name="adj" fmla="val 10714"/>
            </a:avLst>
          </a:prstGeom>
          <a:solidFill>
            <a:srgbClr val="EAF6EC"/>
          </a:solidFill>
          <a:ln w="190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t544"/>
          <p:cNvSpPr txBox="1"/>
          <p:nvPr/>
        </p:nvSpPr>
        <p:spPr>
          <a:xfrm>
            <a:off x="5486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tank</a:t>
            </a:r>
            <a:endParaRPr lang="en-US" sz="1100" dirty="0"/>
          </a:p>
        </p:txBody>
      </p:sp>
      <p:sp>
        <p:nvSpPr>
          <p:cNvPr id="24" name="s545"/>
          <p:cNvSpPr/>
          <p:nvPr/>
        </p:nvSpPr>
        <p:spPr>
          <a:xfrm>
            <a:off x="2743200" y="498348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t546"/>
          <p:cNvSpPr txBox="1"/>
          <p:nvPr/>
        </p:nvSpPr>
        <p:spPr>
          <a:xfrm>
            <a:off x="2514600" y="5413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skid</a:t>
            </a:r>
            <a:endParaRPr lang="en-US" sz="1000" dirty="0"/>
          </a:p>
        </p:txBody>
      </p:sp>
      <p:sp>
        <p:nvSpPr>
          <p:cNvPr id="26" name="s547"/>
          <p:cNvSpPr/>
          <p:nvPr/>
        </p:nvSpPr>
        <p:spPr>
          <a:xfrm>
            <a:off x="1371600" y="4572000"/>
            <a:ext cx="0" cy="6126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548"/>
          <p:cNvSpPr/>
          <p:nvPr/>
        </p:nvSpPr>
        <p:spPr>
          <a:xfrm>
            <a:off x="137160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549"/>
          <p:cNvSpPr/>
          <p:nvPr/>
        </p:nvSpPr>
        <p:spPr>
          <a:xfrm>
            <a:off x="315468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550"/>
          <p:cNvSpPr/>
          <p:nvPr/>
        </p:nvSpPr>
        <p:spPr>
          <a:xfrm flipV="1">
            <a:off x="4526280" y="4114800"/>
            <a:ext cx="0" cy="10698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0" name="s551"/>
          <p:cNvSpPr/>
          <p:nvPr/>
        </p:nvSpPr>
        <p:spPr>
          <a:xfrm flipV="1">
            <a:off x="4846320" y="2011680"/>
            <a:ext cx="0" cy="1828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552"/>
          <p:cNvSpPr/>
          <p:nvPr/>
        </p:nvSpPr>
        <p:spPr>
          <a:xfrm flipH="1">
            <a:off x="1371600" y="2011680"/>
            <a:ext cx="34747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553"/>
          <p:cNvSpPr/>
          <p:nvPr/>
        </p:nvSpPr>
        <p:spPr>
          <a:xfrm>
            <a:off x="1371600" y="2011680"/>
            <a:ext cx="0" cy="128016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3" name="s554"/>
          <p:cNvSpPr/>
          <p:nvPr/>
        </p:nvSpPr>
        <p:spPr>
          <a:xfrm>
            <a:off x="8412480" y="1417320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t555"/>
          <p:cNvSpPr txBox="1"/>
          <p:nvPr/>
        </p:nvSpPr>
        <p:spPr>
          <a:xfrm>
            <a:off x="8595360" y="1527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RETURN-LINE MONITORING</a:t>
            </a:r>
            <a:endParaRPr lang="en-US" sz="1200" dirty="0"/>
          </a:p>
        </p:txBody>
      </p:sp>
      <p:sp>
        <p:nvSpPr>
          <p:cNvPr id="35" name="t556"/>
          <p:cNvSpPr txBox="1"/>
          <p:nvPr/>
        </p:nvSpPr>
        <p:spPr>
          <a:xfrm>
            <a:off x="859536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36" name="t557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97" name="dec97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Decreasing ↓</a:t>
            </a:r>
            <a:endParaRPr lang="en-US" sz="1300" dirty="0"/>
          </a:p>
        </p:txBody>
      </p:sp>
      <p:sp>
        <p:nvSpPr>
          <p:cNvPr id="37" name="t558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✓</a:t>
            </a:r>
            <a:endParaRPr lang="en-US" sz="1300" dirty="0"/>
          </a:p>
        </p:txBody>
      </p:sp>
      <p:sp>
        <p:nvSpPr>
          <p:cNvPr id="38" name="t559"/>
          <p:cNvSpPr txBox="1"/>
          <p:nvPr/>
        </p:nvSpPr>
        <p:spPr>
          <a:xfrm>
            <a:off x="85953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400" dirty="0"/>
          </a:p>
        </p:txBody>
      </p:sp>
      <p:sp>
        <p:nvSpPr>
          <p:cNvPr id="39" name="t560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Off-spec</a:t>
            </a:r>
            <a:endParaRPr lang="en-US" sz="1300" dirty="0"/>
          </a:p>
        </p:txBody>
      </p:sp>
      <p:sp>
        <p:nvSpPr>
          <p:cNvPr id="40" name="t561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✓</a:t>
            </a:r>
            <a:endParaRPr lang="en-US" sz="1300" dirty="0"/>
          </a:p>
        </p:txBody>
      </p:sp>
      <p:sp>
        <p:nvSpPr>
          <p:cNvPr id="41" name="t562"/>
          <p:cNvSpPr txBox="1"/>
          <p:nvPr/>
        </p:nvSpPr>
        <p:spPr>
          <a:xfrm>
            <a:off x="859536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(Fe)</a:t>
            </a:r>
            <a:endParaRPr lang="en-US" sz="1400" dirty="0"/>
          </a:p>
        </p:txBody>
      </p:sp>
      <p:sp>
        <p:nvSpPr>
          <p:cNvPr id="42" name="t563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endParaRPr lang="en-US" sz="1300" dirty="0"/>
          </a:p>
        </p:txBody>
      </p:sp>
      <p:sp>
        <p:nvSpPr>
          <p:cNvPr id="43" name="t564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✓</a:t>
            </a:r>
            <a:endParaRPr lang="en-US" sz="1300" dirty="0"/>
          </a:p>
        </p:txBody>
      </p:sp>
      <p:sp>
        <p:nvSpPr>
          <p:cNvPr id="44" name="t565"/>
          <p:cNvSpPr txBox="1"/>
          <p:nvPr/>
        </p:nvSpPr>
        <p:spPr>
          <a:xfrm>
            <a:off x="859536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</a:t>
            </a:r>
            <a:endParaRPr lang="en-US" sz="1400" dirty="0"/>
          </a:p>
        </p:txBody>
      </p:sp>
      <p:sp>
        <p:nvSpPr>
          <p:cNvPr id="45" name="t566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limit</a:t>
            </a:r>
            <a:endParaRPr lang="en-US" sz="1300" dirty="0"/>
          </a:p>
        </p:txBody>
      </p:sp>
      <p:sp>
        <p:nvSpPr>
          <p:cNvPr id="98" name="dec98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Decreasing ↓</a:t>
            </a:r>
            <a:endParaRPr lang="en-US" sz="1300" dirty="0"/>
          </a:p>
        </p:txBody>
      </p:sp>
      <p:sp>
        <p:nvSpPr>
          <p:cNvPr id="46" name="t567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300" dirty="0"/>
          </a:p>
        </p:txBody>
      </p:sp>
      <p:sp>
        <p:nvSpPr>
          <p:cNvPr id="47" name="s568"/>
          <p:cNvSpPr/>
          <p:nvPr/>
        </p:nvSpPr>
        <p:spPr>
          <a:xfrm>
            <a:off x="7680960" y="411480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s569"/>
          <p:cNvSpPr/>
          <p:nvPr/>
        </p:nvSpPr>
        <p:spPr>
          <a:xfrm>
            <a:off x="7680960" y="4343400"/>
            <a:ext cx="2331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9" name="s570"/>
          <p:cNvSpPr/>
          <p:nvPr/>
        </p:nvSpPr>
        <p:spPr>
          <a:xfrm>
            <a:off x="10012680" y="39319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0" name="s571"/>
          <p:cNvSpPr/>
          <p:nvPr/>
        </p:nvSpPr>
        <p:spPr>
          <a:xfrm>
            <a:off x="10058400" y="46634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s572"/>
          <p:cNvSpPr/>
          <p:nvPr/>
        </p:nvSpPr>
        <p:spPr>
          <a:xfrm>
            <a:off x="10058400" y="42976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2" name="t573"/>
          <p:cNvSpPr txBox="1"/>
          <p:nvPr/>
        </p:nvSpPr>
        <p:spPr>
          <a:xfrm>
            <a:off x="9646920" y="5010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3" name="s574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4" name="t57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Temperature-limited vessels (lined, coated, low design temperature) cannot be steamed.</a:t>
            </a:r>
            <a:endParaRPr lang="en-US" sz="1400" dirty="0"/>
          </a:p>
        </p:txBody>
      </p:sp>
      <p:sp>
        <p:nvSpPr>
          <p:cNvPr id="55" name="t57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temporary circulation skid is set up: mixing tank and pump, hosed to the equipment.</a:t>
            </a:r>
            <a:endParaRPr lang="en-US" sz="1400" dirty="0"/>
          </a:p>
        </p:txBody>
      </p:sp>
      <p:sp>
        <p:nvSpPr>
          <p:cNvPr id="56" name="t57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solution is circulated continuously through the equipment and back to the mixing tank.</a:t>
            </a:r>
            <a:endParaRPr lang="en-US" sz="1400" dirty="0"/>
          </a:p>
        </p:txBody>
      </p:sp>
      <p:sp>
        <p:nvSpPr>
          <p:cNvPr id="57" name="t57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 compounds and FeS is oxidised; LEL / benzene vapours are vented to the flare.</a:t>
            </a:r>
            <a:endParaRPr lang="en-US" sz="1400" dirty="0"/>
          </a:p>
        </p:txBody>
      </p:sp>
      <p:sp>
        <p:nvSpPr>
          <p:cNvPr id="58" name="t57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return line is monitored until H₂S is low, pH is neutral and the iron level is stable.</a:t>
            </a:r>
            <a:endParaRPr lang="en-US" sz="1400" dirty="0"/>
          </a:p>
        </p:txBody>
      </p:sp>
      <p:sp>
        <p:nvSpPr>
          <p:cNvPr id="59" name="t58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solution is drained to the effluent tank and a neutralising rinse follows.</a:t>
            </a:r>
            <a:endParaRPr lang="en-US" sz="1400" dirty="0"/>
          </a:p>
        </p:txBody>
      </p:sp>
      <p:sp>
        <p:nvSpPr>
          <p:cNvPr id="60" name="t5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61" name="tag582"/>
          <p:cNvSpPr/>
          <p:nvPr/>
        </p:nvSpPr>
        <p:spPr>
          <a:xfrm>
            <a:off x="51206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2" name="tag583"/>
          <p:cNvSpPr/>
          <p:nvPr/>
        </p:nvSpPr>
        <p:spPr>
          <a:xfrm>
            <a:off x="630936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3" name="s584"/>
          <p:cNvSpPr/>
          <p:nvPr/>
        </p:nvSpPr>
        <p:spPr>
          <a:xfrm>
            <a:off x="5605272" y="3456432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tag585"/>
          <p:cNvSpPr/>
          <p:nvPr/>
        </p:nvSpPr>
        <p:spPr>
          <a:xfrm>
            <a:off x="5669280" y="35204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5" name="tag586"/>
          <p:cNvSpPr/>
          <p:nvPr/>
        </p:nvSpPr>
        <p:spPr>
          <a:xfrm>
            <a:off x="5029200" y="26060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6" name="tag587"/>
          <p:cNvSpPr/>
          <p:nvPr/>
        </p:nvSpPr>
        <p:spPr>
          <a:xfrm>
            <a:off x="5577840" y="35204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7" name="s58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58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59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59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59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59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59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59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59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59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59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59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60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60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60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60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60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60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60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60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60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609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610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611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612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613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614"/>
          <p:cNvSpPr/>
          <p:nvPr/>
        </p:nvSpPr>
        <p:spPr>
          <a:xfrm>
            <a:off x="4513478" y="2468880"/>
            <a:ext cx="3226003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4" name="s615"/>
          <p:cNvSpPr/>
          <p:nvPr/>
        </p:nvSpPr>
        <p:spPr>
          <a:xfrm>
            <a:off x="4572000" y="516636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616"/>
          <p:cNvSpPr txBox="1"/>
          <p:nvPr/>
        </p:nvSpPr>
        <p:spPr>
          <a:xfrm>
            <a:off x="457200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700"/>
                            </p:stCondLst>
                            <p:childTnLst>
                              <p:par>
                                <p:cTn id="5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78" dur="35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85" dur="35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2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8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04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10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16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2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8" dur="4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34" dur="42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40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3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9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65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71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77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83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4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7" dur="3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450 -0.0867 L 0.0450 -0.1800 E" pathEditMode="relative" ptsTypes="AAA">
                                      <p:cBhvr>
                                        <p:cTn id="204" dur="1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21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2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27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3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9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45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51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5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6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79" dur="1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84" dur="1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89" dur="1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3" fill="hold">
                      <p:stCondLst>
                        <p:cond delay="indefinite"/>
                      </p:stCondLst>
                      <p:childTnLst>
                        <p:par>
                          <p:cTn id="294" fill="hold">
                            <p:stCondLst>
                              <p:cond delay="0"/>
                            </p:stCondLst>
                            <p:childTnLst>
                              <p:par>
                                <p:cTn id="2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09" dur="1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15" dur="1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21" dur="1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27" dur="1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33" dur="1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2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1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1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5" fill="hold">
                            <p:stCondLst>
                              <p:cond delay="3100"/>
                            </p:stCondLst>
                            <p:childTnLst>
                              <p:par>
                                <p:cTn id="3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933 E" pathEditMode="relative" ptsTypes="AA">
                                      <p:cBhvr>
                                        <p:cTn id="349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3" fill="hold">
                      <p:stCondLst>
                        <p:cond delay="indefinite"/>
                      </p:stCondLst>
                      <p:childTnLst>
                        <p:par>
                          <p:cTn id="354" fill="hold">
                            <p:stCondLst>
                              <p:cond delay="0"/>
                            </p:stCondLst>
                            <p:childTnLst>
                              <p:par>
                                <p:cTn id="3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4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5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7" fill="hold">
                            <p:stCondLst>
                              <p:cond delay="800"/>
                            </p:stCondLst>
                            <p:childTnLst>
                              <p:par>
                                <p:cTn id="3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8" fill="hold">
                            <p:stCondLst>
                              <p:cond delay="1300"/>
                            </p:stCondLst>
                            <p:childTnLst>
                              <p:par>
                                <p:cTn id="379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0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8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2" dur="400" autoRev="1" fill="hold"/>
                                        <p:tgtEl>
                                          <p:spTgt spid="9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1" animBg="1"/>
      <p:bldP spid="13" grpId="1" animBg="1"/>
      <p:bldP spid="14" grpId="1" animBg="1"/>
      <p:bldP spid="15" grpId="1" animBg="1"/>
      <p:bldP spid="15" grpId="3" animBg="1"/>
      <p:bldP spid="16" grpId="1" animBg="1"/>
      <p:bldP spid="16" grpId="3" animBg="1"/>
      <p:bldP spid="17" grpId="1" animBg="1"/>
      <p:bldP spid="17" grpId="3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6" grpId="1" animBg="1"/>
      <p:bldP spid="37" grpId="0" animBg="1"/>
      <p:bldP spid="39" grpId="1" animBg="1"/>
      <p:bldP spid="40" grpId="0" animBg="1"/>
      <p:bldP spid="42" grpId="1" animBg="1"/>
      <p:bldP spid="43" grpId="0" animBg="1"/>
      <p:bldP spid="45" grpId="1" animBg="1"/>
      <p:bldP spid="46" grpId="0" animBg="1"/>
      <p:bldP spid="50" grpId="0" animBg="1"/>
      <p:bldP spid="51" grpId="0" animBg="1"/>
      <p:bldP spid="53" grpId="0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1" grpId="1" animBg="1"/>
      <p:bldP spid="61" grpId="2" animBg="1"/>
      <p:bldP spid="62" grpId="1" animBg="1"/>
      <p:bldP spid="62" grpId="3" animBg="1"/>
      <p:bldP spid="63" grpId="1" animBg="1"/>
      <p:bldP spid="63" grpId="2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2" animBg="1"/>
      <p:bldP spid="95" grpId="0" animBg="1"/>
      <p:bldP spid="95" grpId="2" animBg="1"/>
      <p:bldP spid="97" grpId="0" animBg="1"/>
      <p:bldP spid="97" grpId="1" animBg="1"/>
      <p:bldP spid="97" grpId="2" animBg="1"/>
      <p:bldP spid="98" grpId="0" animBg="1"/>
      <p:bldP spid="98" grpId="1" animBg="1"/>
      <p:bldP spid="9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pre- &amp; post-treatment – packed columns</a:t>
            </a:r>
            <a:endParaRPr lang="en-US" sz="2800" dirty="0"/>
          </a:p>
        </p:txBody>
      </p:sp>
      <p:sp>
        <p:nvSpPr>
          <p:cNvPr id="3" name="ph0"/>
          <p:cNvSpPr/>
          <p:nvPr/>
        </p:nvSpPr>
        <p:spPr>
          <a:xfrm>
            <a:off x="548640" y="14173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4" name="tag617"/>
          <p:cNvSpPr/>
          <p:nvPr/>
        </p:nvSpPr>
        <p:spPr>
          <a:xfrm>
            <a:off x="548640" y="141732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5" name="ph1"/>
          <p:cNvSpPr/>
          <p:nvPr/>
        </p:nvSpPr>
        <p:spPr>
          <a:xfrm>
            <a:off x="548640" y="1856232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6" name="tag618"/>
          <p:cNvSpPr/>
          <p:nvPr/>
        </p:nvSpPr>
        <p:spPr>
          <a:xfrm>
            <a:off x="548640" y="1856232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7" name="ph2"/>
          <p:cNvSpPr/>
          <p:nvPr/>
        </p:nvSpPr>
        <p:spPr>
          <a:xfrm>
            <a:off x="548640" y="2295144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8" name="tag619"/>
          <p:cNvSpPr/>
          <p:nvPr/>
        </p:nvSpPr>
        <p:spPr>
          <a:xfrm>
            <a:off x="548640" y="2295144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9" name="s620"/>
          <p:cNvSpPr/>
          <p:nvPr/>
        </p:nvSpPr>
        <p:spPr>
          <a:xfrm>
            <a:off x="4937760" y="1691640"/>
            <a:ext cx="1280160" cy="36118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621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622"/>
          <p:cNvSpPr/>
          <p:nvPr/>
        </p:nvSpPr>
        <p:spPr>
          <a:xfrm>
            <a:off x="5029200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623"/>
          <p:cNvSpPr/>
          <p:nvPr/>
        </p:nvSpPr>
        <p:spPr>
          <a:xfrm>
            <a:off x="5248656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624"/>
          <p:cNvSpPr/>
          <p:nvPr/>
        </p:nvSpPr>
        <p:spPr>
          <a:xfrm>
            <a:off x="5468112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625"/>
          <p:cNvSpPr/>
          <p:nvPr/>
        </p:nvSpPr>
        <p:spPr>
          <a:xfrm>
            <a:off x="5687568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626"/>
          <p:cNvSpPr/>
          <p:nvPr/>
        </p:nvSpPr>
        <p:spPr>
          <a:xfrm>
            <a:off x="5907024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627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628"/>
          <p:cNvSpPr/>
          <p:nvPr/>
        </p:nvSpPr>
        <p:spPr>
          <a:xfrm>
            <a:off x="4974336" y="206654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629"/>
          <p:cNvSpPr/>
          <p:nvPr/>
        </p:nvSpPr>
        <p:spPr>
          <a:xfrm>
            <a:off x="4956048" y="205740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s630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631"/>
          <p:cNvSpPr/>
          <p:nvPr/>
        </p:nvSpPr>
        <p:spPr>
          <a:xfrm>
            <a:off x="5029200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632"/>
          <p:cNvSpPr/>
          <p:nvPr/>
        </p:nvSpPr>
        <p:spPr>
          <a:xfrm>
            <a:off x="5248656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633"/>
          <p:cNvSpPr/>
          <p:nvPr/>
        </p:nvSpPr>
        <p:spPr>
          <a:xfrm>
            <a:off x="5468112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634"/>
          <p:cNvSpPr/>
          <p:nvPr/>
        </p:nvSpPr>
        <p:spPr>
          <a:xfrm>
            <a:off x="5687568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635"/>
          <p:cNvSpPr/>
          <p:nvPr/>
        </p:nvSpPr>
        <p:spPr>
          <a:xfrm>
            <a:off x="5907024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s636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637"/>
          <p:cNvSpPr/>
          <p:nvPr/>
        </p:nvSpPr>
        <p:spPr>
          <a:xfrm>
            <a:off x="4974336" y="302666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638"/>
          <p:cNvSpPr/>
          <p:nvPr/>
        </p:nvSpPr>
        <p:spPr>
          <a:xfrm>
            <a:off x="4956048" y="301752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639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640"/>
          <p:cNvSpPr/>
          <p:nvPr/>
        </p:nvSpPr>
        <p:spPr>
          <a:xfrm>
            <a:off x="5029200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641"/>
          <p:cNvSpPr/>
          <p:nvPr/>
        </p:nvSpPr>
        <p:spPr>
          <a:xfrm>
            <a:off x="5248656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642"/>
          <p:cNvSpPr/>
          <p:nvPr/>
        </p:nvSpPr>
        <p:spPr>
          <a:xfrm>
            <a:off x="5468112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643"/>
          <p:cNvSpPr/>
          <p:nvPr/>
        </p:nvSpPr>
        <p:spPr>
          <a:xfrm>
            <a:off x="5687568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3" name="s644"/>
          <p:cNvSpPr/>
          <p:nvPr/>
        </p:nvSpPr>
        <p:spPr>
          <a:xfrm>
            <a:off x="5907024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645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5" name="s646"/>
          <p:cNvSpPr/>
          <p:nvPr/>
        </p:nvSpPr>
        <p:spPr>
          <a:xfrm>
            <a:off x="4974336" y="398678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s647"/>
          <p:cNvSpPr/>
          <p:nvPr/>
        </p:nvSpPr>
        <p:spPr>
          <a:xfrm>
            <a:off x="4956048" y="397764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7" name="t648"/>
          <p:cNvSpPr txBox="1"/>
          <p:nvPr/>
        </p:nvSpPr>
        <p:spPr>
          <a:xfrm>
            <a:off x="46634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column</a:t>
            </a:r>
            <a:endParaRPr lang="en-US" sz="1100" dirty="0"/>
          </a:p>
        </p:txBody>
      </p:sp>
      <p:sp>
        <p:nvSpPr>
          <p:cNvPr id="38" name="s649"/>
          <p:cNvSpPr/>
          <p:nvPr/>
        </p:nvSpPr>
        <p:spPr>
          <a:xfrm>
            <a:off x="3931920" y="1417320"/>
            <a:ext cx="16459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9" name="s650"/>
          <p:cNvSpPr/>
          <p:nvPr/>
        </p:nvSpPr>
        <p:spPr>
          <a:xfrm>
            <a:off x="5577840" y="1417320"/>
            <a:ext cx="0" cy="27432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0" name="t651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 CHEMISTRY</a:t>
            </a:r>
            <a:endParaRPr lang="en-US" sz="1200" dirty="0"/>
          </a:p>
        </p:txBody>
      </p:sp>
      <p:sp>
        <p:nvSpPr>
          <p:cNvPr id="41" name="t652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OXIDISER SOLUTION</a:t>
            </a:r>
            <a:endParaRPr lang="en-US" sz="1200" dirty="0"/>
          </a:p>
        </p:txBody>
      </p:sp>
      <p:sp>
        <p:nvSpPr>
          <p:cNvPr id="42" name="s653"/>
          <p:cNvSpPr/>
          <p:nvPr/>
        </p:nvSpPr>
        <p:spPr>
          <a:xfrm>
            <a:off x="3840480" y="4846320"/>
            <a:ext cx="109728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3" name="t654"/>
          <p:cNvSpPr txBox="1"/>
          <p:nvPr/>
        </p:nvSpPr>
        <p:spPr>
          <a:xfrm>
            <a:off x="384048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44" name="s655"/>
          <p:cNvSpPr/>
          <p:nvPr/>
        </p:nvSpPr>
        <p:spPr>
          <a:xfrm flipV="1">
            <a:off x="5897880" y="146304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5" name="s656"/>
          <p:cNvSpPr/>
          <p:nvPr/>
        </p:nvSpPr>
        <p:spPr>
          <a:xfrm>
            <a:off x="5897880" y="146304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6" name="s657"/>
          <p:cNvSpPr/>
          <p:nvPr/>
        </p:nvSpPr>
        <p:spPr>
          <a:xfrm>
            <a:off x="8595360" y="1463040"/>
            <a:ext cx="0" cy="6400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658"/>
          <p:cNvSpPr/>
          <p:nvPr/>
        </p:nvSpPr>
        <p:spPr>
          <a:xfrm>
            <a:off x="8595360" y="210312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8" name="s659"/>
          <p:cNvSpPr/>
          <p:nvPr/>
        </p:nvSpPr>
        <p:spPr>
          <a:xfrm>
            <a:off x="8778240" y="173736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9" name="s660"/>
          <p:cNvSpPr/>
          <p:nvPr/>
        </p:nvSpPr>
        <p:spPr>
          <a:xfrm>
            <a:off x="8650224" y="123444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s661"/>
          <p:cNvSpPr/>
          <p:nvPr/>
        </p:nvSpPr>
        <p:spPr>
          <a:xfrm>
            <a:off x="8741664" y="144475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t662"/>
          <p:cNvSpPr txBox="1"/>
          <p:nvPr/>
        </p:nvSpPr>
        <p:spPr>
          <a:xfrm>
            <a:off x="83210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52" name="tag663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3" name="tag664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4" name="tag665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5" name="tag666"/>
          <p:cNvSpPr/>
          <p:nvPr/>
        </p:nvSpPr>
        <p:spPr>
          <a:xfrm>
            <a:off x="6400800" y="22860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6" name="tag667"/>
          <p:cNvSpPr/>
          <p:nvPr/>
        </p:nvSpPr>
        <p:spPr>
          <a:xfrm>
            <a:off x="6400800" y="3246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57" name="tag668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8" name="tag669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9" name="tag670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60" name="s671"/>
          <p:cNvSpPr/>
          <p:nvPr/>
        </p:nvSpPr>
        <p:spPr>
          <a:xfrm>
            <a:off x="6400800" y="4617720"/>
            <a:ext cx="566928" cy="502920"/>
          </a:xfrm>
          <a:prstGeom prst="triangle">
            <a:avLst/>
          </a:prstGeom>
          <a:solidFill>
            <a:srgbClr val="F7C548"/>
          </a:solidFill>
          <a:ln w="1905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1" name="t672"/>
          <p:cNvSpPr txBox="1"/>
          <p:nvPr/>
        </p:nvSpPr>
        <p:spPr>
          <a:xfrm>
            <a:off x="6400800" y="470916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62" name="t673"/>
          <p:cNvSpPr txBox="1"/>
          <p:nvPr/>
        </p:nvSpPr>
        <p:spPr>
          <a:xfrm>
            <a:off x="7086600" y="4572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 left on the packing – ignites in air</a:t>
            </a:r>
            <a:endParaRPr lang="en-US" sz="1300" dirty="0"/>
          </a:p>
        </p:txBody>
      </p:sp>
      <p:sp>
        <p:nvSpPr>
          <p:cNvPr id="63" name="s674"/>
          <p:cNvSpPr/>
          <p:nvPr/>
        </p:nvSpPr>
        <p:spPr>
          <a:xfrm>
            <a:off x="5577840" y="530352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s675"/>
          <p:cNvSpPr/>
          <p:nvPr/>
        </p:nvSpPr>
        <p:spPr>
          <a:xfrm>
            <a:off x="5577840" y="5532120"/>
            <a:ext cx="32004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676"/>
          <p:cNvSpPr/>
          <p:nvPr/>
        </p:nvSpPr>
        <p:spPr>
          <a:xfrm flipV="1">
            <a:off x="8778240" y="5074920"/>
            <a:ext cx="0" cy="4572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677"/>
          <p:cNvSpPr/>
          <p:nvPr/>
        </p:nvSpPr>
        <p:spPr>
          <a:xfrm>
            <a:off x="8778240" y="507492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67" name="s678"/>
          <p:cNvSpPr/>
          <p:nvPr/>
        </p:nvSpPr>
        <p:spPr>
          <a:xfrm>
            <a:off x="9144000" y="4343400"/>
            <a:ext cx="1371600" cy="109728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679"/>
          <p:cNvSpPr/>
          <p:nvPr/>
        </p:nvSpPr>
        <p:spPr>
          <a:xfrm>
            <a:off x="9189720" y="51206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s680"/>
          <p:cNvSpPr/>
          <p:nvPr/>
        </p:nvSpPr>
        <p:spPr>
          <a:xfrm>
            <a:off x="9189720" y="47548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0" name="t681"/>
          <p:cNvSpPr txBox="1"/>
          <p:nvPr/>
        </p:nvSpPr>
        <p:spPr>
          <a:xfrm>
            <a:off x="8778240" y="5468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71" name="s682"/>
          <p:cNvSpPr/>
          <p:nvPr/>
        </p:nvSpPr>
        <p:spPr>
          <a:xfrm>
            <a:off x="548640" y="288036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t683"/>
          <p:cNvSpPr txBox="1"/>
          <p:nvPr/>
        </p:nvSpPr>
        <p:spPr>
          <a:xfrm>
            <a:off x="731520" y="2990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73" name="t684"/>
          <p:cNvSpPr txBox="1"/>
          <p:nvPr/>
        </p:nvSpPr>
        <p:spPr>
          <a:xfrm>
            <a:off x="731520" y="3383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74" name="t685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1" name="dec131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75" name="t686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6" name="t687"/>
          <p:cNvSpPr txBox="1"/>
          <p:nvPr/>
        </p:nvSpPr>
        <p:spPr>
          <a:xfrm>
            <a:off x="731520" y="37947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77" name="t688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2" name="dec132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78" name="t689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9" name="t690"/>
          <p:cNvSpPr txBox="1"/>
          <p:nvPr/>
        </p:nvSpPr>
        <p:spPr>
          <a:xfrm>
            <a:off x="731520" y="42062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80" name="t691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3" name="dec133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81" name="t692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134" name="n134"/>
          <p:cNvSpPr/>
          <p:nvPr/>
        </p:nvSpPr>
        <p:spPr>
          <a:xfrm>
            <a:off x="6583680" y="129844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5" name="n135"/>
          <p:cNvSpPr/>
          <p:nvPr/>
        </p:nvSpPr>
        <p:spPr>
          <a:xfrm>
            <a:off x="6731813" y="1397203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6" name="n136"/>
          <p:cNvSpPr/>
          <p:nvPr/>
        </p:nvSpPr>
        <p:spPr>
          <a:xfrm>
            <a:off x="6731813" y="1463040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7" name="n137"/>
          <p:cNvSpPr/>
          <p:nvPr/>
        </p:nvSpPr>
        <p:spPr>
          <a:xfrm>
            <a:off x="6731813" y="1528877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8" name="n138"/>
          <p:cNvSpPr txBox="1"/>
          <p:nvPr/>
        </p:nvSpPr>
        <p:spPr>
          <a:xfrm>
            <a:off x="6309360" y="1051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39" name="n139"/>
          <p:cNvSpPr/>
          <p:nvPr/>
        </p:nvSpPr>
        <p:spPr>
          <a:xfrm>
            <a:off x="7315200" y="1463040"/>
            <a:ext cx="2743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0" name="n140"/>
          <p:cNvSpPr/>
          <p:nvPr/>
        </p:nvSpPr>
        <p:spPr>
          <a:xfrm>
            <a:off x="7589520" y="146304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41" name="n141"/>
          <p:cNvSpPr/>
          <p:nvPr/>
        </p:nvSpPr>
        <p:spPr>
          <a:xfrm>
            <a:off x="69494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2" name="n142"/>
          <p:cNvSpPr/>
          <p:nvPr/>
        </p:nvSpPr>
        <p:spPr>
          <a:xfrm>
            <a:off x="7004304" y="1994306"/>
            <a:ext cx="1078992" cy="145938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43" name="n143"/>
          <p:cNvSpPr txBox="1"/>
          <p:nvPr/>
        </p:nvSpPr>
        <p:spPr>
          <a:xfrm>
            <a:off x="6263640" y="181051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44" name="n144"/>
          <p:cNvSpPr/>
          <p:nvPr/>
        </p:nvSpPr>
        <p:spPr>
          <a:xfrm flipV="1">
            <a:off x="7909560" y="1463040"/>
            <a:ext cx="0" cy="338328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5" name="n145"/>
          <p:cNvSpPr/>
          <p:nvPr/>
        </p:nvSpPr>
        <p:spPr>
          <a:xfrm>
            <a:off x="7909560" y="146304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6" name="n146"/>
          <p:cNvSpPr/>
          <p:nvPr/>
        </p:nvSpPr>
        <p:spPr>
          <a:xfrm>
            <a:off x="8138160" y="1975104"/>
            <a:ext cx="128016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7" name="n147"/>
          <p:cNvSpPr/>
          <p:nvPr/>
        </p:nvSpPr>
        <p:spPr>
          <a:xfrm>
            <a:off x="8266176" y="1975104"/>
            <a:ext cx="0" cy="213969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8" name="n148"/>
          <p:cNvSpPr/>
          <p:nvPr/>
        </p:nvSpPr>
        <p:spPr>
          <a:xfrm>
            <a:off x="8266176" y="4114800"/>
            <a:ext cx="156362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9" name="n149"/>
          <p:cNvSpPr/>
          <p:nvPr/>
        </p:nvSpPr>
        <p:spPr>
          <a:xfrm>
            <a:off x="9829800" y="411480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0" name="n150"/>
          <p:cNvSpPr/>
          <p:nvPr/>
        </p:nvSpPr>
        <p:spPr>
          <a:xfrm>
            <a:off x="3794760" y="502920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51" name="n151"/>
          <p:cNvSpPr/>
          <p:nvPr/>
        </p:nvSpPr>
        <p:spPr>
          <a:xfrm>
            <a:off x="3967582" y="514441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2" name="n152"/>
          <p:cNvSpPr/>
          <p:nvPr/>
        </p:nvSpPr>
        <p:spPr>
          <a:xfrm>
            <a:off x="3967582" y="522122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3" name="n153"/>
          <p:cNvSpPr/>
          <p:nvPr/>
        </p:nvSpPr>
        <p:spPr>
          <a:xfrm>
            <a:off x="3967582" y="529803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4" name="n154"/>
          <p:cNvSpPr txBox="1"/>
          <p:nvPr/>
        </p:nvSpPr>
        <p:spPr>
          <a:xfrm>
            <a:off x="3794760" y="5422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55" name="n155"/>
          <p:cNvSpPr/>
          <p:nvPr/>
        </p:nvSpPr>
        <p:spPr>
          <a:xfrm>
            <a:off x="4754880" y="5138928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6" name="n156"/>
          <p:cNvSpPr/>
          <p:nvPr/>
        </p:nvSpPr>
        <p:spPr>
          <a:xfrm>
            <a:off x="5257800" y="5230368"/>
            <a:ext cx="0" cy="109728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7" name="n157"/>
          <p:cNvSpPr/>
          <p:nvPr/>
        </p:nvSpPr>
        <p:spPr>
          <a:xfrm flipH="1">
            <a:off x="4754880" y="5340096"/>
            <a:ext cx="5029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8" name="n158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59" name="n159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0" name="n160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1" name="n161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2" name="n162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3" name="n163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4" name="n164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82" name="s69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3" name="t69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Packed beds hold hydrocarbon film and pyrophoric iron sulphide deep inside the packing geometry.</a:t>
            </a:r>
            <a:endParaRPr lang="en-US" sz="1400" dirty="0"/>
          </a:p>
        </p:txBody>
      </p:sp>
      <p:sp>
        <p:nvSpPr>
          <p:cNvPr id="84" name="t69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PRE-TREATMENT: decon chemistry is fed from the top and coats every surface of the packing.</a:t>
            </a:r>
            <a:endParaRPr lang="en-US" sz="1400" dirty="0"/>
          </a:p>
        </p:txBody>
      </p:sp>
      <p:sp>
        <p:nvSpPr>
          <p:cNvPr id="85" name="t69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With the packing pre-wetted, the vapour-phase that follows reaches deep into every bed.</a:t>
            </a:r>
            <a:endParaRPr lang="en-US" sz="1400" dirty="0"/>
          </a:p>
        </p:txBody>
      </p:sp>
      <p:sp>
        <p:nvSpPr>
          <p:cNvPr id="86" name="t69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VAPOUR-PHASE: steam carries the chemistry up through the beds – LEL and benzene go to flare.</a:t>
            </a:r>
            <a:endParaRPr lang="en-US" sz="1400" dirty="0"/>
          </a:p>
        </p:txBody>
      </p:sp>
      <p:sp>
        <p:nvSpPr>
          <p:cNvPr id="87" name="t69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can remain on the packing – it would self-heat once the column is opened.</a:t>
            </a:r>
            <a:endParaRPr lang="en-US" sz="1400" dirty="0"/>
          </a:p>
        </p:txBody>
      </p:sp>
      <p:sp>
        <p:nvSpPr>
          <p:cNvPr id="88" name="t69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POST-TREATMENT: an oxidiser wash trickles through each bed – FeS becomes stable iron oxide.</a:t>
            </a:r>
            <a:endParaRPr lang="en-US" sz="1400" dirty="0"/>
          </a:p>
        </p:txBody>
      </p:sp>
      <p:sp>
        <p:nvSpPr>
          <p:cNvPr id="89" name="t70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spent wash drains to the effluent tank.</a:t>
            </a:r>
            <a:endParaRPr lang="en-US" sz="1400" dirty="0"/>
          </a:p>
        </p:txBody>
      </p:sp>
      <p:sp>
        <p:nvSpPr>
          <p:cNvPr id="90" name="t70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pass – the column is safe to open and the packing safe to unload.</a:t>
            </a:r>
            <a:endParaRPr lang="en-US" sz="1400" dirty="0"/>
          </a:p>
        </p:txBody>
      </p:sp>
      <p:sp>
        <p:nvSpPr>
          <p:cNvPr id="91" name="s702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703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704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705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706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707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708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709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710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711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712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713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714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715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716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717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718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719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720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721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722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723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724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725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726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727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728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729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730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731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732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733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734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735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5" name="s736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6" name="s737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s738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8" name="s739"/>
          <p:cNvSpPr/>
          <p:nvPr/>
        </p:nvSpPr>
        <p:spPr>
          <a:xfrm>
            <a:off x="548640" y="484632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9" name="t740"/>
          <p:cNvSpPr txBox="1"/>
          <p:nvPr/>
        </p:nvSpPr>
        <p:spPr>
          <a:xfrm>
            <a:off x="548640" y="4846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SAFE TO OPEN &amp; UNLOAD</a:t>
            </a:r>
            <a:endParaRPr lang="en-US" sz="1500" dirty="0"/>
          </a:p>
        </p:txBody>
      </p:sp>
      <p:sp>
        <p:nvSpPr>
          <p:cNvPr id="1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7" dur="350" autoRev="1" fill="hold"/>
                                        <p:tgtEl>
                                          <p:spTgt spid="131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34" dur="350" autoRev="1" fill="hold"/>
                                        <p:tgtEl>
                                          <p:spTgt spid="13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41" dur="350" autoRev="1" fill="hold"/>
                                        <p:tgtEl>
                                          <p:spTgt spid="13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0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1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6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3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2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5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8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37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17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4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9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0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6" dur="22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442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02" dur="22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08" dur="22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48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grpId="3" nodeType="withEffect">
                                  <p:stCondLst>
                                    <p:cond delay="28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14" dur="22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50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9" dur="4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0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1" dur="4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3" dur="4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61" dur="16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67" dur="16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73" dur="16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20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79" dur="13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3" nodeType="withEffect">
                                  <p:stCondLst>
                                    <p:cond delay="355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85" dur="13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485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91" dur="13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grpId="0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0" presetClass="path" presetSubtype="0" fill="hold" grpId="3" nodeType="withEffect">
                                  <p:stCondLst>
                                    <p:cond delay="425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97" dur="13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0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0" dur="18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1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6" dur="18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42" dur="18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48" dur="18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9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54" dur="18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60" dur="18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66" dur="18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72" dur="18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3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78" dur="18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9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84" dur="1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90" dur="1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1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96" dur="18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0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22" presetClass="entr" presetSubtype="8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6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-0.0900 -0.1440 L 0.0488 -0.1440 L 0.0488 -0.0693 L 0.0750 -0.0693 L 0.0750 -0.1440 L 0.1313 -0.1440 L 0.1313 -0.0507 L 0.1538 -0.0507 E" pathEditMode="relative" ptsTypes="AAAAAAAAA">
                                      <p:cBhvr>
                                        <p:cTn id="318" dur="1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9" presetID="10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-0.0900 -0.2840 L 0.0488 -0.2840 L 0.0488 -0.2093 L 0.0750 -0.2093 L 0.0750 -0.2840 L 0.1313 -0.2840 L 0.1313 -0.1907 L 0.1538 -0.1907 E" pathEditMode="relative" ptsTypes="AAAAAAAAA">
                                      <p:cBhvr>
                                        <p:cTn id="323" dur="1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328" dur="35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329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330" dur="350" autoRev="1" fill="hold"/>
                                        <p:tgtEl>
                                          <p:spTgt spid="50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331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2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4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53" presetClass="entr" presetSubtype="16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3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4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5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" presetClass="exit" presetSubtype="0" fill="hold" grpId="1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53" presetClass="entr" presetSubtype="1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0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1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2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" presetClass="exit" presetSubtype="0" fill="hold" grpId="1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53" presetClass="entr" presetSubtype="16" fill="hold" grpId="0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7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8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0" fill="hold">
                      <p:stCondLst>
                        <p:cond delay="indefinite"/>
                      </p:stCondLst>
                      <p:childTnLst>
                        <p:par>
                          <p:cTn id="371" fill="hold">
                            <p:stCondLst>
                              <p:cond delay="0"/>
                            </p:stCondLst>
                            <p:childTnLst>
                              <p:par>
                                <p:cTn id="37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6" fill="hold">
                            <p:stCondLst>
                              <p:cond delay="500"/>
                            </p:stCondLst>
                            <p:childTnLst>
                              <p:par>
                                <p:cTn id="387" presetID="6" presetClass="emph" presetSubtype="0" repeatCount="3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4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89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0" dur="4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91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2" dur="4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9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5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6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8" fill="hold">
                      <p:stCondLst>
                        <p:cond delay="indefinite"/>
                      </p:stCondLst>
                      <p:childTnLst>
                        <p:par>
                          <p:cTn id="409" fill="hold">
                            <p:stCondLst>
                              <p:cond delay="0"/>
                            </p:stCondLst>
                            <p:childTnLst>
                              <p:par>
                                <p:cTn id="4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27" dur="22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8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0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33" dur="22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4" presetID="1" presetClass="exit" presetSubtype="0" fill="hold" grpId="1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8" presetID="0" presetClass="path" presetSubtype="0" fill="hold" grpId="3" nodeType="withEffect">
                                  <p:stCondLst>
                                    <p:cond delay="8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39" dur="22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0" presetID="1" presetClass="exit" presetSubtype="0" fill="hold" grpId="1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0" presetClass="path" presetSubtype="0" fill="hold" grpId="3" nodeType="withEffect">
                                  <p:stCondLst>
                                    <p:cond delay="10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45" dur="22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6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0" presetClass="path" presetSubtype="0" fill="hold" grpId="3" nodeType="withEffect">
                                  <p:stCondLst>
                                    <p:cond delay="12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1" dur="22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2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7" dur="22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0" presetClass="path" presetSubtype="0" fill="hold" grpId="3" nodeType="withEffect">
                                  <p:stCondLst>
                                    <p:cond delay="17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63" dur="22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4" presetID="1" presetClass="exit" presetSubtype="0" fill="hold" grpId="1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3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69" dur="22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1" presetClass="exit" presetSubtype="0" fill="hold" grpId="1" nodeType="withEffect">
                                  <p:stCondLst>
                                    <p:cond delay="414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75" dur="22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" presetClass="exit" presetSubtype="0" fill="hold" grpId="1" nodeType="withEffect">
                                  <p:stCondLst>
                                    <p:cond delay="436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81" dur="22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2" presetID="1" presetClass="exit" presetSubtype="0" fill="hold" grpId="1" nodeType="withEffect">
                                  <p:stCondLst>
                                    <p:cond delay="458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9" presetID="10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2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7" fill="hold">
                      <p:stCondLst>
                        <p:cond delay="indefinite"/>
                      </p:stCondLst>
                      <p:childTnLst>
                        <p:par>
                          <p:cTn id="518" fill="hold">
                            <p:stCondLst>
                              <p:cond delay="0"/>
                            </p:stCondLst>
                            <p:childTnLst>
                              <p:par>
                                <p:cTn id="5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36" dur="18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7" presetID="1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9" presetID="1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0" presetClass="path" presetSubtype="0" fill="hold" grpId="3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42" dur="18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3" presetID="1" presetClass="exit" presetSubtype="0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48" dur="18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9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1" presetID="1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0" presetClass="path" presetSubtype="0" fill="hold" grpId="3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54" dur="18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5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60" dur="18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1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3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5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8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9" fill="hold">
                      <p:stCondLst>
                        <p:cond delay="indefinite"/>
                      </p:stCondLst>
                      <p:childTnLst>
                        <p:par>
                          <p:cTn id="570" fill="hold">
                            <p:stCondLst>
                              <p:cond delay="0"/>
                            </p:stCondLst>
                            <p:childTnLst>
                              <p:par>
                                <p:cTn id="57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6" fill="hold">
                            <p:stCondLst>
                              <p:cond delay="500"/>
                            </p:stCondLst>
                            <p:childTnLst>
                              <p:par>
                                <p:cTn id="57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9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0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1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4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5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6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8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89" dur="40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90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1" dur="40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8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8" grpId="2" animBg="1"/>
      <p:bldP spid="25" grpId="1" animBg="1"/>
      <p:bldP spid="25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38" grpId="0" animBg="1"/>
      <p:bldP spid="39" grpId="0" animBg="1"/>
      <p:bldP spid="40" grpId="0" animBg="1"/>
      <p:bldP spid="40" grpId="1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2" animBg="1"/>
      <p:bldP spid="50" grpId="2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5" grpId="3" animBg="1"/>
      <p:bldP spid="56" grpId="0" animBg="1"/>
      <p:bldP spid="56" grpId="1" animBg="1"/>
      <p:bldP spid="56" grpId="3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8" grpId="0" animBg="1"/>
      <p:bldP spid="69" grpId="0" animBg="1"/>
      <p:bldP spid="74" grpId="1" animBg="1"/>
      <p:bldP spid="75" grpId="0" animBg="1"/>
      <p:bldP spid="77" grpId="1" animBg="1"/>
      <p:bldP spid="78" grpId="0" animBg="1"/>
      <p:bldP spid="80" grpId="1" animBg="1"/>
      <p:bldP spid="81" grpId="0" animBg="1"/>
      <p:bldP spid="82" grpId="0" animBg="1"/>
      <p:bldP spid="83" grpId="0" animBg="1"/>
      <p:bldP spid="83" grpId="1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1" animBg="1"/>
      <p:bldP spid="110" grpId="3" animBg="1"/>
      <p:bldP spid="111" grpId="0" animBg="1"/>
      <p:bldP spid="111" grpId="1" animBg="1"/>
      <p:bldP spid="111" grpId="3" animBg="1"/>
      <p:bldP spid="112" grpId="0" animBg="1"/>
      <p:bldP spid="112" grpId="1" animBg="1"/>
      <p:bldP spid="112" grpId="3" animBg="1"/>
      <p:bldP spid="113" grpId="0" animBg="1"/>
      <p:bldP spid="113" grpId="1" animBg="1"/>
      <p:bldP spid="113" grpId="3" animBg="1"/>
      <p:bldP spid="114" grpId="0" animBg="1"/>
      <p:bldP spid="114" grpId="1" animBg="1"/>
      <p:bldP spid="114" grpId="3" animBg="1"/>
      <p:bldP spid="115" grpId="0" animBg="1"/>
      <p:bldP spid="115" grpId="1" animBg="1"/>
      <p:bldP spid="115" grpId="3" animBg="1"/>
      <p:bldP spid="116" grpId="0" animBg="1"/>
      <p:bldP spid="116" grpId="1" animBg="1"/>
      <p:bldP spid="116" grpId="3" animBg="1"/>
      <p:bldP spid="117" grpId="0" animBg="1"/>
      <p:bldP spid="117" grpId="1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  <p:bldP spid="127" grpId="3" animBg="1"/>
      <p:bldP spid="128" grpId="0" animBg="1"/>
      <p:bldP spid="128" grpId="2" animBg="1"/>
      <p:bldP spid="129" grpId="0" animBg="1"/>
      <p:bldP spid="129" grpId="2" animBg="1"/>
      <p:bldP spid="131" grpId="0" animBg="1"/>
      <p:bldP spid="131" grpId="1" animBg="1"/>
      <p:bldP spid="131" grpId="2" animBg="1"/>
      <p:bldP spid="132" grpId="0" animBg="1"/>
      <p:bldP spid="132" grpId="1" animBg="1"/>
      <p:bldP spid="132" grpId="2" animBg="1"/>
      <p:bldP spid="133" grpId="0" animBg="1"/>
      <p:bldP spid="133" grpId="1" animBg="1"/>
      <p:bldP spid="133" grpId="2" animBg="1"/>
      <p:bldP spid="158" grpId="0" animBg="1"/>
      <p:bldP spid="158" grpId="1" animBg="1"/>
      <p:bldP spid="158" grpId="3" animBg="1"/>
      <p:bldP spid="159" grpId="0" animBg="1"/>
      <p:bldP spid="159" grpId="1" animBg="1"/>
      <p:bldP spid="159" grpId="3" animBg="1"/>
      <p:bldP spid="160" grpId="0" animBg="1"/>
      <p:bldP spid="160" grpId="1" animBg="1"/>
      <p:bldP spid="160" grpId="3" animBg="1"/>
      <p:bldP spid="161" grpId="0" animBg="1"/>
      <p:bldP spid="161" grpId="1" animBg="1"/>
      <p:bldP spid="161" grpId="3" animBg="1"/>
      <p:bldP spid="162" grpId="0" animBg="1"/>
      <p:bldP spid="162" grpId="1" animBg="1"/>
      <p:bldP spid="162" grpId="3" animBg="1"/>
      <p:bldP spid="163" grpId="0" animBg="1"/>
      <p:bldP spid="163" grpId="1" animBg="1"/>
      <p:bldP spid="163" grpId="3" animBg="1"/>
      <p:bldP spid="164" grpId="0" animBg="1"/>
      <p:bldP spid="164" grpId="1" animBg="1"/>
      <p:bldP spid="164" grpId="3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decontamination – gamma-jet circulation</a:t>
            </a:r>
            <a:endParaRPr lang="en-US" sz="2800" dirty="0"/>
          </a:p>
        </p:txBody>
      </p:sp>
      <p:sp>
        <p:nvSpPr>
          <p:cNvPr id="3" name="s741"/>
          <p:cNvSpPr/>
          <p:nvPr/>
        </p:nvSpPr>
        <p:spPr>
          <a:xfrm>
            <a:off x="3840480" y="489204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742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s743"/>
          <p:cNvSpPr/>
          <p:nvPr/>
        </p:nvSpPr>
        <p:spPr>
          <a:xfrm>
            <a:off x="4345229" y="2267712"/>
            <a:ext cx="757123" cy="282549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s744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745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746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s747"/>
          <p:cNvSpPr/>
          <p:nvPr/>
        </p:nvSpPr>
        <p:spPr>
          <a:xfrm>
            <a:off x="3840480" y="201168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748"/>
          <p:cNvSpPr/>
          <p:nvPr/>
        </p:nvSpPr>
        <p:spPr>
          <a:xfrm>
            <a:off x="3886200" y="4343400"/>
            <a:ext cx="4114800" cy="73152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749"/>
          <p:cNvSpPr/>
          <p:nvPr/>
        </p:nvSpPr>
        <p:spPr>
          <a:xfrm>
            <a:off x="3886200" y="4800600"/>
            <a:ext cx="4114800" cy="274320"/>
          </a:xfrm>
          <a:prstGeom prst="rect">
            <a:avLst/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750"/>
          <p:cNvSpPr txBox="1"/>
          <p:nvPr/>
        </p:nvSpPr>
        <p:spPr>
          <a:xfrm>
            <a:off x="5029200" y="5376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tank</a:t>
            </a:r>
            <a:endParaRPr lang="en-US" sz="1100" dirty="0"/>
          </a:p>
        </p:txBody>
      </p:sp>
      <p:sp>
        <p:nvSpPr>
          <p:cNvPr id="13" name="s751"/>
          <p:cNvSpPr/>
          <p:nvPr/>
        </p:nvSpPr>
        <p:spPr>
          <a:xfrm>
            <a:off x="5943600" y="1737360"/>
            <a:ext cx="0" cy="1600200"/>
          </a:xfrm>
          <a:prstGeom prst="line">
            <a:avLst/>
          </a:prstGeom>
          <a:noFill/>
          <a:ln w="381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752"/>
          <p:cNvSpPr/>
          <p:nvPr/>
        </p:nvSpPr>
        <p:spPr>
          <a:xfrm flipH="1" flipV="1">
            <a:off x="397764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753"/>
          <p:cNvSpPr/>
          <p:nvPr/>
        </p:nvSpPr>
        <p:spPr>
          <a:xfrm flipH="1">
            <a:off x="397764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754"/>
          <p:cNvSpPr/>
          <p:nvPr/>
        </p:nvSpPr>
        <p:spPr>
          <a:xfrm flipH="1">
            <a:off x="41148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755"/>
          <p:cNvSpPr/>
          <p:nvPr/>
        </p:nvSpPr>
        <p:spPr>
          <a:xfrm flipH="1">
            <a:off x="512064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756"/>
          <p:cNvSpPr/>
          <p:nvPr/>
        </p:nvSpPr>
        <p:spPr>
          <a:xfrm>
            <a:off x="594360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s757"/>
          <p:cNvSpPr/>
          <p:nvPr/>
        </p:nvSpPr>
        <p:spPr>
          <a:xfrm>
            <a:off x="59436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758"/>
          <p:cNvSpPr/>
          <p:nvPr/>
        </p:nvSpPr>
        <p:spPr>
          <a:xfrm>
            <a:off x="594360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759"/>
          <p:cNvSpPr/>
          <p:nvPr/>
        </p:nvSpPr>
        <p:spPr>
          <a:xfrm flipV="1">
            <a:off x="594360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760"/>
          <p:cNvSpPr/>
          <p:nvPr/>
        </p:nvSpPr>
        <p:spPr>
          <a:xfrm flipH="1" flipV="1">
            <a:off x="484632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761"/>
          <p:cNvSpPr/>
          <p:nvPr/>
        </p:nvSpPr>
        <p:spPr>
          <a:xfrm flipV="1">
            <a:off x="594360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762"/>
          <p:cNvSpPr/>
          <p:nvPr/>
        </p:nvSpPr>
        <p:spPr>
          <a:xfrm>
            <a:off x="5833872" y="3456432"/>
            <a:ext cx="219456" cy="219456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5" name="t763"/>
          <p:cNvSpPr txBox="1"/>
          <p:nvPr/>
        </p:nvSpPr>
        <p:spPr>
          <a:xfrm>
            <a:off x="5029200" y="4462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 nozzle</a:t>
            </a:r>
            <a:endParaRPr lang="en-US" sz="1100" dirty="0"/>
          </a:p>
        </p:txBody>
      </p:sp>
      <p:sp>
        <p:nvSpPr>
          <p:cNvPr id="26" name="s764"/>
          <p:cNvSpPr/>
          <p:nvPr/>
        </p:nvSpPr>
        <p:spPr>
          <a:xfrm flipV="1">
            <a:off x="4572000" y="169164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765"/>
          <p:cNvSpPr/>
          <p:nvPr/>
        </p:nvSpPr>
        <p:spPr>
          <a:xfrm flipH="1">
            <a:off x="3108960" y="1691640"/>
            <a:ext cx="14630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8" name="s766"/>
          <p:cNvSpPr/>
          <p:nvPr/>
        </p:nvSpPr>
        <p:spPr>
          <a:xfrm>
            <a:off x="2377440" y="1463040"/>
            <a:ext cx="731520" cy="822960"/>
          </a:xfrm>
          <a:prstGeom prst="roundRect">
            <a:avLst>
              <a:gd name="adj" fmla="val 15000"/>
            </a:avLst>
          </a:prstGeom>
          <a:solidFill>
            <a:srgbClr val="4A5560"/>
          </a:solidFill>
          <a:ln w="12700">
            <a:solidFill>
              <a:srgbClr val="1F3A52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767"/>
          <p:cNvSpPr/>
          <p:nvPr/>
        </p:nvSpPr>
        <p:spPr>
          <a:xfrm>
            <a:off x="2468880" y="16459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768"/>
          <p:cNvSpPr/>
          <p:nvPr/>
        </p:nvSpPr>
        <p:spPr>
          <a:xfrm>
            <a:off x="2468880" y="18745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769"/>
          <p:cNvSpPr/>
          <p:nvPr/>
        </p:nvSpPr>
        <p:spPr>
          <a:xfrm>
            <a:off x="2468880" y="21031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t770"/>
          <p:cNvSpPr txBox="1"/>
          <p:nvPr/>
        </p:nvSpPr>
        <p:spPr>
          <a:xfrm>
            <a:off x="201168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FILTER</a:t>
            </a:r>
            <a:endParaRPr lang="en-US" sz="1100" dirty="0"/>
          </a:p>
        </p:txBody>
      </p:sp>
      <p:sp>
        <p:nvSpPr>
          <p:cNvPr id="33" name="s771"/>
          <p:cNvSpPr/>
          <p:nvPr/>
        </p:nvSpPr>
        <p:spPr>
          <a:xfrm flipV="1">
            <a:off x="2743200" y="1188720"/>
            <a:ext cx="0" cy="274320"/>
          </a:xfrm>
          <a:prstGeom prst="line">
            <a:avLst/>
          </a:prstGeom>
          <a:noFill/>
          <a:ln w="3175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4" name="t772"/>
          <p:cNvSpPr txBox="1"/>
          <p:nvPr/>
        </p:nvSpPr>
        <p:spPr>
          <a:xfrm>
            <a:off x="2834640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vent</a:t>
            </a:r>
            <a:endParaRPr lang="en-US" sz="1000" dirty="0"/>
          </a:p>
        </p:txBody>
      </p:sp>
      <p:sp>
        <p:nvSpPr>
          <p:cNvPr id="35" name="s773"/>
          <p:cNvSpPr/>
          <p:nvPr/>
        </p:nvSpPr>
        <p:spPr>
          <a:xfrm>
            <a:off x="8046720" y="4892040"/>
            <a:ext cx="54864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6" name="s774"/>
          <p:cNvSpPr/>
          <p:nvPr/>
        </p:nvSpPr>
        <p:spPr>
          <a:xfrm>
            <a:off x="8595360" y="46634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2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7" name="t775"/>
          <p:cNvSpPr txBox="1"/>
          <p:nvPr/>
        </p:nvSpPr>
        <p:spPr>
          <a:xfrm>
            <a:off x="804672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pump</a:t>
            </a:r>
            <a:endParaRPr lang="en-US" sz="1000" dirty="0"/>
          </a:p>
        </p:txBody>
      </p:sp>
      <p:sp>
        <p:nvSpPr>
          <p:cNvPr id="38" name="s776"/>
          <p:cNvSpPr/>
          <p:nvPr/>
        </p:nvSpPr>
        <p:spPr>
          <a:xfrm>
            <a:off x="9052560" y="4892040"/>
            <a:ext cx="36576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9" name="s777"/>
          <p:cNvSpPr/>
          <p:nvPr/>
        </p:nvSpPr>
        <p:spPr>
          <a:xfrm>
            <a:off x="9418320" y="41605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s778"/>
          <p:cNvSpPr/>
          <p:nvPr/>
        </p:nvSpPr>
        <p:spPr>
          <a:xfrm>
            <a:off x="9464040" y="4892040"/>
            <a:ext cx="1280160" cy="27432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1" name="s779"/>
          <p:cNvSpPr/>
          <p:nvPr/>
        </p:nvSpPr>
        <p:spPr>
          <a:xfrm>
            <a:off x="9464040" y="4526280"/>
            <a:ext cx="1280160" cy="36576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2" name="t780"/>
          <p:cNvSpPr txBox="1"/>
          <p:nvPr/>
        </p:nvSpPr>
        <p:spPr>
          <a:xfrm>
            <a:off x="90525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DISPOSAL</a:t>
            </a:r>
            <a:endParaRPr lang="en-US" sz="1100" dirty="0"/>
          </a:p>
        </p:txBody>
      </p:sp>
      <p:sp>
        <p:nvSpPr>
          <p:cNvPr id="43" name="s781"/>
          <p:cNvSpPr/>
          <p:nvPr/>
        </p:nvSpPr>
        <p:spPr>
          <a:xfrm>
            <a:off x="8046720" y="4023360"/>
            <a:ext cx="100584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4" name="s782"/>
          <p:cNvSpPr/>
          <p:nvPr/>
        </p:nvSpPr>
        <p:spPr>
          <a:xfrm>
            <a:off x="9052560" y="37947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5" name="t783"/>
          <p:cNvSpPr txBox="1"/>
          <p:nvPr/>
        </p:nvSpPr>
        <p:spPr>
          <a:xfrm>
            <a:off x="850392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 pump</a:t>
            </a:r>
            <a:endParaRPr lang="en-US" sz="1000" dirty="0"/>
          </a:p>
        </p:txBody>
      </p:sp>
      <p:sp>
        <p:nvSpPr>
          <p:cNvPr id="46" name="s784"/>
          <p:cNvSpPr/>
          <p:nvPr/>
        </p:nvSpPr>
        <p:spPr>
          <a:xfrm flipV="1">
            <a:off x="9281160" y="1508760"/>
            <a:ext cx="0" cy="22860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785"/>
          <p:cNvSpPr/>
          <p:nvPr/>
        </p:nvSpPr>
        <p:spPr>
          <a:xfrm flipH="1">
            <a:off x="5943600" y="1508760"/>
            <a:ext cx="333756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s786"/>
          <p:cNvSpPr/>
          <p:nvPr/>
        </p:nvSpPr>
        <p:spPr>
          <a:xfrm>
            <a:off x="5943600" y="1508760"/>
            <a:ext cx="0" cy="2286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9" name="t787"/>
          <p:cNvSpPr txBox="1"/>
          <p:nvPr/>
        </p:nvSpPr>
        <p:spPr>
          <a:xfrm>
            <a:off x="60350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Recirculated wash water + chemistry</a:t>
            </a:r>
            <a:endParaRPr lang="en-US" sz="1100" dirty="0"/>
          </a:p>
        </p:txBody>
      </p:sp>
      <p:sp>
        <p:nvSpPr>
          <p:cNvPr id="50" name="s788"/>
          <p:cNvSpPr/>
          <p:nvPr/>
        </p:nvSpPr>
        <p:spPr>
          <a:xfrm flipH="1">
            <a:off x="9281160" y="1920240"/>
            <a:ext cx="1325880" cy="0"/>
          </a:xfrm>
          <a:prstGeom prst="line">
            <a:avLst/>
          </a:prstGeom>
          <a:noFill/>
          <a:ln w="381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1" name="t789"/>
          <p:cNvSpPr txBox="1"/>
          <p:nvPr/>
        </p:nvSpPr>
        <p:spPr>
          <a:xfrm>
            <a:off x="9509760" y="1627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000" dirty="0"/>
          </a:p>
        </p:txBody>
      </p:sp>
      <p:sp>
        <p:nvSpPr>
          <p:cNvPr id="52" name="s790"/>
          <p:cNvSpPr/>
          <p:nvPr/>
        </p:nvSpPr>
        <p:spPr>
          <a:xfrm>
            <a:off x="9509760" y="402336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3" name="s791"/>
          <p:cNvSpPr/>
          <p:nvPr/>
        </p:nvSpPr>
        <p:spPr>
          <a:xfrm flipV="1">
            <a:off x="10058400" y="32918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4" name="s792"/>
          <p:cNvSpPr/>
          <p:nvPr/>
        </p:nvSpPr>
        <p:spPr>
          <a:xfrm>
            <a:off x="10058400" y="329184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5" name="s793"/>
          <p:cNvSpPr/>
          <p:nvPr/>
        </p:nvSpPr>
        <p:spPr>
          <a:xfrm>
            <a:off x="10241280" y="2606040"/>
            <a:ext cx="1188720" cy="9144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s794"/>
          <p:cNvSpPr/>
          <p:nvPr/>
        </p:nvSpPr>
        <p:spPr>
          <a:xfrm>
            <a:off x="10287000" y="3200400"/>
            <a:ext cx="109728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7" name="s795"/>
          <p:cNvSpPr/>
          <p:nvPr/>
        </p:nvSpPr>
        <p:spPr>
          <a:xfrm>
            <a:off x="10287000" y="2834640"/>
            <a:ext cx="109728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8" name="t796"/>
          <p:cNvSpPr txBox="1"/>
          <p:nvPr/>
        </p:nvSpPr>
        <p:spPr>
          <a:xfrm>
            <a:off x="9875520" y="3547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9" name="s797"/>
          <p:cNvSpPr/>
          <p:nvPr/>
        </p:nvSpPr>
        <p:spPr>
          <a:xfrm>
            <a:off x="548640" y="3063240"/>
            <a:ext cx="274320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t798"/>
          <p:cNvSpPr txBox="1"/>
          <p:nvPr/>
        </p:nvSpPr>
        <p:spPr>
          <a:xfrm>
            <a:off x="731520" y="3172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61" name="t799"/>
          <p:cNvSpPr txBox="1"/>
          <p:nvPr/>
        </p:nvSpPr>
        <p:spPr>
          <a:xfrm>
            <a:off x="731520" y="35661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62" name="t800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8" name="dec138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3" name="t801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4" name="t802"/>
          <p:cNvSpPr txBox="1"/>
          <p:nvPr/>
        </p:nvSpPr>
        <p:spPr>
          <a:xfrm>
            <a:off x="731520" y="3977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65" name="t803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9" name="dec139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6" name="t804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7" name="t805"/>
          <p:cNvSpPr txBox="1"/>
          <p:nvPr/>
        </p:nvSpPr>
        <p:spPr>
          <a:xfrm>
            <a:off x="731520" y="4389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68" name="t806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40" name="dec140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9" name="t807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0" name="s80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80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Crude and product tanks: bottom sludge, and benzene, LEL and H₂S in the vapour space – entry is not allowed.</a:t>
            </a:r>
            <a:endParaRPr lang="en-US" sz="1400" dirty="0"/>
          </a:p>
        </p:txBody>
      </p:sp>
      <p:sp>
        <p:nvSpPr>
          <p:cNvPr id="72" name="t81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The tank vent is routed through a carbon filter – vapours are treated before release.</a:t>
            </a:r>
            <a:endParaRPr lang="en-US" sz="1400" dirty="0"/>
          </a:p>
        </p:txBody>
      </p:sp>
      <p:sp>
        <p:nvSpPr>
          <p:cNvPr id="73" name="t81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Bulk sludge is removed first: a vacuum pump transfers it to a waste tank for licensed disposal.</a:t>
            </a:r>
            <a:endParaRPr lang="en-US" sz="1400" dirty="0"/>
          </a:p>
        </p:txBody>
      </p:sp>
      <p:sp>
        <p:nvSpPr>
          <p:cNvPr id="74" name="t81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A gamma-jet nozzle is lowered through the roof manway; wash water with decon chemistry is circulated to it.</a:t>
            </a:r>
            <a:endParaRPr lang="en-US" sz="1400" dirty="0"/>
          </a:p>
        </p:txBody>
      </p:sp>
      <p:sp>
        <p:nvSpPr>
          <p:cNvPr id="75" name="t81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Gamma-jetting and circulation run for 8–12 hours – the jets sweep shell, roof and floor.</a:t>
            </a:r>
            <a:endParaRPr lang="en-US" sz="1400" dirty="0"/>
          </a:p>
        </p:txBody>
      </p:sp>
      <p:sp>
        <p:nvSpPr>
          <p:cNvPr id="76" name="t81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H₂S is converted into stable compounds; benzene and LEL vapours leave through the carbon filter.</a:t>
            </a:r>
            <a:endParaRPr lang="en-US" sz="1400" dirty="0"/>
          </a:p>
        </p:txBody>
      </p:sp>
      <p:sp>
        <p:nvSpPr>
          <p:cNvPr id="77" name="t81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Walls and floor are clean – the spent wash is drained to the effluent tank.</a:t>
            </a:r>
            <a:endParaRPr lang="en-US" sz="1400" dirty="0"/>
          </a:p>
        </p:txBody>
      </p:sp>
      <p:sp>
        <p:nvSpPr>
          <p:cNvPr id="78" name="t81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safe entry.</a:t>
            </a:r>
            <a:endParaRPr lang="en-US" sz="1400" dirty="0"/>
          </a:p>
        </p:txBody>
      </p:sp>
      <p:sp>
        <p:nvSpPr>
          <p:cNvPr id="79" name="tag817"/>
          <p:cNvSpPr/>
          <p:nvPr/>
        </p:nvSpPr>
        <p:spPr>
          <a:xfrm>
            <a:off x="420624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0" name="tag818"/>
          <p:cNvSpPr/>
          <p:nvPr/>
        </p:nvSpPr>
        <p:spPr>
          <a:xfrm>
            <a:off x="676656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tag819"/>
          <p:cNvSpPr/>
          <p:nvPr/>
        </p:nvSpPr>
        <p:spPr>
          <a:xfrm>
            <a:off x="676656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2" name="tag820"/>
          <p:cNvSpPr/>
          <p:nvPr/>
        </p:nvSpPr>
        <p:spPr>
          <a:xfrm>
            <a:off x="4114800" y="26517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83" name="s821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822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823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824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825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826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827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828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829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830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831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832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833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834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835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836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837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83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83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84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84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84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84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84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84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84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84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84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84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85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85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85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85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85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85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85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85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85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85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86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86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86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5" name="s86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6" name="s86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s86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8" name="s86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9" name="s86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0" name="s868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1" name="s869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2" name="s870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3" name="s871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4" name="s872"/>
          <p:cNvSpPr/>
          <p:nvPr/>
        </p:nvSpPr>
        <p:spPr>
          <a:xfrm>
            <a:off x="4176979" y="2331720"/>
            <a:ext cx="3533242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5" name="s873"/>
          <p:cNvSpPr/>
          <p:nvPr/>
        </p:nvSpPr>
        <p:spPr>
          <a:xfrm>
            <a:off x="548640" y="48006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6" name="t874"/>
          <p:cNvSpPr txBox="1"/>
          <p:nvPr/>
        </p:nvSpPr>
        <p:spPr>
          <a:xfrm>
            <a:off x="548640" y="4800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1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mph" presetSubtype="0" repeatCount="2000" fill="hold" grpId="2" nodeType="withEffect" nodePh="1">
                                  <p:stCondLst>
                                    <p:cond delay="90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animScale>
                                      <p:cBhvr>
                                        <p:cTn id="25" dur="350" autoRev="1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48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54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0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6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8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84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2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6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39" dur="350" autoRev="1" fill="hold"/>
                                        <p:tgtEl>
                                          <p:spTgt spid="13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46" dur="350" autoRev="1" fill="hold"/>
                                        <p:tgtEl>
                                          <p:spTgt spid="139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153" dur="350" autoRev="1" fill="hold"/>
                                        <p:tgtEl>
                                          <p:spTgt spid="140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0" dur="2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6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2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3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8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84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90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96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02" dur="7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08" dur="7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14" dur="7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50" dur="6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56" dur="6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262" dur="6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268" dur="65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9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274" dur="6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280" dur="65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1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286" dur="65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7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292" dur="6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3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298" dur="65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9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04" dur="65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10" dur="6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1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16" dur="6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22" dur="65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28" dur="65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9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34" dur="6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5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40" dur="6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1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46" dur="65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52" dur="65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3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58" dur="6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9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64" dur="6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5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70" dur="65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76" dur="65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7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82" dur="65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88" dur="6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94" dur="6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400" dur="6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1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406" dur="65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7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412" dur="6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3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418" dur="65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424" dur="6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5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7" fill="hold">
                      <p:stCondLst>
                        <p:cond delay="indefinite"/>
                      </p:stCondLst>
                      <p:childTnLst>
                        <p:par>
                          <p:cTn id="428" fill="hold">
                            <p:stCondLst>
                              <p:cond delay="0"/>
                            </p:stCondLst>
                            <p:childTnLst>
                              <p:par>
                                <p:cTn id="4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3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5" dur="30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175 0.0000 L -0.2175 -0.1640 L -0.3375 -0.1640 E" pathEditMode="relative" ptsTypes="AAAA">
                                      <p:cBhvr>
                                        <p:cTn id="443" dur="18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-0.2175 0.0000 L -0.2175 -0.2373 L -0.3375 -0.2373 E" pathEditMode="relative" ptsTypes="AAAA">
                                      <p:cBhvr>
                                        <p:cTn id="448" dur="18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9" presetID="10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2" fill="hold">
                      <p:stCondLst>
                        <p:cond delay="indefinite"/>
                      </p:stCondLst>
                      <p:childTnLst>
                        <p:par>
                          <p:cTn id="453" fill="hold">
                            <p:stCondLst>
                              <p:cond delay="0"/>
                            </p:stCondLst>
                            <p:childTnLst>
                              <p:par>
                                <p:cTn id="4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8" dur="3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0" dur="8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2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4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0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22" presetClass="entr" presetSubtype="8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7" presetID="22" presetClass="entr" presetSubtype="1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presetID="22" presetClass="entr" presetSubtype="8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2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3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16" dur="1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7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22" dur="1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3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28" dur="1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0" presetClass="path" presetSubtype="0" fill="hold" grpId="3" nodeType="withEffect">
                                  <p:stCondLst>
                                    <p:cond delay="42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34" dur="1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5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22" presetClass="entr" presetSubtype="4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9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presetID="22" presetClass="entr" presetSubtype="4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3" fill="hold">
                            <p:stCondLst>
                              <p:cond delay="5200"/>
                            </p:stCondLst>
                            <p:childTnLst>
                              <p:par>
                                <p:cTn id="5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547" dur="11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9" dur="3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1" fill="hold">
                      <p:stCondLst>
                        <p:cond delay="indefinite"/>
                      </p:stCondLst>
                      <p:childTnLst>
                        <p:par>
                          <p:cTn id="552" fill="hold">
                            <p:stCondLst>
                              <p:cond delay="0"/>
                            </p:stCondLst>
                            <p:childTnLst>
                              <p:par>
                                <p:cTn id="5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3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2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3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9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0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2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6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7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8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9" fill="hold">
                            <p:stCondLst>
                              <p:cond delay="2000"/>
                            </p:stCondLst>
                            <p:childTnLst>
                              <p:par>
                                <p:cTn id="58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2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3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4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7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8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9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0" fill="hold">
                            <p:stCondLst>
                              <p:cond delay="2500"/>
                            </p:stCondLst>
                            <p:childTnLst>
                              <p:par>
                                <p:cTn id="591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2" dur="400" autoRev="1" fill="hold"/>
                                        <p:tgtEl>
                                          <p:spTgt spid="13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9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4" dur="400" autoRev="1" fill="hold"/>
                                        <p:tgtEl>
                                          <p:spTgt spid="13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animBg="1"/>
      <p:bldP spid="7" grpId="1" animBg="1"/>
      <p:bldP spid="8" grpId="1" animBg="1"/>
      <p:bldP spid="10" grpId="1" animBg="1"/>
      <p:bldP spid="11" grpId="1" animBg="1"/>
      <p:bldP spid="13" grpId="0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6" grpId="0" animBg="1"/>
      <p:bldP spid="27" grpId="0" animBg="1"/>
      <p:bldP spid="28" grpId="2"/>
      <p:bldP spid="33" grpId="0" animBg="1"/>
      <p:bldP spid="34" grpId="0" animBg="1"/>
      <p:bldP spid="35" grpId="0" animBg="1"/>
      <p:bldP spid="38" grpId="0" animBg="1"/>
      <p:bldP spid="40" grpId="0" animBg="1"/>
      <p:bldP spid="41" grpId="0" animBg="1"/>
      <p:bldP spid="43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62" grpId="1" animBg="1"/>
      <p:bldP spid="63" grpId="0" animBg="1"/>
      <p:bldP spid="65" grpId="1" animBg="1"/>
      <p:bldP spid="66" grpId="0" animBg="1"/>
      <p:bldP spid="68" grpId="1" animBg="1"/>
      <p:bldP spid="69" grpId="0" animBg="1"/>
      <p:bldP spid="70" grpId="0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77" grpId="0" animBg="1"/>
      <p:bldP spid="77" grpId="1" animBg="1"/>
      <p:bldP spid="78" grpId="0" animBg="1"/>
      <p:bldP spid="79" grpId="1" animBg="1"/>
      <p:bldP spid="79" grpId="2" animBg="1"/>
      <p:bldP spid="80" grpId="1" animBg="1"/>
      <p:bldP spid="80" grpId="3" animBg="1"/>
      <p:bldP spid="81" grpId="1" animBg="1"/>
      <p:bldP spid="81" grpId="3" animBg="1"/>
      <p:bldP spid="82" grpId="0" animBg="1"/>
      <p:bldP spid="82" grpId="1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1" animBg="1"/>
      <p:bldP spid="110" grpId="3" animBg="1"/>
      <p:bldP spid="111" grpId="0" animBg="1"/>
      <p:bldP spid="111" grpId="1" animBg="1"/>
      <p:bldP spid="111" grpId="3" animBg="1"/>
      <p:bldP spid="112" grpId="0" animBg="1"/>
      <p:bldP spid="112" grpId="1" animBg="1"/>
      <p:bldP spid="112" grpId="3" animBg="1"/>
      <p:bldP spid="113" grpId="0" animBg="1"/>
      <p:bldP spid="113" grpId="1" animBg="1"/>
      <p:bldP spid="113" grpId="3" animBg="1"/>
      <p:bldP spid="114" grpId="0" animBg="1"/>
      <p:bldP spid="114" grpId="1" animBg="1"/>
      <p:bldP spid="114" grpId="3" animBg="1"/>
      <p:bldP spid="115" grpId="0" animBg="1"/>
      <p:bldP spid="115" grpId="1" animBg="1"/>
      <p:bldP spid="115" grpId="3" animBg="1"/>
      <p:bldP spid="116" grpId="0" animBg="1"/>
      <p:bldP spid="116" grpId="1" animBg="1"/>
      <p:bldP spid="116" grpId="3" animBg="1"/>
      <p:bldP spid="117" grpId="0" animBg="1"/>
      <p:bldP spid="117" grpId="1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  <p:bldP spid="127" grpId="3" animBg="1"/>
      <p:bldP spid="128" grpId="0" animBg="1"/>
      <p:bldP spid="128" grpId="1" animBg="1"/>
      <p:bldP spid="128" grpId="3" animBg="1"/>
      <p:bldP spid="129" grpId="0" animBg="1"/>
      <p:bldP spid="129" grpId="1" animBg="1"/>
      <p:bldP spid="129" grpId="3" animBg="1"/>
      <p:bldP spid="130" grpId="0" animBg="1"/>
      <p:bldP spid="130" grpId="1" animBg="1"/>
      <p:bldP spid="130" grpId="3" animBg="1"/>
      <p:bldP spid="131" grpId="0" animBg="1"/>
      <p:bldP spid="131" grpId="1" animBg="1"/>
      <p:bldP spid="131" grpId="3" animBg="1"/>
      <p:bldP spid="132" grpId="0" animBg="1"/>
      <p:bldP spid="132" grpId="1" animBg="1"/>
      <p:bldP spid="132" grpId="3" animBg="1"/>
      <p:bldP spid="133" grpId="0" animBg="1"/>
      <p:bldP spid="133" grpId="1" animBg="1"/>
      <p:bldP spid="133" grpId="3" animBg="1"/>
      <p:bldP spid="134" grpId="0" animBg="1"/>
      <p:bldP spid="134" grpId="1" animBg="1"/>
      <p:bldP spid="134" grpId="3" animBg="1"/>
      <p:bldP spid="135" grpId="0" animBg="1"/>
      <p:bldP spid="135" grpId="2" animBg="1"/>
      <p:bldP spid="136" grpId="0" animBg="1"/>
      <p:bldP spid="136" grpId="2" animBg="1"/>
      <p:bldP spid="138" grpId="0" animBg="1"/>
      <p:bldP spid="138" grpId="1" animBg="1"/>
      <p:bldP spid="138" grpId="2" animBg="1"/>
      <p:bldP spid="139" grpId="0" animBg="1"/>
      <p:bldP spid="139" grpId="1" animBg="1"/>
      <p:bldP spid="139" grpId="2" animBg="1"/>
      <p:bldP spid="140" grpId="0" animBg="1"/>
      <p:bldP spid="140" grpId="1" animBg="1"/>
      <p:bldP spid="140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each contaminant go?</a:t>
            </a:r>
            <a:endParaRPr lang="en-US" sz="2800" dirty="0"/>
          </a:p>
        </p:txBody>
      </p:sp>
      <p:sp>
        <p:nvSpPr>
          <p:cNvPr id="3" name="s875"/>
          <p:cNvSpPr/>
          <p:nvPr/>
        </p:nvSpPr>
        <p:spPr>
          <a:xfrm>
            <a:off x="320040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876"/>
          <p:cNvSpPr/>
          <p:nvPr/>
        </p:nvSpPr>
        <p:spPr>
          <a:xfrm>
            <a:off x="3429000" y="155448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87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2619" y="1708099"/>
            <a:ext cx="332842" cy="332842"/>
          </a:xfrm>
          <a:prstGeom prst="rect">
            <a:avLst/>
          </a:prstGeom>
        </p:spPr>
      </p:pic>
      <p:sp>
        <p:nvSpPr>
          <p:cNvPr id="6" name="t878"/>
          <p:cNvSpPr txBox="1"/>
          <p:nvPr/>
        </p:nvSpPr>
        <p:spPr>
          <a:xfrm>
            <a:off x="416052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 closed vent</a:t>
            </a:r>
            <a:endParaRPr lang="en-US" sz="1500" dirty="0"/>
          </a:p>
        </p:txBody>
      </p:sp>
      <p:sp>
        <p:nvSpPr>
          <p:cNvPr id="7" name="t879"/>
          <p:cNvSpPr txBox="1"/>
          <p:nvPr/>
        </p:nvSpPr>
        <p:spPr>
          <a:xfrm>
            <a:off x="342900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Vapours swept out with the steam or vented</a:t>
            </a:r>
            <a:endParaRPr lang="en-US" sz="1200" dirty="0"/>
          </a:p>
        </p:txBody>
      </p:sp>
      <p:sp>
        <p:nvSpPr>
          <p:cNvPr id="8" name="s880"/>
          <p:cNvSpPr/>
          <p:nvPr/>
        </p:nvSpPr>
        <p:spPr>
          <a:xfrm>
            <a:off x="598932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881"/>
          <p:cNvSpPr/>
          <p:nvPr/>
        </p:nvSpPr>
        <p:spPr>
          <a:xfrm>
            <a:off x="6217920" y="1554480"/>
            <a:ext cx="640080" cy="64008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88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1708099"/>
            <a:ext cx="332842" cy="332842"/>
          </a:xfrm>
          <a:prstGeom prst="rect">
            <a:avLst/>
          </a:prstGeom>
        </p:spPr>
      </p:pic>
      <p:sp>
        <p:nvSpPr>
          <p:cNvPr id="11" name="t883"/>
          <p:cNvSpPr txBox="1"/>
          <p:nvPr/>
        </p:nvSpPr>
        <p:spPr>
          <a:xfrm>
            <a:off x="694944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&amp; drained</a:t>
            </a:r>
            <a:endParaRPr lang="en-US" sz="1500" dirty="0"/>
          </a:p>
        </p:txBody>
      </p:sp>
      <p:sp>
        <p:nvSpPr>
          <p:cNvPr id="12" name="t884"/>
          <p:cNvSpPr txBox="1"/>
          <p:nvPr/>
        </p:nvSpPr>
        <p:spPr>
          <a:xfrm>
            <a:off x="621792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stable in the equipment, then drained to the effluent tank</a:t>
            </a:r>
            <a:endParaRPr lang="en-US" sz="1200" dirty="0"/>
          </a:p>
        </p:txBody>
      </p:sp>
      <p:sp>
        <p:nvSpPr>
          <p:cNvPr id="13" name="s885"/>
          <p:cNvSpPr/>
          <p:nvPr/>
        </p:nvSpPr>
        <p:spPr>
          <a:xfrm>
            <a:off x="877824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886"/>
          <p:cNvSpPr/>
          <p:nvPr/>
        </p:nvSpPr>
        <p:spPr>
          <a:xfrm>
            <a:off x="9006840" y="1554480"/>
            <a:ext cx="640080" cy="640080"/>
          </a:xfrm>
          <a:prstGeom prst="ellipse">
            <a:avLst/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88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459" y="1708099"/>
            <a:ext cx="332842" cy="332842"/>
          </a:xfrm>
          <a:prstGeom prst="rect">
            <a:avLst/>
          </a:prstGeom>
        </p:spPr>
      </p:pic>
      <p:sp>
        <p:nvSpPr>
          <p:cNvPr id="16" name="t888"/>
          <p:cNvSpPr txBox="1"/>
          <p:nvPr/>
        </p:nvSpPr>
        <p:spPr>
          <a:xfrm>
            <a:off x="973836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500" dirty="0"/>
          </a:p>
        </p:txBody>
      </p:sp>
      <p:sp>
        <p:nvSpPr>
          <p:cNvPr id="17" name="t889"/>
          <p:cNvSpPr txBox="1"/>
          <p:nvPr/>
        </p:nvSpPr>
        <p:spPr>
          <a:xfrm>
            <a:off x="900684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to the slop / rerun tank</a:t>
            </a:r>
            <a:endParaRPr lang="en-US" sz="1200" dirty="0"/>
          </a:p>
        </p:txBody>
      </p:sp>
      <p:sp>
        <p:nvSpPr>
          <p:cNvPr id="18" name="tag890"/>
          <p:cNvSpPr/>
          <p:nvPr/>
        </p:nvSpPr>
        <p:spPr>
          <a:xfrm>
            <a:off x="548640" y="141732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19" name="tag891"/>
          <p:cNvSpPr/>
          <p:nvPr/>
        </p:nvSpPr>
        <p:spPr>
          <a:xfrm>
            <a:off x="548640" y="194767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0" name="tag892"/>
          <p:cNvSpPr/>
          <p:nvPr/>
        </p:nvSpPr>
        <p:spPr>
          <a:xfrm>
            <a:off x="548640" y="247802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21" name="tag893"/>
          <p:cNvSpPr/>
          <p:nvPr/>
        </p:nvSpPr>
        <p:spPr>
          <a:xfrm>
            <a:off x="548640" y="300837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2" name="tag894"/>
          <p:cNvSpPr/>
          <p:nvPr/>
        </p:nvSpPr>
        <p:spPr>
          <a:xfrm>
            <a:off x="548640" y="353872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23" name="tag895"/>
          <p:cNvSpPr/>
          <p:nvPr/>
        </p:nvSpPr>
        <p:spPr>
          <a:xfrm>
            <a:off x="548640" y="40690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24" name="tag896"/>
          <p:cNvSpPr/>
          <p:nvPr/>
        </p:nvSpPr>
        <p:spPr>
          <a:xfrm>
            <a:off x="548640" y="459943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25" name="tag897"/>
          <p:cNvSpPr/>
          <p:nvPr/>
        </p:nvSpPr>
        <p:spPr>
          <a:xfrm>
            <a:off x="548640" y="512978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26" name="tag898"/>
          <p:cNvSpPr/>
          <p:nvPr/>
        </p:nvSpPr>
        <p:spPr>
          <a:xfrm>
            <a:off x="621792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→ stable salt</a:t>
            </a:r>
            <a:endParaRPr lang="en-US" sz="1200" dirty="0"/>
          </a:p>
        </p:txBody>
      </p:sp>
      <p:sp>
        <p:nvSpPr>
          <p:cNvPr id="27" name="tag899"/>
          <p:cNvSpPr/>
          <p:nvPr/>
        </p:nvSpPr>
        <p:spPr>
          <a:xfrm>
            <a:off x="6217920" y="35204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28" name="tag900"/>
          <p:cNvSpPr/>
          <p:nvPr/>
        </p:nvSpPr>
        <p:spPr>
          <a:xfrm>
            <a:off x="6217920" y="3977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→ neutralised</a:t>
            </a:r>
            <a:endParaRPr lang="en-US" sz="1200" dirty="0"/>
          </a:p>
        </p:txBody>
      </p:sp>
      <p:sp>
        <p:nvSpPr>
          <p:cNvPr id="29" name="tag901"/>
          <p:cNvSpPr/>
          <p:nvPr/>
        </p:nvSpPr>
        <p:spPr>
          <a:xfrm>
            <a:off x="6217920" y="44348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 → converted</a:t>
            </a:r>
            <a:endParaRPr lang="en-US" sz="1200" dirty="0"/>
          </a:p>
        </p:txBody>
      </p:sp>
      <p:sp>
        <p:nvSpPr>
          <p:cNvPr id="30" name="tag902"/>
          <p:cNvSpPr/>
          <p:nvPr/>
        </p:nvSpPr>
        <p:spPr>
          <a:xfrm>
            <a:off x="621792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emulsified</a:t>
            </a:r>
            <a:endParaRPr lang="en-US" sz="1200" dirty="0"/>
          </a:p>
        </p:txBody>
      </p:sp>
      <p:sp>
        <p:nvSpPr>
          <p:cNvPr id="31" name="tag903"/>
          <p:cNvSpPr/>
          <p:nvPr/>
        </p:nvSpPr>
        <p:spPr>
          <a:xfrm>
            <a:off x="900684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→ slop / rerun</a:t>
            </a:r>
            <a:endParaRPr lang="en-US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363 0.2400 E" pathEditMode="relative" ptsTypes="AA">
                                      <p:cBhvr>
                                        <p:cTn id="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363 0.2293 E" pathEditMode="relative" ptsTypes="AA">
                                      <p:cBhvr>
                                        <p:cTn id="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650 0.0853 E" pathEditMode="relative" ptsTypes="AA">
                                      <p:cBhvr>
                                        <p:cTn id="1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4650 0.0747 E" pathEditMode="relative" ptsTypes="AA">
                                      <p:cBhvr>
                                        <p:cTn id="20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4650 0.0640 E" pathEditMode="relative" ptsTypes="AA">
                                      <p:cBhvr>
                                        <p:cTn id="28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4650 0.0533 E" pathEditMode="relative" ptsTypes="AA">
                                      <p:cBhvr>
                                        <p:cTn id="3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4650 0.0427 E" pathEditMode="relative" ptsTypes="AA">
                                      <p:cBhvr>
                                        <p:cTn id="4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6938 -0.3013 E" pathEditMode="relative" ptsTypes="AA">
                                      <p:cBhvr>
                                        <p:cTn id="54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3" animBg="1"/>
      <p:bldP spid="19" grpId="3" animBg="1"/>
      <p:bldP spid="20" grpId="1" animBg="1"/>
      <p:bldP spid="20" grpId="3" animBg="1"/>
      <p:bldP spid="21" grpId="1" animBg="1"/>
      <p:bldP spid="21" grpId="3" animBg="1"/>
      <p:bldP spid="22" grpId="1" animBg="1"/>
      <p:bldP spid="22" grpId="3" animBg="1"/>
      <p:bldP spid="23" grpId="1" animBg="1"/>
      <p:bldP spid="23" grpId="3" animBg="1"/>
      <p:bldP spid="24" grpId="1" animBg="1"/>
      <p:bldP spid="24" grpId="3" animBg="1"/>
      <p:bldP spid="25" grpId="1" animBg="1"/>
      <p:bldP spid="25" grpId="3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chemistry toolkit</a:t>
            </a:r>
            <a:endParaRPr lang="en-US" sz="2800" dirty="0"/>
          </a:p>
        </p:txBody>
      </p:sp>
      <p:sp>
        <p:nvSpPr>
          <p:cNvPr id="3" name="s904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05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0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1742846"/>
            <a:ext cx="309067" cy="309067"/>
          </a:xfrm>
          <a:prstGeom prst="rect">
            <a:avLst/>
          </a:prstGeom>
        </p:spPr>
      </p:pic>
      <p:sp>
        <p:nvSpPr>
          <p:cNvPr id="6" name="t907"/>
          <p:cNvSpPr txBox="1"/>
          <p:nvPr/>
        </p:nvSpPr>
        <p:spPr>
          <a:xfrm>
            <a:off x="150876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degreaser</a:t>
            </a:r>
            <a:endParaRPr lang="en-US" sz="1500" dirty="0"/>
          </a:p>
        </p:txBody>
      </p:sp>
      <p:sp>
        <p:nvSpPr>
          <p:cNvPr id="7" name="t908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by steam; lifts hydrocarbons and releases LEL / benzene for safe venting.</a:t>
            </a:r>
            <a:endParaRPr lang="en-US" sz="1300" dirty="0"/>
          </a:p>
        </p:txBody>
      </p:sp>
      <p:sp>
        <p:nvSpPr>
          <p:cNvPr id="8" name="t909"/>
          <p:cNvSpPr txBox="1"/>
          <p:nvPr/>
        </p:nvSpPr>
        <p:spPr>
          <a:xfrm>
            <a:off x="777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overheads, exchangers</a:t>
            </a:r>
            <a:endParaRPr lang="en-US" sz="1200" dirty="0"/>
          </a:p>
        </p:txBody>
      </p:sp>
      <p:sp>
        <p:nvSpPr>
          <p:cNvPr id="9" name="s910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0" name="s911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1" name="i9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926" y="1742846"/>
            <a:ext cx="309067" cy="309067"/>
          </a:xfrm>
          <a:prstGeom prst="rect">
            <a:avLst/>
          </a:prstGeom>
        </p:spPr>
      </p:pic>
      <p:sp>
        <p:nvSpPr>
          <p:cNvPr id="12" name="t913"/>
          <p:cNvSpPr txBox="1"/>
          <p:nvPr/>
        </p:nvSpPr>
        <p:spPr>
          <a:xfrm>
            <a:off x="525780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solvent</a:t>
            </a:r>
            <a:endParaRPr lang="en-US" sz="1500" dirty="0"/>
          </a:p>
        </p:txBody>
      </p:sp>
      <p:sp>
        <p:nvSpPr>
          <p:cNvPr id="13" name="t914"/>
          <p:cNvSpPr txBox="1"/>
          <p:nvPr/>
        </p:nvSpPr>
        <p:spPr>
          <a:xfrm>
            <a:off x="45262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Emulsifies oil and sludge in water; non-flammable, low odour.</a:t>
            </a:r>
            <a:endParaRPr lang="en-US" sz="1300" dirty="0"/>
          </a:p>
        </p:txBody>
      </p:sp>
      <p:sp>
        <p:nvSpPr>
          <p:cNvPr id="14" name="t915"/>
          <p:cNvSpPr txBox="1"/>
          <p:nvPr/>
        </p:nvSpPr>
        <p:spPr>
          <a:xfrm>
            <a:off x="452628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Boil-out, circulation, tanks</a:t>
            </a:r>
            <a:endParaRPr lang="en-US" sz="1200" dirty="0"/>
          </a:p>
        </p:txBody>
      </p:sp>
      <p:sp>
        <p:nvSpPr>
          <p:cNvPr id="15" name="s916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s917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7" name="i9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1742846"/>
            <a:ext cx="309067" cy="309067"/>
          </a:xfrm>
          <a:prstGeom prst="rect">
            <a:avLst/>
          </a:prstGeom>
        </p:spPr>
      </p:pic>
      <p:sp>
        <p:nvSpPr>
          <p:cNvPr id="18" name="t919"/>
          <p:cNvSpPr txBox="1"/>
          <p:nvPr/>
        </p:nvSpPr>
        <p:spPr>
          <a:xfrm>
            <a:off x="900684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500" dirty="0"/>
          </a:p>
        </p:txBody>
      </p:sp>
      <p:sp>
        <p:nvSpPr>
          <p:cNvPr id="19" name="t920"/>
          <p:cNvSpPr txBox="1"/>
          <p:nvPr/>
        </p:nvSpPr>
        <p:spPr>
          <a:xfrm>
            <a:off x="827532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flushing oil to penetrate heavy deposits, tar and coke.</a:t>
            </a:r>
            <a:endParaRPr lang="en-US" sz="1300" dirty="0"/>
          </a:p>
        </p:txBody>
      </p:sp>
      <p:sp>
        <p:nvSpPr>
          <p:cNvPr id="20" name="t921"/>
          <p:cNvSpPr txBox="1"/>
          <p:nvPr/>
        </p:nvSpPr>
        <p:spPr>
          <a:xfrm>
            <a:off x="82753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flush, coker, quench oil</a:t>
            </a:r>
            <a:endParaRPr lang="en-US" sz="1200" dirty="0"/>
          </a:p>
        </p:txBody>
      </p:sp>
      <p:sp>
        <p:nvSpPr>
          <p:cNvPr id="21" name="s922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2" name="s923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3" name="i92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" y="4074566"/>
            <a:ext cx="309067" cy="309067"/>
          </a:xfrm>
          <a:prstGeom prst="rect">
            <a:avLst/>
          </a:prstGeom>
        </p:spPr>
      </p:pic>
      <p:sp>
        <p:nvSpPr>
          <p:cNvPr id="24" name="t925"/>
          <p:cNvSpPr txBox="1"/>
          <p:nvPr/>
        </p:nvSpPr>
        <p:spPr>
          <a:xfrm>
            <a:off x="15087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/ pyrophoric oxidiser</a:t>
            </a:r>
            <a:endParaRPr lang="en-US" sz="1500" dirty="0"/>
          </a:p>
        </p:txBody>
      </p:sp>
      <p:sp>
        <p:nvSpPr>
          <p:cNvPr id="25" name="t926"/>
          <p:cNvSpPr txBox="1"/>
          <p:nvPr/>
        </p:nvSpPr>
        <p:spPr>
          <a:xfrm>
            <a:off x="77724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H₂S and pyrophoric FeS into stable compounds.</a:t>
            </a:r>
            <a:endParaRPr lang="en-US" sz="1300" dirty="0"/>
          </a:p>
        </p:txBody>
      </p:sp>
      <p:sp>
        <p:nvSpPr>
          <p:cNvPr id="26" name="t927"/>
          <p:cNvSpPr txBox="1"/>
          <p:nvPr/>
        </p:nvSpPr>
        <p:spPr>
          <a:xfrm>
            <a:off x="77724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Post-treatment wash, packed beds, SWS, SRU</a:t>
            </a:r>
            <a:endParaRPr lang="en-US" sz="1200" dirty="0"/>
          </a:p>
        </p:txBody>
      </p:sp>
      <p:sp>
        <p:nvSpPr>
          <p:cNvPr id="27" name="s928"/>
          <p:cNvSpPr/>
          <p:nvPr/>
        </p:nvSpPr>
        <p:spPr>
          <a:xfrm>
            <a:off x="42976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8" name="s929"/>
          <p:cNvSpPr/>
          <p:nvPr/>
        </p:nvSpPr>
        <p:spPr>
          <a:xfrm>
            <a:off x="4526280" y="393192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i93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926" y="4074566"/>
            <a:ext cx="309067" cy="309067"/>
          </a:xfrm>
          <a:prstGeom prst="rect">
            <a:avLst/>
          </a:prstGeom>
        </p:spPr>
      </p:pic>
      <p:sp>
        <p:nvSpPr>
          <p:cNvPr id="30" name="t931"/>
          <p:cNvSpPr txBox="1"/>
          <p:nvPr/>
        </p:nvSpPr>
        <p:spPr>
          <a:xfrm>
            <a:off x="5257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Neutraliser</a:t>
            </a:r>
            <a:endParaRPr lang="en-US" sz="1500" dirty="0"/>
          </a:p>
        </p:txBody>
      </p:sp>
      <p:sp>
        <p:nvSpPr>
          <p:cNvPr id="31" name="t932"/>
          <p:cNvSpPr txBox="1"/>
          <p:nvPr/>
        </p:nvSpPr>
        <p:spPr>
          <a:xfrm>
            <a:off x="452628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pH and treats ammonia / acid residues for disposal.</a:t>
            </a:r>
            <a:endParaRPr lang="en-US" sz="1300" dirty="0"/>
          </a:p>
        </p:txBody>
      </p:sp>
      <p:sp>
        <p:nvSpPr>
          <p:cNvPr id="32" name="t933"/>
          <p:cNvSpPr txBox="1"/>
          <p:nvPr/>
        </p:nvSpPr>
        <p:spPr>
          <a:xfrm>
            <a:off x="452628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Post-rinse, effluent tanks</a:t>
            </a:r>
            <a:endParaRPr lang="en-US" sz="1200" dirty="0"/>
          </a:p>
        </p:txBody>
      </p:sp>
      <p:sp>
        <p:nvSpPr>
          <p:cNvPr id="33" name="s934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34" name="s935"/>
          <p:cNvSpPr/>
          <p:nvPr/>
        </p:nvSpPr>
        <p:spPr>
          <a:xfrm>
            <a:off x="827532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35" name="i93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7966" y="4074566"/>
            <a:ext cx="309067" cy="309067"/>
          </a:xfrm>
          <a:prstGeom prst="rect">
            <a:avLst/>
          </a:prstGeom>
        </p:spPr>
      </p:pic>
      <p:sp>
        <p:nvSpPr>
          <p:cNvPr id="36" name="t937"/>
          <p:cNvSpPr txBox="1"/>
          <p:nvPr/>
        </p:nvSpPr>
        <p:spPr>
          <a:xfrm>
            <a:off x="90068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Antifoam / dispersant</a:t>
            </a:r>
            <a:endParaRPr lang="en-US" sz="1500" dirty="0"/>
          </a:p>
        </p:txBody>
      </p:sp>
      <p:sp>
        <p:nvSpPr>
          <p:cNvPr id="37" name="t938"/>
          <p:cNvSpPr txBox="1"/>
          <p:nvPr/>
        </p:nvSpPr>
        <p:spPr>
          <a:xfrm>
            <a:off x="827532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foaming and keeps solids dispersed.</a:t>
            </a:r>
            <a:endParaRPr lang="en-US" sz="1300" dirty="0"/>
          </a:p>
        </p:txBody>
      </p:sp>
      <p:sp>
        <p:nvSpPr>
          <p:cNvPr id="38" name="t939"/>
          <p:cNvSpPr txBox="1"/>
          <p:nvPr/>
        </p:nvSpPr>
        <p:spPr>
          <a:xfrm>
            <a:off x="827532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systems, boil-outs</a:t>
            </a:r>
            <a:endParaRPr lang="en-US" sz="1200" dirty="0"/>
          </a:p>
        </p:txBody>
      </p:sp>
      <p:sp>
        <p:nvSpPr>
          <p:cNvPr id="39" name="t940"/>
          <p:cNvSpPr txBox="1"/>
          <p:nvPr/>
        </p:nvSpPr>
        <p:spPr>
          <a:xfrm>
            <a:off x="548640" y="6080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is selected per unit after a compatibility check; product data and SDS are shared with the client.</a:t>
            </a:r>
            <a:endParaRPr lang="en-US" sz="12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94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3" name="t942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4" name="t943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and why Delight</a:t>
            </a:r>
            <a:endParaRPr lang="en-US" sz="3400" dirty="0"/>
          </a:p>
        </p:txBody>
      </p:sp>
      <p:sp>
        <p:nvSpPr>
          <p:cNvPr id="5" name="t944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site survey to handover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execute</a:t>
            </a:r>
            <a:endParaRPr lang="en-US" sz="2800" dirty="0"/>
          </a:p>
        </p:txBody>
      </p:sp>
      <p:sp>
        <p:nvSpPr>
          <p:cNvPr id="3" name="s945"/>
          <p:cNvSpPr/>
          <p:nvPr/>
        </p:nvSpPr>
        <p:spPr>
          <a:xfrm>
            <a:off x="1097280" y="2423160"/>
            <a:ext cx="9966960" cy="0"/>
          </a:xfrm>
          <a:prstGeom prst="line">
            <a:avLst/>
          </a:prstGeom>
          <a:noFill/>
          <a:ln w="3810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946"/>
          <p:cNvSpPr/>
          <p:nvPr/>
        </p:nvSpPr>
        <p:spPr>
          <a:xfrm>
            <a:off x="105156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4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2185416"/>
            <a:ext cx="475488" cy="475488"/>
          </a:xfrm>
          <a:prstGeom prst="rect">
            <a:avLst/>
          </a:prstGeom>
        </p:spPr>
      </p:pic>
      <p:sp>
        <p:nvSpPr>
          <p:cNvPr id="6" name="t948"/>
          <p:cNvSpPr txBox="1"/>
          <p:nvPr/>
        </p:nvSpPr>
        <p:spPr>
          <a:xfrm>
            <a:off x="6400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survey</a:t>
            </a:r>
            <a:endParaRPr lang="en-US" sz="1500" dirty="0"/>
          </a:p>
        </p:txBody>
      </p:sp>
      <p:sp>
        <p:nvSpPr>
          <p:cNvPr id="7" name="t949"/>
          <p:cNvSpPr txBox="1"/>
          <p:nvPr/>
        </p:nvSpPr>
        <p:spPr>
          <a:xfrm>
            <a:off x="6400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isometrics, data sheets, injection points</a:t>
            </a:r>
            <a:endParaRPr lang="en-US" sz="1300" dirty="0"/>
          </a:p>
        </p:txBody>
      </p:sp>
      <p:sp>
        <p:nvSpPr>
          <p:cNvPr id="8" name="s950"/>
          <p:cNvSpPr/>
          <p:nvPr/>
        </p:nvSpPr>
        <p:spPr>
          <a:xfrm>
            <a:off x="292608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i95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5536" y="2185416"/>
            <a:ext cx="475488" cy="475488"/>
          </a:xfrm>
          <a:prstGeom prst="rect">
            <a:avLst/>
          </a:prstGeom>
        </p:spPr>
      </p:pic>
      <p:sp>
        <p:nvSpPr>
          <p:cNvPr id="10" name="t952"/>
          <p:cNvSpPr txBox="1"/>
          <p:nvPr/>
        </p:nvSpPr>
        <p:spPr>
          <a:xfrm>
            <a:off x="251460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plan</a:t>
            </a:r>
            <a:endParaRPr lang="en-US" sz="1500" dirty="0"/>
          </a:p>
        </p:txBody>
      </p:sp>
      <p:sp>
        <p:nvSpPr>
          <p:cNvPr id="11" name="t953"/>
          <p:cNvSpPr txBox="1"/>
          <p:nvPr/>
        </p:nvSpPr>
        <p:spPr>
          <a:xfrm>
            <a:off x="251460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statement, chemistry, volumes, waste plan</a:t>
            </a:r>
            <a:endParaRPr lang="en-US" sz="1300" dirty="0"/>
          </a:p>
        </p:txBody>
      </p:sp>
      <p:sp>
        <p:nvSpPr>
          <p:cNvPr id="12" name="s954"/>
          <p:cNvSpPr/>
          <p:nvPr/>
        </p:nvSpPr>
        <p:spPr>
          <a:xfrm>
            <a:off x="480060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3" name="i95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6" y="2185416"/>
            <a:ext cx="475488" cy="475488"/>
          </a:xfrm>
          <a:prstGeom prst="rect">
            <a:avLst/>
          </a:prstGeom>
        </p:spPr>
      </p:pic>
      <p:sp>
        <p:nvSpPr>
          <p:cNvPr id="14" name="t956"/>
          <p:cNvSpPr txBox="1"/>
          <p:nvPr/>
        </p:nvSpPr>
        <p:spPr>
          <a:xfrm>
            <a:off x="438912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&amp; rig-up</a:t>
            </a:r>
            <a:endParaRPr lang="en-US" sz="1500" dirty="0"/>
          </a:p>
        </p:txBody>
      </p:sp>
      <p:sp>
        <p:nvSpPr>
          <p:cNvPr id="15" name="t957"/>
          <p:cNvSpPr txBox="1"/>
          <p:nvPr/>
        </p:nvSpPr>
        <p:spPr>
          <a:xfrm>
            <a:off x="438912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hoses, injection manifolds, effluent tanks</a:t>
            </a:r>
            <a:endParaRPr lang="en-US" sz="1300" dirty="0"/>
          </a:p>
        </p:txBody>
      </p:sp>
      <p:sp>
        <p:nvSpPr>
          <p:cNvPr id="16" name="s958"/>
          <p:cNvSpPr/>
          <p:nvPr/>
        </p:nvSpPr>
        <p:spPr>
          <a:xfrm>
            <a:off x="667512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7" name="i95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2185416"/>
            <a:ext cx="475488" cy="475488"/>
          </a:xfrm>
          <a:prstGeom prst="rect">
            <a:avLst/>
          </a:prstGeom>
        </p:spPr>
      </p:pic>
      <p:sp>
        <p:nvSpPr>
          <p:cNvPr id="18" name="t960"/>
          <p:cNvSpPr txBox="1"/>
          <p:nvPr/>
        </p:nvSpPr>
        <p:spPr>
          <a:xfrm>
            <a:off x="626364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Decontaminate</a:t>
            </a:r>
            <a:endParaRPr lang="en-US" sz="1500" dirty="0"/>
          </a:p>
        </p:txBody>
      </p:sp>
      <p:sp>
        <p:nvSpPr>
          <p:cNvPr id="19" name="t961"/>
          <p:cNvSpPr txBox="1"/>
          <p:nvPr/>
        </p:nvSpPr>
        <p:spPr>
          <a:xfrm>
            <a:off x="626364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flush or circulation with live monitoring</a:t>
            </a:r>
            <a:endParaRPr lang="en-US" sz="1300" dirty="0"/>
          </a:p>
        </p:txBody>
      </p:sp>
      <p:sp>
        <p:nvSpPr>
          <p:cNvPr id="20" name="s962"/>
          <p:cNvSpPr/>
          <p:nvPr/>
        </p:nvSpPr>
        <p:spPr>
          <a:xfrm>
            <a:off x="854964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1" name="i96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9096" y="2185416"/>
            <a:ext cx="475488" cy="475488"/>
          </a:xfrm>
          <a:prstGeom prst="rect">
            <a:avLst/>
          </a:prstGeom>
        </p:spPr>
      </p:pic>
      <p:sp>
        <p:nvSpPr>
          <p:cNvPr id="22" name="t964"/>
          <p:cNvSpPr txBox="1"/>
          <p:nvPr/>
        </p:nvSpPr>
        <p:spPr>
          <a:xfrm>
            <a:off x="813816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hand over</a:t>
            </a:r>
            <a:endParaRPr lang="en-US" sz="1500" dirty="0"/>
          </a:p>
        </p:txBody>
      </p:sp>
      <p:sp>
        <p:nvSpPr>
          <p:cNvPr id="23" name="t965"/>
          <p:cNvSpPr txBox="1"/>
          <p:nvPr/>
        </p:nvSpPr>
        <p:spPr>
          <a:xfrm>
            <a:off x="813816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tests against entry criteria, sign-off</a:t>
            </a:r>
            <a:endParaRPr lang="en-US" sz="1300" dirty="0"/>
          </a:p>
        </p:txBody>
      </p:sp>
      <p:sp>
        <p:nvSpPr>
          <p:cNvPr id="24" name="s966"/>
          <p:cNvSpPr/>
          <p:nvPr/>
        </p:nvSpPr>
        <p:spPr>
          <a:xfrm>
            <a:off x="1042416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i96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3616" y="2185416"/>
            <a:ext cx="475488" cy="475488"/>
          </a:xfrm>
          <a:prstGeom prst="rect">
            <a:avLst/>
          </a:prstGeom>
        </p:spPr>
      </p:pic>
      <p:sp>
        <p:nvSpPr>
          <p:cNvPr id="26" name="t968"/>
          <p:cNvSpPr txBox="1"/>
          <p:nvPr/>
        </p:nvSpPr>
        <p:spPr>
          <a:xfrm>
            <a:off x="100126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&amp; demob</a:t>
            </a:r>
            <a:endParaRPr lang="en-US" sz="1500" dirty="0"/>
          </a:p>
        </p:txBody>
      </p:sp>
      <p:sp>
        <p:nvSpPr>
          <p:cNvPr id="27" name="t969"/>
          <p:cNvSpPr txBox="1"/>
          <p:nvPr/>
        </p:nvSpPr>
        <p:spPr>
          <a:xfrm>
            <a:off x="100126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Neutralise, test and dispose via licensed contractor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800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3300"/>
                            </p:stCondLst>
                            <p:childTnLst>
                              <p:par>
                                <p:cTn id="1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responsibilities</a:t>
            </a:r>
            <a:endParaRPr lang="en-US" sz="2800" dirty="0"/>
          </a:p>
        </p:txBody>
      </p:sp>
      <p:sp>
        <p:nvSpPr>
          <p:cNvPr id="3" name="s970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71"/>
          <p:cNvSpPr/>
          <p:nvPr/>
        </p:nvSpPr>
        <p:spPr>
          <a:xfrm>
            <a:off x="82296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t972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6" name="t973"/>
          <p:cNvSpPr txBox="1"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engineering and method statement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supervisors and technicians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chemistry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skids, injection hoses and manifolds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monitoring during decontamination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neutralisation and waste coordination</a:t>
            </a:r>
            <a:endParaRPr lang="en-US" sz="1500" dirty="0"/>
          </a:p>
        </p:txBody>
      </p:sp>
      <p:sp>
        <p:nvSpPr>
          <p:cNvPr id="7" name="s974"/>
          <p:cNvSpPr/>
          <p:nvPr/>
        </p:nvSpPr>
        <p:spPr>
          <a:xfrm>
            <a:off x="617220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8" name="s975"/>
          <p:cNvSpPr/>
          <p:nvPr/>
        </p:nvSpPr>
        <p:spPr>
          <a:xfrm>
            <a:off x="644652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t976"/>
          <p:cNvSpPr txBox="1"/>
          <p:nvPr/>
        </p:nvSpPr>
        <p:spPr>
          <a:xfrm>
            <a:off x="644652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0" name="t977"/>
          <p:cNvSpPr txBox="1"/>
          <p:nvPr/>
        </p:nvSpPr>
        <p:spPr>
          <a:xfrm>
            <a:off x="658368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de-inventory and permits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Steam, water, nitrogen and power utilities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control room / DCS readings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to drain low points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support for sample analysis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validation</a:t>
            </a:r>
            <a:endParaRPr lang="en-US" sz="2800" dirty="0"/>
          </a:p>
        </p:txBody>
      </p:sp>
      <p:sp>
        <p:nvSpPr>
          <p:cNvPr id="3" name="s978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79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8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029" y="1922069"/>
            <a:ext cx="499262" cy="499262"/>
          </a:xfrm>
          <a:prstGeom prst="rect">
            <a:avLst/>
          </a:prstGeom>
        </p:spPr>
      </p:pic>
      <p:sp>
        <p:nvSpPr>
          <p:cNvPr id="6" name="t981"/>
          <p:cNvSpPr txBox="1"/>
          <p:nvPr/>
        </p:nvSpPr>
        <p:spPr>
          <a:xfrm>
            <a:off x="68580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Multi-gas meter</a:t>
            </a:r>
            <a:endParaRPr lang="en-US" sz="1600" dirty="0"/>
          </a:p>
        </p:txBody>
      </p:sp>
      <p:sp>
        <p:nvSpPr>
          <p:cNvPr id="7" name="t982"/>
          <p:cNvSpPr txBox="1"/>
          <p:nvPr/>
        </p:nvSpPr>
        <p:spPr>
          <a:xfrm>
            <a:off x="731520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LEL, H₂S, O₂ and CO at vents and manways</a:t>
            </a:r>
            <a:endParaRPr lang="en-US" sz="1400" dirty="0"/>
          </a:p>
        </p:txBody>
      </p:sp>
      <p:sp>
        <p:nvSpPr>
          <p:cNvPr id="8" name="s983"/>
          <p:cNvSpPr/>
          <p:nvPr/>
        </p:nvSpPr>
        <p:spPr>
          <a:xfrm>
            <a:off x="3364992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984"/>
          <p:cNvSpPr/>
          <p:nvPr/>
        </p:nvSpPr>
        <p:spPr>
          <a:xfrm>
            <a:off x="4187952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98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1922069"/>
            <a:ext cx="499262" cy="499262"/>
          </a:xfrm>
          <a:prstGeom prst="rect">
            <a:avLst/>
          </a:prstGeom>
        </p:spPr>
      </p:pic>
      <p:sp>
        <p:nvSpPr>
          <p:cNvPr id="11" name="t986"/>
          <p:cNvSpPr txBox="1"/>
          <p:nvPr/>
        </p:nvSpPr>
        <p:spPr>
          <a:xfrm>
            <a:off x="3502152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/ VOC meter</a:t>
            </a:r>
            <a:endParaRPr lang="en-US" sz="1600" dirty="0"/>
          </a:p>
        </p:txBody>
      </p:sp>
      <p:sp>
        <p:nvSpPr>
          <p:cNvPr id="12" name="t987"/>
          <p:cNvSpPr txBox="1"/>
          <p:nvPr/>
        </p:nvSpPr>
        <p:spPr>
          <a:xfrm>
            <a:off x="3547872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readings and detector tubes for benzene</a:t>
            </a:r>
            <a:endParaRPr lang="en-US" sz="1400" dirty="0"/>
          </a:p>
        </p:txBody>
      </p:sp>
      <p:sp>
        <p:nvSpPr>
          <p:cNvPr id="13" name="s988"/>
          <p:cNvSpPr/>
          <p:nvPr/>
        </p:nvSpPr>
        <p:spPr>
          <a:xfrm>
            <a:off x="6181344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989"/>
          <p:cNvSpPr/>
          <p:nvPr/>
        </p:nvSpPr>
        <p:spPr>
          <a:xfrm>
            <a:off x="7004304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99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733" y="1922069"/>
            <a:ext cx="499262" cy="499262"/>
          </a:xfrm>
          <a:prstGeom prst="rect">
            <a:avLst/>
          </a:prstGeom>
        </p:spPr>
      </p:pic>
      <p:sp>
        <p:nvSpPr>
          <p:cNvPr id="16" name="t991"/>
          <p:cNvSpPr txBox="1"/>
          <p:nvPr/>
        </p:nvSpPr>
        <p:spPr>
          <a:xfrm>
            <a:off x="6318504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sampling</a:t>
            </a:r>
            <a:endParaRPr lang="en-US" sz="1600" dirty="0"/>
          </a:p>
        </p:txBody>
      </p:sp>
      <p:sp>
        <p:nvSpPr>
          <p:cNvPr id="17" name="t992"/>
          <p:cNvSpPr txBox="1"/>
          <p:nvPr/>
        </p:nvSpPr>
        <p:spPr>
          <a:xfrm>
            <a:off x="6364224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bombs to the client laboratory where required</a:t>
            </a:r>
            <a:endParaRPr lang="en-US" sz="1400" dirty="0"/>
          </a:p>
        </p:txBody>
      </p:sp>
      <p:sp>
        <p:nvSpPr>
          <p:cNvPr id="18" name="s993"/>
          <p:cNvSpPr/>
          <p:nvPr/>
        </p:nvSpPr>
        <p:spPr>
          <a:xfrm>
            <a:off x="8997696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994"/>
          <p:cNvSpPr/>
          <p:nvPr/>
        </p:nvSpPr>
        <p:spPr>
          <a:xfrm>
            <a:off x="9820656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99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1085" y="1922069"/>
            <a:ext cx="499262" cy="499262"/>
          </a:xfrm>
          <a:prstGeom prst="rect">
            <a:avLst/>
          </a:prstGeom>
        </p:spPr>
      </p:pic>
      <p:sp>
        <p:nvSpPr>
          <p:cNvPr id="21" name="t996"/>
          <p:cNvSpPr txBox="1"/>
          <p:nvPr/>
        </p:nvSpPr>
        <p:spPr>
          <a:xfrm>
            <a:off x="9134856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checks</a:t>
            </a:r>
            <a:endParaRPr lang="en-US" sz="1600" dirty="0"/>
          </a:p>
        </p:txBody>
      </p:sp>
      <p:sp>
        <p:nvSpPr>
          <p:cNvPr id="22" name="t997"/>
          <p:cNvSpPr txBox="1"/>
          <p:nvPr/>
        </p:nvSpPr>
        <p:spPr>
          <a:xfrm>
            <a:off x="9180576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COD and oil content before disposal</a:t>
            </a:r>
            <a:endParaRPr lang="en-US" sz="1400" dirty="0"/>
          </a:p>
        </p:txBody>
      </p:sp>
      <p:sp>
        <p:nvSpPr>
          <p:cNvPr id="23" name="s998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999"/>
          <p:cNvSpPr txBox="1"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is complete when the client’s entry criteria are met and confirmed by validation readings – then the equipment is handed over for opening.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waste, less exposure</a:t>
            </a:r>
            <a:endParaRPr lang="en-US" sz="2800" dirty="0"/>
          </a:p>
        </p:txBody>
      </p:sp>
      <p:sp>
        <p:nvSpPr>
          <p:cNvPr id="3" name="s1000"/>
          <p:cNvSpPr/>
          <p:nvPr/>
        </p:nvSpPr>
        <p:spPr>
          <a:xfrm>
            <a:off x="731520" y="1417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" name="i100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1614830"/>
            <a:ext cx="427939" cy="427939"/>
          </a:xfrm>
          <a:prstGeom prst="rect">
            <a:avLst/>
          </a:prstGeom>
        </p:spPr>
      </p:pic>
      <p:sp>
        <p:nvSpPr>
          <p:cNvPr id="5" name="t1002"/>
          <p:cNvSpPr txBox="1"/>
          <p:nvPr/>
        </p:nvSpPr>
        <p:spPr>
          <a:xfrm>
            <a:off x="1828800" y="1399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water than water washing</a:t>
            </a:r>
            <a:endParaRPr lang="en-US" sz="1800" dirty="0"/>
          </a:p>
        </p:txBody>
      </p:sp>
      <p:sp>
        <p:nvSpPr>
          <p:cNvPr id="6" name="t1003"/>
          <p:cNvSpPr txBox="1"/>
          <p:nvPr/>
        </p:nvSpPr>
        <p:spPr>
          <a:xfrm>
            <a:off x="1828800" y="1828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uses steam already available on the unit.</a:t>
            </a:r>
            <a:endParaRPr lang="en-US" sz="1500" dirty="0"/>
          </a:p>
        </p:txBody>
      </p:sp>
      <p:sp>
        <p:nvSpPr>
          <p:cNvPr id="7" name="s1004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8" name="i100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2757830"/>
            <a:ext cx="427939" cy="427939"/>
          </a:xfrm>
          <a:prstGeom prst="rect">
            <a:avLst/>
          </a:prstGeom>
        </p:spPr>
      </p:pic>
      <p:sp>
        <p:nvSpPr>
          <p:cNvPr id="9" name="t1006"/>
          <p:cNvSpPr txBox="1"/>
          <p:nvPr/>
        </p:nvSpPr>
        <p:spPr>
          <a:xfrm>
            <a:off x="1828800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confined-space entry</a:t>
            </a:r>
            <a:endParaRPr lang="en-US" sz="1800" dirty="0"/>
          </a:p>
        </p:txBody>
      </p:sp>
      <p:sp>
        <p:nvSpPr>
          <p:cNvPr id="10" name="t1007"/>
          <p:cNvSpPr txBox="1"/>
          <p:nvPr/>
        </p:nvSpPr>
        <p:spPr>
          <a:xfrm>
            <a:off x="1828800" y="2971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is gas-free and pyrophoric-safe before it is opened.</a:t>
            </a:r>
            <a:endParaRPr lang="en-US" sz="1500" dirty="0"/>
          </a:p>
        </p:txBody>
      </p:sp>
      <p:sp>
        <p:nvSpPr>
          <p:cNvPr id="11" name="s1008"/>
          <p:cNvSpPr/>
          <p:nvPr/>
        </p:nvSpPr>
        <p:spPr>
          <a:xfrm>
            <a:off x="731520" y="3703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2" name="i100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30" y="3900830"/>
            <a:ext cx="427939" cy="427939"/>
          </a:xfrm>
          <a:prstGeom prst="rect">
            <a:avLst/>
          </a:prstGeom>
        </p:spPr>
      </p:pic>
      <p:sp>
        <p:nvSpPr>
          <p:cNvPr id="13" name="t1010"/>
          <p:cNvSpPr txBox="1"/>
          <p:nvPr/>
        </p:nvSpPr>
        <p:spPr>
          <a:xfrm>
            <a:off x="1828800" y="3685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effluent</a:t>
            </a:r>
            <a:endParaRPr lang="en-US" sz="1800" dirty="0"/>
          </a:p>
        </p:txBody>
      </p:sp>
      <p:sp>
        <p:nvSpPr>
          <p:cNvPr id="14" name="t1011"/>
          <p:cNvSpPr txBox="1"/>
          <p:nvPr/>
        </p:nvSpPr>
        <p:spPr>
          <a:xfrm>
            <a:off x="1828800" y="4114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in holding tanks, neutralised and tested before disposal.</a:t>
            </a:r>
            <a:endParaRPr lang="en-US" sz="1500" dirty="0"/>
          </a:p>
        </p:txBody>
      </p:sp>
      <p:sp>
        <p:nvSpPr>
          <p:cNvPr id="15" name="s1012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6" name="i10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030" y="5043830"/>
            <a:ext cx="427939" cy="427939"/>
          </a:xfrm>
          <a:prstGeom prst="rect">
            <a:avLst/>
          </a:prstGeom>
        </p:spPr>
      </p:pic>
      <p:sp>
        <p:nvSpPr>
          <p:cNvPr id="17" name="t1014"/>
          <p:cNvSpPr txBox="1"/>
          <p:nvPr/>
        </p:nvSpPr>
        <p:spPr>
          <a:xfrm>
            <a:off x="1828800" y="4828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recovered, not wasted</a:t>
            </a:r>
            <a:endParaRPr lang="en-US" sz="1800" dirty="0"/>
          </a:p>
        </p:txBody>
      </p:sp>
      <p:sp>
        <p:nvSpPr>
          <p:cNvPr id="18" name="t1015"/>
          <p:cNvSpPr txBox="1"/>
          <p:nvPr/>
        </p:nvSpPr>
        <p:spPr>
          <a:xfrm>
            <a:off x="1828800" y="5257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goes back to slop / rerun.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Delight</a:t>
            </a:r>
            <a:endParaRPr lang="en-US" sz="2800" dirty="0"/>
          </a:p>
        </p:txBody>
      </p:sp>
      <p:sp>
        <p:nvSpPr>
          <p:cNvPr id="3" name="s1016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1017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101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1019"/>
          <p:cNvSpPr txBox="1"/>
          <p:nvPr/>
        </p:nvSpPr>
        <p:spPr>
          <a:xfrm>
            <a:off x="160020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600" dirty="0"/>
          </a:p>
        </p:txBody>
      </p:sp>
      <p:sp>
        <p:nvSpPr>
          <p:cNvPr id="7" name="t1020"/>
          <p:cNvSpPr txBox="1"/>
          <p:nvPr/>
        </p:nvSpPr>
        <p:spPr>
          <a:xfrm>
            <a:off x="77724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 management system</a:t>
            </a:r>
            <a:endParaRPr lang="en-US" sz="1400" dirty="0"/>
          </a:p>
        </p:txBody>
      </p:sp>
      <p:sp>
        <p:nvSpPr>
          <p:cNvPr id="8" name="s1021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022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10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1" name="t1024"/>
          <p:cNvSpPr txBox="1"/>
          <p:nvPr/>
        </p:nvSpPr>
        <p:spPr>
          <a:xfrm>
            <a:off x="534924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600" dirty="0"/>
          </a:p>
        </p:txBody>
      </p:sp>
      <p:sp>
        <p:nvSpPr>
          <p:cNvPr id="12" name="t1025"/>
          <p:cNvSpPr txBox="1"/>
          <p:nvPr/>
        </p:nvSpPr>
        <p:spPr>
          <a:xfrm>
            <a:off x="452628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13" name="s1026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027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10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6" name="t1029"/>
          <p:cNvSpPr txBox="1"/>
          <p:nvPr/>
        </p:nvSpPr>
        <p:spPr>
          <a:xfrm>
            <a:off x="909828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600" dirty="0"/>
          </a:p>
        </p:txBody>
      </p:sp>
      <p:sp>
        <p:nvSpPr>
          <p:cNvPr id="17" name="t1030"/>
          <p:cNvSpPr txBox="1"/>
          <p:nvPr/>
        </p:nvSpPr>
        <p:spPr>
          <a:xfrm>
            <a:off x="827532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Decontamination, chemical cleaning, hydro jetting, bundle extraction</a:t>
            </a:r>
            <a:endParaRPr lang="en-US" sz="1400" dirty="0"/>
          </a:p>
        </p:txBody>
      </p:sp>
      <p:sp>
        <p:nvSpPr>
          <p:cNvPr id="18" name="s1031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1032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103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1" name="t1034"/>
          <p:cNvSpPr txBox="1"/>
          <p:nvPr/>
        </p:nvSpPr>
        <p:spPr>
          <a:xfrm>
            <a:off x="160020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fleet</a:t>
            </a:r>
            <a:endParaRPr lang="en-US" sz="1600" dirty="0"/>
          </a:p>
        </p:txBody>
      </p:sp>
      <p:sp>
        <p:nvSpPr>
          <p:cNvPr id="22" name="t1035"/>
          <p:cNvSpPr txBox="1"/>
          <p:nvPr/>
        </p:nvSpPr>
        <p:spPr>
          <a:xfrm>
            <a:off x="7772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/ UHP units and 22 T – 65 T bundle extractors</a:t>
            </a:r>
            <a:endParaRPr lang="en-US" sz="1400" dirty="0"/>
          </a:p>
        </p:txBody>
      </p:sp>
      <p:sp>
        <p:nvSpPr>
          <p:cNvPr id="23" name="s1036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4" name="s1037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i103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26" name="t1039"/>
          <p:cNvSpPr txBox="1"/>
          <p:nvPr/>
        </p:nvSpPr>
        <p:spPr>
          <a:xfrm>
            <a:off x="534924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crews</a:t>
            </a:r>
            <a:endParaRPr lang="en-US" sz="1600" dirty="0"/>
          </a:p>
        </p:txBody>
      </p:sp>
      <p:sp>
        <p:nvSpPr>
          <p:cNvPr id="27" name="t1040"/>
          <p:cNvSpPr txBox="1"/>
          <p:nvPr/>
        </p:nvSpPr>
        <p:spPr>
          <a:xfrm>
            <a:off x="452628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supervisors and technicians for shutdown work</a:t>
            </a:r>
            <a:endParaRPr lang="en-US" sz="1400" dirty="0"/>
          </a:p>
        </p:txBody>
      </p:sp>
      <p:sp>
        <p:nvSpPr>
          <p:cNvPr id="28" name="s1041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9" name="s1042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30" name="i104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1" name="t1044"/>
          <p:cNvSpPr txBox="1"/>
          <p:nvPr/>
        </p:nvSpPr>
        <p:spPr>
          <a:xfrm>
            <a:off x="909828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responsibility</a:t>
            </a:r>
            <a:endParaRPr lang="en-US" sz="1600" dirty="0"/>
          </a:p>
        </p:txBody>
      </p:sp>
      <p:sp>
        <p:nvSpPr>
          <p:cNvPr id="32" name="t1045"/>
          <p:cNvSpPr txBox="1"/>
          <p:nvPr/>
        </p:nvSpPr>
        <p:spPr>
          <a:xfrm>
            <a:off x="827532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survey and planning to waste handling and handover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04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3" name="t1047"/>
          <p:cNvSpPr txBox="1"/>
          <p:nvPr/>
        </p:nvSpPr>
        <p:spPr>
          <a:xfrm>
            <a:off x="68580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1048"/>
          <p:cNvSpPr txBox="1"/>
          <p:nvPr/>
        </p:nvSpPr>
        <p:spPr>
          <a:xfrm>
            <a:off x="68580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decontamination for your next shutdown.</a:t>
            </a:r>
            <a:endParaRPr lang="en-US" sz="2000" dirty="0"/>
          </a:p>
        </p:txBody>
      </p:sp>
      <p:sp>
        <p:nvSpPr>
          <p:cNvPr id="5" name="t1049"/>
          <p:cNvSpPr txBox="1"/>
          <p:nvPr/>
        </p:nvSpPr>
        <p:spPr>
          <a:xfrm>
            <a:off x="685800" y="4297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Equipment International L.L.C.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P.O. Box 2932, Abu Dhabi, United Arab Emirates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+971 2 5515641  ·  info@delightintl.ae  ·  www.delightintl.ae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(Jubail) +966 59348 1459  ·  India (Udupi) +91 9686433661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3281</Words>
  <Application>Microsoft Office PowerPoint</Application>
  <PresentationFormat>Widescreen</PresentationFormat>
  <Paragraphs>600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Decontamination across the oil &amp; gas value chain</dc:title>
  <dc:subject>PptxGenJS Presentation</dc:subject>
  <dc:creator>Delight International</dc:creator>
  <cp:lastModifiedBy>Mohammed Ibrahim</cp:lastModifiedBy>
  <cp:revision>2</cp:revision>
  <dcterms:created xsi:type="dcterms:W3CDTF">2026-10-06T08:11:19Z</dcterms:created>
  <dcterms:modified xsi:type="dcterms:W3CDTF">2026-10-06T08:17:03Z</dcterms:modified>
</cp:coreProperties>
</file>