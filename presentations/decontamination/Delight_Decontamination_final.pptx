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82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Delight decontamination: where it is needed in oil &amp; gas, how we do it, and what happens to every contaminant.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value chain branch by branch. The green ticks mark where Delight decontaminates. The next four slides zoom into each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zooms into upstream: the tree shrinks to the corner and the branch's facilities fly out. Click to show where we work and what is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zooms into midstream: the tree shrinks to the corner and the branch's facilities fly out. Click to show where we work and what is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zooms into downstream: the tree shrinks to the corner and the branch's facilities fly out. Click to show where we work and what is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 zooms into petrochemicals: the tree shrinks to the corner and the branch's facilities fly out. Click to show where we work and what is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this slide for each client meeting (type into the grey boxes).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hazards that must be removed before entry – the colours are used for these contaminants throughout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 is chosen per piece of equipment; most units combine two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clicks. H₂S and FeS are converted in place and leave with the condensate; only the vapours go to the flare. The column cleans in stages from oily brown to Delight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Chemistry goes in with the steam through the bottom risers. The vessel cleans in stages from oily brown to Delight blue.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returning-oil sample is how the end point is judged on site. Loaded oil goes to slop / rerun, then vapour-phase gas-frees the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where steam is not allowed: tanks and lined / coated / low-design-temperature vessels.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Pre-treatment and post-treatment use the same circulation/spray route. Pre-treatment coats the packing geometry so the vapour-phase works deeper; post-treatment is the oxidation wash for pyrophoric FeS before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Tanks are atmospheric: no flare. Vapours are vented through a carbon filter. Bulk sludge is vacuumed to a waste tank for licensed disposal (no oil recovery), then gamma-jetting and circulation run for 8–12 hours; spent wash goes to the effluent tank.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1: vapours to the flare. Click 2: H₂S, FeS, ammonia, mercaptans and sludge are converted / emulsified and drained. Click 3: heavy oil is recovered.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FT">
    <p:bg>
      <p:bgPr>
        <a:solidFill>
          <a:srgbClr val="E9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3" name="t2"/>
          <p:cNvSpPr txBox="1"/>
          <p:nvPr/>
        </p:nvSpPr>
        <p:spPr>
          <a:xfrm>
            <a:off x="68580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SERVICES</a:t>
            </a:r>
            <a:endParaRPr lang="en-US" sz="1600" dirty="0"/>
          </a:p>
        </p:txBody>
      </p:sp>
      <p:sp>
        <p:nvSpPr>
          <p:cNvPr id="4" name="t3"/>
          <p:cNvSpPr txBox="1"/>
          <p:nvPr/>
        </p:nvSpPr>
        <p:spPr>
          <a:xfrm>
            <a:off x="685800" y="274320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Safe, fast entry – across the oil &amp; gas value chain</a:t>
            </a:r>
            <a:endParaRPr lang="en-US" sz="4000" dirty="0"/>
          </a:p>
        </p:txBody>
      </p:sp>
      <p:sp>
        <p:nvSpPr>
          <p:cNvPr id="5" name="t4"/>
          <p:cNvSpPr txBox="1"/>
          <p:nvPr/>
        </p:nvSpPr>
        <p:spPr>
          <a:xfrm>
            <a:off x="6858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International  ·  Maintenance Simplified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Delight International at a glance</a:t>
            </a:r>
            <a:endParaRPr lang="en-US" sz="2800" dirty="0"/>
          </a:p>
        </p:txBody>
      </p:sp>
      <p:sp>
        <p:nvSpPr>
          <p:cNvPr id="3" name="s5"/>
          <p:cNvSpPr/>
          <p:nvPr/>
        </p:nvSpPr>
        <p:spPr>
          <a:xfrm>
            <a:off x="548640" y="14630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" name="s6"/>
          <p:cNvSpPr/>
          <p:nvPr/>
        </p:nvSpPr>
        <p:spPr>
          <a:xfrm>
            <a:off x="1371600" y="178308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029" y="2013509"/>
            <a:ext cx="499262" cy="499262"/>
          </a:xfrm>
          <a:prstGeom prst="rect">
            <a:avLst/>
          </a:prstGeom>
        </p:spPr>
      </p:pic>
      <p:sp>
        <p:nvSpPr>
          <p:cNvPr id="6" name="t8"/>
          <p:cNvSpPr txBox="1"/>
          <p:nvPr/>
        </p:nvSpPr>
        <p:spPr>
          <a:xfrm>
            <a:off x="6858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700" dirty="0"/>
          </a:p>
        </p:txBody>
      </p:sp>
      <p:sp>
        <p:nvSpPr>
          <p:cNvPr id="7" name="t9"/>
          <p:cNvSpPr txBox="1"/>
          <p:nvPr/>
        </p:nvSpPr>
        <p:spPr>
          <a:xfrm>
            <a:off x="731520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8" name="s10"/>
          <p:cNvSpPr/>
          <p:nvPr/>
        </p:nvSpPr>
        <p:spPr>
          <a:xfrm>
            <a:off x="3364992" y="14630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11"/>
          <p:cNvSpPr/>
          <p:nvPr/>
        </p:nvSpPr>
        <p:spPr>
          <a:xfrm>
            <a:off x="4187952" y="178308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0" name="i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2013509"/>
            <a:ext cx="499262" cy="499262"/>
          </a:xfrm>
          <a:prstGeom prst="rect">
            <a:avLst/>
          </a:prstGeom>
        </p:spPr>
      </p:pic>
      <p:sp>
        <p:nvSpPr>
          <p:cNvPr id="11" name="t13"/>
          <p:cNvSpPr txBox="1"/>
          <p:nvPr/>
        </p:nvSpPr>
        <p:spPr>
          <a:xfrm>
            <a:off x="3502152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700" dirty="0"/>
          </a:p>
        </p:txBody>
      </p:sp>
      <p:sp>
        <p:nvSpPr>
          <p:cNvPr id="12" name="t14"/>
          <p:cNvSpPr txBox="1"/>
          <p:nvPr/>
        </p:nvSpPr>
        <p:spPr>
          <a:xfrm>
            <a:off x="3547872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</a:t>
            </a:r>
            <a:endParaRPr lang="en-US" sz="1400" dirty="0"/>
          </a:p>
        </p:txBody>
      </p:sp>
      <p:sp>
        <p:nvSpPr>
          <p:cNvPr id="13" name="s15"/>
          <p:cNvSpPr/>
          <p:nvPr/>
        </p:nvSpPr>
        <p:spPr>
          <a:xfrm>
            <a:off x="6181344" y="14630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16"/>
          <p:cNvSpPr/>
          <p:nvPr/>
        </p:nvSpPr>
        <p:spPr>
          <a:xfrm>
            <a:off x="7004304" y="178308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733" y="2013509"/>
            <a:ext cx="499262" cy="499262"/>
          </a:xfrm>
          <a:prstGeom prst="rect">
            <a:avLst/>
          </a:prstGeom>
        </p:spPr>
      </p:pic>
      <p:sp>
        <p:nvSpPr>
          <p:cNvPr id="16" name="t18"/>
          <p:cNvSpPr txBox="1"/>
          <p:nvPr/>
        </p:nvSpPr>
        <p:spPr>
          <a:xfrm>
            <a:off x="6318504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 we serve</a:t>
            </a:r>
            <a:endParaRPr lang="en-US" sz="1700" dirty="0"/>
          </a:p>
        </p:txBody>
      </p:sp>
      <p:sp>
        <p:nvSpPr>
          <p:cNvPr id="17" name="t19"/>
          <p:cNvSpPr txBox="1"/>
          <p:nvPr/>
        </p:nvSpPr>
        <p:spPr>
          <a:xfrm>
            <a:off x="6364224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Onshore, offshore, marine, power and oil &amp; gas</a:t>
            </a:r>
            <a:endParaRPr lang="en-US" sz="1400" dirty="0"/>
          </a:p>
        </p:txBody>
      </p:sp>
      <p:sp>
        <p:nvSpPr>
          <p:cNvPr id="18" name="s20"/>
          <p:cNvSpPr/>
          <p:nvPr/>
        </p:nvSpPr>
        <p:spPr>
          <a:xfrm>
            <a:off x="8997696" y="14630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21"/>
          <p:cNvSpPr/>
          <p:nvPr/>
        </p:nvSpPr>
        <p:spPr>
          <a:xfrm>
            <a:off x="9820656" y="178308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0" name="i2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1085" y="2013509"/>
            <a:ext cx="499262" cy="499262"/>
          </a:xfrm>
          <a:prstGeom prst="rect">
            <a:avLst/>
          </a:prstGeom>
        </p:spPr>
      </p:pic>
      <p:sp>
        <p:nvSpPr>
          <p:cNvPr id="21" name="t23"/>
          <p:cNvSpPr txBox="1"/>
          <p:nvPr/>
        </p:nvSpPr>
        <p:spPr>
          <a:xfrm>
            <a:off x="9134856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700" dirty="0"/>
          </a:p>
        </p:txBody>
      </p:sp>
      <p:sp>
        <p:nvSpPr>
          <p:cNvPr id="22" name="t24"/>
          <p:cNvSpPr txBox="1"/>
          <p:nvPr/>
        </p:nvSpPr>
        <p:spPr>
          <a:xfrm>
            <a:off x="9180576" y="33832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maintenance, specialised services, flange management, pipeline, marine and tank cleaning</a:t>
            </a:r>
            <a:endParaRPr lang="en-US" sz="1400" dirty="0"/>
          </a:p>
        </p:txBody>
      </p:sp>
      <p:sp>
        <p:nvSpPr>
          <p:cNvPr id="23" name="s25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EAF6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26"/>
          <p:cNvSpPr txBox="1"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at Delight:  </a:t>
            </a: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boil-out, viscosity flush, chemical circulation, packing pre- &amp; post-treatment and tank gamma-jet – planned, executed and validated by one team.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decontamination fits in oil &amp; gas</a:t>
            </a:r>
            <a:endParaRPr lang="en-US" sz="2800" dirty="0"/>
          </a:p>
        </p:txBody>
      </p:sp>
      <p:sp>
        <p:nvSpPr>
          <p:cNvPr id="3" name="!!root"/>
          <p:cNvSpPr/>
          <p:nvPr/>
        </p:nvSpPr>
        <p:spPr>
          <a:xfrm>
            <a:off x="4178808" y="1280160"/>
            <a:ext cx="3840480" cy="658368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!!root_t"/>
          <p:cNvSpPr txBox="1"/>
          <p:nvPr/>
        </p:nvSpPr>
        <p:spPr>
          <a:xfrm>
            <a:off x="4178808" y="12801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1600" dirty="0"/>
          </a:p>
        </p:txBody>
      </p:sp>
      <p:sp>
        <p:nvSpPr>
          <p:cNvPr id="5" name="!!bar_v"/>
          <p:cNvSpPr/>
          <p:nvPr/>
        </p:nvSpPr>
        <p:spPr>
          <a:xfrm>
            <a:off x="6099048" y="1938528"/>
            <a:ext cx="0" cy="256032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bar_h"/>
          <p:cNvSpPr/>
          <p:nvPr/>
        </p:nvSpPr>
        <p:spPr>
          <a:xfrm>
            <a:off x="1783080" y="2194560"/>
            <a:ext cx="8641080" cy="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spine0"/>
          <p:cNvSpPr/>
          <p:nvPr/>
        </p:nvSpPr>
        <p:spPr>
          <a:xfrm>
            <a:off x="178308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br0"/>
          <p:cNvSpPr/>
          <p:nvPr/>
        </p:nvSpPr>
        <p:spPr>
          <a:xfrm>
            <a:off x="50292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!!bri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566928" cy="566928"/>
          </a:xfrm>
          <a:prstGeom prst="rect">
            <a:avLst/>
          </a:prstGeom>
        </p:spPr>
      </p:pic>
      <p:sp>
        <p:nvSpPr>
          <p:cNvPr id="10" name="!!brt0"/>
          <p:cNvSpPr txBox="1"/>
          <p:nvPr/>
        </p:nvSpPr>
        <p:spPr>
          <a:xfrm>
            <a:off x="128016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1350" dirty="0"/>
          </a:p>
        </p:txBody>
      </p:sp>
      <p:sp>
        <p:nvSpPr>
          <p:cNvPr id="11" name="!!lf0_0"/>
          <p:cNvSpPr/>
          <p:nvPr/>
        </p:nvSpPr>
        <p:spPr>
          <a:xfrm>
            <a:off x="50292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lft0_0"/>
          <p:cNvSpPr txBox="1"/>
          <p:nvPr/>
        </p:nvSpPr>
        <p:spPr>
          <a:xfrm>
            <a:off x="68580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1250" dirty="0"/>
          </a:p>
        </p:txBody>
      </p:sp>
      <p:sp>
        <p:nvSpPr>
          <p:cNvPr id="13" name="!!mk0_0"/>
          <p:cNvSpPr/>
          <p:nvPr/>
        </p:nvSpPr>
        <p:spPr>
          <a:xfrm>
            <a:off x="267919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4" name="!!mki0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3794760"/>
            <a:ext cx="164592" cy="164592"/>
          </a:xfrm>
          <a:prstGeom prst="rect">
            <a:avLst/>
          </a:prstGeom>
        </p:spPr>
      </p:pic>
      <p:sp>
        <p:nvSpPr>
          <p:cNvPr id="15" name="!!lf0_1"/>
          <p:cNvSpPr/>
          <p:nvPr/>
        </p:nvSpPr>
        <p:spPr>
          <a:xfrm>
            <a:off x="50292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lft0_1"/>
          <p:cNvSpPr txBox="1"/>
          <p:nvPr/>
        </p:nvSpPr>
        <p:spPr>
          <a:xfrm>
            <a:off x="68580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1250" dirty="0"/>
          </a:p>
        </p:txBody>
      </p:sp>
      <p:sp>
        <p:nvSpPr>
          <p:cNvPr id="17" name="!!mk0_1"/>
          <p:cNvSpPr/>
          <p:nvPr/>
        </p:nvSpPr>
        <p:spPr>
          <a:xfrm>
            <a:off x="267919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8" name="!!mki0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4453128"/>
            <a:ext cx="164592" cy="164592"/>
          </a:xfrm>
          <a:prstGeom prst="rect">
            <a:avLst/>
          </a:prstGeom>
        </p:spPr>
      </p:pic>
      <p:sp>
        <p:nvSpPr>
          <p:cNvPr id="19" name="!!lf0_2"/>
          <p:cNvSpPr/>
          <p:nvPr/>
        </p:nvSpPr>
        <p:spPr>
          <a:xfrm>
            <a:off x="50292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lft0_2"/>
          <p:cNvSpPr txBox="1"/>
          <p:nvPr/>
        </p:nvSpPr>
        <p:spPr>
          <a:xfrm>
            <a:off x="68580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1250" dirty="0"/>
          </a:p>
        </p:txBody>
      </p:sp>
      <p:sp>
        <p:nvSpPr>
          <p:cNvPr id="21" name="!!mk0_2"/>
          <p:cNvSpPr/>
          <p:nvPr/>
        </p:nvSpPr>
        <p:spPr>
          <a:xfrm>
            <a:off x="267919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2" name="!!mki0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5111496"/>
            <a:ext cx="164592" cy="164592"/>
          </a:xfrm>
          <a:prstGeom prst="rect">
            <a:avLst/>
          </a:prstGeom>
        </p:spPr>
      </p:pic>
      <p:sp>
        <p:nvSpPr>
          <p:cNvPr id="23" name="!!spine1"/>
          <p:cNvSpPr/>
          <p:nvPr/>
        </p:nvSpPr>
        <p:spPr>
          <a:xfrm>
            <a:off x="466344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br1"/>
          <p:cNvSpPr/>
          <p:nvPr/>
        </p:nvSpPr>
        <p:spPr>
          <a:xfrm>
            <a:off x="338328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5" name="!!bri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606040"/>
            <a:ext cx="566928" cy="566928"/>
          </a:xfrm>
          <a:prstGeom prst="rect">
            <a:avLst/>
          </a:prstGeom>
        </p:spPr>
      </p:pic>
      <p:sp>
        <p:nvSpPr>
          <p:cNvPr id="26" name="!!brt1"/>
          <p:cNvSpPr txBox="1"/>
          <p:nvPr/>
        </p:nvSpPr>
        <p:spPr>
          <a:xfrm>
            <a:off x="416052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1350" dirty="0"/>
          </a:p>
        </p:txBody>
      </p:sp>
      <p:sp>
        <p:nvSpPr>
          <p:cNvPr id="27" name="!!lf1_0"/>
          <p:cNvSpPr/>
          <p:nvPr/>
        </p:nvSpPr>
        <p:spPr>
          <a:xfrm>
            <a:off x="338328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!!lft1_0"/>
          <p:cNvSpPr txBox="1"/>
          <p:nvPr/>
        </p:nvSpPr>
        <p:spPr>
          <a:xfrm>
            <a:off x="356616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1250" dirty="0"/>
          </a:p>
        </p:txBody>
      </p:sp>
      <p:sp>
        <p:nvSpPr>
          <p:cNvPr id="29" name="!!mk1_0"/>
          <p:cNvSpPr/>
          <p:nvPr/>
        </p:nvSpPr>
        <p:spPr>
          <a:xfrm>
            <a:off x="555955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0" name="!!mki1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3794760"/>
            <a:ext cx="164592" cy="164592"/>
          </a:xfrm>
          <a:prstGeom prst="rect">
            <a:avLst/>
          </a:prstGeom>
        </p:spPr>
      </p:pic>
      <p:sp>
        <p:nvSpPr>
          <p:cNvPr id="31" name="!!lf1_1"/>
          <p:cNvSpPr/>
          <p:nvPr/>
        </p:nvSpPr>
        <p:spPr>
          <a:xfrm>
            <a:off x="338328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lft1_1"/>
          <p:cNvSpPr txBox="1"/>
          <p:nvPr/>
        </p:nvSpPr>
        <p:spPr>
          <a:xfrm>
            <a:off x="356616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1250" dirty="0"/>
          </a:p>
        </p:txBody>
      </p:sp>
      <p:sp>
        <p:nvSpPr>
          <p:cNvPr id="33" name="!!mk1_1"/>
          <p:cNvSpPr/>
          <p:nvPr/>
        </p:nvSpPr>
        <p:spPr>
          <a:xfrm>
            <a:off x="555955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4" name="!!mki1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4453128"/>
            <a:ext cx="164592" cy="164592"/>
          </a:xfrm>
          <a:prstGeom prst="rect">
            <a:avLst/>
          </a:prstGeom>
        </p:spPr>
      </p:pic>
      <p:sp>
        <p:nvSpPr>
          <p:cNvPr id="35" name="!!lf1_2"/>
          <p:cNvSpPr/>
          <p:nvPr/>
        </p:nvSpPr>
        <p:spPr>
          <a:xfrm>
            <a:off x="338328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!!lft1_2"/>
          <p:cNvSpPr txBox="1"/>
          <p:nvPr/>
        </p:nvSpPr>
        <p:spPr>
          <a:xfrm>
            <a:off x="356616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1250" dirty="0"/>
          </a:p>
        </p:txBody>
      </p:sp>
      <p:sp>
        <p:nvSpPr>
          <p:cNvPr id="37" name="!!mk1_2"/>
          <p:cNvSpPr/>
          <p:nvPr/>
        </p:nvSpPr>
        <p:spPr>
          <a:xfrm>
            <a:off x="555955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8" name="!!mki1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5111496"/>
            <a:ext cx="164592" cy="164592"/>
          </a:xfrm>
          <a:prstGeom prst="rect">
            <a:avLst/>
          </a:prstGeom>
        </p:spPr>
      </p:pic>
      <p:sp>
        <p:nvSpPr>
          <p:cNvPr id="39" name="!!spine2"/>
          <p:cNvSpPr/>
          <p:nvPr/>
        </p:nvSpPr>
        <p:spPr>
          <a:xfrm>
            <a:off x="754380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!!br2"/>
          <p:cNvSpPr/>
          <p:nvPr/>
        </p:nvSpPr>
        <p:spPr>
          <a:xfrm>
            <a:off x="626364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1" name="!!bri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606040"/>
            <a:ext cx="566928" cy="566928"/>
          </a:xfrm>
          <a:prstGeom prst="rect">
            <a:avLst/>
          </a:prstGeom>
        </p:spPr>
      </p:pic>
      <p:sp>
        <p:nvSpPr>
          <p:cNvPr id="42" name="!!brt2"/>
          <p:cNvSpPr txBox="1"/>
          <p:nvPr/>
        </p:nvSpPr>
        <p:spPr>
          <a:xfrm>
            <a:off x="704088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1350" dirty="0"/>
          </a:p>
        </p:txBody>
      </p:sp>
      <p:sp>
        <p:nvSpPr>
          <p:cNvPr id="43" name="!!lf2_0"/>
          <p:cNvSpPr/>
          <p:nvPr/>
        </p:nvSpPr>
        <p:spPr>
          <a:xfrm>
            <a:off x="626364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lft2_0"/>
          <p:cNvSpPr txBox="1"/>
          <p:nvPr/>
        </p:nvSpPr>
        <p:spPr>
          <a:xfrm>
            <a:off x="644652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1250" dirty="0"/>
          </a:p>
        </p:txBody>
      </p:sp>
      <p:sp>
        <p:nvSpPr>
          <p:cNvPr id="45" name="!!mk2_0"/>
          <p:cNvSpPr/>
          <p:nvPr/>
        </p:nvSpPr>
        <p:spPr>
          <a:xfrm>
            <a:off x="843991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6" name="!!mki2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3794760"/>
            <a:ext cx="164592" cy="164592"/>
          </a:xfrm>
          <a:prstGeom prst="rect">
            <a:avLst/>
          </a:prstGeom>
        </p:spPr>
      </p:pic>
      <p:sp>
        <p:nvSpPr>
          <p:cNvPr id="47" name="!!lf2_1"/>
          <p:cNvSpPr/>
          <p:nvPr/>
        </p:nvSpPr>
        <p:spPr>
          <a:xfrm>
            <a:off x="626364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!!lft2_1"/>
          <p:cNvSpPr txBox="1"/>
          <p:nvPr/>
        </p:nvSpPr>
        <p:spPr>
          <a:xfrm>
            <a:off x="644652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1250" dirty="0"/>
          </a:p>
        </p:txBody>
      </p:sp>
      <p:sp>
        <p:nvSpPr>
          <p:cNvPr id="49" name="!!mk2_1"/>
          <p:cNvSpPr/>
          <p:nvPr/>
        </p:nvSpPr>
        <p:spPr>
          <a:xfrm>
            <a:off x="843991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0" name="!!mki2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4453128"/>
            <a:ext cx="164592" cy="164592"/>
          </a:xfrm>
          <a:prstGeom prst="rect">
            <a:avLst/>
          </a:prstGeom>
        </p:spPr>
      </p:pic>
      <p:sp>
        <p:nvSpPr>
          <p:cNvPr id="51" name="!!lf2_2"/>
          <p:cNvSpPr/>
          <p:nvPr/>
        </p:nvSpPr>
        <p:spPr>
          <a:xfrm>
            <a:off x="626364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!!lft2_2"/>
          <p:cNvSpPr txBox="1"/>
          <p:nvPr/>
        </p:nvSpPr>
        <p:spPr>
          <a:xfrm>
            <a:off x="644652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1250" dirty="0"/>
          </a:p>
        </p:txBody>
      </p:sp>
      <p:sp>
        <p:nvSpPr>
          <p:cNvPr id="53" name="!!mk2_2"/>
          <p:cNvSpPr/>
          <p:nvPr/>
        </p:nvSpPr>
        <p:spPr>
          <a:xfrm>
            <a:off x="843991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4" name="!!mki2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5111496"/>
            <a:ext cx="164592" cy="164592"/>
          </a:xfrm>
          <a:prstGeom prst="rect">
            <a:avLst/>
          </a:prstGeom>
        </p:spPr>
      </p:pic>
      <p:sp>
        <p:nvSpPr>
          <p:cNvPr id="55" name="!!spine3"/>
          <p:cNvSpPr/>
          <p:nvPr/>
        </p:nvSpPr>
        <p:spPr>
          <a:xfrm>
            <a:off x="10424160" y="2194560"/>
            <a:ext cx="0" cy="3246120"/>
          </a:xfrm>
          <a:prstGeom prst="line">
            <a:avLst/>
          </a:prstGeom>
          <a:noFill/>
          <a:ln w="31750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!!br3"/>
          <p:cNvSpPr/>
          <p:nvPr/>
        </p:nvSpPr>
        <p:spPr>
          <a:xfrm>
            <a:off x="9144000" y="246888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7" name="!!bri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2606040"/>
            <a:ext cx="566928" cy="566928"/>
          </a:xfrm>
          <a:prstGeom prst="rect">
            <a:avLst/>
          </a:prstGeom>
        </p:spPr>
      </p:pic>
      <p:sp>
        <p:nvSpPr>
          <p:cNvPr id="58" name="!!brt3"/>
          <p:cNvSpPr txBox="1"/>
          <p:nvPr/>
        </p:nvSpPr>
        <p:spPr>
          <a:xfrm>
            <a:off x="9921240" y="24688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1350" dirty="0"/>
          </a:p>
        </p:txBody>
      </p:sp>
      <p:sp>
        <p:nvSpPr>
          <p:cNvPr id="59" name="!!lf3_0"/>
          <p:cNvSpPr/>
          <p:nvPr/>
        </p:nvSpPr>
        <p:spPr>
          <a:xfrm>
            <a:off x="9144000" y="3611880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lft3_0"/>
          <p:cNvSpPr txBox="1"/>
          <p:nvPr/>
        </p:nvSpPr>
        <p:spPr>
          <a:xfrm>
            <a:off x="9326880" y="361188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1250" dirty="0"/>
          </a:p>
        </p:txBody>
      </p:sp>
      <p:sp>
        <p:nvSpPr>
          <p:cNvPr id="61" name="!!mk3_0"/>
          <p:cNvSpPr/>
          <p:nvPr/>
        </p:nvSpPr>
        <p:spPr>
          <a:xfrm>
            <a:off x="11320272" y="3712464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2" name="!!mki3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3794760"/>
            <a:ext cx="164592" cy="164592"/>
          </a:xfrm>
          <a:prstGeom prst="rect">
            <a:avLst/>
          </a:prstGeom>
        </p:spPr>
      </p:pic>
      <p:sp>
        <p:nvSpPr>
          <p:cNvPr id="63" name="!!lf3_1"/>
          <p:cNvSpPr/>
          <p:nvPr/>
        </p:nvSpPr>
        <p:spPr>
          <a:xfrm>
            <a:off x="9144000" y="4270248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4" name="!!lft3_1"/>
          <p:cNvSpPr txBox="1"/>
          <p:nvPr/>
        </p:nvSpPr>
        <p:spPr>
          <a:xfrm>
            <a:off x="9326880" y="427024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1250" dirty="0"/>
          </a:p>
        </p:txBody>
      </p:sp>
      <p:sp>
        <p:nvSpPr>
          <p:cNvPr id="65" name="!!mk3_1"/>
          <p:cNvSpPr/>
          <p:nvPr/>
        </p:nvSpPr>
        <p:spPr>
          <a:xfrm>
            <a:off x="11320272" y="4370832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6" name="!!mki3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4453128"/>
            <a:ext cx="164592" cy="164592"/>
          </a:xfrm>
          <a:prstGeom prst="rect">
            <a:avLst/>
          </a:prstGeom>
        </p:spPr>
      </p:pic>
      <p:sp>
        <p:nvSpPr>
          <p:cNvPr id="67" name="!!lf3_2"/>
          <p:cNvSpPr/>
          <p:nvPr/>
        </p:nvSpPr>
        <p:spPr>
          <a:xfrm>
            <a:off x="9144000" y="4928616"/>
            <a:ext cx="2560320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8" name="!!lft3_2"/>
          <p:cNvSpPr txBox="1"/>
          <p:nvPr/>
        </p:nvSpPr>
        <p:spPr>
          <a:xfrm>
            <a:off x="9326880" y="492861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1250" dirty="0"/>
          </a:p>
        </p:txBody>
      </p:sp>
      <p:sp>
        <p:nvSpPr>
          <p:cNvPr id="69" name="!!mk3_2"/>
          <p:cNvSpPr/>
          <p:nvPr/>
        </p:nvSpPr>
        <p:spPr>
          <a:xfrm>
            <a:off x="11320272" y="5029200"/>
            <a:ext cx="329184" cy="32918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70" name="!!mki3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2568" y="5111496"/>
            <a:ext cx="164592" cy="164592"/>
          </a:xfrm>
          <a:prstGeom prst="rect">
            <a:avLst/>
          </a:prstGeom>
        </p:spPr>
      </p:pic>
      <p:sp>
        <p:nvSpPr>
          <p:cNvPr id="71" name="s27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EAF6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2" name="t28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holds hydrocarbons, H₂S or pyrophoric scale – and needs decontamination before entry.</a:t>
            </a:r>
            <a:endParaRPr lang="en-US" sz="150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7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7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2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7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2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4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4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7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4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2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4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7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4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4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7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4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4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7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2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4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7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400"/>
                            </p:stCondLst>
                            <p:childTnLst>
                              <p:par>
                                <p:cTn id="3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7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4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5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7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100"/>
                            </p:stCondLst>
                            <p:childTnLst>
                              <p:par>
                                <p:cTn id="362" presetID="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3" dur="4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6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5" dur="4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6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7" dur="4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6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69" dur="40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0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1" dur="40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2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3" dur="40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5" dur="40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7" dur="40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9" dur="40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80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1" dur="40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82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3" dur="400" autoRev="1" fill="hold"/>
                                        <p:tgtEl>
                                          <p:spTgt spid="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84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5" dur="40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3" grpId="2" animBg="1"/>
      <p:bldP spid="15" grpId="0" animBg="1"/>
      <p:bldP spid="16" grpId="0" animBg="1"/>
      <p:bldP spid="17" grpId="0" animBg="1"/>
      <p:bldP spid="17" grpId="2" animBg="1"/>
      <p:bldP spid="19" grpId="0" animBg="1"/>
      <p:bldP spid="20" grpId="0" animBg="1"/>
      <p:bldP spid="21" grpId="0" animBg="1"/>
      <p:bldP spid="21" grpId="2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29" grpId="2" animBg="1"/>
      <p:bldP spid="31" grpId="0" animBg="1"/>
      <p:bldP spid="32" grpId="0" animBg="1"/>
      <p:bldP spid="33" grpId="0" animBg="1"/>
      <p:bldP spid="33" grpId="2" animBg="1"/>
      <p:bldP spid="35" grpId="0" animBg="1"/>
      <p:bldP spid="36" grpId="0" animBg="1"/>
      <p:bldP spid="37" grpId="0" animBg="1"/>
      <p:bldP spid="37" grpId="2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5" grpId="2" animBg="1"/>
      <p:bldP spid="47" grpId="0" animBg="1"/>
      <p:bldP spid="48" grpId="0" animBg="1"/>
      <p:bldP spid="49" grpId="0" animBg="1"/>
      <p:bldP spid="49" grpId="2" animBg="1"/>
      <p:bldP spid="51" grpId="0" animBg="1"/>
      <p:bldP spid="52" grpId="0" animBg="1"/>
      <p:bldP spid="53" grpId="0" animBg="1"/>
      <p:bldP spid="53" grpId="2" animBg="1"/>
      <p:bldP spid="55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1" grpId="2" animBg="1"/>
      <p:bldP spid="63" grpId="0" animBg="1"/>
      <p:bldP spid="64" grpId="0" animBg="1"/>
      <p:bldP spid="65" grpId="0" animBg="1"/>
      <p:bldP spid="65" grpId="2" animBg="1"/>
      <p:bldP spid="67" grpId="0" animBg="1"/>
      <p:bldP spid="68" grpId="0" animBg="1"/>
      <p:bldP spid="69" grpId="0" animBg="1"/>
      <p:bldP spid="69" grpId="2" animBg="1"/>
      <p:bldP spid="71" grpId="0" animBg="1"/>
      <p:bldP spid="7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Upstream – production &amp; gas processing</a:t>
            </a:r>
            <a:endParaRPr lang="en-US" sz="2800" dirty="0"/>
          </a:p>
        </p:txBody>
      </p:sp>
      <p:sp>
        <p:nvSpPr>
          <p:cNvPr id="3" name="!!root"/>
          <p:cNvSpPr/>
          <p:nvPr/>
        </p:nvSpPr>
        <p:spPr>
          <a:xfrm>
            <a:off x="9437522" y="1161288"/>
            <a:ext cx="1152144" cy="19751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!!root_t"/>
          <p:cNvSpPr txBox="1"/>
          <p:nvPr/>
        </p:nvSpPr>
        <p:spPr>
          <a:xfrm>
            <a:off x="9437522" y="1161288"/>
            <a:ext cx="11521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480" dirty="0"/>
          </a:p>
        </p:txBody>
      </p:sp>
      <p:sp>
        <p:nvSpPr>
          <p:cNvPr id="5" name="!!bar_v"/>
          <p:cNvSpPr/>
          <p:nvPr/>
        </p:nvSpPr>
        <p:spPr>
          <a:xfrm>
            <a:off x="10013594" y="1358798"/>
            <a:ext cx="0" cy="7681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bar_h"/>
          <p:cNvSpPr/>
          <p:nvPr/>
        </p:nvSpPr>
        <p:spPr>
          <a:xfrm>
            <a:off x="8718804" y="1435608"/>
            <a:ext cx="2592324" cy="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spine0"/>
          <p:cNvSpPr/>
          <p:nvPr/>
        </p:nvSpPr>
        <p:spPr>
          <a:xfrm>
            <a:off x="8718804" y="1435608"/>
            <a:ext cx="0" cy="8229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br0"/>
          <p:cNvSpPr/>
          <p:nvPr/>
        </p:nvSpPr>
        <p:spPr>
          <a:xfrm>
            <a:off x="8334756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!!bri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1559052"/>
            <a:ext cx="170078" cy="170078"/>
          </a:xfrm>
          <a:prstGeom prst="rect">
            <a:avLst/>
          </a:prstGeom>
        </p:spPr>
      </p:pic>
      <p:sp>
        <p:nvSpPr>
          <p:cNvPr id="10" name="!!brt0"/>
          <p:cNvSpPr txBox="1"/>
          <p:nvPr/>
        </p:nvSpPr>
        <p:spPr>
          <a:xfrm>
            <a:off x="8567928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410" dirty="0"/>
          </a:p>
        </p:txBody>
      </p:sp>
      <p:sp>
        <p:nvSpPr>
          <p:cNvPr id="11" name="!!spine1"/>
          <p:cNvSpPr/>
          <p:nvPr/>
        </p:nvSpPr>
        <p:spPr>
          <a:xfrm>
            <a:off x="9582912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br1"/>
          <p:cNvSpPr/>
          <p:nvPr/>
        </p:nvSpPr>
        <p:spPr>
          <a:xfrm>
            <a:off x="9198864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3" name="!!bri1" descr="preencoded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9240012" y="1559052"/>
            <a:ext cx="170078" cy="170078"/>
          </a:xfrm>
          <a:prstGeom prst="rect">
            <a:avLst/>
          </a:prstGeom>
        </p:spPr>
      </p:pic>
      <p:sp>
        <p:nvSpPr>
          <p:cNvPr id="14" name="!!brt1"/>
          <p:cNvSpPr txBox="1"/>
          <p:nvPr/>
        </p:nvSpPr>
        <p:spPr>
          <a:xfrm>
            <a:off x="9432036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410" dirty="0"/>
          </a:p>
        </p:txBody>
      </p:sp>
      <p:sp>
        <p:nvSpPr>
          <p:cNvPr id="15" name="!!lf1_0"/>
          <p:cNvSpPr/>
          <p:nvPr/>
        </p:nvSpPr>
        <p:spPr>
          <a:xfrm>
            <a:off x="9198864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lft1_0"/>
          <p:cNvSpPr txBox="1"/>
          <p:nvPr/>
        </p:nvSpPr>
        <p:spPr>
          <a:xfrm>
            <a:off x="9253728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380" dirty="0"/>
          </a:p>
        </p:txBody>
      </p:sp>
      <p:sp>
        <p:nvSpPr>
          <p:cNvPr id="17" name="!!mk1_0"/>
          <p:cNvSpPr/>
          <p:nvPr/>
        </p:nvSpPr>
        <p:spPr>
          <a:xfrm>
            <a:off x="9851746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8" name="!!mki1_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6434" y="1915668"/>
            <a:ext cx="49378" cy="49378"/>
          </a:xfrm>
          <a:prstGeom prst="rect">
            <a:avLst/>
          </a:prstGeom>
        </p:spPr>
      </p:pic>
      <p:sp>
        <p:nvSpPr>
          <p:cNvPr id="19" name="!!lf1_1"/>
          <p:cNvSpPr/>
          <p:nvPr/>
        </p:nvSpPr>
        <p:spPr>
          <a:xfrm>
            <a:off x="9198864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lft1_1"/>
          <p:cNvSpPr txBox="1"/>
          <p:nvPr/>
        </p:nvSpPr>
        <p:spPr>
          <a:xfrm>
            <a:off x="9253728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380" dirty="0"/>
          </a:p>
        </p:txBody>
      </p:sp>
      <p:sp>
        <p:nvSpPr>
          <p:cNvPr id="21" name="!!mk1_1"/>
          <p:cNvSpPr/>
          <p:nvPr/>
        </p:nvSpPr>
        <p:spPr>
          <a:xfrm>
            <a:off x="9851746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2" name="!!mki1_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6434" y="2113178"/>
            <a:ext cx="49378" cy="49378"/>
          </a:xfrm>
          <a:prstGeom prst="rect">
            <a:avLst/>
          </a:prstGeom>
        </p:spPr>
      </p:pic>
      <p:sp>
        <p:nvSpPr>
          <p:cNvPr id="23" name="!!lf1_2"/>
          <p:cNvSpPr/>
          <p:nvPr/>
        </p:nvSpPr>
        <p:spPr>
          <a:xfrm>
            <a:off x="9198864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lft1_2"/>
          <p:cNvSpPr txBox="1"/>
          <p:nvPr/>
        </p:nvSpPr>
        <p:spPr>
          <a:xfrm>
            <a:off x="9253728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380" dirty="0"/>
          </a:p>
        </p:txBody>
      </p:sp>
      <p:sp>
        <p:nvSpPr>
          <p:cNvPr id="25" name="!!mk1_2"/>
          <p:cNvSpPr/>
          <p:nvPr/>
        </p:nvSpPr>
        <p:spPr>
          <a:xfrm>
            <a:off x="9851746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6" name="!!mki1_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6434" y="2310689"/>
            <a:ext cx="49378" cy="49378"/>
          </a:xfrm>
          <a:prstGeom prst="rect">
            <a:avLst/>
          </a:prstGeom>
        </p:spPr>
      </p:pic>
      <p:sp>
        <p:nvSpPr>
          <p:cNvPr id="27" name="!!spine2"/>
          <p:cNvSpPr/>
          <p:nvPr/>
        </p:nvSpPr>
        <p:spPr>
          <a:xfrm>
            <a:off x="10447020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!!br2"/>
          <p:cNvSpPr/>
          <p:nvPr/>
        </p:nvSpPr>
        <p:spPr>
          <a:xfrm>
            <a:off x="10062972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9" name="!!bri2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10104120" y="1559052"/>
            <a:ext cx="170078" cy="170078"/>
          </a:xfrm>
          <a:prstGeom prst="rect">
            <a:avLst/>
          </a:prstGeom>
        </p:spPr>
      </p:pic>
      <p:sp>
        <p:nvSpPr>
          <p:cNvPr id="30" name="!!brt2"/>
          <p:cNvSpPr txBox="1"/>
          <p:nvPr/>
        </p:nvSpPr>
        <p:spPr>
          <a:xfrm>
            <a:off x="10296144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410" dirty="0"/>
          </a:p>
        </p:txBody>
      </p:sp>
      <p:sp>
        <p:nvSpPr>
          <p:cNvPr id="31" name="!!lf2_0"/>
          <p:cNvSpPr/>
          <p:nvPr/>
        </p:nvSpPr>
        <p:spPr>
          <a:xfrm>
            <a:off x="10062972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lft2_0"/>
          <p:cNvSpPr txBox="1"/>
          <p:nvPr/>
        </p:nvSpPr>
        <p:spPr>
          <a:xfrm>
            <a:off x="10117836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380" dirty="0"/>
          </a:p>
        </p:txBody>
      </p:sp>
      <p:sp>
        <p:nvSpPr>
          <p:cNvPr id="33" name="!!mk2_0"/>
          <p:cNvSpPr/>
          <p:nvPr/>
        </p:nvSpPr>
        <p:spPr>
          <a:xfrm>
            <a:off x="10715854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4" name="!!mki2_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0542" y="1915668"/>
            <a:ext cx="49378" cy="49378"/>
          </a:xfrm>
          <a:prstGeom prst="rect">
            <a:avLst/>
          </a:prstGeom>
        </p:spPr>
      </p:pic>
      <p:sp>
        <p:nvSpPr>
          <p:cNvPr id="35" name="!!lf2_1"/>
          <p:cNvSpPr/>
          <p:nvPr/>
        </p:nvSpPr>
        <p:spPr>
          <a:xfrm>
            <a:off x="10062972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!!lft2_1"/>
          <p:cNvSpPr txBox="1"/>
          <p:nvPr/>
        </p:nvSpPr>
        <p:spPr>
          <a:xfrm>
            <a:off x="10117836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380" dirty="0"/>
          </a:p>
        </p:txBody>
      </p:sp>
      <p:sp>
        <p:nvSpPr>
          <p:cNvPr id="37" name="!!mk2_1"/>
          <p:cNvSpPr/>
          <p:nvPr/>
        </p:nvSpPr>
        <p:spPr>
          <a:xfrm>
            <a:off x="10715854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8" name="!!mki2_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0542" y="2113178"/>
            <a:ext cx="49378" cy="49378"/>
          </a:xfrm>
          <a:prstGeom prst="rect">
            <a:avLst/>
          </a:prstGeom>
        </p:spPr>
      </p:pic>
      <p:sp>
        <p:nvSpPr>
          <p:cNvPr id="39" name="!!lf2_2"/>
          <p:cNvSpPr/>
          <p:nvPr/>
        </p:nvSpPr>
        <p:spPr>
          <a:xfrm>
            <a:off x="10062972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!!lft2_2"/>
          <p:cNvSpPr txBox="1"/>
          <p:nvPr/>
        </p:nvSpPr>
        <p:spPr>
          <a:xfrm>
            <a:off x="10117836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380" dirty="0"/>
          </a:p>
        </p:txBody>
      </p:sp>
      <p:sp>
        <p:nvSpPr>
          <p:cNvPr id="41" name="!!mk2_2"/>
          <p:cNvSpPr/>
          <p:nvPr/>
        </p:nvSpPr>
        <p:spPr>
          <a:xfrm>
            <a:off x="10715854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2" name="!!mki2_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0542" y="2310689"/>
            <a:ext cx="49378" cy="49378"/>
          </a:xfrm>
          <a:prstGeom prst="rect">
            <a:avLst/>
          </a:prstGeom>
        </p:spPr>
      </p:pic>
      <p:sp>
        <p:nvSpPr>
          <p:cNvPr id="43" name="!!spine3"/>
          <p:cNvSpPr/>
          <p:nvPr/>
        </p:nvSpPr>
        <p:spPr>
          <a:xfrm>
            <a:off x="11311128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br3"/>
          <p:cNvSpPr/>
          <p:nvPr/>
        </p:nvSpPr>
        <p:spPr>
          <a:xfrm>
            <a:off x="10927080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5" name="!!bri3" descr="preencoded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10968228" y="1559052"/>
            <a:ext cx="170078" cy="170078"/>
          </a:xfrm>
          <a:prstGeom prst="rect">
            <a:avLst/>
          </a:prstGeom>
        </p:spPr>
      </p:pic>
      <p:sp>
        <p:nvSpPr>
          <p:cNvPr id="46" name="!!brt3"/>
          <p:cNvSpPr txBox="1"/>
          <p:nvPr/>
        </p:nvSpPr>
        <p:spPr>
          <a:xfrm>
            <a:off x="11160252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410" dirty="0"/>
          </a:p>
        </p:txBody>
      </p:sp>
      <p:sp>
        <p:nvSpPr>
          <p:cNvPr id="47" name="!!lf3_0"/>
          <p:cNvSpPr/>
          <p:nvPr/>
        </p:nvSpPr>
        <p:spPr>
          <a:xfrm>
            <a:off x="10927080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!!lft3_0"/>
          <p:cNvSpPr txBox="1"/>
          <p:nvPr/>
        </p:nvSpPr>
        <p:spPr>
          <a:xfrm>
            <a:off x="10981944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380" dirty="0"/>
          </a:p>
        </p:txBody>
      </p:sp>
      <p:sp>
        <p:nvSpPr>
          <p:cNvPr id="49" name="!!mk3_0"/>
          <p:cNvSpPr/>
          <p:nvPr/>
        </p:nvSpPr>
        <p:spPr>
          <a:xfrm>
            <a:off x="11579962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0" name="!!mki3_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4650" y="1915668"/>
            <a:ext cx="49378" cy="49378"/>
          </a:xfrm>
          <a:prstGeom prst="rect">
            <a:avLst/>
          </a:prstGeom>
        </p:spPr>
      </p:pic>
      <p:sp>
        <p:nvSpPr>
          <p:cNvPr id="51" name="!!lf3_1"/>
          <p:cNvSpPr/>
          <p:nvPr/>
        </p:nvSpPr>
        <p:spPr>
          <a:xfrm>
            <a:off x="10927080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!!lft3_1"/>
          <p:cNvSpPr txBox="1"/>
          <p:nvPr/>
        </p:nvSpPr>
        <p:spPr>
          <a:xfrm>
            <a:off x="10981944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380" dirty="0"/>
          </a:p>
        </p:txBody>
      </p:sp>
      <p:sp>
        <p:nvSpPr>
          <p:cNvPr id="53" name="!!mk3_1"/>
          <p:cNvSpPr/>
          <p:nvPr/>
        </p:nvSpPr>
        <p:spPr>
          <a:xfrm>
            <a:off x="11579962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4" name="!!mki3_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4650" y="2113178"/>
            <a:ext cx="49378" cy="49378"/>
          </a:xfrm>
          <a:prstGeom prst="rect">
            <a:avLst/>
          </a:prstGeom>
        </p:spPr>
      </p:pic>
      <p:sp>
        <p:nvSpPr>
          <p:cNvPr id="55" name="!!lf3_2"/>
          <p:cNvSpPr/>
          <p:nvPr/>
        </p:nvSpPr>
        <p:spPr>
          <a:xfrm>
            <a:off x="10927080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!!lft3_2"/>
          <p:cNvSpPr txBox="1"/>
          <p:nvPr/>
        </p:nvSpPr>
        <p:spPr>
          <a:xfrm>
            <a:off x="10981944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380" dirty="0"/>
          </a:p>
        </p:txBody>
      </p:sp>
      <p:sp>
        <p:nvSpPr>
          <p:cNvPr id="57" name="!!mk3_2"/>
          <p:cNvSpPr/>
          <p:nvPr/>
        </p:nvSpPr>
        <p:spPr>
          <a:xfrm>
            <a:off x="11579962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8" name="!!mki3_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4650" y="2310689"/>
            <a:ext cx="49378" cy="49378"/>
          </a:xfrm>
          <a:prstGeom prst="rect">
            <a:avLst/>
          </a:prstGeom>
        </p:spPr>
      </p:pic>
      <p:sp>
        <p:nvSpPr>
          <p:cNvPr id="59" name="!!lf0_0"/>
          <p:cNvSpPr/>
          <p:nvPr/>
        </p:nvSpPr>
        <p:spPr>
          <a:xfrm>
            <a:off x="548640" y="146304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lft0_0"/>
          <p:cNvSpPr txBox="1"/>
          <p:nvPr/>
        </p:nvSpPr>
        <p:spPr>
          <a:xfrm>
            <a:off x="77724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1600" dirty="0"/>
          </a:p>
        </p:txBody>
      </p:sp>
      <p:sp>
        <p:nvSpPr>
          <p:cNvPr id="61" name="!!mk0_0"/>
          <p:cNvSpPr/>
          <p:nvPr/>
        </p:nvSpPr>
        <p:spPr>
          <a:xfrm>
            <a:off x="3337560" y="161848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2" name="!!mki0_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1728216"/>
            <a:ext cx="201168" cy="201168"/>
          </a:xfrm>
          <a:prstGeom prst="rect">
            <a:avLst/>
          </a:prstGeom>
        </p:spPr>
      </p:pic>
      <p:sp>
        <p:nvSpPr>
          <p:cNvPr id="63" name="t29"/>
          <p:cNvSpPr txBox="1"/>
          <p:nvPr/>
        </p:nvSpPr>
        <p:spPr>
          <a:xfrm>
            <a:off x="4114800" y="1188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Separators, heater-treaters, desalters</a:t>
            </a:r>
            <a:endParaRPr lang="en-US" sz="1400" dirty="0"/>
          </a:p>
        </p:txBody>
      </p:sp>
      <p:sp>
        <p:nvSpPr>
          <p:cNvPr id="64" name="s30"/>
          <p:cNvSpPr/>
          <p:nvPr/>
        </p:nvSpPr>
        <p:spPr>
          <a:xfrm>
            <a:off x="4114800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5" name="t31"/>
          <p:cNvSpPr txBox="1"/>
          <p:nvPr/>
        </p:nvSpPr>
        <p:spPr>
          <a:xfrm>
            <a:off x="4114800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66" name="s32"/>
          <p:cNvSpPr/>
          <p:nvPr/>
        </p:nvSpPr>
        <p:spPr>
          <a:xfrm>
            <a:off x="4777740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7" name="t33"/>
          <p:cNvSpPr txBox="1"/>
          <p:nvPr/>
        </p:nvSpPr>
        <p:spPr>
          <a:xfrm>
            <a:off x="4777740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68" name="s34"/>
          <p:cNvSpPr/>
          <p:nvPr/>
        </p:nvSpPr>
        <p:spPr>
          <a:xfrm>
            <a:off x="5440680" y="1920240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9" name="t35"/>
          <p:cNvSpPr txBox="1"/>
          <p:nvPr/>
        </p:nvSpPr>
        <p:spPr>
          <a:xfrm>
            <a:off x="5440680" y="192024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70" name="s36"/>
          <p:cNvSpPr/>
          <p:nvPr/>
        </p:nvSpPr>
        <p:spPr>
          <a:xfrm>
            <a:off x="6336792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1" name="t37"/>
          <p:cNvSpPr txBox="1"/>
          <p:nvPr/>
        </p:nvSpPr>
        <p:spPr>
          <a:xfrm>
            <a:off x="6336792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72" name="!!lf0_1"/>
          <p:cNvSpPr/>
          <p:nvPr/>
        </p:nvSpPr>
        <p:spPr>
          <a:xfrm>
            <a:off x="548640" y="288036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!!lft0_1"/>
          <p:cNvSpPr txBox="1"/>
          <p:nvPr/>
        </p:nvSpPr>
        <p:spPr>
          <a:xfrm>
            <a:off x="777240" y="2880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1600" dirty="0"/>
          </a:p>
        </p:txBody>
      </p:sp>
      <p:sp>
        <p:nvSpPr>
          <p:cNvPr id="74" name="!!mk0_1"/>
          <p:cNvSpPr/>
          <p:nvPr/>
        </p:nvSpPr>
        <p:spPr>
          <a:xfrm>
            <a:off x="3337560" y="303580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75" name="!!mki0_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3145536"/>
            <a:ext cx="201168" cy="201168"/>
          </a:xfrm>
          <a:prstGeom prst="rect">
            <a:avLst/>
          </a:prstGeom>
        </p:spPr>
      </p:pic>
      <p:sp>
        <p:nvSpPr>
          <p:cNvPr id="76" name="t38"/>
          <p:cNvSpPr txBox="1"/>
          <p:nvPr/>
        </p:nvSpPr>
        <p:spPr>
          <a:xfrm>
            <a:off x="411480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 catchers, amine, glycol, condensate stabilisers</a:t>
            </a:r>
            <a:endParaRPr lang="en-US" sz="1400" dirty="0"/>
          </a:p>
        </p:txBody>
      </p:sp>
      <p:sp>
        <p:nvSpPr>
          <p:cNvPr id="77" name="s39"/>
          <p:cNvSpPr/>
          <p:nvPr/>
        </p:nvSpPr>
        <p:spPr>
          <a:xfrm>
            <a:off x="4114800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8" name="t40"/>
          <p:cNvSpPr txBox="1"/>
          <p:nvPr/>
        </p:nvSpPr>
        <p:spPr>
          <a:xfrm>
            <a:off x="4114800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79" name="s41"/>
          <p:cNvSpPr/>
          <p:nvPr/>
        </p:nvSpPr>
        <p:spPr>
          <a:xfrm>
            <a:off x="4777740" y="33375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0" name="t42"/>
          <p:cNvSpPr txBox="1"/>
          <p:nvPr/>
        </p:nvSpPr>
        <p:spPr>
          <a:xfrm>
            <a:off x="4777740" y="3337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</a:t>
            </a:r>
            <a:endParaRPr lang="en-US" sz="1200" dirty="0"/>
          </a:p>
        </p:txBody>
      </p:sp>
      <p:sp>
        <p:nvSpPr>
          <p:cNvPr id="81" name="s43"/>
          <p:cNvSpPr/>
          <p:nvPr/>
        </p:nvSpPr>
        <p:spPr>
          <a:xfrm>
            <a:off x="5984748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2" name="t44"/>
          <p:cNvSpPr txBox="1"/>
          <p:nvPr/>
        </p:nvSpPr>
        <p:spPr>
          <a:xfrm>
            <a:off x="5984748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83" name="s45"/>
          <p:cNvSpPr/>
          <p:nvPr/>
        </p:nvSpPr>
        <p:spPr>
          <a:xfrm>
            <a:off x="6647688" y="333756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4" name="t46"/>
          <p:cNvSpPr txBox="1"/>
          <p:nvPr/>
        </p:nvSpPr>
        <p:spPr>
          <a:xfrm>
            <a:off x="6647688" y="333756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85" name="!!lf0_2"/>
          <p:cNvSpPr/>
          <p:nvPr/>
        </p:nvSpPr>
        <p:spPr>
          <a:xfrm>
            <a:off x="548640" y="429768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!!lft0_2"/>
          <p:cNvSpPr txBox="1"/>
          <p:nvPr/>
        </p:nvSpPr>
        <p:spPr>
          <a:xfrm>
            <a:off x="77724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1600" dirty="0"/>
          </a:p>
        </p:txBody>
      </p:sp>
      <p:sp>
        <p:nvSpPr>
          <p:cNvPr id="87" name="!!mk0_2"/>
          <p:cNvSpPr/>
          <p:nvPr/>
        </p:nvSpPr>
        <p:spPr>
          <a:xfrm>
            <a:off x="3337560" y="445312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88" name="!!mki0_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7288" y="4562856"/>
            <a:ext cx="201168" cy="201168"/>
          </a:xfrm>
          <a:prstGeom prst="rect">
            <a:avLst/>
          </a:prstGeom>
        </p:spPr>
      </p:pic>
      <p:sp>
        <p:nvSpPr>
          <p:cNvPr id="89" name="t47"/>
          <p:cNvSpPr txBox="1"/>
          <p:nvPr/>
        </p:nvSpPr>
        <p:spPr>
          <a:xfrm>
            <a:off x="411480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Produced-water and condensate tanks</a:t>
            </a:r>
            <a:endParaRPr lang="en-US" sz="1400" dirty="0"/>
          </a:p>
        </p:txBody>
      </p:sp>
      <p:sp>
        <p:nvSpPr>
          <p:cNvPr id="90" name="s48"/>
          <p:cNvSpPr/>
          <p:nvPr/>
        </p:nvSpPr>
        <p:spPr>
          <a:xfrm>
            <a:off x="4114800" y="4754880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1" name="t49"/>
          <p:cNvSpPr txBox="1"/>
          <p:nvPr/>
        </p:nvSpPr>
        <p:spPr>
          <a:xfrm>
            <a:off x="4114800" y="475488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92" name="s50"/>
          <p:cNvSpPr/>
          <p:nvPr/>
        </p:nvSpPr>
        <p:spPr>
          <a:xfrm>
            <a:off x="5010912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3" name="t51"/>
          <p:cNvSpPr txBox="1"/>
          <p:nvPr/>
        </p:nvSpPr>
        <p:spPr>
          <a:xfrm>
            <a:off x="5010912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94" name="s52"/>
          <p:cNvSpPr/>
          <p:nvPr/>
        </p:nvSpPr>
        <p:spPr>
          <a:xfrm>
            <a:off x="5673852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5" name="t53"/>
          <p:cNvSpPr txBox="1"/>
          <p:nvPr/>
        </p:nvSpPr>
        <p:spPr>
          <a:xfrm>
            <a:off x="5673852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9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Midstream – transport &amp; storage</a:t>
            </a:r>
            <a:endParaRPr lang="en-US" sz="2800" dirty="0"/>
          </a:p>
        </p:txBody>
      </p:sp>
      <p:sp>
        <p:nvSpPr>
          <p:cNvPr id="3" name="!!root"/>
          <p:cNvSpPr/>
          <p:nvPr/>
        </p:nvSpPr>
        <p:spPr>
          <a:xfrm>
            <a:off x="9437522" y="1161288"/>
            <a:ext cx="1152144" cy="19751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!!root_t"/>
          <p:cNvSpPr txBox="1"/>
          <p:nvPr/>
        </p:nvSpPr>
        <p:spPr>
          <a:xfrm>
            <a:off x="9437522" y="1161288"/>
            <a:ext cx="11521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480" dirty="0"/>
          </a:p>
        </p:txBody>
      </p:sp>
      <p:sp>
        <p:nvSpPr>
          <p:cNvPr id="5" name="!!bar_v"/>
          <p:cNvSpPr/>
          <p:nvPr/>
        </p:nvSpPr>
        <p:spPr>
          <a:xfrm>
            <a:off x="10013594" y="1358798"/>
            <a:ext cx="0" cy="7681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bar_h"/>
          <p:cNvSpPr/>
          <p:nvPr/>
        </p:nvSpPr>
        <p:spPr>
          <a:xfrm>
            <a:off x="8718804" y="1435608"/>
            <a:ext cx="2592324" cy="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spine0"/>
          <p:cNvSpPr/>
          <p:nvPr/>
        </p:nvSpPr>
        <p:spPr>
          <a:xfrm>
            <a:off x="8718804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br0"/>
          <p:cNvSpPr/>
          <p:nvPr/>
        </p:nvSpPr>
        <p:spPr>
          <a:xfrm>
            <a:off x="8334756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!!bri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375904" y="1559052"/>
            <a:ext cx="170078" cy="170078"/>
          </a:xfrm>
          <a:prstGeom prst="rect">
            <a:avLst/>
          </a:prstGeom>
        </p:spPr>
      </p:pic>
      <p:sp>
        <p:nvSpPr>
          <p:cNvPr id="10" name="!!brt0"/>
          <p:cNvSpPr txBox="1"/>
          <p:nvPr/>
        </p:nvSpPr>
        <p:spPr>
          <a:xfrm>
            <a:off x="8567928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410" dirty="0"/>
          </a:p>
        </p:txBody>
      </p:sp>
      <p:sp>
        <p:nvSpPr>
          <p:cNvPr id="11" name="!!lf0_0"/>
          <p:cNvSpPr/>
          <p:nvPr/>
        </p:nvSpPr>
        <p:spPr>
          <a:xfrm>
            <a:off x="8334756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lft0_0"/>
          <p:cNvSpPr txBox="1"/>
          <p:nvPr/>
        </p:nvSpPr>
        <p:spPr>
          <a:xfrm>
            <a:off x="8389620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380" dirty="0"/>
          </a:p>
        </p:txBody>
      </p:sp>
      <p:sp>
        <p:nvSpPr>
          <p:cNvPr id="13" name="!!mk0_0"/>
          <p:cNvSpPr/>
          <p:nvPr/>
        </p:nvSpPr>
        <p:spPr>
          <a:xfrm>
            <a:off x="8987638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4" name="!!mki0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1915668"/>
            <a:ext cx="49378" cy="49378"/>
          </a:xfrm>
          <a:prstGeom prst="rect">
            <a:avLst/>
          </a:prstGeom>
        </p:spPr>
      </p:pic>
      <p:sp>
        <p:nvSpPr>
          <p:cNvPr id="15" name="!!lf0_1"/>
          <p:cNvSpPr/>
          <p:nvPr/>
        </p:nvSpPr>
        <p:spPr>
          <a:xfrm>
            <a:off x="8334756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lft0_1"/>
          <p:cNvSpPr txBox="1"/>
          <p:nvPr/>
        </p:nvSpPr>
        <p:spPr>
          <a:xfrm>
            <a:off x="8389620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380" dirty="0"/>
          </a:p>
        </p:txBody>
      </p:sp>
      <p:sp>
        <p:nvSpPr>
          <p:cNvPr id="17" name="!!mk0_1"/>
          <p:cNvSpPr/>
          <p:nvPr/>
        </p:nvSpPr>
        <p:spPr>
          <a:xfrm>
            <a:off x="8987638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8" name="!!mki0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2113178"/>
            <a:ext cx="49378" cy="49378"/>
          </a:xfrm>
          <a:prstGeom prst="rect">
            <a:avLst/>
          </a:prstGeom>
        </p:spPr>
      </p:pic>
      <p:sp>
        <p:nvSpPr>
          <p:cNvPr id="19" name="!!lf0_2"/>
          <p:cNvSpPr/>
          <p:nvPr/>
        </p:nvSpPr>
        <p:spPr>
          <a:xfrm>
            <a:off x="8334756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lft0_2"/>
          <p:cNvSpPr txBox="1"/>
          <p:nvPr/>
        </p:nvSpPr>
        <p:spPr>
          <a:xfrm>
            <a:off x="8389620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380" dirty="0"/>
          </a:p>
        </p:txBody>
      </p:sp>
      <p:sp>
        <p:nvSpPr>
          <p:cNvPr id="21" name="!!mk0_2"/>
          <p:cNvSpPr/>
          <p:nvPr/>
        </p:nvSpPr>
        <p:spPr>
          <a:xfrm>
            <a:off x="8987638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2" name="!!mki0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2310689"/>
            <a:ext cx="49378" cy="49378"/>
          </a:xfrm>
          <a:prstGeom prst="rect">
            <a:avLst/>
          </a:prstGeom>
        </p:spPr>
      </p:pic>
      <p:sp>
        <p:nvSpPr>
          <p:cNvPr id="23" name="!!spine1"/>
          <p:cNvSpPr/>
          <p:nvPr/>
        </p:nvSpPr>
        <p:spPr>
          <a:xfrm>
            <a:off x="9582912" y="1435608"/>
            <a:ext cx="0" cy="8229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br1"/>
          <p:cNvSpPr/>
          <p:nvPr/>
        </p:nvSpPr>
        <p:spPr>
          <a:xfrm>
            <a:off x="9198864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5" name="!!bri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012" y="1559052"/>
            <a:ext cx="170078" cy="170078"/>
          </a:xfrm>
          <a:prstGeom prst="rect">
            <a:avLst/>
          </a:prstGeom>
        </p:spPr>
      </p:pic>
      <p:sp>
        <p:nvSpPr>
          <p:cNvPr id="26" name="!!brt1"/>
          <p:cNvSpPr txBox="1"/>
          <p:nvPr/>
        </p:nvSpPr>
        <p:spPr>
          <a:xfrm>
            <a:off x="9432036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410" dirty="0"/>
          </a:p>
        </p:txBody>
      </p:sp>
      <p:sp>
        <p:nvSpPr>
          <p:cNvPr id="27" name="!!spine2"/>
          <p:cNvSpPr/>
          <p:nvPr/>
        </p:nvSpPr>
        <p:spPr>
          <a:xfrm>
            <a:off x="10447020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!!br2"/>
          <p:cNvSpPr/>
          <p:nvPr/>
        </p:nvSpPr>
        <p:spPr>
          <a:xfrm>
            <a:off x="10062972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9" name="!!bri2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10104120" y="1559052"/>
            <a:ext cx="170078" cy="170078"/>
          </a:xfrm>
          <a:prstGeom prst="rect">
            <a:avLst/>
          </a:prstGeom>
        </p:spPr>
      </p:pic>
      <p:sp>
        <p:nvSpPr>
          <p:cNvPr id="30" name="!!brt2"/>
          <p:cNvSpPr txBox="1"/>
          <p:nvPr/>
        </p:nvSpPr>
        <p:spPr>
          <a:xfrm>
            <a:off x="10296144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410" dirty="0"/>
          </a:p>
        </p:txBody>
      </p:sp>
      <p:sp>
        <p:nvSpPr>
          <p:cNvPr id="31" name="!!lf2_0"/>
          <p:cNvSpPr/>
          <p:nvPr/>
        </p:nvSpPr>
        <p:spPr>
          <a:xfrm>
            <a:off x="10062972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lft2_0"/>
          <p:cNvSpPr txBox="1"/>
          <p:nvPr/>
        </p:nvSpPr>
        <p:spPr>
          <a:xfrm>
            <a:off x="10117836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380" dirty="0"/>
          </a:p>
        </p:txBody>
      </p:sp>
      <p:sp>
        <p:nvSpPr>
          <p:cNvPr id="33" name="!!mk2_0"/>
          <p:cNvSpPr/>
          <p:nvPr/>
        </p:nvSpPr>
        <p:spPr>
          <a:xfrm>
            <a:off x="10715854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4" name="!!mki2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542" y="1915668"/>
            <a:ext cx="49378" cy="49378"/>
          </a:xfrm>
          <a:prstGeom prst="rect">
            <a:avLst/>
          </a:prstGeom>
        </p:spPr>
      </p:pic>
      <p:sp>
        <p:nvSpPr>
          <p:cNvPr id="35" name="!!lf2_1"/>
          <p:cNvSpPr/>
          <p:nvPr/>
        </p:nvSpPr>
        <p:spPr>
          <a:xfrm>
            <a:off x="10062972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!!lft2_1"/>
          <p:cNvSpPr txBox="1"/>
          <p:nvPr/>
        </p:nvSpPr>
        <p:spPr>
          <a:xfrm>
            <a:off x="10117836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380" dirty="0"/>
          </a:p>
        </p:txBody>
      </p:sp>
      <p:sp>
        <p:nvSpPr>
          <p:cNvPr id="37" name="!!mk2_1"/>
          <p:cNvSpPr/>
          <p:nvPr/>
        </p:nvSpPr>
        <p:spPr>
          <a:xfrm>
            <a:off x="10715854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8" name="!!mki2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542" y="2113178"/>
            <a:ext cx="49378" cy="49378"/>
          </a:xfrm>
          <a:prstGeom prst="rect">
            <a:avLst/>
          </a:prstGeom>
        </p:spPr>
      </p:pic>
      <p:sp>
        <p:nvSpPr>
          <p:cNvPr id="39" name="!!lf2_2"/>
          <p:cNvSpPr/>
          <p:nvPr/>
        </p:nvSpPr>
        <p:spPr>
          <a:xfrm>
            <a:off x="10062972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!!lft2_2"/>
          <p:cNvSpPr txBox="1"/>
          <p:nvPr/>
        </p:nvSpPr>
        <p:spPr>
          <a:xfrm>
            <a:off x="10117836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380" dirty="0"/>
          </a:p>
        </p:txBody>
      </p:sp>
      <p:sp>
        <p:nvSpPr>
          <p:cNvPr id="41" name="!!mk2_2"/>
          <p:cNvSpPr/>
          <p:nvPr/>
        </p:nvSpPr>
        <p:spPr>
          <a:xfrm>
            <a:off x="10715854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2" name="!!mki2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542" y="2310689"/>
            <a:ext cx="49378" cy="49378"/>
          </a:xfrm>
          <a:prstGeom prst="rect">
            <a:avLst/>
          </a:prstGeom>
        </p:spPr>
      </p:pic>
      <p:sp>
        <p:nvSpPr>
          <p:cNvPr id="43" name="!!spine3"/>
          <p:cNvSpPr/>
          <p:nvPr/>
        </p:nvSpPr>
        <p:spPr>
          <a:xfrm>
            <a:off x="11311128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br3"/>
          <p:cNvSpPr/>
          <p:nvPr/>
        </p:nvSpPr>
        <p:spPr>
          <a:xfrm>
            <a:off x="10927080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5" name="!!bri3" descr="preencoded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10968228" y="1559052"/>
            <a:ext cx="170078" cy="170078"/>
          </a:xfrm>
          <a:prstGeom prst="rect">
            <a:avLst/>
          </a:prstGeom>
        </p:spPr>
      </p:pic>
      <p:sp>
        <p:nvSpPr>
          <p:cNvPr id="46" name="!!brt3"/>
          <p:cNvSpPr txBox="1"/>
          <p:nvPr/>
        </p:nvSpPr>
        <p:spPr>
          <a:xfrm>
            <a:off x="11160252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410" dirty="0"/>
          </a:p>
        </p:txBody>
      </p:sp>
      <p:sp>
        <p:nvSpPr>
          <p:cNvPr id="47" name="!!lf3_0"/>
          <p:cNvSpPr/>
          <p:nvPr/>
        </p:nvSpPr>
        <p:spPr>
          <a:xfrm>
            <a:off x="10927080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!!lft3_0"/>
          <p:cNvSpPr txBox="1"/>
          <p:nvPr/>
        </p:nvSpPr>
        <p:spPr>
          <a:xfrm>
            <a:off x="10981944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380" dirty="0"/>
          </a:p>
        </p:txBody>
      </p:sp>
      <p:sp>
        <p:nvSpPr>
          <p:cNvPr id="49" name="!!mk3_0"/>
          <p:cNvSpPr/>
          <p:nvPr/>
        </p:nvSpPr>
        <p:spPr>
          <a:xfrm>
            <a:off x="11579962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0" name="!!mki3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650" y="1915668"/>
            <a:ext cx="49378" cy="49378"/>
          </a:xfrm>
          <a:prstGeom prst="rect">
            <a:avLst/>
          </a:prstGeom>
        </p:spPr>
      </p:pic>
      <p:sp>
        <p:nvSpPr>
          <p:cNvPr id="51" name="!!lf3_1"/>
          <p:cNvSpPr/>
          <p:nvPr/>
        </p:nvSpPr>
        <p:spPr>
          <a:xfrm>
            <a:off x="10927080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!!lft3_1"/>
          <p:cNvSpPr txBox="1"/>
          <p:nvPr/>
        </p:nvSpPr>
        <p:spPr>
          <a:xfrm>
            <a:off x="10981944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380" dirty="0"/>
          </a:p>
        </p:txBody>
      </p:sp>
      <p:sp>
        <p:nvSpPr>
          <p:cNvPr id="53" name="!!mk3_1"/>
          <p:cNvSpPr/>
          <p:nvPr/>
        </p:nvSpPr>
        <p:spPr>
          <a:xfrm>
            <a:off x="11579962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4" name="!!mki3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650" y="2113178"/>
            <a:ext cx="49378" cy="49378"/>
          </a:xfrm>
          <a:prstGeom prst="rect">
            <a:avLst/>
          </a:prstGeom>
        </p:spPr>
      </p:pic>
      <p:sp>
        <p:nvSpPr>
          <p:cNvPr id="55" name="!!lf3_2"/>
          <p:cNvSpPr/>
          <p:nvPr/>
        </p:nvSpPr>
        <p:spPr>
          <a:xfrm>
            <a:off x="10927080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!!lft3_2"/>
          <p:cNvSpPr txBox="1"/>
          <p:nvPr/>
        </p:nvSpPr>
        <p:spPr>
          <a:xfrm>
            <a:off x="10981944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380" dirty="0"/>
          </a:p>
        </p:txBody>
      </p:sp>
      <p:sp>
        <p:nvSpPr>
          <p:cNvPr id="57" name="!!mk3_2"/>
          <p:cNvSpPr/>
          <p:nvPr/>
        </p:nvSpPr>
        <p:spPr>
          <a:xfrm>
            <a:off x="11579962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8" name="!!mki3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650" y="2310689"/>
            <a:ext cx="49378" cy="49378"/>
          </a:xfrm>
          <a:prstGeom prst="rect">
            <a:avLst/>
          </a:prstGeom>
        </p:spPr>
      </p:pic>
      <p:sp>
        <p:nvSpPr>
          <p:cNvPr id="59" name="!!lf1_0"/>
          <p:cNvSpPr/>
          <p:nvPr/>
        </p:nvSpPr>
        <p:spPr>
          <a:xfrm>
            <a:off x="548640" y="146304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lft1_0"/>
          <p:cNvSpPr txBox="1"/>
          <p:nvPr/>
        </p:nvSpPr>
        <p:spPr>
          <a:xfrm>
            <a:off x="77724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1600" dirty="0"/>
          </a:p>
        </p:txBody>
      </p:sp>
      <p:sp>
        <p:nvSpPr>
          <p:cNvPr id="61" name="!!mk1_0"/>
          <p:cNvSpPr/>
          <p:nvPr/>
        </p:nvSpPr>
        <p:spPr>
          <a:xfrm>
            <a:off x="3337560" y="161848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2" name="!!mki1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728216"/>
            <a:ext cx="201168" cy="201168"/>
          </a:xfrm>
          <a:prstGeom prst="rect">
            <a:avLst/>
          </a:prstGeom>
        </p:spPr>
      </p:pic>
      <p:sp>
        <p:nvSpPr>
          <p:cNvPr id="63" name="t54"/>
          <p:cNvSpPr txBox="1"/>
          <p:nvPr/>
        </p:nvSpPr>
        <p:spPr>
          <a:xfrm>
            <a:off x="4114800" y="1188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 traps, receivers and slug catchers</a:t>
            </a:r>
            <a:endParaRPr lang="en-US" sz="1400" dirty="0"/>
          </a:p>
        </p:txBody>
      </p:sp>
      <p:sp>
        <p:nvSpPr>
          <p:cNvPr id="64" name="s55"/>
          <p:cNvSpPr/>
          <p:nvPr/>
        </p:nvSpPr>
        <p:spPr>
          <a:xfrm>
            <a:off x="4114800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5" name="t56"/>
          <p:cNvSpPr txBox="1"/>
          <p:nvPr/>
        </p:nvSpPr>
        <p:spPr>
          <a:xfrm>
            <a:off x="4114800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66" name="s57"/>
          <p:cNvSpPr/>
          <p:nvPr/>
        </p:nvSpPr>
        <p:spPr>
          <a:xfrm>
            <a:off x="4777740" y="1920240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7" name="t58"/>
          <p:cNvSpPr txBox="1"/>
          <p:nvPr/>
        </p:nvSpPr>
        <p:spPr>
          <a:xfrm>
            <a:off x="4777740" y="192024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Pigging debris</a:t>
            </a:r>
            <a:endParaRPr lang="en-US" sz="1200" dirty="0"/>
          </a:p>
        </p:txBody>
      </p:sp>
      <p:sp>
        <p:nvSpPr>
          <p:cNvPr id="68" name="s59"/>
          <p:cNvSpPr/>
          <p:nvPr/>
        </p:nvSpPr>
        <p:spPr>
          <a:xfrm>
            <a:off x="6295644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9" name="t60"/>
          <p:cNvSpPr txBox="1"/>
          <p:nvPr/>
        </p:nvSpPr>
        <p:spPr>
          <a:xfrm>
            <a:off x="6295644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70" name="!!lf1_1"/>
          <p:cNvSpPr/>
          <p:nvPr/>
        </p:nvSpPr>
        <p:spPr>
          <a:xfrm>
            <a:off x="548640" y="288036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!!lft1_1"/>
          <p:cNvSpPr txBox="1"/>
          <p:nvPr/>
        </p:nvSpPr>
        <p:spPr>
          <a:xfrm>
            <a:off x="777240" y="2880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1600" dirty="0"/>
          </a:p>
        </p:txBody>
      </p:sp>
      <p:sp>
        <p:nvSpPr>
          <p:cNvPr id="72" name="!!mk1_1"/>
          <p:cNvSpPr/>
          <p:nvPr/>
        </p:nvSpPr>
        <p:spPr>
          <a:xfrm>
            <a:off x="3337560" y="303580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73" name="!!mki1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145536"/>
            <a:ext cx="201168" cy="201168"/>
          </a:xfrm>
          <a:prstGeom prst="rect">
            <a:avLst/>
          </a:prstGeom>
        </p:spPr>
      </p:pic>
      <p:sp>
        <p:nvSpPr>
          <p:cNvPr id="74" name="t61"/>
          <p:cNvSpPr txBox="1"/>
          <p:nvPr/>
        </p:nvSpPr>
        <p:spPr>
          <a:xfrm>
            <a:off x="411480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and product storage tanks</a:t>
            </a:r>
            <a:endParaRPr lang="en-US" sz="1400" dirty="0"/>
          </a:p>
        </p:txBody>
      </p:sp>
      <p:sp>
        <p:nvSpPr>
          <p:cNvPr id="75" name="s62"/>
          <p:cNvSpPr/>
          <p:nvPr/>
        </p:nvSpPr>
        <p:spPr>
          <a:xfrm>
            <a:off x="4114800" y="3337560"/>
            <a:ext cx="786384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6" name="t63"/>
          <p:cNvSpPr txBox="1"/>
          <p:nvPr/>
        </p:nvSpPr>
        <p:spPr>
          <a:xfrm>
            <a:off x="4114800" y="33375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77" name="s64"/>
          <p:cNvSpPr/>
          <p:nvPr/>
        </p:nvSpPr>
        <p:spPr>
          <a:xfrm>
            <a:off x="5010912" y="333756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8" name="t65"/>
          <p:cNvSpPr txBox="1"/>
          <p:nvPr/>
        </p:nvSpPr>
        <p:spPr>
          <a:xfrm>
            <a:off x="5010912" y="333756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79" name="s66"/>
          <p:cNvSpPr/>
          <p:nvPr/>
        </p:nvSpPr>
        <p:spPr>
          <a:xfrm>
            <a:off x="5984748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0" name="t67"/>
          <p:cNvSpPr txBox="1"/>
          <p:nvPr/>
        </p:nvSpPr>
        <p:spPr>
          <a:xfrm>
            <a:off x="5984748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81" name="s68"/>
          <p:cNvSpPr/>
          <p:nvPr/>
        </p:nvSpPr>
        <p:spPr>
          <a:xfrm>
            <a:off x="6647688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2" name="t69"/>
          <p:cNvSpPr txBox="1"/>
          <p:nvPr/>
        </p:nvSpPr>
        <p:spPr>
          <a:xfrm>
            <a:off x="6647688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83" name="!!lf1_2"/>
          <p:cNvSpPr/>
          <p:nvPr/>
        </p:nvSpPr>
        <p:spPr>
          <a:xfrm>
            <a:off x="548640" y="429768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4" name="!!lft1_2"/>
          <p:cNvSpPr txBox="1"/>
          <p:nvPr/>
        </p:nvSpPr>
        <p:spPr>
          <a:xfrm>
            <a:off x="77724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1600" dirty="0"/>
          </a:p>
        </p:txBody>
      </p:sp>
      <p:sp>
        <p:nvSpPr>
          <p:cNvPr id="85" name="!!mk1_2"/>
          <p:cNvSpPr/>
          <p:nvPr/>
        </p:nvSpPr>
        <p:spPr>
          <a:xfrm>
            <a:off x="3337560" y="445312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86" name="!!mki1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4562856"/>
            <a:ext cx="201168" cy="201168"/>
          </a:xfrm>
          <a:prstGeom prst="rect">
            <a:avLst/>
          </a:prstGeom>
        </p:spPr>
      </p:pic>
      <p:sp>
        <p:nvSpPr>
          <p:cNvPr id="87" name="t70"/>
          <p:cNvSpPr txBox="1"/>
          <p:nvPr/>
        </p:nvSpPr>
        <p:spPr>
          <a:xfrm>
            <a:off x="411480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Fractionation columns, LPG spheres and bullets</a:t>
            </a:r>
            <a:endParaRPr lang="en-US" sz="1400" dirty="0"/>
          </a:p>
        </p:txBody>
      </p:sp>
      <p:sp>
        <p:nvSpPr>
          <p:cNvPr id="88" name="s71"/>
          <p:cNvSpPr/>
          <p:nvPr/>
        </p:nvSpPr>
        <p:spPr>
          <a:xfrm>
            <a:off x="4114800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9" name="t72"/>
          <p:cNvSpPr txBox="1"/>
          <p:nvPr/>
        </p:nvSpPr>
        <p:spPr>
          <a:xfrm>
            <a:off x="4114800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90" name="s73"/>
          <p:cNvSpPr/>
          <p:nvPr/>
        </p:nvSpPr>
        <p:spPr>
          <a:xfrm>
            <a:off x="4777740" y="4754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1" name="t74"/>
          <p:cNvSpPr txBox="1"/>
          <p:nvPr/>
        </p:nvSpPr>
        <p:spPr>
          <a:xfrm>
            <a:off x="4777740" y="475488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</a:t>
            </a:r>
            <a:endParaRPr lang="en-US" sz="1200" dirty="0"/>
          </a:p>
        </p:txBody>
      </p:sp>
      <p:sp>
        <p:nvSpPr>
          <p:cNvPr id="92" name="s75"/>
          <p:cNvSpPr/>
          <p:nvPr/>
        </p:nvSpPr>
        <p:spPr>
          <a:xfrm>
            <a:off x="5984748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3" name="t76"/>
          <p:cNvSpPr txBox="1"/>
          <p:nvPr/>
        </p:nvSpPr>
        <p:spPr>
          <a:xfrm>
            <a:off x="5984748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9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Downstream – refining</a:t>
            </a:r>
            <a:endParaRPr lang="en-US" sz="2800" dirty="0"/>
          </a:p>
        </p:txBody>
      </p:sp>
      <p:sp>
        <p:nvSpPr>
          <p:cNvPr id="3" name="!!root"/>
          <p:cNvSpPr/>
          <p:nvPr/>
        </p:nvSpPr>
        <p:spPr>
          <a:xfrm>
            <a:off x="9437522" y="1161288"/>
            <a:ext cx="1152144" cy="19751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!!root_t"/>
          <p:cNvSpPr txBox="1"/>
          <p:nvPr/>
        </p:nvSpPr>
        <p:spPr>
          <a:xfrm>
            <a:off x="9437522" y="1161288"/>
            <a:ext cx="11521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480" dirty="0"/>
          </a:p>
        </p:txBody>
      </p:sp>
      <p:sp>
        <p:nvSpPr>
          <p:cNvPr id="5" name="!!bar_v"/>
          <p:cNvSpPr/>
          <p:nvPr/>
        </p:nvSpPr>
        <p:spPr>
          <a:xfrm>
            <a:off x="10013594" y="1358798"/>
            <a:ext cx="0" cy="7681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bar_h"/>
          <p:cNvSpPr/>
          <p:nvPr/>
        </p:nvSpPr>
        <p:spPr>
          <a:xfrm>
            <a:off x="8718804" y="1435608"/>
            <a:ext cx="2592324" cy="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spine0"/>
          <p:cNvSpPr/>
          <p:nvPr/>
        </p:nvSpPr>
        <p:spPr>
          <a:xfrm>
            <a:off x="8718804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br0"/>
          <p:cNvSpPr/>
          <p:nvPr/>
        </p:nvSpPr>
        <p:spPr>
          <a:xfrm>
            <a:off x="8334756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!!bri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375904" y="1559052"/>
            <a:ext cx="170078" cy="170078"/>
          </a:xfrm>
          <a:prstGeom prst="rect">
            <a:avLst/>
          </a:prstGeom>
        </p:spPr>
      </p:pic>
      <p:sp>
        <p:nvSpPr>
          <p:cNvPr id="10" name="!!brt0"/>
          <p:cNvSpPr txBox="1"/>
          <p:nvPr/>
        </p:nvSpPr>
        <p:spPr>
          <a:xfrm>
            <a:off x="8567928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410" dirty="0"/>
          </a:p>
        </p:txBody>
      </p:sp>
      <p:sp>
        <p:nvSpPr>
          <p:cNvPr id="11" name="!!lf0_0"/>
          <p:cNvSpPr/>
          <p:nvPr/>
        </p:nvSpPr>
        <p:spPr>
          <a:xfrm>
            <a:off x="8334756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lft0_0"/>
          <p:cNvSpPr txBox="1"/>
          <p:nvPr/>
        </p:nvSpPr>
        <p:spPr>
          <a:xfrm>
            <a:off x="8389620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380" dirty="0"/>
          </a:p>
        </p:txBody>
      </p:sp>
      <p:sp>
        <p:nvSpPr>
          <p:cNvPr id="13" name="!!mk0_0"/>
          <p:cNvSpPr/>
          <p:nvPr/>
        </p:nvSpPr>
        <p:spPr>
          <a:xfrm>
            <a:off x="8987638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4" name="!!mki0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1915668"/>
            <a:ext cx="49378" cy="49378"/>
          </a:xfrm>
          <a:prstGeom prst="rect">
            <a:avLst/>
          </a:prstGeom>
        </p:spPr>
      </p:pic>
      <p:sp>
        <p:nvSpPr>
          <p:cNvPr id="15" name="!!lf0_1"/>
          <p:cNvSpPr/>
          <p:nvPr/>
        </p:nvSpPr>
        <p:spPr>
          <a:xfrm>
            <a:off x="8334756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lft0_1"/>
          <p:cNvSpPr txBox="1"/>
          <p:nvPr/>
        </p:nvSpPr>
        <p:spPr>
          <a:xfrm>
            <a:off x="8389620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380" dirty="0"/>
          </a:p>
        </p:txBody>
      </p:sp>
      <p:sp>
        <p:nvSpPr>
          <p:cNvPr id="17" name="!!mk0_1"/>
          <p:cNvSpPr/>
          <p:nvPr/>
        </p:nvSpPr>
        <p:spPr>
          <a:xfrm>
            <a:off x="8987638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8" name="!!mki0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2113178"/>
            <a:ext cx="49378" cy="49378"/>
          </a:xfrm>
          <a:prstGeom prst="rect">
            <a:avLst/>
          </a:prstGeom>
        </p:spPr>
      </p:pic>
      <p:sp>
        <p:nvSpPr>
          <p:cNvPr id="19" name="!!lf0_2"/>
          <p:cNvSpPr/>
          <p:nvPr/>
        </p:nvSpPr>
        <p:spPr>
          <a:xfrm>
            <a:off x="8334756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lft0_2"/>
          <p:cNvSpPr txBox="1"/>
          <p:nvPr/>
        </p:nvSpPr>
        <p:spPr>
          <a:xfrm>
            <a:off x="8389620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380" dirty="0"/>
          </a:p>
        </p:txBody>
      </p:sp>
      <p:sp>
        <p:nvSpPr>
          <p:cNvPr id="21" name="!!mk0_2"/>
          <p:cNvSpPr/>
          <p:nvPr/>
        </p:nvSpPr>
        <p:spPr>
          <a:xfrm>
            <a:off x="8987638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2" name="!!mki0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2310689"/>
            <a:ext cx="49378" cy="49378"/>
          </a:xfrm>
          <a:prstGeom prst="rect">
            <a:avLst/>
          </a:prstGeom>
        </p:spPr>
      </p:pic>
      <p:sp>
        <p:nvSpPr>
          <p:cNvPr id="23" name="!!spine1"/>
          <p:cNvSpPr/>
          <p:nvPr/>
        </p:nvSpPr>
        <p:spPr>
          <a:xfrm>
            <a:off x="9582912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br1"/>
          <p:cNvSpPr/>
          <p:nvPr/>
        </p:nvSpPr>
        <p:spPr>
          <a:xfrm>
            <a:off x="9198864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5" name="!!bri1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9240012" y="1559052"/>
            <a:ext cx="170078" cy="170078"/>
          </a:xfrm>
          <a:prstGeom prst="rect">
            <a:avLst/>
          </a:prstGeom>
        </p:spPr>
      </p:pic>
      <p:sp>
        <p:nvSpPr>
          <p:cNvPr id="26" name="!!brt1"/>
          <p:cNvSpPr txBox="1"/>
          <p:nvPr/>
        </p:nvSpPr>
        <p:spPr>
          <a:xfrm>
            <a:off x="9432036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410" dirty="0"/>
          </a:p>
        </p:txBody>
      </p:sp>
      <p:sp>
        <p:nvSpPr>
          <p:cNvPr id="27" name="!!lf1_0"/>
          <p:cNvSpPr/>
          <p:nvPr/>
        </p:nvSpPr>
        <p:spPr>
          <a:xfrm>
            <a:off x="9198864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!!lft1_0"/>
          <p:cNvSpPr txBox="1"/>
          <p:nvPr/>
        </p:nvSpPr>
        <p:spPr>
          <a:xfrm>
            <a:off x="9253728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380" dirty="0"/>
          </a:p>
        </p:txBody>
      </p:sp>
      <p:sp>
        <p:nvSpPr>
          <p:cNvPr id="29" name="!!mk1_0"/>
          <p:cNvSpPr/>
          <p:nvPr/>
        </p:nvSpPr>
        <p:spPr>
          <a:xfrm>
            <a:off x="9851746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0" name="!!mki1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1915668"/>
            <a:ext cx="49378" cy="49378"/>
          </a:xfrm>
          <a:prstGeom prst="rect">
            <a:avLst/>
          </a:prstGeom>
        </p:spPr>
      </p:pic>
      <p:sp>
        <p:nvSpPr>
          <p:cNvPr id="31" name="!!lf1_1"/>
          <p:cNvSpPr/>
          <p:nvPr/>
        </p:nvSpPr>
        <p:spPr>
          <a:xfrm>
            <a:off x="9198864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lft1_1"/>
          <p:cNvSpPr txBox="1"/>
          <p:nvPr/>
        </p:nvSpPr>
        <p:spPr>
          <a:xfrm>
            <a:off x="9253728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380" dirty="0"/>
          </a:p>
        </p:txBody>
      </p:sp>
      <p:sp>
        <p:nvSpPr>
          <p:cNvPr id="33" name="!!mk1_1"/>
          <p:cNvSpPr/>
          <p:nvPr/>
        </p:nvSpPr>
        <p:spPr>
          <a:xfrm>
            <a:off x="9851746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4" name="!!mki1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2113178"/>
            <a:ext cx="49378" cy="49378"/>
          </a:xfrm>
          <a:prstGeom prst="rect">
            <a:avLst/>
          </a:prstGeom>
        </p:spPr>
      </p:pic>
      <p:sp>
        <p:nvSpPr>
          <p:cNvPr id="35" name="!!lf1_2"/>
          <p:cNvSpPr/>
          <p:nvPr/>
        </p:nvSpPr>
        <p:spPr>
          <a:xfrm>
            <a:off x="9198864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!!lft1_2"/>
          <p:cNvSpPr txBox="1"/>
          <p:nvPr/>
        </p:nvSpPr>
        <p:spPr>
          <a:xfrm>
            <a:off x="9253728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380" dirty="0"/>
          </a:p>
        </p:txBody>
      </p:sp>
      <p:sp>
        <p:nvSpPr>
          <p:cNvPr id="37" name="!!mk1_2"/>
          <p:cNvSpPr/>
          <p:nvPr/>
        </p:nvSpPr>
        <p:spPr>
          <a:xfrm>
            <a:off x="9851746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8" name="!!mki1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2310689"/>
            <a:ext cx="49378" cy="49378"/>
          </a:xfrm>
          <a:prstGeom prst="rect">
            <a:avLst/>
          </a:prstGeom>
        </p:spPr>
      </p:pic>
      <p:sp>
        <p:nvSpPr>
          <p:cNvPr id="39" name="!!spine2"/>
          <p:cNvSpPr/>
          <p:nvPr/>
        </p:nvSpPr>
        <p:spPr>
          <a:xfrm>
            <a:off x="10447020" y="1435608"/>
            <a:ext cx="0" cy="8229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!!br2"/>
          <p:cNvSpPr/>
          <p:nvPr/>
        </p:nvSpPr>
        <p:spPr>
          <a:xfrm>
            <a:off x="10062972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1" name="!!bri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1559052"/>
            <a:ext cx="170078" cy="170078"/>
          </a:xfrm>
          <a:prstGeom prst="rect">
            <a:avLst/>
          </a:prstGeom>
        </p:spPr>
      </p:pic>
      <p:sp>
        <p:nvSpPr>
          <p:cNvPr id="42" name="!!brt2"/>
          <p:cNvSpPr txBox="1"/>
          <p:nvPr/>
        </p:nvSpPr>
        <p:spPr>
          <a:xfrm>
            <a:off x="10296144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410" dirty="0"/>
          </a:p>
        </p:txBody>
      </p:sp>
      <p:sp>
        <p:nvSpPr>
          <p:cNvPr id="43" name="!!spine3"/>
          <p:cNvSpPr/>
          <p:nvPr/>
        </p:nvSpPr>
        <p:spPr>
          <a:xfrm>
            <a:off x="11311128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br3"/>
          <p:cNvSpPr/>
          <p:nvPr/>
        </p:nvSpPr>
        <p:spPr>
          <a:xfrm>
            <a:off x="10927080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5" name="!!bri3" descr="preencoded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10968228" y="1559052"/>
            <a:ext cx="170078" cy="170078"/>
          </a:xfrm>
          <a:prstGeom prst="rect">
            <a:avLst/>
          </a:prstGeom>
        </p:spPr>
      </p:pic>
      <p:sp>
        <p:nvSpPr>
          <p:cNvPr id="46" name="!!brt3"/>
          <p:cNvSpPr txBox="1"/>
          <p:nvPr/>
        </p:nvSpPr>
        <p:spPr>
          <a:xfrm>
            <a:off x="11160252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410" dirty="0"/>
          </a:p>
        </p:txBody>
      </p:sp>
      <p:sp>
        <p:nvSpPr>
          <p:cNvPr id="47" name="!!lf3_0"/>
          <p:cNvSpPr/>
          <p:nvPr/>
        </p:nvSpPr>
        <p:spPr>
          <a:xfrm>
            <a:off x="10927080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!!lft3_0"/>
          <p:cNvSpPr txBox="1"/>
          <p:nvPr/>
        </p:nvSpPr>
        <p:spPr>
          <a:xfrm>
            <a:off x="10981944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380" dirty="0"/>
          </a:p>
        </p:txBody>
      </p:sp>
      <p:sp>
        <p:nvSpPr>
          <p:cNvPr id="49" name="!!mk3_0"/>
          <p:cNvSpPr/>
          <p:nvPr/>
        </p:nvSpPr>
        <p:spPr>
          <a:xfrm>
            <a:off x="11579962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0" name="!!mki3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650" y="1915668"/>
            <a:ext cx="49378" cy="49378"/>
          </a:xfrm>
          <a:prstGeom prst="rect">
            <a:avLst/>
          </a:prstGeom>
        </p:spPr>
      </p:pic>
      <p:sp>
        <p:nvSpPr>
          <p:cNvPr id="51" name="!!lf3_1"/>
          <p:cNvSpPr/>
          <p:nvPr/>
        </p:nvSpPr>
        <p:spPr>
          <a:xfrm>
            <a:off x="10927080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!!lft3_1"/>
          <p:cNvSpPr txBox="1"/>
          <p:nvPr/>
        </p:nvSpPr>
        <p:spPr>
          <a:xfrm>
            <a:off x="10981944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380" dirty="0"/>
          </a:p>
        </p:txBody>
      </p:sp>
      <p:sp>
        <p:nvSpPr>
          <p:cNvPr id="53" name="!!mk3_1"/>
          <p:cNvSpPr/>
          <p:nvPr/>
        </p:nvSpPr>
        <p:spPr>
          <a:xfrm>
            <a:off x="11579962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4" name="!!mki3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650" y="2113178"/>
            <a:ext cx="49378" cy="49378"/>
          </a:xfrm>
          <a:prstGeom prst="rect">
            <a:avLst/>
          </a:prstGeom>
        </p:spPr>
      </p:pic>
      <p:sp>
        <p:nvSpPr>
          <p:cNvPr id="55" name="!!lf3_2"/>
          <p:cNvSpPr/>
          <p:nvPr/>
        </p:nvSpPr>
        <p:spPr>
          <a:xfrm>
            <a:off x="10927080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!!lft3_2"/>
          <p:cNvSpPr txBox="1"/>
          <p:nvPr/>
        </p:nvSpPr>
        <p:spPr>
          <a:xfrm>
            <a:off x="10981944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380" dirty="0"/>
          </a:p>
        </p:txBody>
      </p:sp>
      <p:sp>
        <p:nvSpPr>
          <p:cNvPr id="57" name="!!mk3_2"/>
          <p:cNvSpPr/>
          <p:nvPr/>
        </p:nvSpPr>
        <p:spPr>
          <a:xfrm>
            <a:off x="11579962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8" name="!!mki3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4650" y="2310689"/>
            <a:ext cx="49378" cy="49378"/>
          </a:xfrm>
          <a:prstGeom prst="rect">
            <a:avLst/>
          </a:prstGeom>
        </p:spPr>
      </p:pic>
      <p:sp>
        <p:nvSpPr>
          <p:cNvPr id="59" name="!!lf2_0"/>
          <p:cNvSpPr/>
          <p:nvPr/>
        </p:nvSpPr>
        <p:spPr>
          <a:xfrm>
            <a:off x="548640" y="146304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lft2_0"/>
          <p:cNvSpPr txBox="1"/>
          <p:nvPr/>
        </p:nvSpPr>
        <p:spPr>
          <a:xfrm>
            <a:off x="77724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1600" dirty="0"/>
          </a:p>
        </p:txBody>
      </p:sp>
      <p:sp>
        <p:nvSpPr>
          <p:cNvPr id="61" name="!!mk2_0"/>
          <p:cNvSpPr/>
          <p:nvPr/>
        </p:nvSpPr>
        <p:spPr>
          <a:xfrm>
            <a:off x="3337560" y="161848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2" name="!!mki2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728216"/>
            <a:ext cx="201168" cy="201168"/>
          </a:xfrm>
          <a:prstGeom prst="rect">
            <a:avLst/>
          </a:prstGeom>
        </p:spPr>
      </p:pic>
      <p:sp>
        <p:nvSpPr>
          <p:cNvPr id="63" name="t77"/>
          <p:cNvSpPr txBox="1"/>
          <p:nvPr/>
        </p:nvSpPr>
        <p:spPr>
          <a:xfrm>
            <a:off x="4114800" y="1188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CDU, VDU, desalter, pre-heat trains</a:t>
            </a:r>
            <a:endParaRPr lang="en-US" sz="1400" dirty="0"/>
          </a:p>
        </p:txBody>
      </p:sp>
      <p:sp>
        <p:nvSpPr>
          <p:cNvPr id="64" name="s78"/>
          <p:cNvSpPr/>
          <p:nvPr/>
        </p:nvSpPr>
        <p:spPr>
          <a:xfrm>
            <a:off x="4114800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5" name="t79"/>
          <p:cNvSpPr txBox="1"/>
          <p:nvPr/>
        </p:nvSpPr>
        <p:spPr>
          <a:xfrm>
            <a:off x="4114800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66" name="s80"/>
          <p:cNvSpPr/>
          <p:nvPr/>
        </p:nvSpPr>
        <p:spPr>
          <a:xfrm>
            <a:off x="4777740" y="192024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7" name="t81"/>
          <p:cNvSpPr txBox="1"/>
          <p:nvPr/>
        </p:nvSpPr>
        <p:spPr>
          <a:xfrm>
            <a:off x="4777740" y="192024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68" name="s82"/>
          <p:cNvSpPr/>
          <p:nvPr/>
        </p:nvSpPr>
        <p:spPr>
          <a:xfrm>
            <a:off x="5751576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9" name="t83"/>
          <p:cNvSpPr txBox="1"/>
          <p:nvPr/>
        </p:nvSpPr>
        <p:spPr>
          <a:xfrm>
            <a:off x="5751576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70" name="s84"/>
          <p:cNvSpPr/>
          <p:nvPr/>
        </p:nvSpPr>
        <p:spPr>
          <a:xfrm>
            <a:off x="6414516" y="1920240"/>
            <a:ext cx="1019556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1" name="t85"/>
          <p:cNvSpPr txBox="1"/>
          <p:nvPr/>
        </p:nvSpPr>
        <p:spPr>
          <a:xfrm>
            <a:off x="6414516" y="1920240"/>
            <a:ext cx="1019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</a:t>
            </a:r>
            <a:endParaRPr lang="en-US" sz="1200" dirty="0"/>
          </a:p>
        </p:txBody>
      </p:sp>
      <p:sp>
        <p:nvSpPr>
          <p:cNvPr id="72" name="!!lf2_1"/>
          <p:cNvSpPr/>
          <p:nvPr/>
        </p:nvSpPr>
        <p:spPr>
          <a:xfrm>
            <a:off x="548640" y="288036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!!lft2_1"/>
          <p:cNvSpPr txBox="1"/>
          <p:nvPr/>
        </p:nvSpPr>
        <p:spPr>
          <a:xfrm>
            <a:off x="777240" y="2880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1600" dirty="0"/>
          </a:p>
        </p:txBody>
      </p:sp>
      <p:sp>
        <p:nvSpPr>
          <p:cNvPr id="74" name="!!mk2_1"/>
          <p:cNvSpPr/>
          <p:nvPr/>
        </p:nvSpPr>
        <p:spPr>
          <a:xfrm>
            <a:off x="3337560" y="303580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75" name="!!mki2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145536"/>
            <a:ext cx="201168" cy="201168"/>
          </a:xfrm>
          <a:prstGeom prst="rect">
            <a:avLst/>
          </a:prstGeom>
        </p:spPr>
      </p:pic>
      <p:sp>
        <p:nvSpPr>
          <p:cNvPr id="76" name="t86"/>
          <p:cNvSpPr txBox="1"/>
          <p:nvPr/>
        </p:nvSpPr>
        <p:spPr>
          <a:xfrm>
            <a:off x="411480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Hydrotreaters, hydrocracker, FCC, coker</a:t>
            </a:r>
            <a:endParaRPr lang="en-US" sz="1400" dirty="0"/>
          </a:p>
        </p:txBody>
      </p:sp>
      <p:sp>
        <p:nvSpPr>
          <p:cNvPr id="77" name="s87"/>
          <p:cNvSpPr/>
          <p:nvPr/>
        </p:nvSpPr>
        <p:spPr>
          <a:xfrm>
            <a:off x="4114800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8" name="t88"/>
          <p:cNvSpPr txBox="1"/>
          <p:nvPr/>
        </p:nvSpPr>
        <p:spPr>
          <a:xfrm>
            <a:off x="4114800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79" name="s89"/>
          <p:cNvSpPr/>
          <p:nvPr/>
        </p:nvSpPr>
        <p:spPr>
          <a:xfrm>
            <a:off x="4777740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0" name="t90"/>
          <p:cNvSpPr txBox="1"/>
          <p:nvPr/>
        </p:nvSpPr>
        <p:spPr>
          <a:xfrm>
            <a:off x="4777740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81" name="s91"/>
          <p:cNvSpPr/>
          <p:nvPr/>
        </p:nvSpPr>
        <p:spPr>
          <a:xfrm>
            <a:off x="5440680" y="3337560"/>
            <a:ext cx="630936" cy="329184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2" name="t92"/>
          <p:cNvSpPr txBox="1"/>
          <p:nvPr/>
        </p:nvSpPr>
        <p:spPr>
          <a:xfrm>
            <a:off x="5440680" y="3337560"/>
            <a:ext cx="630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</a:t>
            </a:r>
            <a:endParaRPr lang="en-US" sz="1200" dirty="0"/>
          </a:p>
        </p:txBody>
      </p:sp>
      <p:sp>
        <p:nvSpPr>
          <p:cNvPr id="83" name="s93"/>
          <p:cNvSpPr/>
          <p:nvPr/>
        </p:nvSpPr>
        <p:spPr>
          <a:xfrm>
            <a:off x="6181344" y="333756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4" name="t94"/>
          <p:cNvSpPr txBox="1"/>
          <p:nvPr/>
        </p:nvSpPr>
        <p:spPr>
          <a:xfrm>
            <a:off x="6181344" y="333756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85" name="!!lf2_2"/>
          <p:cNvSpPr/>
          <p:nvPr/>
        </p:nvSpPr>
        <p:spPr>
          <a:xfrm>
            <a:off x="548640" y="429768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!!lft2_2"/>
          <p:cNvSpPr txBox="1"/>
          <p:nvPr/>
        </p:nvSpPr>
        <p:spPr>
          <a:xfrm>
            <a:off x="77724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1600" dirty="0"/>
          </a:p>
        </p:txBody>
      </p:sp>
      <p:sp>
        <p:nvSpPr>
          <p:cNvPr id="87" name="!!mk2_2"/>
          <p:cNvSpPr/>
          <p:nvPr/>
        </p:nvSpPr>
        <p:spPr>
          <a:xfrm>
            <a:off x="3337560" y="445312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88" name="!!mki2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4562856"/>
            <a:ext cx="201168" cy="201168"/>
          </a:xfrm>
          <a:prstGeom prst="rect">
            <a:avLst/>
          </a:prstGeom>
        </p:spPr>
      </p:pic>
      <p:sp>
        <p:nvSpPr>
          <p:cNvPr id="89" name="t95"/>
          <p:cNvSpPr txBox="1"/>
          <p:nvPr/>
        </p:nvSpPr>
        <p:spPr>
          <a:xfrm>
            <a:off x="411480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 strippers, amine regenerators, SRU / TGT</a:t>
            </a:r>
            <a:endParaRPr lang="en-US" sz="1400" dirty="0"/>
          </a:p>
        </p:txBody>
      </p:sp>
      <p:sp>
        <p:nvSpPr>
          <p:cNvPr id="90" name="s96"/>
          <p:cNvSpPr/>
          <p:nvPr/>
        </p:nvSpPr>
        <p:spPr>
          <a:xfrm>
            <a:off x="4114800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1" name="t97"/>
          <p:cNvSpPr txBox="1"/>
          <p:nvPr/>
        </p:nvSpPr>
        <p:spPr>
          <a:xfrm>
            <a:off x="4114800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92" name="s98"/>
          <p:cNvSpPr/>
          <p:nvPr/>
        </p:nvSpPr>
        <p:spPr>
          <a:xfrm>
            <a:off x="4777740" y="475488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3" name="t99"/>
          <p:cNvSpPr txBox="1"/>
          <p:nvPr/>
        </p:nvSpPr>
        <p:spPr>
          <a:xfrm>
            <a:off x="4777740" y="475488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</a:t>
            </a:r>
            <a:endParaRPr lang="en-US" sz="1200" dirty="0"/>
          </a:p>
        </p:txBody>
      </p:sp>
      <p:sp>
        <p:nvSpPr>
          <p:cNvPr id="94" name="s100"/>
          <p:cNvSpPr/>
          <p:nvPr/>
        </p:nvSpPr>
        <p:spPr>
          <a:xfrm>
            <a:off x="5751576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5" name="t101"/>
          <p:cNvSpPr txBox="1"/>
          <p:nvPr/>
        </p:nvSpPr>
        <p:spPr>
          <a:xfrm>
            <a:off x="5751576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9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Petrochemicals – chemicals &amp; polymers</a:t>
            </a:r>
            <a:endParaRPr lang="en-US" sz="2800" dirty="0"/>
          </a:p>
        </p:txBody>
      </p:sp>
      <p:sp>
        <p:nvSpPr>
          <p:cNvPr id="3" name="!!root"/>
          <p:cNvSpPr/>
          <p:nvPr/>
        </p:nvSpPr>
        <p:spPr>
          <a:xfrm>
            <a:off x="9437522" y="1161288"/>
            <a:ext cx="1152144" cy="197510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!!root_t"/>
          <p:cNvSpPr txBox="1"/>
          <p:nvPr/>
        </p:nvSpPr>
        <p:spPr>
          <a:xfrm>
            <a:off x="9437522" y="1161288"/>
            <a:ext cx="1152144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VALUE CHAIN</a:t>
            </a:r>
            <a:endParaRPr lang="en-US" sz="480" dirty="0"/>
          </a:p>
        </p:txBody>
      </p:sp>
      <p:sp>
        <p:nvSpPr>
          <p:cNvPr id="5" name="!!bar_v"/>
          <p:cNvSpPr/>
          <p:nvPr/>
        </p:nvSpPr>
        <p:spPr>
          <a:xfrm>
            <a:off x="10013594" y="1358798"/>
            <a:ext cx="0" cy="7681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!!bar_h"/>
          <p:cNvSpPr/>
          <p:nvPr/>
        </p:nvSpPr>
        <p:spPr>
          <a:xfrm>
            <a:off x="8718804" y="1435608"/>
            <a:ext cx="2592324" cy="0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!!spine0"/>
          <p:cNvSpPr/>
          <p:nvPr/>
        </p:nvSpPr>
        <p:spPr>
          <a:xfrm>
            <a:off x="8718804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!!br0"/>
          <p:cNvSpPr/>
          <p:nvPr/>
        </p:nvSpPr>
        <p:spPr>
          <a:xfrm>
            <a:off x="8334756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!!bri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8375904" y="1559052"/>
            <a:ext cx="170078" cy="170078"/>
          </a:xfrm>
          <a:prstGeom prst="rect">
            <a:avLst/>
          </a:prstGeom>
        </p:spPr>
      </p:pic>
      <p:sp>
        <p:nvSpPr>
          <p:cNvPr id="10" name="!!brt0"/>
          <p:cNvSpPr txBox="1"/>
          <p:nvPr/>
        </p:nvSpPr>
        <p:spPr>
          <a:xfrm>
            <a:off x="8567928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gas processing</a:t>
            </a:r>
            <a:endParaRPr lang="en-US" sz="410" dirty="0"/>
          </a:p>
        </p:txBody>
      </p:sp>
      <p:sp>
        <p:nvSpPr>
          <p:cNvPr id="11" name="!!lf0_0"/>
          <p:cNvSpPr/>
          <p:nvPr/>
        </p:nvSpPr>
        <p:spPr>
          <a:xfrm>
            <a:off x="8334756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!!lft0_0"/>
          <p:cNvSpPr txBox="1"/>
          <p:nvPr/>
        </p:nvSpPr>
        <p:spPr>
          <a:xfrm>
            <a:off x="8389620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production stations</a:t>
            </a:r>
            <a:endParaRPr lang="en-US" sz="380" dirty="0"/>
          </a:p>
        </p:txBody>
      </p:sp>
      <p:sp>
        <p:nvSpPr>
          <p:cNvPr id="13" name="!!mk0_0"/>
          <p:cNvSpPr/>
          <p:nvPr/>
        </p:nvSpPr>
        <p:spPr>
          <a:xfrm>
            <a:off x="8987638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4" name="!!mki0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1915668"/>
            <a:ext cx="49378" cy="49378"/>
          </a:xfrm>
          <a:prstGeom prst="rect">
            <a:avLst/>
          </a:prstGeom>
        </p:spPr>
      </p:pic>
      <p:sp>
        <p:nvSpPr>
          <p:cNvPr id="15" name="!!lf0_1"/>
          <p:cNvSpPr/>
          <p:nvPr/>
        </p:nvSpPr>
        <p:spPr>
          <a:xfrm>
            <a:off x="8334756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!!lft0_1"/>
          <p:cNvSpPr txBox="1"/>
          <p:nvPr/>
        </p:nvSpPr>
        <p:spPr>
          <a:xfrm>
            <a:off x="8389620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processing plants</a:t>
            </a:r>
            <a:endParaRPr lang="en-US" sz="380" dirty="0"/>
          </a:p>
        </p:txBody>
      </p:sp>
      <p:sp>
        <p:nvSpPr>
          <p:cNvPr id="17" name="!!mk0_1"/>
          <p:cNvSpPr/>
          <p:nvPr/>
        </p:nvSpPr>
        <p:spPr>
          <a:xfrm>
            <a:off x="8987638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8" name="!!mki0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2113178"/>
            <a:ext cx="49378" cy="49378"/>
          </a:xfrm>
          <a:prstGeom prst="rect">
            <a:avLst/>
          </a:prstGeom>
        </p:spPr>
      </p:pic>
      <p:sp>
        <p:nvSpPr>
          <p:cNvPr id="19" name="!!lf0_2"/>
          <p:cNvSpPr/>
          <p:nvPr/>
        </p:nvSpPr>
        <p:spPr>
          <a:xfrm>
            <a:off x="8334756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!!lft0_2"/>
          <p:cNvSpPr txBox="1"/>
          <p:nvPr/>
        </p:nvSpPr>
        <p:spPr>
          <a:xfrm>
            <a:off x="8389620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&amp; tank farms</a:t>
            </a:r>
            <a:endParaRPr lang="en-US" sz="380" dirty="0"/>
          </a:p>
        </p:txBody>
      </p:sp>
      <p:sp>
        <p:nvSpPr>
          <p:cNvPr id="21" name="!!mk0_2"/>
          <p:cNvSpPr/>
          <p:nvPr/>
        </p:nvSpPr>
        <p:spPr>
          <a:xfrm>
            <a:off x="8987638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2" name="!!mki0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26" y="2310689"/>
            <a:ext cx="49378" cy="49378"/>
          </a:xfrm>
          <a:prstGeom prst="rect">
            <a:avLst/>
          </a:prstGeom>
        </p:spPr>
      </p:pic>
      <p:sp>
        <p:nvSpPr>
          <p:cNvPr id="23" name="!!spine1"/>
          <p:cNvSpPr/>
          <p:nvPr/>
        </p:nvSpPr>
        <p:spPr>
          <a:xfrm>
            <a:off x="9582912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!!br1"/>
          <p:cNvSpPr/>
          <p:nvPr/>
        </p:nvSpPr>
        <p:spPr>
          <a:xfrm>
            <a:off x="9198864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5" name="!!bri1" descr="preencoded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9240012" y="1559052"/>
            <a:ext cx="170078" cy="170078"/>
          </a:xfrm>
          <a:prstGeom prst="rect">
            <a:avLst/>
          </a:prstGeom>
        </p:spPr>
      </p:pic>
      <p:sp>
        <p:nvSpPr>
          <p:cNvPr id="26" name="!!brt1"/>
          <p:cNvSpPr txBox="1"/>
          <p:nvPr/>
        </p:nvSpPr>
        <p:spPr>
          <a:xfrm>
            <a:off x="9432036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storage</a:t>
            </a:r>
            <a:endParaRPr lang="en-US" sz="410" dirty="0"/>
          </a:p>
        </p:txBody>
      </p:sp>
      <p:sp>
        <p:nvSpPr>
          <p:cNvPr id="27" name="!!lf1_0"/>
          <p:cNvSpPr/>
          <p:nvPr/>
        </p:nvSpPr>
        <p:spPr>
          <a:xfrm>
            <a:off x="9198864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!!lft1_0"/>
          <p:cNvSpPr txBox="1"/>
          <p:nvPr/>
        </p:nvSpPr>
        <p:spPr>
          <a:xfrm>
            <a:off x="9253728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pig receivers</a:t>
            </a:r>
            <a:endParaRPr lang="en-US" sz="380" dirty="0"/>
          </a:p>
        </p:txBody>
      </p:sp>
      <p:sp>
        <p:nvSpPr>
          <p:cNvPr id="29" name="!!mk1_0"/>
          <p:cNvSpPr/>
          <p:nvPr/>
        </p:nvSpPr>
        <p:spPr>
          <a:xfrm>
            <a:off x="9851746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0" name="!!mki1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1915668"/>
            <a:ext cx="49378" cy="49378"/>
          </a:xfrm>
          <a:prstGeom prst="rect">
            <a:avLst/>
          </a:prstGeom>
        </p:spPr>
      </p:pic>
      <p:sp>
        <p:nvSpPr>
          <p:cNvPr id="31" name="!!lf1_1"/>
          <p:cNvSpPr/>
          <p:nvPr/>
        </p:nvSpPr>
        <p:spPr>
          <a:xfrm>
            <a:off x="9198864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!!lft1_1"/>
          <p:cNvSpPr txBox="1"/>
          <p:nvPr/>
        </p:nvSpPr>
        <p:spPr>
          <a:xfrm>
            <a:off x="9253728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terminals &amp; tank farms</a:t>
            </a:r>
            <a:endParaRPr lang="en-US" sz="380" dirty="0"/>
          </a:p>
        </p:txBody>
      </p:sp>
      <p:sp>
        <p:nvSpPr>
          <p:cNvPr id="33" name="!!mk1_1"/>
          <p:cNvSpPr/>
          <p:nvPr/>
        </p:nvSpPr>
        <p:spPr>
          <a:xfrm>
            <a:off x="9851746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4" name="!!mki1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2113178"/>
            <a:ext cx="49378" cy="49378"/>
          </a:xfrm>
          <a:prstGeom prst="rect">
            <a:avLst/>
          </a:prstGeom>
        </p:spPr>
      </p:pic>
      <p:sp>
        <p:nvSpPr>
          <p:cNvPr id="35" name="!!lf1_2"/>
          <p:cNvSpPr/>
          <p:nvPr/>
        </p:nvSpPr>
        <p:spPr>
          <a:xfrm>
            <a:off x="9198864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3AB5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!!lft1_2"/>
          <p:cNvSpPr txBox="1"/>
          <p:nvPr/>
        </p:nvSpPr>
        <p:spPr>
          <a:xfrm>
            <a:off x="9253728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LPG / NGL plants &amp; spheres</a:t>
            </a:r>
            <a:endParaRPr lang="en-US" sz="380" dirty="0"/>
          </a:p>
        </p:txBody>
      </p:sp>
      <p:sp>
        <p:nvSpPr>
          <p:cNvPr id="37" name="!!mk1_2"/>
          <p:cNvSpPr/>
          <p:nvPr/>
        </p:nvSpPr>
        <p:spPr>
          <a:xfrm>
            <a:off x="9851746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8" name="!!mki1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6434" y="2310689"/>
            <a:ext cx="49378" cy="49378"/>
          </a:xfrm>
          <a:prstGeom prst="rect">
            <a:avLst/>
          </a:prstGeom>
        </p:spPr>
      </p:pic>
      <p:sp>
        <p:nvSpPr>
          <p:cNvPr id="39" name="!!spine2"/>
          <p:cNvSpPr/>
          <p:nvPr/>
        </p:nvSpPr>
        <p:spPr>
          <a:xfrm>
            <a:off x="10447020" y="1435608"/>
            <a:ext cx="0" cy="97383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!!br2"/>
          <p:cNvSpPr/>
          <p:nvPr/>
        </p:nvSpPr>
        <p:spPr>
          <a:xfrm>
            <a:off x="10062972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0C74BC">
              <a:alpha val="35000"/>
            </a:srgbClr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1" name="!!bri2" descr="preencoded.png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10104120" y="1559052"/>
            <a:ext cx="170078" cy="170078"/>
          </a:xfrm>
          <a:prstGeom prst="rect">
            <a:avLst/>
          </a:prstGeom>
        </p:spPr>
      </p:pic>
      <p:sp>
        <p:nvSpPr>
          <p:cNvPr id="42" name="!!brt2"/>
          <p:cNvSpPr txBox="1"/>
          <p:nvPr/>
        </p:nvSpPr>
        <p:spPr>
          <a:xfrm>
            <a:off x="10296144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</a:t>
            </a:r>
            <a:endParaRPr lang="en-US" sz="410" dirty="0"/>
          </a:p>
        </p:txBody>
      </p:sp>
      <p:sp>
        <p:nvSpPr>
          <p:cNvPr id="43" name="!!lf2_0"/>
          <p:cNvSpPr/>
          <p:nvPr/>
        </p:nvSpPr>
        <p:spPr>
          <a:xfrm>
            <a:off x="10062972" y="186080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!!lft2_0"/>
          <p:cNvSpPr txBox="1"/>
          <p:nvPr/>
        </p:nvSpPr>
        <p:spPr>
          <a:xfrm>
            <a:off x="10117836" y="186080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vacuum units</a:t>
            </a:r>
            <a:endParaRPr lang="en-US" sz="380" dirty="0"/>
          </a:p>
        </p:txBody>
      </p:sp>
      <p:sp>
        <p:nvSpPr>
          <p:cNvPr id="45" name="!!mk2_0"/>
          <p:cNvSpPr/>
          <p:nvPr/>
        </p:nvSpPr>
        <p:spPr>
          <a:xfrm>
            <a:off x="10715854" y="1890979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6" name="!!mki2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542" y="1915668"/>
            <a:ext cx="49378" cy="49378"/>
          </a:xfrm>
          <a:prstGeom prst="rect">
            <a:avLst/>
          </a:prstGeom>
        </p:spPr>
      </p:pic>
      <p:sp>
        <p:nvSpPr>
          <p:cNvPr id="47" name="!!lf2_1"/>
          <p:cNvSpPr/>
          <p:nvPr/>
        </p:nvSpPr>
        <p:spPr>
          <a:xfrm>
            <a:off x="10062972" y="2058314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!!lft2_1"/>
          <p:cNvSpPr txBox="1"/>
          <p:nvPr/>
        </p:nvSpPr>
        <p:spPr>
          <a:xfrm>
            <a:off x="10117836" y="2058314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Hydroprocessing &amp; conversion</a:t>
            </a:r>
            <a:endParaRPr lang="en-US" sz="380" dirty="0"/>
          </a:p>
        </p:txBody>
      </p:sp>
      <p:sp>
        <p:nvSpPr>
          <p:cNvPr id="49" name="!!mk2_1"/>
          <p:cNvSpPr/>
          <p:nvPr/>
        </p:nvSpPr>
        <p:spPr>
          <a:xfrm>
            <a:off x="10715854" y="208849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0" name="!!mki2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542" y="2113178"/>
            <a:ext cx="49378" cy="49378"/>
          </a:xfrm>
          <a:prstGeom prst="rect">
            <a:avLst/>
          </a:prstGeom>
        </p:spPr>
      </p:pic>
      <p:sp>
        <p:nvSpPr>
          <p:cNvPr id="51" name="!!lf2_2"/>
          <p:cNvSpPr/>
          <p:nvPr/>
        </p:nvSpPr>
        <p:spPr>
          <a:xfrm>
            <a:off x="10062972" y="2255825"/>
            <a:ext cx="768096" cy="159106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4763">
            <a:solidFill>
              <a:srgbClr val="0C74B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2" name="!!lft2_2"/>
          <p:cNvSpPr txBox="1"/>
          <p:nvPr/>
        </p:nvSpPr>
        <p:spPr>
          <a:xfrm>
            <a:off x="10117836" y="2255825"/>
            <a:ext cx="5897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" b="1" dirty="0">
                <a:solidFill>
                  <a:srgbClr val="9AA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 water, amine &amp; sulphur</a:t>
            </a:r>
            <a:endParaRPr lang="en-US" sz="380" dirty="0"/>
          </a:p>
        </p:txBody>
      </p:sp>
      <p:sp>
        <p:nvSpPr>
          <p:cNvPr id="53" name="!!mk2_2"/>
          <p:cNvSpPr/>
          <p:nvPr/>
        </p:nvSpPr>
        <p:spPr>
          <a:xfrm>
            <a:off x="10715854" y="2286000"/>
            <a:ext cx="98755" cy="98755"/>
          </a:xfrm>
          <a:prstGeom prst="ellipse">
            <a:avLst/>
          </a:prstGeom>
          <a:solidFill>
            <a:srgbClr val="3AB54A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4" name="!!mki2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0542" y="2310689"/>
            <a:ext cx="49378" cy="49378"/>
          </a:xfrm>
          <a:prstGeom prst="rect">
            <a:avLst/>
          </a:prstGeom>
        </p:spPr>
      </p:pic>
      <p:sp>
        <p:nvSpPr>
          <p:cNvPr id="55" name="!!spine3"/>
          <p:cNvSpPr/>
          <p:nvPr/>
        </p:nvSpPr>
        <p:spPr>
          <a:xfrm>
            <a:off x="11311128" y="1435608"/>
            <a:ext cx="0" cy="82296"/>
          </a:xfrm>
          <a:prstGeom prst="line">
            <a:avLst/>
          </a:prstGeom>
          <a:noFill/>
          <a:ln w="9525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!!br3"/>
          <p:cNvSpPr/>
          <p:nvPr/>
        </p:nvSpPr>
        <p:spPr>
          <a:xfrm>
            <a:off x="10927080" y="1517904"/>
            <a:ext cx="768096" cy="260604"/>
          </a:xfrm>
          <a:prstGeom prst="roundRect">
            <a:avLst>
              <a:gd name="adj" fmla="val 12632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7" name="!!bri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8228" y="1559052"/>
            <a:ext cx="170078" cy="170078"/>
          </a:xfrm>
          <a:prstGeom prst="rect">
            <a:avLst/>
          </a:prstGeom>
        </p:spPr>
      </p:pic>
      <p:sp>
        <p:nvSpPr>
          <p:cNvPr id="58" name="!!brt3"/>
          <p:cNvSpPr txBox="1"/>
          <p:nvPr/>
        </p:nvSpPr>
        <p:spPr>
          <a:xfrm>
            <a:off x="11160252" y="1517904"/>
            <a:ext cx="5266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</a:t>
            </a:r>
            <a:endParaRPr lang="en-US" sz="410" dirty="0"/>
          </a:p>
          <a:p>
            <a:pPr marL="0" indent="0">
              <a:buNone/>
            </a:pPr>
            <a:r>
              <a:rPr lang="en-US" sz="3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&amp; polymers</a:t>
            </a:r>
            <a:endParaRPr lang="en-US" sz="410" dirty="0"/>
          </a:p>
        </p:txBody>
      </p:sp>
      <p:sp>
        <p:nvSpPr>
          <p:cNvPr id="59" name="!!lf3_0"/>
          <p:cNvSpPr/>
          <p:nvPr/>
        </p:nvSpPr>
        <p:spPr>
          <a:xfrm>
            <a:off x="548640" y="146304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!!lft3_0"/>
          <p:cNvSpPr txBox="1"/>
          <p:nvPr/>
        </p:nvSpPr>
        <p:spPr>
          <a:xfrm>
            <a:off x="77724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Aromatics (BTX)</a:t>
            </a:r>
            <a:endParaRPr lang="en-US" sz="1600" dirty="0"/>
          </a:p>
        </p:txBody>
      </p:sp>
      <p:sp>
        <p:nvSpPr>
          <p:cNvPr id="61" name="!!mk3_0"/>
          <p:cNvSpPr/>
          <p:nvPr/>
        </p:nvSpPr>
        <p:spPr>
          <a:xfrm>
            <a:off x="3337560" y="161848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62" name="!!mki3_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728216"/>
            <a:ext cx="201168" cy="201168"/>
          </a:xfrm>
          <a:prstGeom prst="rect">
            <a:avLst/>
          </a:prstGeom>
        </p:spPr>
      </p:pic>
      <p:sp>
        <p:nvSpPr>
          <p:cNvPr id="63" name="t102"/>
          <p:cNvSpPr txBox="1"/>
          <p:nvPr/>
        </p:nvSpPr>
        <p:spPr>
          <a:xfrm>
            <a:off x="4114800" y="1188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Reformer, extraction and xylene columns, aromatics tanks</a:t>
            </a:r>
            <a:endParaRPr lang="en-US" sz="1400" dirty="0"/>
          </a:p>
        </p:txBody>
      </p:sp>
      <p:sp>
        <p:nvSpPr>
          <p:cNvPr id="64" name="s103"/>
          <p:cNvSpPr/>
          <p:nvPr/>
        </p:nvSpPr>
        <p:spPr>
          <a:xfrm>
            <a:off x="4114800" y="192024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5" name="t104"/>
          <p:cNvSpPr txBox="1"/>
          <p:nvPr/>
        </p:nvSpPr>
        <p:spPr>
          <a:xfrm>
            <a:off x="4114800" y="192024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66" name="s105"/>
          <p:cNvSpPr/>
          <p:nvPr/>
        </p:nvSpPr>
        <p:spPr>
          <a:xfrm>
            <a:off x="5088636" y="192024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7" name="t106"/>
          <p:cNvSpPr txBox="1"/>
          <p:nvPr/>
        </p:nvSpPr>
        <p:spPr>
          <a:xfrm>
            <a:off x="5088636" y="192024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68" name="s107"/>
          <p:cNvSpPr/>
          <p:nvPr/>
        </p:nvSpPr>
        <p:spPr>
          <a:xfrm>
            <a:off x="5751576" y="1920240"/>
            <a:ext cx="1485900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9" name="t108"/>
          <p:cNvSpPr txBox="1"/>
          <p:nvPr/>
        </p:nvSpPr>
        <p:spPr>
          <a:xfrm>
            <a:off x="5751576" y="1920240"/>
            <a:ext cx="1485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aromatics</a:t>
            </a:r>
            <a:endParaRPr lang="en-US" sz="1200" dirty="0"/>
          </a:p>
        </p:txBody>
      </p:sp>
      <p:sp>
        <p:nvSpPr>
          <p:cNvPr id="70" name="!!lf3_1"/>
          <p:cNvSpPr/>
          <p:nvPr/>
        </p:nvSpPr>
        <p:spPr>
          <a:xfrm>
            <a:off x="548640" y="288036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!!lft3_1"/>
          <p:cNvSpPr txBox="1"/>
          <p:nvPr/>
        </p:nvSpPr>
        <p:spPr>
          <a:xfrm>
            <a:off x="777240" y="28803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Olefins &amp; polymers</a:t>
            </a:r>
            <a:endParaRPr lang="en-US" sz="1600" dirty="0"/>
          </a:p>
        </p:txBody>
      </p:sp>
      <p:sp>
        <p:nvSpPr>
          <p:cNvPr id="72" name="!!mk3_1"/>
          <p:cNvSpPr/>
          <p:nvPr/>
        </p:nvSpPr>
        <p:spPr>
          <a:xfrm>
            <a:off x="3337560" y="303580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73" name="!!mki3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3145536"/>
            <a:ext cx="201168" cy="201168"/>
          </a:xfrm>
          <a:prstGeom prst="rect">
            <a:avLst/>
          </a:prstGeom>
        </p:spPr>
      </p:pic>
      <p:sp>
        <p:nvSpPr>
          <p:cNvPr id="74" name="t109"/>
          <p:cNvSpPr txBox="1"/>
          <p:nvPr/>
        </p:nvSpPr>
        <p:spPr>
          <a:xfrm>
            <a:off x="4114800" y="2606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Quench towers, caustic tower, compressor KO drums</a:t>
            </a:r>
            <a:endParaRPr lang="en-US" sz="1400" dirty="0"/>
          </a:p>
        </p:txBody>
      </p:sp>
      <p:sp>
        <p:nvSpPr>
          <p:cNvPr id="75" name="s110"/>
          <p:cNvSpPr/>
          <p:nvPr/>
        </p:nvSpPr>
        <p:spPr>
          <a:xfrm>
            <a:off x="4114800" y="33375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1F3A5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6" name="t111"/>
          <p:cNvSpPr txBox="1"/>
          <p:nvPr/>
        </p:nvSpPr>
        <p:spPr>
          <a:xfrm>
            <a:off x="4114800" y="33375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/ coke</a:t>
            </a:r>
            <a:endParaRPr lang="en-US" sz="1200" dirty="0"/>
          </a:p>
        </p:txBody>
      </p:sp>
      <p:sp>
        <p:nvSpPr>
          <p:cNvPr id="77" name="s112"/>
          <p:cNvSpPr/>
          <p:nvPr/>
        </p:nvSpPr>
        <p:spPr>
          <a:xfrm>
            <a:off x="5321808" y="333756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8" name="t113"/>
          <p:cNvSpPr txBox="1"/>
          <p:nvPr/>
        </p:nvSpPr>
        <p:spPr>
          <a:xfrm>
            <a:off x="5321808" y="333756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</a:t>
            </a:r>
            <a:endParaRPr lang="en-US" sz="1200" dirty="0"/>
          </a:p>
        </p:txBody>
      </p:sp>
      <p:sp>
        <p:nvSpPr>
          <p:cNvPr id="79" name="s114"/>
          <p:cNvSpPr/>
          <p:nvPr/>
        </p:nvSpPr>
        <p:spPr>
          <a:xfrm>
            <a:off x="6295644" y="333756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0" name="t115"/>
          <p:cNvSpPr txBox="1"/>
          <p:nvPr/>
        </p:nvSpPr>
        <p:spPr>
          <a:xfrm>
            <a:off x="6295644" y="333756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81" name="!!lf3_2"/>
          <p:cNvSpPr/>
          <p:nvPr/>
        </p:nvSpPr>
        <p:spPr>
          <a:xfrm>
            <a:off x="548640" y="4297680"/>
            <a:ext cx="329184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2" name="!!lft3_2"/>
          <p:cNvSpPr txBox="1"/>
          <p:nvPr/>
        </p:nvSpPr>
        <p:spPr>
          <a:xfrm>
            <a:off x="77724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Methanol &amp; fertilisers</a:t>
            </a:r>
            <a:endParaRPr lang="en-US" sz="1600" dirty="0"/>
          </a:p>
        </p:txBody>
      </p:sp>
      <p:sp>
        <p:nvSpPr>
          <p:cNvPr id="83" name="!!mk3_2"/>
          <p:cNvSpPr/>
          <p:nvPr/>
        </p:nvSpPr>
        <p:spPr>
          <a:xfrm>
            <a:off x="3337560" y="4453128"/>
            <a:ext cx="420624" cy="420624"/>
          </a:xfrm>
          <a:prstGeom prst="ellipse">
            <a:avLst/>
          </a:prstGeom>
          <a:solidFill>
            <a:srgbClr val="3AB5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84" name="!!mki3_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4562856"/>
            <a:ext cx="201168" cy="201168"/>
          </a:xfrm>
          <a:prstGeom prst="rect">
            <a:avLst/>
          </a:prstGeom>
        </p:spPr>
      </p:pic>
      <p:sp>
        <p:nvSpPr>
          <p:cNvPr id="85" name="t116"/>
          <p:cNvSpPr txBox="1"/>
          <p:nvPr/>
        </p:nvSpPr>
        <p:spPr>
          <a:xfrm>
            <a:off x="411480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Desulphurisation, synthesis, distillation, ammonia sections</a:t>
            </a:r>
            <a:endParaRPr lang="en-US" sz="1400" dirty="0"/>
          </a:p>
        </p:txBody>
      </p:sp>
      <p:sp>
        <p:nvSpPr>
          <p:cNvPr id="86" name="s117"/>
          <p:cNvSpPr/>
          <p:nvPr/>
        </p:nvSpPr>
        <p:spPr>
          <a:xfrm>
            <a:off x="4114800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7" name="t118"/>
          <p:cNvSpPr txBox="1"/>
          <p:nvPr/>
        </p:nvSpPr>
        <p:spPr>
          <a:xfrm>
            <a:off x="4114800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88" name="s119"/>
          <p:cNvSpPr/>
          <p:nvPr/>
        </p:nvSpPr>
        <p:spPr>
          <a:xfrm>
            <a:off x="4777740" y="4754880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9" name="t120"/>
          <p:cNvSpPr txBox="1"/>
          <p:nvPr/>
        </p:nvSpPr>
        <p:spPr>
          <a:xfrm>
            <a:off x="4777740" y="4754880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</a:t>
            </a:r>
            <a:endParaRPr lang="en-US" sz="1200" dirty="0"/>
          </a:p>
        </p:txBody>
      </p:sp>
      <p:sp>
        <p:nvSpPr>
          <p:cNvPr id="90" name="s121"/>
          <p:cNvSpPr/>
          <p:nvPr/>
        </p:nvSpPr>
        <p:spPr>
          <a:xfrm>
            <a:off x="5751576" y="4754880"/>
            <a:ext cx="553212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1" name="t122"/>
          <p:cNvSpPr txBox="1"/>
          <p:nvPr/>
        </p:nvSpPr>
        <p:spPr>
          <a:xfrm>
            <a:off x="5751576" y="4754880"/>
            <a:ext cx="5532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facility</a:t>
            </a:r>
            <a:endParaRPr lang="en-US" sz="2800" dirty="0"/>
          </a:p>
        </p:txBody>
      </p:sp>
      <p:sp>
        <p:nvSpPr>
          <p:cNvPr id="3" name="t123"/>
          <p:cNvSpPr txBox="1"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/ CLIENT</a:t>
            </a:r>
            <a:endParaRPr lang="en-US" sz="1200" dirty="0"/>
          </a:p>
        </p:txBody>
      </p:sp>
      <p:sp>
        <p:nvSpPr>
          <p:cNvPr id="4" name="s124"/>
          <p:cNvSpPr/>
          <p:nvPr/>
        </p:nvSpPr>
        <p:spPr>
          <a:xfrm>
            <a:off x="548640" y="17830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125"/>
          <p:cNvSpPr txBox="1"/>
          <p:nvPr/>
        </p:nvSpPr>
        <p:spPr>
          <a:xfrm>
            <a:off x="617220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IN SCOPE</a:t>
            </a:r>
            <a:endParaRPr lang="en-US" sz="1200" dirty="0"/>
          </a:p>
        </p:txBody>
      </p:sp>
      <p:sp>
        <p:nvSpPr>
          <p:cNvPr id="6" name="s126"/>
          <p:cNvSpPr/>
          <p:nvPr/>
        </p:nvSpPr>
        <p:spPr>
          <a:xfrm>
            <a:off x="6172200" y="178308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127"/>
          <p:cNvSpPr txBox="1"/>
          <p:nvPr/>
        </p:nvSpPr>
        <p:spPr>
          <a:xfrm>
            <a:off x="54864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CONTAMINANTS</a:t>
            </a:r>
            <a:endParaRPr lang="en-US" sz="1200" dirty="0"/>
          </a:p>
        </p:txBody>
      </p:sp>
      <p:sp>
        <p:nvSpPr>
          <p:cNvPr id="8" name="s128"/>
          <p:cNvSpPr/>
          <p:nvPr/>
        </p:nvSpPr>
        <p:spPr>
          <a:xfrm>
            <a:off x="548640" y="32461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129"/>
          <p:cNvSpPr txBox="1"/>
          <p:nvPr/>
        </p:nvSpPr>
        <p:spPr>
          <a:xfrm>
            <a:off x="617220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WINDOW</a:t>
            </a:r>
            <a:endParaRPr lang="en-US" sz="1200" dirty="0"/>
          </a:p>
        </p:txBody>
      </p:sp>
      <p:sp>
        <p:nvSpPr>
          <p:cNvPr id="10" name="s130"/>
          <p:cNvSpPr/>
          <p:nvPr/>
        </p:nvSpPr>
        <p:spPr>
          <a:xfrm>
            <a:off x="6172200" y="324612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131"/>
          <p:cNvSpPr txBox="1"/>
          <p:nvPr/>
        </p:nvSpPr>
        <p:spPr>
          <a:xfrm>
            <a:off x="54864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AVAILABLE (STEAM, N₂, WATER)</a:t>
            </a:r>
            <a:endParaRPr lang="en-US" sz="1200" dirty="0"/>
          </a:p>
        </p:txBody>
      </p:sp>
      <p:sp>
        <p:nvSpPr>
          <p:cNvPr id="12" name="s132"/>
          <p:cNvSpPr/>
          <p:nvPr/>
        </p:nvSpPr>
        <p:spPr>
          <a:xfrm>
            <a:off x="548640" y="47091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133"/>
          <p:cNvSpPr txBox="1"/>
          <p:nvPr/>
        </p:nvSpPr>
        <p:spPr>
          <a:xfrm>
            <a:off x="617220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CRITERIA / PERMIT REQUIREMENTS</a:t>
            </a:r>
            <a:endParaRPr lang="en-US" sz="1200" dirty="0"/>
          </a:p>
        </p:txBody>
      </p:sp>
      <p:sp>
        <p:nvSpPr>
          <p:cNvPr id="14" name="s134"/>
          <p:cNvSpPr/>
          <p:nvPr/>
        </p:nvSpPr>
        <p:spPr>
          <a:xfrm>
            <a:off x="6172200" y="470916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135"/>
          <p:cNvSpPr txBox="1"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 with the client before the meeting – their position on the value chain and what we will remove.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6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be removed – and why</a:t>
            </a:r>
            <a:endParaRPr lang="en-US" sz="2800" dirty="0"/>
          </a:p>
        </p:txBody>
      </p:sp>
      <p:sp>
        <p:nvSpPr>
          <p:cNvPr id="3" name="s136"/>
          <p:cNvSpPr/>
          <p:nvPr/>
        </p:nvSpPr>
        <p:spPr>
          <a:xfrm>
            <a:off x="54864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" name="tag137"/>
          <p:cNvSpPr/>
          <p:nvPr/>
        </p:nvSpPr>
        <p:spPr>
          <a:xfrm>
            <a:off x="777240" y="169164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5" name="t138"/>
          <p:cNvSpPr txBox="1"/>
          <p:nvPr/>
        </p:nvSpPr>
        <p:spPr>
          <a:xfrm>
            <a:off x="777240" y="2194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gas – fatal at low concentrations</a:t>
            </a:r>
            <a:endParaRPr lang="en-US" sz="1500" dirty="0"/>
          </a:p>
        </p:txBody>
      </p:sp>
      <p:sp>
        <p:nvSpPr>
          <p:cNvPr id="6" name="s139"/>
          <p:cNvSpPr/>
          <p:nvPr/>
        </p:nvSpPr>
        <p:spPr>
          <a:xfrm>
            <a:off x="429768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tag140"/>
          <p:cNvSpPr/>
          <p:nvPr/>
        </p:nvSpPr>
        <p:spPr>
          <a:xfrm>
            <a:off x="4526280" y="169164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8" name="t141"/>
          <p:cNvSpPr txBox="1"/>
          <p:nvPr/>
        </p:nvSpPr>
        <p:spPr>
          <a:xfrm>
            <a:off x="4526280" y="2194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Carcinogenic vapour – strict exposure limits</a:t>
            </a:r>
            <a:endParaRPr lang="en-US" sz="1500" dirty="0"/>
          </a:p>
        </p:txBody>
      </p:sp>
      <p:sp>
        <p:nvSpPr>
          <p:cNvPr id="9" name="s142"/>
          <p:cNvSpPr/>
          <p:nvPr/>
        </p:nvSpPr>
        <p:spPr>
          <a:xfrm>
            <a:off x="8046720" y="14173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ag143"/>
          <p:cNvSpPr/>
          <p:nvPr/>
        </p:nvSpPr>
        <p:spPr>
          <a:xfrm>
            <a:off x="8275320" y="169164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 hydrocarbons</a:t>
            </a:r>
            <a:endParaRPr lang="en-US" sz="1200" dirty="0"/>
          </a:p>
        </p:txBody>
      </p:sp>
      <p:sp>
        <p:nvSpPr>
          <p:cNvPr id="11" name="t144"/>
          <p:cNvSpPr txBox="1"/>
          <p:nvPr/>
        </p:nvSpPr>
        <p:spPr>
          <a:xfrm>
            <a:off x="8275320" y="2194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Flammable / explosive atmosphere</a:t>
            </a:r>
            <a:endParaRPr lang="en-US" sz="1500" dirty="0"/>
          </a:p>
        </p:txBody>
      </p:sp>
      <p:sp>
        <p:nvSpPr>
          <p:cNvPr id="12" name="s145"/>
          <p:cNvSpPr/>
          <p:nvPr/>
        </p:nvSpPr>
        <p:spPr>
          <a:xfrm>
            <a:off x="548640" y="3657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ag146"/>
          <p:cNvSpPr/>
          <p:nvPr/>
        </p:nvSpPr>
        <p:spPr>
          <a:xfrm>
            <a:off x="777240" y="3931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</a:t>
            </a:r>
            <a:endParaRPr lang="en-US" sz="1200" dirty="0"/>
          </a:p>
        </p:txBody>
      </p:sp>
      <p:sp>
        <p:nvSpPr>
          <p:cNvPr id="14" name="t147"/>
          <p:cNvSpPr txBox="1"/>
          <p:nvPr/>
        </p:nvSpPr>
        <p:spPr>
          <a:xfrm>
            <a:off x="777240" y="4434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Self-heats and ignites when exposed to air</a:t>
            </a:r>
            <a:endParaRPr lang="en-US" sz="1500" dirty="0"/>
          </a:p>
        </p:txBody>
      </p:sp>
      <p:sp>
        <p:nvSpPr>
          <p:cNvPr id="15" name="s148"/>
          <p:cNvSpPr/>
          <p:nvPr/>
        </p:nvSpPr>
        <p:spPr>
          <a:xfrm>
            <a:off x="4297680" y="3657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tag149"/>
          <p:cNvSpPr/>
          <p:nvPr/>
        </p:nvSpPr>
        <p:spPr>
          <a:xfrm>
            <a:off x="4526280" y="3931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 &amp; sludge</a:t>
            </a:r>
            <a:endParaRPr lang="en-US" sz="1200" dirty="0"/>
          </a:p>
        </p:txBody>
      </p:sp>
      <p:sp>
        <p:nvSpPr>
          <p:cNvPr id="17" name="t150"/>
          <p:cNvSpPr txBox="1"/>
          <p:nvPr/>
        </p:nvSpPr>
        <p:spPr>
          <a:xfrm>
            <a:off x="4526280" y="4434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gases, blocks inspection, slows mechanical cleaning</a:t>
            </a:r>
            <a:endParaRPr lang="en-US" sz="1500" dirty="0"/>
          </a:p>
        </p:txBody>
      </p:sp>
      <p:sp>
        <p:nvSpPr>
          <p:cNvPr id="18" name="s151"/>
          <p:cNvSpPr/>
          <p:nvPr/>
        </p:nvSpPr>
        <p:spPr>
          <a:xfrm>
            <a:off x="8046720" y="3657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tag152"/>
          <p:cNvSpPr/>
          <p:nvPr/>
        </p:nvSpPr>
        <p:spPr>
          <a:xfrm>
            <a:off x="8275320" y="3931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 &amp; mercaptans</a:t>
            </a:r>
            <a:endParaRPr lang="en-US" sz="1200" dirty="0"/>
          </a:p>
        </p:txBody>
      </p:sp>
      <p:sp>
        <p:nvSpPr>
          <p:cNvPr id="20" name="t153"/>
          <p:cNvSpPr txBox="1"/>
          <p:nvPr/>
        </p:nvSpPr>
        <p:spPr>
          <a:xfrm>
            <a:off x="8275320" y="4434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and odorous – sour-water and LPG units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objectives</a:t>
            </a:r>
            <a:endParaRPr lang="en-US" sz="2800" dirty="0"/>
          </a:p>
        </p:txBody>
      </p:sp>
      <p:sp>
        <p:nvSpPr>
          <p:cNvPr id="3" name="s154"/>
          <p:cNvSpPr/>
          <p:nvPr/>
        </p:nvSpPr>
        <p:spPr>
          <a:xfrm>
            <a:off x="54864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" name="s155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156"/>
          <p:cNvSpPr txBox="1"/>
          <p:nvPr/>
        </p:nvSpPr>
        <p:spPr>
          <a:xfrm>
            <a:off x="86868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157"/>
          <p:cNvSpPr txBox="1"/>
          <p:nvPr/>
        </p:nvSpPr>
        <p:spPr>
          <a:xfrm>
            <a:off x="192024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De-oiling / de-sludging</a:t>
            </a:r>
            <a:endParaRPr lang="en-US" sz="2000" dirty="0"/>
          </a:p>
        </p:txBody>
      </p:sp>
      <p:sp>
        <p:nvSpPr>
          <p:cNvPr id="7" name="t158"/>
          <p:cNvSpPr txBox="1"/>
          <p:nvPr/>
        </p:nvSpPr>
        <p:spPr>
          <a:xfrm>
            <a:off x="192024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heavy deposits for easier removal; reduce hazardous sludge.</a:t>
            </a:r>
            <a:endParaRPr lang="en-US" sz="1500" dirty="0"/>
          </a:p>
        </p:txBody>
      </p:sp>
      <p:sp>
        <p:nvSpPr>
          <p:cNvPr id="8" name="s159"/>
          <p:cNvSpPr/>
          <p:nvPr/>
        </p:nvSpPr>
        <p:spPr>
          <a:xfrm>
            <a:off x="6172200" y="1463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160"/>
          <p:cNvSpPr/>
          <p:nvPr/>
        </p:nvSpPr>
        <p:spPr>
          <a:xfrm>
            <a:off x="6492240" y="18745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161"/>
          <p:cNvSpPr txBox="1"/>
          <p:nvPr/>
        </p:nvSpPr>
        <p:spPr>
          <a:xfrm>
            <a:off x="64922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162"/>
          <p:cNvSpPr txBox="1"/>
          <p:nvPr/>
        </p:nvSpPr>
        <p:spPr>
          <a:xfrm>
            <a:off x="7543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oxidation</a:t>
            </a:r>
            <a:endParaRPr lang="en-US" sz="2000" dirty="0"/>
          </a:p>
        </p:txBody>
      </p:sp>
      <p:sp>
        <p:nvSpPr>
          <p:cNvPr id="12" name="t163"/>
          <p:cNvSpPr txBox="1"/>
          <p:nvPr/>
        </p:nvSpPr>
        <p:spPr>
          <a:xfrm>
            <a:off x="7543800" y="2331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pyrophoric FeS and H₂S into stable, safe compounds.</a:t>
            </a:r>
            <a:endParaRPr lang="en-US" sz="1500" dirty="0"/>
          </a:p>
        </p:txBody>
      </p:sp>
      <p:sp>
        <p:nvSpPr>
          <p:cNvPr id="13" name="s164"/>
          <p:cNvSpPr/>
          <p:nvPr/>
        </p:nvSpPr>
        <p:spPr>
          <a:xfrm>
            <a:off x="54864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165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166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167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Degassing</a:t>
            </a:r>
            <a:endParaRPr lang="en-US" sz="2000" dirty="0"/>
          </a:p>
        </p:txBody>
      </p:sp>
      <p:sp>
        <p:nvSpPr>
          <p:cNvPr id="17" name="t168"/>
          <p:cNvSpPr txBox="1"/>
          <p:nvPr/>
        </p:nvSpPr>
        <p:spPr>
          <a:xfrm>
            <a:off x="192024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LEL hydrocarbons and benzene to the flare / closed vent.</a:t>
            </a:r>
            <a:endParaRPr lang="en-US" sz="1500" dirty="0"/>
          </a:p>
        </p:txBody>
      </p:sp>
      <p:sp>
        <p:nvSpPr>
          <p:cNvPr id="18" name="s169"/>
          <p:cNvSpPr/>
          <p:nvPr/>
        </p:nvSpPr>
        <p:spPr>
          <a:xfrm>
            <a:off x="6172200" y="37947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170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171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172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Neutralising</a:t>
            </a:r>
            <a:endParaRPr lang="en-US" sz="2000" dirty="0"/>
          </a:p>
        </p:txBody>
      </p:sp>
      <p:sp>
        <p:nvSpPr>
          <p:cNvPr id="22" name="t173"/>
          <p:cNvSpPr txBox="1"/>
          <p:nvPr/>
        </p:nvSpPr>
        <p:spPr>
          <a:xfrm>
            <a:off x="7543800" y="46634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 and treat ammonia so the effluent can be disposed of.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17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175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4" name="t176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decontaminate</a:t>
            </a:r>
            <a:endParaRPr lang="en-US" sz="3400" dirty="0"/>
          </a:p>
        </p:txBody>
      </p:sp>
      <p:sp>
        <p:nvSpPr>
          <p:cNvPr id="5" name="t177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methods – each shown with where every contaminant goes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method, where?</a:t>
            </a:r>
            <a:endParaRPr lang="en-US" sz="2800" dirty="0"/>
          </a:p>
        </p:txBody>
      </p:sp>
      <p:sp>
        <p:nvSpPr>
          <p:cNvPr id="3" name="t178"/>
          <p:cNvSpPr txBox="1"/>
          <p:nvPr/>
        </p:nvSpPr>
        <p:spPr>
          <a:xfrm>
            <a:off x="393192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</a:t>
            </a:r>
            <a:endParaRPr lang="en-US" sz="1300" dirty="0"/>
          </a:p>
        </p:txBody>
      </p:sp>
      <p:sp>
        <p:nvSpPr>
          <p:cNvPr id="4" name="t179"/>
          <p:cNvSpPr txBox="1"/>
          <p:nvPr/>
        </p:nvSpPr>
        <p:spPr>
          <a:xfrm>
            <a:off x="521208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</a:t>
            </a:r>
            <a:endParaRPr lang="en-US" sz="1300" dirty="0"/>
          </a:p>
        </p:txBody>
      </p:sp>
      <p:sp>
        <p:nvSpPr>
          <p:cNvPr id="5" name="t180"/>
          <p:cNvSpPr txBox="1"/>
          <p:nvPr/>
        </p:nvSpPr>
        <p:spPr>
          <a:xfrm>
            <a:off x="649224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flush</a:t>
            </a:r>
            <a:endParaRPr lang="en-US" sz="1300" dirty="0"/>
          </a:p>
        </p:txBody>
      </p:sp>
      <p:sp>
        <p:nvSpPr>
          <p:cNvPr id="6" name="t181"/>
          <p:cNvSpPr txBox="1"/>
          <p:nvPr/>
        </p:nvSpPr>
        <p:spPr>
          <a:xfrm>
            <a:off x="777240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</a:t>
            </a:r>
            <a:endParaRPr lang="en-US" sz="1300" dirty="0"/>
          </a:p>
        </p:txBody>
      </p:sp>
      <p:sp>
        <p:nvSpPr>
          <p:cNvPr id="7" name="t182"/>
          <p:cNvSpPr txBox="1"/>
          <p:nvPr/>
        </p:nvSpPr>
        <p:spPr>
          <a:xfrm>
            <a:off x="905256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Pre/post-treat</a:t>
            </a:r>
            <a:endParaRPr lang="en-US" sz="1300" dirty="0"/>
          </a:p>
        </p:txBody>
      </p:sp>
      <p:sp>
        <p:nvSpPr>
          <p:cNvPr id="8" name="t183"/>
          <p:cNvSpPr txBox="1"/>
          <p:nvPr/>
        </p:nvSpPr>
        <p:spPr>
          <a:xfrm>
            <a:off x="1033272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</a:t>
            </a:r>
            <a:endParaRPr lang="en-US" sz="1300" dirty="0"/>
          </a:p>
        </p:txBody>
      </p:sp>
      <p:sp>
        <p:nvSpPr>
          <p:cNvPr id="9" name="s184"/>
          <p:cNvSpPr/>
          <p:nvPr/>
        </p:nvSpPr>
        <p:spPr>
          <a:xfrm>
            <a:off x="548640" y="196596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185"/>
          <p:cNvSpPr txBox="1"/>
          <p:nvPr/>
        </p:nvSpPr>
        <p:spPr>
          <a:xfrm>
            <a:off x="731520" y="196596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&amp; towers</a:t>
            </a:r>
            <a:endParaRPr lang="en-US" sz="1400" dirty="0"/>
          </a:p>
        </p:txBody>
      </p:sp>
      <p:sp>
        <p:nvSpPr>
          <p:cNvPr id="11" name="s186"/>
          <p:cNvSpPr/>
          <p:nvPr/>
        </p:nvSpPr>
        <p:spPr>
          <a:xfrm>
            <a:off x="4434840" y="2075688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187"/>
          <p:cNvSpPr/>
          <p:nvPr/>
        </p:nvSpPr>
        <p:spPr>
          <a:xfrm>
            <a:off x="6995160" y="207568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188"/>
          <p:cNvSpPr/>
          <p:nvPr/>
        </p:nvSpPr>
        <p:spPr>
          <a:xfrm>
            <a:off x="9555480" y="2075688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189"/>
          <p:cNvSpPr/>
          <p:nvPr/>
        </p:nvSpPr>
        <p:spPr>
          <a:xfrm>
            <a:off x="548640" y="2532888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190"/>
          <p:cNvSpPr txBox="1"/>
          <p:nvPr/>
        </p:nvSpPr>
        <p:spPr>
          <a:xfrm>
            <a:off x="731520" y="253288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Drums, separators &amp; desalters</a:t>
            </a:r>
            <a:endParaRPr lang="en-US" sz="1400" dirty="0"/>
          </a:p>
        </p:txBody>
      </p:sp>
      <p:sp>
        <p:nvSpPr>
          <p:cNvPr id="16" name="s191"/>
          <p:cNvSpPr/>
          <p:nvPr/>
        </p:nvSpPr>
        <p:spPr>
          <a:xfrm>
            <a:off x="4434840" y="2642616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192"/>
          <p:cNvSpPr/>
          <p:nvPr/>
        </p:nvSpPr>
        <p:spPr>
          <a:xfrm>
            <a:off x="5715000" y="2642616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193"/>
          <p:cNvSpPr/>
          <p:nvPr/>
        </p:nvSpPr>
        <p:spPr>
          <a:xfrm>
            <a:off x="548640" y="3099816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194"/>
          <p:cNvSpPr txBox="1"/>
          <p:nvPr/>
        </p:nvSpPr>
        <p:spPr>
          <a:xfrm>
            <a:off x="731520" y="3099816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bottoms, coker &amp; quench oil</a:t>
            </a:r>
            <a:endParaRPr lang="en-US" sz="1400" dirty="0"/>
          </a:p>
        </p:txBody>
      </p:sp>
      <p:sp>
        <p:nvSpPr>
          <p:cNvPr id="20" name="s195"/>
          <p:cNvSpPr/>
          <p:nvPr/>
        </p:nvSpPr>
        <p:spPr>
          <a:xfrm>
            <a:off x="4434840" y="3209544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196"/>
          <p:cNvSpPr/>
          <p:nvPr/>
        </p:nvSpPr>
        <p:spPr>
          <a:xfrm>
            <a:off x="5715000" y="3209544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197"/>
          <p:cNvSpPr/>
          <p:nvPr/>
        </p:nvSpPr>
        <p:spPr>
          <a:xfrm>
            <a:off x="6995160" y="3209544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198"/>
          <p:cNvSpPr/>
          <p:nvPr/>
        </p:nvSpPr>
        <p:spPr>
          <a:xfrm>
            <a:off x="548640" y="3666744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199"/>
          <p:cNvSpPr txBox="1"/>
          <p:nvPr/>
        </p:nvSpPr>
        <p:spPr>
          <a:xfrm>
            <a:off x="731520" y="3666744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Exchangers &amp; air coolers</a:t>
            </a:r>
            <a:endParaRPr lang="en-US" sz="1400" dirty="0"/>
          </a:p>
        </p:txBody>
      </p:sp>
      <p:sp>
        <p:nvSpPr>
          <p:cNvPr id="25" name="s200"/>
          <p:cNvSpPr/>
          <p:nvPr/>
        </p:nvSpPr>
        <p:spPr>
          <a:xfrm>
            <a:off x="4434840" y="3776472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201"/>
          <p:cNvSpPr/>
          <p:nvPr/>
        </p:nvSpPr>
        <p:spPr>
          <a:xfrm>
            <a:off x="6995160" y="3776472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s202"/>
          <p:cNvSpPr/>
          <p:nvPr/>
        </p:nvSpPr>
        <p:spPr>
          <a:xfrm>
            <a:off x="8275320" y="3776472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203"/>
          <p:cNvSpPr/>
          <p:nvPr/>
        </p:nvSpPr>
        <p:spPr>
          <a:xfrm>
            <a:off x="548640" y="4233672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9" name="t204"/>
          <p:cNvSpPr txBox="1"/>
          <p:nvPr/>
        </p:nvSpPr>
        <p:spPr>
          <a:xfrm>
            <a:off x="731520" y="42336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beds &amp; trays</a:t>
            </a:r>
            <a:endParaRPr lang="en-US" sz="1400" dirty="0"/>
          </a:p>
        </p:txBody>
      </p:sp>
      <p:sp>
        <p:nvSpPr>
          <p:cNvPr id="30" name="s205"/>
          <p:cNvSpPr/>
          <p:nvPr/>
        </p:nvSpPr>
        <p:spPr>
          <a:xfrm>
            <a:off x="4434840" y="434340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206"/>
          <p:cNvSpPr/>
          <p:nvPr/>
        </p:nvSpPr>
        <p:spPr>
          <a:xfrm>
            <a:off x="9555480" y="4343400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s207"/>
          <p:cNvSpPr/>
          <p:nvPr/>
        </p:nvSpPr>
        <p:spPr>
          <a:xfrm>
            <a:off x="548640" y="4800600"/>
            <a:ext cx="110642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t208"/>
          <p:cNvSpPr txBox="1"/>
          <p:nvPr/>
        </p:nvSpPr>
        <p:spPr>
          <a:xfrm>
            <a:off x="731520" y="480060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Tanks &amp; temperature-limited vessels</a:t>
            </a:r>
            <a:endParaRPr lang="en-US" sz="1400" dirty="0"/>
          </a:p>
        </p:txBody>
      </p:sp>
      <p:sp>
        <p:nvSpPr>
          <p:cNvPr id="34" name="s209"/>
          <p:cNvSpPr/>
          <p:nvPr/>
        </p:nvSpPr>
        <p:spPr>
          <a:xfrm>
            <a:off x="8275320" y="4910328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s210"/>
          <p:cNvSpPr/>
          <p:nvPr/>
        </p:nvSpPr>
        <p:spPr>
          <a:xfrm>
            <a:off x="10835640" y="4910328"/>
            <a:ext cx="274320" cy="274320"/>
          </a:xfrm>
          <a:prstGeom prst="ellipse">
            <a:avLst/>
          </a:prstGeom>
          <a:solidFill>
            <a:srgbClr val="3AB54A"/>
          </a:solidFill>
          <a:ln w="254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t211"/>
          <p:cNvSpPr txBox="1"/>
          <p:nvPr/>
        </p:nvSpPr>
        <p:spPr>
          <a:xfrm>
            <a:off x="54864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method     </a:t>
            </a:r>
            <a:r>
              <a:rPr lang="en-US" sz="1300" dirty="0">
                <a:solidFill>
                  <a:srgbClr val="3AB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combination / where applicable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5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9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350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8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25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7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Vapour-phase – where each contaminant goes</a:t>
            </a:r>
            <a:endParaRPr lang="en-US" sz="2800" dirty="0"/>
          </a:p>
        </p:txBody>
      </p:sp>
      <p:sp>
        <p:nvSpPr>
          <p:cNvPr id="3" name="s212"/>
          <p:cNvSpPr/>
          <p:nvPr/>
        </p:nvSpPr>
        <p:spPr>
          <a:xfrm>
            <a:off x="4754880" y="1737360"/>
            <a:ext cx="1188720" cy="3474720"/>
          </a:xfrm>
          <a:prstGeom prst="roundRect">
            <a:avLst>
              <a:gd name="adj" fmla="val 50000"/>
            </a:avLst>
          </a:prstGeom>
          <a:solidFill>
            <a:srgbClr val="BFDDF2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213"/>
          <p:cNvSpPr/>
          <p:nvPr/>
        </p:nvSpPr>
        <p:spPr>
          <a:xfrm>
            <a:off x="4897526" y="2093976"/>
            <a:ext cx="213970" cy="2761488"/>
          </a:xfrm>
          <a:prstGeom prst="roundRect">
            <a:avLst>
              <a:gd name="adj" fmla="val 50000"/>
            </a:avLst>
          </a:prstGeom>
          <a:solidFill>
            <a:srgbClr val="E3F0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214"/>
          <p:cNvSpPr/>
          <p:nvPr/>
        </p:nvSpPr>
        <p:spPr>
          <a:xfrm>
            <a:off x="4754880" y="1737360"/>
            <a:ext cx="1188720" cy="3474720"/>
          </a:xfrm>
          <a:prstGeom prst="roundRect">
            <a:avLst>
              <a:gd name="adj" fmla="val 50000"/>
            </a:avLst>
          </a:prstGeom>
          <a:solidFill>
            <a:srgbClr val="A08467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215"/>
          <p:cNvSpPr/>
          <p:nvPr/>
        </p:nvSpPr>
        <p:spPr>
          <a:xfrm>
            <a:off x="4754880" y="1737360"/>
            <a:ext cx="1188720" cy="3474720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216"/>
          <p:cNvSpPr/>
          <p:nvPr/>
        </p:nvSpPr>
        <p:spPr>
          <a:xfrm>
            <a:off x="4754880" y="1737360"/>
            <a:ext cx="1188720" cy="3474720"/>
          </a:xfrm>
          <a:prstGeom prst="roundRect">
            <a:avLst>
              <a:gd name="adj" fmla="val 50000"/>
            </a:avLst>
          </a:prstGeom>
          <a:solidFill>
            <a:srgbClr val="5C4630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217"/>
          <p:cNvSpPr/>
          <p:nvPr/>
        </p:nvSpPr>
        <p:spPr>
          <a:xfrm>
            <a:off x="5408676" y="2362810"/>
            <a:ext cx="91440" cy="833933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218"/>
          <p:cNvSpPr/>
          <p:nvPr/>
        </p:nvSpPr>
        <p:spPr>
          <a:xfrm>
            <a:off x="5610758" y="3405226"/>
            <a:ext cx="91440" cy="694944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219"/>
          <p:cNvSpPr/>
          <p:nvPr/>
        </p:nvSpPr>
        <p:spPr>
          <a:xfrm>
            <a:off x="5254142" y="4030675"/>
            <a:ext cx="91440" cy="555955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220"/>
          <p:cNvSpPr/>
          <p:nvPr/>
        </p:nvSpPr>
        <p:spPr>
          <a:xfrm>
            <a:off x="4800600" y="217170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221"/>
          <p:cNvSpPr/>
          <p:nvPr/>
        </p:nvSpPr>
        <p:spPr>
          <a:xfrm>
            <a:off x="4800600" y="26060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222"/>
          <p:cNvSpPr/>
          <p:nvPr/>
        </p:nvSpPr>
        <p:spPr>
          <a:xfrm>
            <a:off x="4800600" y="304038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223"/>
          <p:cNvSpPr/>
          <p:nvPr/>
        </p:nvSpPr>
        <p:spPr>
          <a:xfrm>
            <a:off x="4800600" y="347472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224"/>
          <p:cNvSpPr/>
          <p:nvPr/>
        </p:nvSpPr>
        <p:spPr>
          <a:xfrm>
            <a:off x="4800600" y="390906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225"/>
          <p:cNvSpPr/>
          <p:nvPr/>
        </p:nvSpPr>
        <p:spPr>
          <a:xfrm>
            <a:off x="4800600" y="434340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226"/>
          <p:cNvSpPr/>
          <p:nvPr/>
        </p:nvSpPr>
        <p:spPr>
          <a:xfrm>
            <a:off x="4800600" y="4777740"/>
            <a:ext cx="1097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227"/>
          <p:cNvSpPr txBox="1"/>
          <p:nvPr/>
        </p:nvSpPr>
        <p:spPr>
          <a:xfrm>
            <a:off x="4754880" y="5230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19" name="s228"/>
          <p:cNvSpPr/>
          <p:nvPr/>
        </p:nvSpPr>
        <p:spPr>
          <a:xfrm flipV="1">
            <a:off x="5349240" y="1417320"/>
            <a:ext cx="0" cy="320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229"/>
          <p:cNvSpPr/>
          <p:nvPr/>
        </p:nvSpPr>
        <p:spPr>
          <a:xfrm>
            <a:off x="5349240" y="1417320"/>
            <a:ext cx="128016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1" name="s230"/>
          <p:cNvSpPr/>
          <p:nvPr/>
        </p:nvSpPr>
        <p:spPr>
          <a:xfrm>
            <a:off x="10012680" y="1143000"/>
            <a:ext cx="182880" cy="1188720"/>
          </a:xfrm>
          <a:prstGeom prst="rect">
            <a:avLst/>
          </a:prstGeom>
          <a:solidFill>
            <a:srgbClr val="B4C2D3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231"/>
          <p:cNvSpPr/>
          <p:nvPr/>
        </p:nvSpPr>
        <p:spPr>
          <a:xfrm>
            <a:off x="9884664" y="640080"/>
            <a:ext cx="438912" cy="548640"/>
          </a:xfrm>
          <a:prstGeom prst="ellipse">
            <a:avLst/>
          </a:prstGeom>
          <a:solidFill>
            <a:srgbClr val="F7C54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s232"/>
          <p:cNvSpPr/>
          <p:nvPr/>
        </p:nvSpPr>
        <p:spPr>
          <a:xfrm>
            <a:off x="9976104" y="850392"/>
            <a:ext cx="256032" cy="329184"/>
          </a:xfrm>
          <a:prstGeom prst="ellipse">
            <a:avLst/>
          </a:prstGeom>
          <a:solidFill>
            <a:srgbClr val="FF8C1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233"/>
          <p:cNvSpPr txBox="1"/>
          <p:nvPr/>
        </p:nvSpPr>
        <p:spPr>
          <a:xfrm>
            <a:off x="955548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VENT</a:t>
            </a:r>
            <a:endParaRPr lang="en-US" sz="1100" dirty="0"/>
          </a:p>
        </p:txBody>
      </p:sp>
      <p:sp>
        <p:nvSpPr>
          <p:cNvPr id="25" name="s234"/>
          <p:cNvSpPr/>
          <p:nvPr/>
        </p:nvSpPr>
        <p:spPr>
          <a:xfrm>
            <a:off x="5349240" y="5212080"/>
            <a:ext cx="0" cy="320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235"/>
          <p:cNvSpPr/>
          <p:nvPr/>
        </p:nvSpPr>
        <p:spPr>
          <a:xfrm>
            <a:off x="5349240" y="5532120"/>
            <a:ext cx="306324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s236"/>
          <p:cNvSpPr/>
          <p:nvPr/>
        </p:nvSpPr>
        <p:spPr>
          <a:xfrm flipV="1">
            <a:off x="8412480" y="5029200"/>
            <a:ext cx="0" cy="50292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237"/>
          <p:cNvSpPr/>
          <p:nvPr/>
        </p:nvSpPr>
        <p:spPr>
          <a:xfrm>
            <a:off x="8412480" y="5029200"/>
            <a:ext cx="36576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9" name="t238"/>
          <p:cNvSpPr txBox="1"/>
          <p:nvPr/>
        </p:nvSpPr>
        <p:spPr>
          <a:xfrm>
            <a:off x="612648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Condensate drain</a:t>
            </a:r>
            <a:endParaRPr lang="en-US" sz="1100" dirty="0"/>
          </a:p>
        </p:txBody>
      </p:sp>
      <p:sp>
        <p:nvSpPr>
          <p:cNvPr id="30" name="s239"/>
          <p:cNvSpPr/>
          <p:nvPr/>
        </p:nvSpPr>
        <p:spPr>
          <a:xfrm>
            <a:off x="8778240" y="4343400"/>
            <a:ext cx="1463040" cy="114300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240"/>
          <p:cNvSpPr/>
          <p:nvPr/>
        </p:nvSpPr>
        <p:spPr>
          <a:xfrm>
            <a:off x="8823960" y="5166360"/>
            <a:ext cx="1371600" cy="274320"/>
          </a:xfrm>
          <a:prstGeom prst="rect">
            <a:avLst/>
          </a:prstGeom>
          <a:solidFill>
            <a:srgbClr val="B8A68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s241"/>
          <p:cNvSpPr/>
          <p:nvPr/>
        </p:nvSpPr>
        <p:spPr>
          <a:xfrm>
            <a:off x="8823960" y="4800600"/>
            <a:ext cx="1371600" cy="365760"/>
          </a:xfrm>
          <a:prstGeom prst="rect">
            <a:avLst/>
          </a:prstGeom>
          <a:solidFill>
            <a:srgbClr val="B8A68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3" name="t242"/>
          <p:cNvSpPr txBox="1"/>
          <p:nvPr/>
        </p:nvSpPr>
        <p:spPr>
          <a:xfrm>
            <a:off x="8412480" y="5513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34" name="t243"/>
          <p:cNvSpPr txBox="1"/>
          <p:nvPr/>
        </p:nvSpPr>
        <p:spPr>
          <a:xfrm>
            <a:off x="54864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35" name="s244"/>
          <p:cNvSpPr/>
          <p:nvPr/>
        </p:nvSpPr>
        <p:spPr>
          <a:xfrm>
            <a:off x="1188720" y="4846320"/>
            <a:ext cx="3566160" cy="0"/>
          </a:xfrm>
          <a:prstGeom prst="line">
            <a:avLst/>
          </a:prstGeom>
          <a:noFill/>
          <a:ln w="63500">
            <a:solidFill>
              <a:srgbClr val="0C74BC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6" name="t245"/>
          <p:cNvSpPr txBox="1"/>
          <p:nvPr/>
        </p:nvSpPr>
        <p:spPr>
          <a:xfrm>
            <a:off x="201168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37" name="s246"/>
          <p:cNvSpPr/>
          <p:nvPr/>
        </p:nvSpPr>
        <p:spPr>
          <a:xfrm>
            <a:off x="2743200" y="4407408"/>
            <a:ext cx="0" cy="438912"/>
          </a:xfrm>
          <a:prstGeom prst="line">
            <a:avLst/>
          </a:prstGeom>
          <a:noFill/>
          <a:ln w="63500">
            <a:solidFill>
              <a:srgbClr val="3AB54A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8" name="s247"/>
          <p:cNvSpPr/>
          <p:nvPr/>
        </p:nvSpPr>
        <p:spPr>
          <a:xfrm>
            <a:off x="548640" y="137160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248"/>
          <p:cNvSpPr txBox="1"/>
          <p:nvPr/>
        </p:nvSpPr>
        <p:spPr>
          <a:xfrm>
            <a:off x="7315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VENTS / SAMPLE POINT</a:t>
            </a:r>
            <a:endParaRPr lang="en-US" sz="1200" dirty="0"/>
          </a:p>
        </p:txBody>
      </p:sp>
      <p:sp>
        <p:nvSpPr>
          <p:cNvPr id="40" name="t249"/>
          <p:cNvSpPr txBox="1"/>
          <p:nvPr/>
        </p:nvSpPr>
        <p:spPr>
          <a:xfrm>
            <a:off x="73152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400" dirty="0"/>
          </a:p>
        </p:txBody>
      </p:sp>
      <p:sp>
        <p:nvSpPr>
          <p:cNvPr id="41" name="t250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96" name="dec96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42" name="t251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3" name="t252"/>
          <p:cNvSpPr txBox="1"/>
          <p:nvPr/>
        </p:nvSpPr>
        <p:spPr>
          <a:xfrm>
            <a:off x="731520" y="2286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44" name="t253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97" name="dec97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45" name="t254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6" name="t255"/>
          <p:cNvSpPr txBox="1"/>
          <p:nvPr/>
        </p:nvSpPr>
        <p:spPr>
          <a:xfrm>
            <a:off x="731520" y="2697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47" name="t256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98" name="dec98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48" name="t257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99" name="n99"/>
          <p:cNvSpPr/>
          <p:nvPr/>
        </p:nvSpPr>
        <p:spPr>
          <a:xfrm>
            <a:off x="6629400" y="125272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9050">
            <a:solidFill>
              <a:srgbClr val="94A3B8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0" name="n100"/>
          <p:cNvSpPr/>
          <p:nvPr/>
        </p:nvSpPr>
        <p:spPr>
          <a:xfrm>
            <a:off x="6777533" y="1351483"/>
            <a:ext cx="618134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n101"/>
          <p:cNvSpPr/>
          <p:nvPr/>
        </p:nvSpPr>
        <p:spPr>
          <a:xfrm>
            <a:off x="6777533" y="1417320"/>
            <a:ext cx="618134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n102"/>
          <p:cNvSpPr/>
          <p:nvPr/>
        </p:nvSpPr>
        <p:spPr>
          <a:xfrm>
            <a:off x="6777533" y="1483157"/>
            <a:ext cx="618134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n103"/>
          <p:cNvSpPr txBox="1"/>
          <p:nvPr/>
        </p:nvSpPr>
        <p:spPr>
          <a:xfrm>
            <a:off x="6263640" y="1627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</a:rPr>
              <a:t>Overhead condenser</a:t>
            </a:r>
          </a:p>
        </p:txBody>
      </p:sp>
      <p:sp>
        <p:nvSpPr>
          <p:cNvPr id="104" name="n104"/>
          <p:cNvSpPr/>
          <p:nvPr/>
        </p:nvSpPr>
        <p:spPr>
          <a:xfrm>
            <a:off x="7543800" y="1417320"/>
            <a:ext cx="41148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5" name="n105"/>
          <p:cNvSpPr/>
          <p:nvPr/>
        </p:nvSpPr>
        <p:spPr>
          <a:xfrm>
            <a:off x="7955280" y="1417320"/>
            <a:ext cx="0" cy="68580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06" name="n106"/>
          <p:cNvSpPr/>
          <p:nvPr/>
        </p:nvSpPr>
        <p:spPr>
          <a:xfrm>
            <a:off x="7680960" y="210312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9050">
            <a:solidFill>
              <a:srgbClr val="94A3B8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7" name="n107"/>
          <p:cNvSpPr/>
          <p:nvPr/>
        </p:nvSpPr>
        <p:spPr>
          <a:xfrm>
            <a:off x="7735824" y="2404872"/>
            <a:ext cx="1261872" cy="208483"/>
          </a:xfrm>
          <a:prstGeom prst="roundRect">
            <a:avLst>
              <a:gd name="adj" fmla="val 50000"/>
            </a:avLst>
          </a:prstGeom>
          <a:solidFill>
            <a:srgbClr val="D6E7F5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8" name="n108"/>
          <p:cNvSpPr txBox="1"/>
          <p:nvPr/>
        </p:nvSpPr>
        <p:spPr>
          <a:xfrm>
            <a:off x="7589520" y="26791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</a:rPr>
              <a:t>Reflux drum</a:t>
            </a:r>
          </a:p>
        </p:txBody>
      </p:sp>
      <p:sp>
        <p:nvSpPr>
          <p:cNvPr id="109" name="n109"/>
          <p:cNvSpPr/>
          <p:nvPr/>
        </p:nvSpPr>
        <p:spPr>
          <a:xfrm flipV="1">
            <a:off x="8641080" y="1417320"/>
            <a:ext cx="0" cy="722376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0" name="n110"/>
          <p:cNvSpPr/>
          <p:nvPr/>
        </p:nvSpPr>
        <p:spPr>
          <a:xfrm>
            <a:off x="8641080" y="1417320"/>
            <a:ext cx="13716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11" name="n111"/>
          <p:cNvSpPr/>
          <p:nvPr/>
        </p:nvSpPr>
        <p:spPr>
          <a:xfrm>
            <a:off x="8915400" y="2615184"/>
            <a:ext cx="0" cy="1728216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12" name="n112"/>
          <p:cNvSpPr/>
          <p:nvPr/>
        </p:nvSpPr>
        <p:spPr>
          <a:xfrm>
            <a:off x="6400800" y="44348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9050">
            <a:solidFill>
              <a:srgbClr val="94A3B8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3" name="n113"/>
          <p:cNvSpPr/>
          <p:nvPr/>
        </p:nvSpPr>
        <p:spPr>
          <a:xfrm>
            <a:off x="6606540" y="4572000"/>
            <a:ext cx="868680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4" name="n114"/>
          <p:cNvSpPr/>
          <p:nvPr/>
        </p:nvSpPr>
        <p:spPr>
          <a:xfrm>
            <a:off x="6606540" y="4663440"/>
            <a:ext cx="868680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n115"/>
          <p:cNvSpPr/>
          <p:nvPr/>
        </p:nvSpPr>
        <p:spPr>
          <a:xfrm>
            <a:off x="6606540" y="4754880"/>
            <a:ext cx="868680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6" name="n116"/>
          <p:cNvSpPr txBox="1"/>
          <p:nvPr/>
        </p:nvSpPr>
        <p:spPr>
          <a:xfrm>
            <a:off x="6400800" y="49103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</a:rPr>
              <a:t>Reboiler</a:t>
            </a:r>
          </a:p>
        </p:txBody>
      </p:sp>
      <p:sp>
        <p:nvSpPr>
          <p:cNvPr id="117" name="n117"/>
          <p:cNvSpPr/>
          <p:nvPr/>
        </p:nvSpPr>
        <p:spPr>
          <a:xfrm>
            <a:off x="5879592" y="4800600"/>
            <a:ext cx="521208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18" name="n118"/>
          <p:cNvSpPr/>
          <p:nvPr/>
        </p:nvSpPr>
        <p:spPr>
          <a:xfrm flipV="1">
            <a:off x="7223760" y="4160520"/>
            <a:ext cx="0" cy="27432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9" name="n119"/>
          <p:cNvSpPr/>
          <p:nvPr/>
        </p:nvSpPr>
        <p:spPr>
          <a:xfrm flipH="1">
            <a:off x="5943600" y="4160520"/>
            <a:ext cx="128016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20" name="n120"/>
          <p:cNvSpPr/>
          <p:nvPr/>
        </p:nvSpPr>
        <p:spPr>
          <a:xfrm>
            <a:off x="5824728" y="4727448"/>
            <a:ext cx="146304" cy="146304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1" name="n121"/>
          <p:cNvSpPr/>
          <p:nvPr/>
        </p:nvSpPr>
        <p:spPr>
          <a:xfrm>
            <a:off x="5824728" y="4727448"/>
            <a:ext cx="146304" cy="146304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2" name="n122"/>
          <p:cNvSpPr/>
          <p:nvPr/>
        </p:nvSpPr>
        <p:spPr>
          <a:xfrm>
            <a:off x="5824728" y="4727448"/>
            <a:ext cx="146304" cy="146304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3" name="n123"/>
          <p:cNvSpPr/>
          <p:nvPr/>
        </p:nvSpPr>
        <p:spPr>
          <a:xfrm>
            <a:off x="8842248" y="2578608"/>
            <a:ext cx="146304" cy="146304"/>
          </a:xfrm>
          <a:prstGeom prst="ellipse">
            <a:avLst/>
          </a:prstGeom>
          <a:solidFill>
            <a:srgbClr val="8FC1E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4" name="n124"/>
          <p:cNvSpPr/>
          <p:nvPr/>
        </p:nvSpPr>
        <p:spPr>
          <a:xfrm>
            <a:off x="8842248" y="2578608"/>
            <a:ext cx="146304" cy="146304"/>
          </a:xfrm>
          <a:prstGeom prst="ellipse">
            <a:avLst/>
          </a:prstGeom>
          <a:solidFill>
            <a:srgbClr val="8FC1E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5" name="n125"/>
          <p:cNvSpPr/>
          <p:nvPr/>
        </p:nvSpPr>
        <p:spPr>
          <a:xfrm>
            <a:off x="8842248" y="2578608"/>
            <a:ext cx="146304" cy="146304"/>
          </a:xfrm>
          <a:prstGeom prst="ellipse">
            <a:avLst/>
          </a:prstGeom>
          <a:solidFill>
            <a:srgbClr val="8FC1E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6" name="n126"/>
          <p:cNvSpPr/>
          <p:nvPr/>
        </p:nvSpPr>
        <p:spPr>
          <a:xfrm>
            <a:off x="8842248" y="2578608"/>
            <a:ext cx="146304" cy="146304"/>
          </a:xfrm>
          <a:prstGeom prst="ellipse">
            <a:avLst/>
          </a:prstGeom>
          <a:solidFill>
            <a:srgbClr val="8FC1E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49" name="s258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0" name="t259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The unit is shut down, drained and isolated – the column still holds H₂S, benzene, LEL gases, pyrophoric FeS and heavy oil.</a:t>
            </a:r>
            <a:endParaRPr lang="en-US" sz="1400" dirty="0"/>
          </a:p>
        </p:txBody>
      </p:sp>
      <p:sp>
        <p:nvSpPr>
          <p:cNvPr id="51" name="t260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Steam is introduced through the existing steam-out lines and heats the whole column.</a:t>
            </a:r>
            <a:endParaRPr lang="en-US" sz="1400" dirty="0"/>
          </a:p>
        </p:txBody>
      </p:sp>
      <p:sp>
        <p:nvSpPr>
          <p:cNvPr id="52" name="t261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Decon chemistry is injected into the steam and reaches every surface the steam reaches.</a:t>
            </a:r>
            <a:endParaRPr lang="en-US" sz="1400" dirty="0"/>
          </a:p>
        </p:txBody>
      </p:sp>
      <p:sp>
        <p:nvSpPr>
          <p:cNvPr id="53" name="t262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H₂S is converted into stable, non-volatile compounds that stay in the condensate and drain to the effluent tank.</a:t>
            </a:r>
            <a:endParaRPr lang="en-US" sz="1400" dirty="0"/>
          </a:p>
        </p:txBody>
      </p:sp>
      <p:sp>
        <p:nvSpPr>
          <p:cNvPr id="54" name="t263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Pyrophoric FeS is oxidised in place to stable iron oxide – it can no longer self-heat – and is washed out.</a:t>
            </a:r>
            <a:endParaRPr lang="en-US" sz="1400" dirty="0"/>
          </a:p>
        </p:txBody>
      </p:sp>
      <p:sp>
        <p:nvSpPr>
          <p:cNvPr id="55" name="t26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Benzene and LEL hydrocarbons are swept to the flare / closed vent; dissolved benzene drains with the condensate.</a:t>
            </a:r>
            <a:endParaRPr lang="en-US" sz="1400" dirty="0"/>
          </a:p>
        </p:txBody>
      </p:sp>
      <p:sp>
        <p:nvSpPr>
          <p:cNvPr id="56" name="t26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Softened deposits and heavy oil drain with the condensate – the column is clean.</a:t>
            </a:r>
            <a:endParaRPr lang="en-US" sz="1400" dirty="0"/>
          </a:p>
        </p:txBody>
      </p:sp>
      <p:sp>
        <p:nvSpPr>
          <p:cNvPr id="57" name="t26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Gas tests confirm the entry criteria – the column is handed over for safe entry.</a:t>
            </a:r>
            <a:endParaRPr lang="en-US" sz="1400" dirty="0"/>
          </a:p>
        </p:txBody>
      </p:sp>
      <p:sp>
        <p:nvSpPr>
          <p:cNvPr id="58" name="tag267"/>
          <p:cNvSpPr/>
          <p:nvPr/>
        </p:nvSpPr>
        <p:spPr>
          <a:xfrm>
            <a:off x="4892040" y="20574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59" name="tag268"/>
          <p:cNvSpPr/>
          <p:nvPr/>
        </p:nvSpPr>
        <p:spPr>
          <a:xfrm>
            <a:off x="4892040" y="26060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60" name="tag269"/>
          <p:cNvSpPr/>
          <p:nvPr/>
        </p:nvSpPr>
        <p:spPr>
          <a:xfrm>
            <a:off x="4892040" y="31546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61" name="s270"/>
          <p:cNvSpPr/>
          <p:nvPr/>
        </p:nvSpPr>
        <p:spPr>
          <a:xfrm>
            <a:off x="4828032" y="3657600"/>
            <a:ext cx="1042416" cy="457200"/>
          </a:xfrm>
          <a:prstGeom prst="roundRect">
            <a:avLst>
              <a:gd name="adj" fmla="val 50000"/>
            </a:avLst>
          </a:prstGeom>
          <a:solidFill>
            <a:srgbClr val="FF8C1A">
              <a:alpha val="45000"/>
            </a:srgbClr>
          </a:solidFill>
          <a:ln w="25400">
            <a:solidFill>
              <a:srgbClr val="FF8C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2" name="tag271"/>
          <p:cNvSpPr/>
          <p:nvPr/>
        </p:nvSpPr>
        <p:spPr>
          <a:xfrm>
            <a:off x="4892040" y="37216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63" name="tag272"/>
          <p:cNvSpPr/>
          <p:nvPr/>
        </p:nvSpPr>
        <p:spPr>
          <a:xfrm>
            <a:off x="4800600" y="205740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salt</a:t>
            </a:r>
            <a:endParaRPr lang="en-US" sz="1200" dirty="0"/>
          </a:p>
        </p:txBody>
      </p:sp>
      <p:sp>
        <p:nvSpPr>
          <p:cNvPr id="64" name="tag273"/>
          <p:cNvSpPr/>
          <p:nvPr/>
        </p:nvSpPr>
        <p:spPr>
          <a:xfrm>
            <a:off x="4800600" y="372160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</a:t>
            </a:r>
            <a:endParaRPr lang="en-US" sz="1200" dirty="0"/>
          </a:p>
        </p:txBody>
      </p:sp>
      <p:sp>
        <p:nvSpPr>
          <p:cNvPr id="65" name="s274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6" name="s275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s276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8" name="s277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s278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0" name="s279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s280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s281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s282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s283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5" name="s284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6" name="s285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7" name="s286"/>
          <p:cNvSpPr/>
          <p:nvPr/>
        </p:nvSpPr>
        <p:spPr>
          <a:xfrm>
            <a:off x="2651760" y="4315968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8" name="s287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s288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0" name="s289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s290"/>
          <p:cNvSpPr/>
          <p:nvPr/>
        </p:nvSpPr>
        <p:spPr>
          <a:xfrm>
            <a:off x="5248656" y="2121408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2" name="s291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3" name="s292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4" name="s293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5" name="s294"/>
          <p:cNvSpPr/>
          <p:nvPr/>
        </p:nvSpPr>
        <p:spPr>
          <a:xfrm>
            <a:off x="5248656" y="3785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s295"/>
          <p:cNvSpPr/>
          <p:nvPr/>
        </p:nvSpPr>
        <p:spPr>
          <a:xfrm>
            <a:off x="5266944" y="2688336"/>
            <a:ext cx="164592" cy="164592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s296"/>
          <p:cNvSpPr/>
          <p:nvPr/>
        </p:nvSpPr>
        <p:spPr>
          <a:xfrm>
            <a:off x="5266944" y="2688336"/>
            <a:ext cx="164592" cy="164592"/>
          </a:xfrm>
          <a:prstGeom prst="ellipse">
            <a:avLst/>
          </a:prstGeom>
          <a:solidFill>
            <a:srgbClr val="E67E2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s297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s298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s299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s300"/>
          <p:cNvSpPr/>
          <p:nvPr/>
        </p:nvSpPr>
        <p:spPr>
          <a:xfrm>
            <a:off x="5248656" y="4654296"/>
            <a:ext cx="201168" cy="201168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s301"/>
          <p:cNvSpPr/>
          <p:nvPr/>
        </p:nvSpPr>
        <p:spPr>
          <a:xfrm>
            <a:off x="4849978" y="1828800"/>
            <a:ext cx="998525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3" name="s302"/>
          <p:cNvSpPr/>
          <p:nvPr/>
        </p:nvSpPr>
        <p:spPr>
          <a:xfrm>
            <a:off x="548640" y="338328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4" name="t303"/>
          <p:cNvSpPr txBox="1"/>
          <p:nvPr/>
        </p:nvSpPr>
        <p:spPr>
          <a:xfrm>
            <a:off x="54864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500" dirty="0"/>
          </a:p>
        </p:txBody>
      </p:sp>
      <p:sp>
        <p:nvSpPr>
          <p:cNvPr id="9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3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0" presetClass="path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0638 0.0000 L 0.1088 -0.0200 L 0.1088 -0.0933 L 0.0075 -0.0933 E" pathEditMode="relative" ptsTypes="AAAAA">
                                      <p:cBhvr>
                                        <p:cTn id="20" dur="18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3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0638 0.0000 L 0.1088 -0.0200 L 0.1088 -0.0933 L 0.0075 -0.0933 E" pathEditMode="relative" ptsTypes="AAAAA">
                                      <p:cBhvr>
                                        <p:cTn id="26" dur="18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3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 L 0.0638 0.0000 L 0.1088 -0.0200 L 0.1088 -0.0933 L 0.0075 -0.0933 E" pathEditMode="relative" ptsTypes="AAAAA">
                                      <p:cBhvr>
                                        <p:cTn id="32" dur="18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44" dur="2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grpId="3" nodeType="withEffect">
                                  <p:stCondLst>
                                    <p:cond delay="103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50" dur="22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32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13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3" nodeType="withEffect">
                                  <p:stCondLst>
                                    <p:cond delay="136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56" dur="22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3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3" nodeType="withEffect">
                                  <p:stCondLst>
                                    <p:cond delay="169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62" dur="2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389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0" presetClass="path" presetSubtype="0" fill="hold" grpId="3" nodeType="withEffect">
                                  <p:stCondLst>
                                    <p:cond delay="202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68" dur="22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42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3" nodeType="withEffect">
                                  <p:stCondLst>
                                    <p:cond delay="235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74" dur="2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0" presetClass="path" presetSubtype="0" fill="hold" grpId="3" nodeType="withEffect">
                                  <p:stCondLst>
                                    <p:cond delay="2680"/>
                                  </p:stCondLst>
                                  <p:childTnLst>
                                    <p:animMotion origin="layout" path="M 0 0 L 0.3263 0.0000 L 0.3263 -0.4000 E" pathEditMode="relative" ptsTypes="AAA">
                                      <p:cBhvr>
                                        <p:cTn id="80" dur="2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mph" presetSubtype="0" repeatCount="3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93" dur="350" autoRev="1" fill="hold"/>
                                        <p:tgtEl>
                                          <p:spTgt spid="96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mph" presetSubtype="0" repeatCount="3000" fill="hold" grpId="2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100" dur="3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" presetClass="emph" presetSubtype="0" repeatCount="3000" fill="hold" grpId="2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07" dur="350" autoRev="1" fill="hold"/>
                                        <p:tgtEl>
                                          <p:spTgt spid="9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117" dur="2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0" presetClass="path" presetSubtype="0" fill="hold" grpId="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123" dur="2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0" presetClass="path" presetSubtype="0" fill="hold" grpId="3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129" dur="2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1" nodeType="withEffect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0" presetClass="path" presetSubtype="0" fill="hold" grpId="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135" dur="2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1" nodeType="withEffect">
                                  <p:stCondLst>
                                    <p:cond delay="40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0" presetClass="path" presetSubtype="0" fill="hold" grpId="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141" dur="2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1" nodeType="withEffect">
                                  <p:stCondLst>
                                    <p:cond delay="444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0" presetClass="path" presetSubtype="0" fill="hold" grpId="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.0000 0.0640 L 0.2063 0.0640 L 0.2063 -0.3627 E" pathEditMode="relative" ptsTypes="AAAA">
                                      <p:cBhvr>
                                        <p:cTn id="147" dur="24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1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1" dur="30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950"/>
                            </p:stCondLst>
                            <p:childTnLst>
                              <p:par>
                                <p:cTn id="170" presetID="10" presetClass="exit" presetSubtype="0" fill="hold" grpId="1" nodeType="after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76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0" presetClass="path" presetSubtype="0" fill="hold" grpId="3" nodeType="withEffect">
                                  <p:stCondLst>
                                    <p:cond delay="85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82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88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 0.4827 L 0.2513 0.4827 L 0.2513 0.4093 L 0.3000 0.4093 E" pathEditMode="relative" ptsTypes="AAAAA">
                                      <p:cBhvr>
                                        <p:cTn id="194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1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4800"/>
                            </p:stCondLst>
                            <p:childTnLst>
                              <p:par>
                                <p:cTn id="1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218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223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228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3" presetID="10" presetClass="exit" presetSubtype="0" fill="hold" grpId="1" nodeType="afterEffect">
                                  <p:stCondLst>
                                    <p:cond delay="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239" dur="18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0" presetClass="path" presetSubtype="0" fill="hold" grpId="3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245" dur="18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6" presetID="1" presetClass="exit" presetSubtype="0" fill="hold" grpId="1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251" dur="18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2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0" presetClass="path" presetSubtype="0" fill="hold" grpId="3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0.2400 L 0.2513 0.2400 L 0.2513 0.1667 L 0.3000 0.1667 E" pathEditMode="relative" ptsTypes="AAAAA">
                                      <p:cBhvr>
                                        <p:cTn id="257" dur="18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8" presetID="1" presetClass="exit" presetSubtype="0" fill="hold" grpId="1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1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0" presetClass="path" presetSubtype="0" fill="hold" grpId="3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0.0000 0.2800 E" pathEditMode="relative" ptsTypes="AA">
                                      <p:cBhvr>
                                        <p:cTn id="267" dur="9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0" nodeType="withEffect">
                                  <p:stCondLst>
                                    <p:cond delay="295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0" presetClass="path" presetSubtype="0" fill="hold" grpId="3" nodeType="withEffect">
                                  <p:stCondLst>
                                    <p:cond delay="2950"/>
                                  </p:stCondLst>
                                  <p:childTnLst>
                                    <p:animMotion origin="layout" path="M 0 0 L 0.0000 0.2800 E" pathEditMode="relative" ptsTypes="AA">
                                      <p:cBhvr>
                                        <p:cTn id="273" dur="9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1" nodeType="withEffect">
                                  <p:stCondLst>
                                    <p:cond delay="385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0" presetClass="path" presetSubtype="0" fill="hold" grpId="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 L 0.0000 0.2800 E" pathEditMode="relative" ptsTypes="AA">
                                      <p:cBhvr>
                                        <p:cTn id="279" dur="9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365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0" presetClass="path" presetSubtype="0" fill="hold" grpId="3" nodeType="withEffect">
                                  <p:stCondLst>
                                    <p:cond delay="3650"/>
                                  </p:stCondLst>
                                  <p:childTnLst>
                                    <p:animMotion origin="layout" path="M 0 0 L 0.0000 0.2800 E" pathEditMode="relative" ptsTypes="AA">
                                      <p:cBhvr>
                                        <p:cTn id="285" dur="9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1" nodeType="withEffect">
                                  <p:stCondLst>
                                    <p:cond delay="455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1973 L 0.2138 -0.1973 L 0.2138 -0.0573 L 0.2700 -0.0573 L 0.2700 -0.1973 L 0.3675 -0.1973 E" pathEditMode="relative" ptsTypes="AAAAAAA">
                                      <p:cBhvr>
                                        <p:cTn id="292" dur="1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-0.2773 L 0.2138 -0.2773 L 0.2138 -0.1373 L 0.2700 -0.1373 L 0.2700 -0.2773 L 0.3675 -0.2773 E" pathEditMode="relative" ptsTypes="AAAAAAA">
                                      <p:cBhvr>
                                        <p:cTn id="297" dur="18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302" dur="3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303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304" dur="30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305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4027 L 0.2513 0.4027 L 0.2513 0.3293 L 0.3000 0.3293 E" pathEditMode="relative" ptsTypes="AAAAA">
                                      <p:cBhvr>
                                        <p:cTn id="308" dur="18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0.4027 L 0.2513 0.4027 L 0.2513 0.3293 L 0.3000 0.3293 E" pathEditMode="relative" ptsTypes="AAAAA">
                                      <p:cBhvr>
                                        <p:cTn id="314" dur="18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1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1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330" dur="1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1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336" dur="1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1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342" dur="16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3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1133 L 0.2513 0.1133 L 0.2513 0.0400 L 0.3000 0.0400 E" pathEditMode="relative" ptsTypes="AAAAA">
                                      <p:cBhvr>
                                        <p:cTn id="348" dur="16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3000"/>
                            </p:stCondLst>
                            <p:childTnLst>
                              <p:par>
                                <p:cTn id="3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4200"/>
                            </p:stCondLst>
                            <p:childTnLst>
                              <p:par>
                                <p:cTn id="3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4467 E" pathEditMode="relative" ptsTypes="AA">
                                      <p:cBhvr>
                                        <p:cTn id="359" dur="11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0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5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7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1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2000"/>
                            </p:stCondLst>
                            <p:childTnLst>
                              <p:par>
                                <p:cTn id="3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2500"/>
                            </p:stCondLst>
                            <p:childTnLst>
                              <p:par>
                                <p:cTn id="406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7" dur="40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08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9" dur="40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6" grpId="1" animBg="1"/>
      <p:bldP spid="7" grpId="1" animBg="1"/>
      <p:bldP spid="8" grpId="1" animBg="1"/>
      <p:bldP spid="8" grpId="3" animBg="1"/>
      <p:bldP spid="9" grpId="1" animBg="1"/>
      <p:bldP spid="9" grpId="3" animBg="1"/>
      <p:bldP spid="10" grpId="1" animBg="1"/>
      <p:bldP spid="10" grpId="3" animBg="1"/>
      <p:bldP spid="22" grpId="2" animBg="1"/>
      <p:bldP spid="23" grpId="2" animBg="1"/>
      <p:bldP spid="31" grpId="0" animBg="1"/>
      <p:bldP spid="32" grpId="0" animBg="1"/>
      <p:bldP spid="35" grpId="0" animBg="1"/>
      <p:bldP spid="37" grpId="0" animBg="1"/>
      <p:bldP spid="41" grpId="1" animBg="1"/>
      <p:bldP spid="42" grpId="0" animBg="1"/>
      <p:bldP spid="44" grpId="1" animBg="1"/>
      <p:bldP spid="45" grpId="0" animBg="1"/>
      <p:bldP spid="47" grpId="1" animBg="1"/>
      <p:bldP spid="48" grpId="0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8" grpId="1" animBg="1"/>
      <p:bldP spid="58" grpId="2" animBg="1"/>
      <p:bldP spid="59" grpId="1" animBg="1"/>
      <p:bldP spid="59" grpId="3" animBg="1"/>
      <p:bldP spid="60" grpId="1" animBg="1"/>
      <p:bldP spid="60" grpId="3" animBg="1"/>
      <p:bldP spid="61" grpId="1" animBg="1"/>
      <p:bldP spid="61" grpId="2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5" grpId="3" animBg="1"/>
      <p:bldP spid="66" grpId="0" animBg="1"/>
      <p:bldP spid="66" grpId="1" animBg="1"/>
      <p:bldP spid="66" grpId="3" animBg="1"/>
      <p:bldP spid="67" grpId="0" animBg="1"/>
      <p:bldP spid="67" grpId="1" animBg="1"/>
      <p:bldP spid="67" grpId="3" animBg="1"/>
      <p:bldP spid="68" grpId="0" animBg="1"/>
      <p:bldP spid="68" grpId="1" animBg="1"/>
      <p:bldP spid="68" grpId="3" animBg="1"/>
      <p:bldP spid="69" grpId="0" animBg="1"/>
      <p:bldP spid="69" grpId="1" animBg="1"/>
      <p:bldP spid="69" grpId="3" animBg="1"/>
      <p:bldP spid="70" grpId="0" animBg="1"/>
      <p:bldP spid="70" grpId="1" animBg="1"/>
      <p:bldP spid="70" grpId="3" animBg="1"/>
      <p:bldP spid="71" grpId="0" animBg="1"/>
      <p:bldP spid="71" grpId="1" animBg="1"/>
      <p:bldP spid="71" grpId="3" animBg="1"/>
      <p:bldP spid="72" grpId="0" animBg="1"/>
      <p:bldP spid="72" grpId="1" animBg="1"/>
      <p:bldP spid="72" grpId="3" animBg="1"/>
      <p:bldP spid="73" grpId="0" animBg="1"/>
      <p:bldP spid="73" grpId="1" animBg="1"/>
      <p:bldP spid="73" grpId="3" animBg="1"/>
      <p:bldP spid="74" grpId="0" animBg="1"/>
      <p:bldP spid="74" grpId="1" animBg="1"/>
      <p:bldP spid="74" grpId="3" animBg="1"/>
      <p:bldP spid="75" grpId="0" animBg="1"/>
      <p:bldP spid="75" grpId="1" animBg="1"/>
      <p:bldP spid="75" grpId="3" animBg="1"/>
      <p:bldP spid="76" grpId="0" animBg="1"/>
      <p:bldP spid="76" grpId="1" animBg="1"/>
      <p:bldP spid="76" grpId="3" animBg="1"/>
      <p:bldP spid="77" grpId="0" animBg="1"/>
      <p:bldP spid="77" grpId="1" animBg="1"/>
      <p:bldP spid="77" grpId="3" animBg="1"/>
      <p:bldP spid="78" grpId="0" animBg="1"/>
      <p:bldP spid="78" grpId="1" animBg="1"/>
      <p:bldP spid="78" grpId="3" animBg="1"/>
      <p:bldP spid="79" grpId="0" animBg="1"/>
      <p:bldP spid="79" grpId="1" animBg="1"/>
      <p:bldP spid="79" grpId="3" animBg="1"/>
      <p:bldP spid="80" grpId="0" animBg="1"/>
      <p:bldP spid="80" grpId="1" animBg="1"/>
      <p:bldP spid="80" grpId="3" animBg="1"/>
      <p:bldP spid="81" grpId="0" animBg="1"/>
      <p:bldP spid="81" grpId="1" animBg="1"/>
      <p:bldP spid="81" grpId="3" animBg="1"/>
      <p:bldP spid="82" grpId="0" animBg="1"/>
      <p:bldP spid="82" grpId="1" animBg="1"/>
      <p:bldP spid="82" grpId="3" animBg="1"/>
      <p:bldP spid="83" grpId="0" animBg="1"/>
      <p:bldP spid="83" grpId="1" animBg="1"/>
      <p:bldP spid="83" grpId="3" animBg="1"/>
      <p:bldP spid="84" grpId="0" animBg="1"/>
      <p:bldP spid="84" grpId="1" animBg="1"/>
      <p:bldP spid="84" grpId="3" animBg="1"/>
      <p:bldP spid="85" grpId="0" animBg="1"/>
      <p:bldP spid="85" grpId="1" animBg="1"/>
      <p:bldP spid="85" grpId="3" animBg="1"/>
      <p:bldP spid="86" grpId="0" animBg="1"/>
      <p:bldP spid="86" grpId="1" animBg="1"/>
      <p:bldP spid="86" grpId="3" animBg="1"/>
      <p:bldP spid="87" grpId="0" animBg="1"/>
      <p:bldP spid="87" grpId="1" animBg="1"/>
      <p:bldP spid="87" grpId="3" animBg="1"/>
      <p:bldP spid="88" grpId="0" animBg="1"/>
      <p:bldP spid="88" grpId="1" animBg="1"/>
      <p:bldP spid="88" grpId="3" animBg="1"/>
      <p:bldP spid="89" grpId="0" animBg="1"/>
      <p:bldP spid="89" grpId="1" animBg="1"/>
      <p:bldP spid="89" grpId="3" animBg="1"/>
      <p:bldP spid="90" grpId="0" animBg="1"/>
      <p:bldP spid="90" grpId="1" animBg="1"/>
      <p:bldP spid="90" grpId="3" animBg="1"/>
      <p:bldP spid="91" grpId="0" animBg="1"/>
      <p:bldP spid="91" grpId="1" animBg="1"/>
      <p:bldP spid="91" grpId="3" animBg="1"/>
      <p:bldP spid="92" grpId="0" animBg="1"/>
      <p:bldP spid="92" grpId="1" animBg="1"/>
      <p:bldP spid="92" grpId="3" animBg="1"/>
      <p:bldP spid="93" grpId="0" animBg="1"/>
      <p:bldP spid="93" grpId="2" animBg="1"/>
      <p:bldP spid="94" grpId="0" animBg="1"/>
      <p:bldP spid="94" grpId="2" animBg="1"/>
      <p:bldP spid="96" grpId="0" animBg="1"/>
      <p:bldP spid="96" grpId="1" animBg="1"/>
      <p:bldP spid="96" grpId="2" animBg="1"/>
      <p:bldP spid="97" grpId="0" animBg="1"/>
      <p:bldP spid="97" grpId="1" animBg="1"/>
      <p:bldP spid="97" grpId="2" animBg="1"/>
      <p:bldP spid="98" grpId="0" animBg="1"/>
      <p:bldP spid="98" grpId="1" animBg="1"/>
      <p:bldP spid="98" grpId="2" animBg="1"/>
      <p:bldP spid="120" grpId="0" animBg="1"/>
      <p:bldP spid="120" grpId="1" animBg="1"/>
      <p:bldP spid="120" grpId="3" animBg="1"/>
      <p:bldP spid="121" grpId="0" animBg="1"/>
      <p:bldP spid="121" grpId="1" animBg="1"/>
      <p:bldP spid="121" grpId="3" animBg="1"/>
      <p:bldP spid="122" grpId="0" animBg="1"/>
      <p:bldP spid="122" grpId="1" animBg="1"/>
      <p:bldP spid="122" grpId="3" animBg="1"/>
      <p:bldP spid="123" grpId="0" animBg="1"/>
      <p:bldP spid="123" grpId="1" animBg="1"/>
      <p:bldP spid="123" grpId="3" animBg="1"/>
      <p:bldP spid="124" grpId="0" animBg="1"/>
      <p:bldP spid="124" grpId="1" animBg="1"/>
      <p:bldP spid="124" grpId="3" animBg="1"/>
      <p:bldP spid="125" grpId="0" animBg="1"/>
      <p:bldP spid="125" grpId="1" animBg="1"/>
      <p:bldP spid="125" grpId="3" animBg="1"/>
      <p:bldP spid="126" grpId="0" animBg="1"/>
      <p:bldP spid="126" grpId="1" animBg="1"/>
      <p:bldP spid="126" grpId="3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Boil-out – vessels with sludge</a:t>
            </a:r>
            <a:endParaRPr lang="en-US" sz="2800" dirty="0"/>
          </a:p>
        </p:txBody>
      </p:sp>
      <p:sp>
        <p:nvSpPr>
          <p:cNvPr id="3" name="s304"/>
          <p:cNvSpPr/>
          <p:nvPr/>
        </p:nvSpPr>
        <p:spPr>
          <a:xfrm>
            <a:off x="3931920" y="2011680"/>
            <a:ext cx="5486400" cy="2194560"/>
          </a:xfrm>
          <a:prstGeom prst="roundRect">
            <a:avLst>
              <a:gd name="adj" fmla="val 50000"/>
            </a:avLst>
          </a:prstGeom>
          <a:solidFill>
            <a:srgbClr val="BFDDF2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305"/>
          <p:cNvSpPr/>
          <p:nvPr/>
        </p:nvSpPr>
        <p:spPr>
          <a:xfrm>
            <a:off x="4590288" y="2275027"/>
            <a:ext cx="987552" cy="1667866"/>
          </a:xfrm>
          <a:prstGeom prst="roundRect">
            <a:avLst>
              <a:gd name="adj" fmla="val 50000"/>
            </a:avLst>
          </a:prstGeom>
          <a:solidFill>
            <a:srgbClr val="E3F0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306"/>
          <p:cNvSpPr/>
          <p:nvPr/>
        </p:nvSpPr>
        <p:spPr>
          <a:xfrm>
            <a:off x="3931920" y="2011680"/>
            <a:ext cx="5486400" cy="2194560"/>
          </a:xfrm>
          <a:prstGeom prst="roundRect">
            <a:avLst>
              <a:gd name="adj" fmla="val 50000"/>
            </a:avLst>
          </a:prstGeom>
          <a:solidFill>
            <a:srgbClr val="A08467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307"/>
          <p:cNvSpPr/>
          <p:nvPr/>
        </p:nvSpPr>
        <p:spPr>
          <a:xfrm>
            <a:off x="3931920" y="2011680"/>
            <a:ext cx="5486400" cy="2194560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308"/>
          <p:cNvSpPr/>
          <p:nvPr/>
        </p:nvSpPr>
        <p:spPr>
          <a:xfrm>
            <a:off x="3931920" y="2011680"/>
            <a:ext cx="5486400" cy="2194560"/>
          </a:xfrm>
          <a:prstGeom prst="roundRect">
            <a:avLst>
              <a:gd name="adj" fmla="val 50000"/>
            </a:avLst>
          </a:prstGeom>
          <a:solidFill>
            <a:srgbClr val="5C4630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309"/>
          <p:cNvSpPr/>
          <p:nvPr/>
        </p:nvSpPr>
        <p:spPr>
          <a:xfrm>
            <a:off x="6949440" y="2406701"/>
            <a:ext cx="91440" cy="526694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310"/>
          <p:cNvSpPr/>
          <p:nvPr/>
        </p:nvSpPr>
        <p:spPr>
          <a:xfrm>
            <a:off x="7882128" y="3065069"/>
            <a:ext cx="91440" cy="438912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311"/>
          <p:cNvSpPr/>
          <p:nvPr/>
        </p:nvSpPr>
        <p:spPr>
          <a:xfrm>
            <a:off x="6236208" y="3460090"/>
            <a:ext cx="91440" cy="351130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312"/>
          <p:cNvSpPr/>
          <p:nvPr/>
        </p:nvSpPr>
        <p:spPr>
          <a:xfrm>
            <a:off x="4480560" y="3657600"/>
            <a:ext cx="4389120" cy="384048"/>
          </a:xfrm>
          <a:prstGeom prst="rect">
            <a:avLst/>
          </a:prstGeom>
          <a:solidFill>
            <a:srgbClr val="5C46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313"/>
          <p:cNvSpPr/>
          <p:nvPr/>
        </p:nvSpPr>
        <p:spPr>
          <a:xfrm>
            <a:off x="4251960" y="2697480"/>
            <a:ext cx="4846320" cy="960120"/>
          </a:xfrm>
          <a:prstGeom prst="roundRect">
            <a:avLst>
              <a:gd name="adj" fmla="val 28571"/>
            </a:avLst>
          </a:prstGeom>
          <a:solidFill>
            <a:srgbClr val="BFDDF2">
              <a:alpha val="85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314"/>
          <p:cNvSpPr txBox="1"/>
          <p:nvPr/>
        </p:nvSpPr>
        <p:spPr>
          <a:xfrm>
            <a:off x="393192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/ drum</a:t>
            </a:r>
            <a:endParaRPr lang="en-US" sz="1100" dirty="0"/>
          </a:p>
        </p:txBody>
      </p:sp>
      <p:sp>
        <p:nvSpPr>
          <p:cNvPr id="14" name="s315"/>
          <p:cNvSpPr/>
          <p:nvPr/>
        </p:nvSpPr>
        <p:spPr>
          <a:xfrm flipV="1">
            <a:off x="8595360" y="1417320"/>
            <a:ext cx="0" cy="59436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316"/>
          <p:cNvSpPr/>
          <p:nvPr/>
        </p:nvSpPr>
        <p:spPr>
          <a:xfrm>
            <a:off x="8595360" y="1417320"/>
            <a:ext cx="201168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6" name="s317"/>
          <p:cNvSpPr/>
          <p:nvPr/>
        </p:nvSpPr>
        <p:spPr>
          <a:xfrm>
            <a:off x="10607040" y="1143000"/>
            <a:ext cx="182880" cy="1188720"/>
          </a:xfrm>
          <a:prstGeom prst="rect">
            <a:avLst/>
          </a:prstGeom>
          <a:solidFill>
            <a:srgbClr val="B4C2D3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318"/>
          <p:cNvSpPr/>
          <p:nvPr/>
        </p:nvSpPr>
        <p:spPr>
          <a:xfrm>
            <a:off x="10479024" y="640080"/>
            <a:ext cx="438912" cy="548640"/>
          </a:xfrm>
          <a:prstGeom prst="ellipse">
            <a:avLst/>
          </a:prstGeom>
          <a:solidFill>
            <a:srgbClr val="F7C54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s319"/>
          <p:cNvSpPr/>
          <p:nvPr/>
        </p:nvSpPr>
        <p:spPr>
          <a:xfrm>
            <a:off x="10570464" y="850392"/>
            <a:ext cx="256032" cy="329184"/>
          </a:xfrm>
          <a:prstGeom prst="ellipse">
            <a:avLst/>
          </a:prstGeom>
          <a:solidFill>
            <a:srgbClr val="FF8C1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320"/>
          <p:cNvSpPr txBox="1"/>
          <p:nvPr/>
        </p:nvSpPr>
        <p:spPr>
          <a:xfrm>
            <a:off x="1014984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VENT</a:t>
            </a:r>
            <a:endParaRPr lang="en-US" sz="1100" dirty="0"/>
          </a:p>
        </p:txBody>
      </p:sp>
      <p:sp>
        <p:nvSpPr>
          <p:cNvPr id="20" name="t321"/>
          <p:cNvSpPr txBox="1"/>
          <p:nvPr/>
        </p:nvSpPr>
        <p:spPr>
          <a:xfrm>
            <a:off x="10561320" y="4526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21" name="s322"/>
          <p:cNvSpPr/>
          <p:nvPr/>
        </p:nvSpPr>
        <p:spPr>
          <a:xfrm flipH="1">
            <a:off x="5669280" y="4846320"/>
            <a:ext cx="5669280" cy="0"/>
          </a:xfrm>
          <a:prstGeom prst="line">
            <a:avLst/>
          </a:prstGeom>
          <a:noFill/>
          <a:ln w="635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323"/>
          <p:cNvSpPr/>
          <p:nvPr/>
        </p:nvSpPr>
        <p:spPr>
          <a:xfrm flipV="1">
            <a:off x="5669280" y="4206240"/>
            <a:ext cx="0" cy="6400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3" name="s324"/>
          <p:cNvSpPr/>
          <p:nvPr/>
        </p:nvSpPr>
        <p:spPr>
          <a:xfrm flipV="1">
            <a:off x="6675120" y="4206240"/>
            <a:ext cx="0" cy="6400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4" name="s325"/>
          <p:cNvSpPr/>
          <p:nvPr/>
        </p:nvSpPr>
        <p:spPr>
          <a:xfrm flipV="1">
            <a:off x="7680960" y="4206240"/>
            <a:ext cx="0" cy="64008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5" name="t326"/>
          <p:cNvSpPr txBox="1"/>
          <p:nvPr/>
        </p:nvSpPr>
        <p:spPr>
          <a:xfrm>
            <a:off x="8503920" y="5440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200" dirty="0"/>
          </a:p>
        </p:txBody>
      </p:sp>
      <p:sp>
        <p:nvSpPr>
          <p:cNvPr id="26" name="s327"/>
          <p:cNvSpPr/>
          <p:nvPr/>
        </p:nvSpPr>
        <p:spPr>
          <a:xfrm flipV="1">
            <a:off x="9692640" y="4846320"/>
            <a:ext cx="0" cy="548640"/>
          </a:xfrm>
          <a:prstGeom prst="line">
            <a:avLst/>
          </a:prstGeom>
          <a:noFill/>
          <a:ln w="63500">
            <a:solidFill>
              <a:srgbClr val="3AB54A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7" name="s328"/>
          <p:cNvSpPr/>
          <p:nvPr/>
        </p:nvSpPr>
        <p:spPr>
          <a:xfrm>
            <a:off x="5120640" y="4206240"/>
            <a:ext cx="0" cy="86868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329"/>
          <p:cNvSpPr/>
          <p:nvPr/>
        </p:nvSpPr>
        <p:spPr>
          <a:xfrm flipH="1">
            <a:off x="2103120" y="5074920"/>
            <a:ext cx="30175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9" name="s330"/>
          <p:cNvSpPr/>
          <p:nvPr/>
        </p:nvSpPr>
        <p:spPr>
          <a:xfrm>
            <a:off x="640080" y="4343400"/>
            <a:ext cx="1463040" cy="105156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s331"/>
          <p:cNvSpPr/>
          <p:nvPr/>
        </p:nvSpPr>
        <p:spPr>
          <a:xfrm>
            <a:off x="685800" y="5074920"/>
            <a:ext cx="1371600" cy="274320"/>
          </a:xfrm>
          <a:prstGeom prst="rect">
            <a:avLst/>
          </a:prstGeom>
          <a:solidFill>
            <a:srgbClr val="B8A68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1" name="s332"/>
          <p:cNvSpPr/>
          <p:nvPr/>
        </p:nvSpPr>
        <p:spPr>
          <a:xfrm>
            <a:off x="685800" y="4709160"/>
            <a:ext cx="1371600" cy="365760"/>
          </a:xfrm>
          <a:prstGeom prst="rect">
            <a:avLst/>
          </a:prstGeom>
          <a:solidFill>
            <a:srgbClr val="B8A68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2" name="t333"/>
          <p:cNvSpPr txBox="1"/>
          <p:nvPr/>
        </p:nvSpPr>
        <p:spPr>
          <a:xfrm>
            <a:off x="274320" y="5422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33" name="s334"/>
          <p:cNvSpPr/>
          <p:nvPr/>
        </p:nvSpPr>
        <p:spPr>
          <a:xfrm>
            <a:off x="9710928" y="2194560"/>
            <a:ext cx="201168" cy="1737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335"/>
          <p:cNvSpPr/>
          <p:nvPr/>
        </p:nvSpPr>
        <p:spPr>
          <a:xfrm>
            <a:off x="9747504" y="2377440"/>
            <a:ext cx="128016" cy="15361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5" name="s336"/>
          <p:cNvSpPr/>
          <p:nvPr/>
        </p:nvSpPr>
        <p:spPr>
          <a:xfrm>
            <a:off x="9646920" y="3794760"/>
            <a:ext cx="329184" cy="32918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6" name="t337"/>
          <p:cNvSpPr txBox="1"/>
          <p:nvPr/>
        </p:nvSpPr>
        <p:spPr>
          <a:xfrm>
            <a:off x="9372600" y="1874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Boiling</a:t>
            </a:r>
            <a:endParaRPr lang="en-US" sz="1100" dirty="0"/>
          </a:p>
        </p:txBody>
      </p:sp>
      <p:sp>
        <p:nvSpPr>
          <p:cNvPr id="37" name="s338"/>
          <p:cNvSpPr/>
          <p:nvPr/>
        </p:nvSpPr>
        <p:spPr>
          <a:xfrm>
            <a:off x="548640" y="137160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339"/>
          <p:cNvSpPr txBox="1"/>
          <p:nvPr/>
        </p:nvSpPr>
        <p:spPr>
          <a:xfrm>
            <a:off x="7315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VENTS / SAMPLE POINT</a:t>
            </a:r>
            <a:endParaRPr lang="en-US" sz="1200" dirty="0"/>
          </a:p>
        </p:txBody>
      </p:sp>
      <p:sp>
        <p:nvSpPr>
          <p:cNvPr id="39" name="t340"/>
          <p:cNvSpPr txBox="1"/>
          <p:nvPr/>
        </p:nvSpPr>
        <p:spPr>
          <a:xfrm>
            <a:off x="731520" y="18745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400" dirty="0"/>
          </a:p>
        </p:txBody>
      </p:sp>
      <p:sp>
        <p:nvSpPr>
          <p:cNvPr id="40" name="t341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128" name="dec128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41" name="t342"/>
          <p:cNvSpPr txBox="1"/>
          <p:nvPr/>
        </p:nvSpPr>
        <p:spPr>
          <a:xfrm>
            <a:off x="173736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2" name="t343"/>
          <p:cNvSpPr txBox="1"/>
          <p:nvPr/>
        </p:nvSpPr>
        <p:spPr>
          <a:xfrm>
            <a:off x="731520" y="22860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43" name="t344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129" name="dec129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44" name="t345"/>
          <p:cNvSpPr txBox="1"/>
          <p:nvPr/>
        </p:nvSpPr>
        <p:spPr>
          <a:xfrm>
            <a:off x="1737360" y="2286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5" name="t346"/>
          <p:cNvSpPr txBox="1"/>
          <p:nvPr/>
        </p:nvSpPr>
        <p:spPr>
          <a:xfrm>
            <a:off x="731520" y="2697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46" name="t347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130" name="dec130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47" name="t348"/>
          <p:cNvSpPr txBox="1"/>
          <p:nvPr/>
        </p:nvSpPr>
        <p:spPr>
          <a:xfrm>
            <a:off x="173736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48" name="s349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9" name="t350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The vessel is drained and isolated – sludge on the bottom, H₂S, benzene and LEL above it, pyrophoric FeS in the deposits.</a:t>
            </a:r>
            <a:endParaRPr lang="en-US" sz="1400" dirty="0"/>
          </a:p>
        </p:txBody>
      </p:sp>
      <p:sp>
        <p:nvSpPr>
          <p:cNvPr id="50" name="t351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Water is filled above the sludge level.</a:t>
            </a:r>
            <a:endParaRPr lang="en-US" sz="1400" dirty="0"/>
          </a:p>
        </p:txBody>
      </p:sp>
      <p:sp>
        <p:nvSpPr>
          <p:cNvPr id="51" name="t352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Steam is injected at several points along the bottom and brings the water to the boil.</a:t>
            </a:r>
            <a:endParaRPr lang="en-US" sz="1400" dirty="0"/>
          </a:p>
        </p:txBody>
      </p:sp>
      <p:sp>
        <p:nvSpPr>
          <p:cNvPr id="52" name="t353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Decon chemistry is injected with the steam; the rolling boil lifts and emulsifies the sludge.</a:t>
            </a:r>
            <a:endParaRPr lang="en-US" sz="1400" dirty="0"/>
          </a:p>
        </p:txBody>
      </p:sp>
      <p:sp>
        <p:nvSpPr>
          <p:cNvPr id="53" name="t35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H₂S dissolves and is converted into stable compounds; FeS is oxidised to iron oxide – both stay in the water.</a:t>
            </a:r>
            <a:endParaRPr lang="en-US" sz="1400" dirty="0"/>
          </a:p>
        </p:txBody>
      </p:sp>
      <p:sp>
        <p:nvSpPr>
          <p:cNvPr id="54" name="t35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Benzene and LEL vapours leave through the vent to the flare / closed vent.</a:t>
            </a:r>
            <a:endParaRPr lang="en-US" sz="1400" dirty="0"/>
          </a:p>
        </p:txBody>
      </p:sp>
      <p:sp>
        <p:nvSpPr>
          <p:cNvPr id="55" name="t35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The vessel is drained to the effluent tank and rinsed – the vessel is clean.</a:t>
            </a:r>
            <a:endParaRPr lang="en-US" sz="1400" dirty="0"/>
          </a:p>
        </p:txBody>
      </p:sp>
      <p:sp>
        <p:nvSpPr>
          <p:cNvPr id="56" name="t357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Gas tests confirm the entry criteria – the vessel is handed over for safe entry.</a:t>
            </a:r>
            <a:endParaRPr lang="en-US" sz="1400" dirty="0"/>
          </a:p>
        </p:txBody>
      </p:sp>
      <p:sp>
        <p:nvSpPr>
          <p:cNvPr id="57" name="tag358"/>
          <p:cNvSpPr/>
          <p:nvPr/>
        </p:nvSpPr>
        <p:spPr>
          <a:xfrm>
            <a:off x="4846320" y="21945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58" name="tag359"/>
          <p:cNvSpPr/>
          <p:nvPr/>
        </p:nvSpPr>
        <p:spPr>
          <a:xfrm>
            <a:off x="6035040" y="21945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59" name="tag360"/>
          <p:cNvSpPr/>
          <p:nvPr/>
        </p:nvSpPr>
        <p:spPr>
          <a:xfrm>
            <a:off x="7223760" y="21945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60" name="s361"/>
          <p:cNvSpPr/>
          <p:nvPr/>
        </p:nvSpPr>
        <p:spPr>
          <a:xfrm>
            <a:off x="7708392" y="3602736"/>
            <a:ext cx="1042416" cy="457200"/>
          </a:xfrm>
          <a:prstGeom prst="roundRect">
            <a:avLst>
              <a:gd name="adj" fmla="val 50000"/>
            </a:avLst>
          </a:prstGeom>
          <a:solidFill>
            <a:srgbClr val="FF8C1A">
              <a:alpha val="45000"/>
            </a:srgbClr>
          </a:solidFill>
          <a:ln w="25400">
            <a:solidFill>
              <a:srgbClr val="FF8C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tag362"/>
          <p:cNvSpPr/>
          <p:nvPr/>
        </p:nvSpPr>
        <p:spPr>
          <a:xfrm>
            <a:off x="7772400" y="366674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62" name="tag363"/>
          <p:cNvSpPr/>
          <p:nvPr/>
        </p:nvSpPr>
        <p:spPr>
          <a:xfrm>
            <a:off x="4754880" y="30175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salt</a:t>
            </a:r>
            <a:endParaRPr lang="en-US" sz="1200" dirty="0"/>
          </a:p>
        </p:txBody>
      </p:sp>
      <p:sp>
        <p:nvSpPr>
          <p:cNvPr id="63" name="tag364"/>
          <p:cNvSpPr/>
          <p:nvPr/>
        </p:nvSpPr>
        <p:spPr>
          <a:xfrm>
            <a:off x="7680960" y="301752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</a:t>
            </a:r>
            <a:endParaRPr lang="en-US" sz="1200" dirty="0"/>
          </a:p>
        </p:txBody>
      </p:sp>
      <p:sp>
        <p:nvSpPr>
          <p:cNvPr id="64" name="s365"/>
          <p:cNvSpPr/>
          <p:nvPr/>
        </p:nvSpPr>
        <p:spPr>
          <a:xfrm>
            <a:off x="11164824" y="47640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s366"/>
          <p:cNvSpPr/>
          <p:nvPr/>
        </p:nvSpPr>
        <p:spPr>
          <a:xfrm>
            <a:off x="11164824" y="47640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6" name="s367"/>
          <p:cNvSpPr/>
          <p:nvPr/>
        </p:nvSpPr>
        <p:spPr>
          <a:xfrm>
            <a:off x="11164824" y="47640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s368"/>
          <p:cNvSpPr/>
          <p:nvPr/>
        </p:nvSpPr>
        <p:spPr>
          <a:xfrm>
            <a:off x="11164824" y="476402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8" name="s369"/>
          <p:cNvSpPr/>
          <p:nvPr/>
        </p:nvSpPr>
        <p:spPr>
          <a:xfrm>
            <a:off x="448056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s370"/>
          <p:cNvSpPr/>
          <p:nvPr/>
        </p:nvSpPr>
        <p:spPr>
          <a:xfrm>
            <a:off x="496519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0" name="s371"/>
          <p:cNvSpPr/>
          <p:nvPr/>
        </p:nvSpPr>
        <p:spPr>
          <a:xfrm>
            <a:off x="544982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s372"/>
          <p:cNvSpPr/>
          <p:nvPr/>
        </p:nvSpPr>
        <p:spPr>
          <a:xfrm>
            <a:off x="593445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s373"/>
          <p:cNvSpPr/>
          <p:nvPr/>
        </p:nvSpPr>
        <p:spPr>
          <a:xfrm>
            <a:off x="641908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s374"/>
          <p:cNvSpPr/>
          <p:nvPr/>
        </p:nvSpPr>
        <p:spPr>
          <a:xfrm>
            <a:off x="690372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s375"/>
          <p:cNvSpPr/>
          <p:nvPr/>
        </p:nvSpPr>
        <p:spPr>
          <a:xfrm>
            <a:off x="738835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5" name="s376"/>
          <p:cNvSpPr/>
          <p:nvPr/>
        </p:nvSpPr>
        <p:spPr>
          <a:xfrm>
            <a:off x="787298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6" name="s377"/>
          <p:cNvSpPr/>
          <p:nvPr/>
        </p:nvSpPr>
        <p:spPr>
          <a:xfrm>
            <a:off x="835761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7" name="s378"/>
          <p:cNvSpPr/>
          <p:nvPr/>
        </p:nvSpPr>
        <p:spPr>
          <a:xfrm>
            <a:off x="884224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8" name="s379"/>
          <p:cNvSpPr/>
          <p:nvPr/>
        </p:nvSpPr>
        <p:spPr>
          <a:xfrm>
            <a:off x="484632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s380"/>
          <p:cNvSpPr/>
          <p:nvPr/>
        </p:nvSpPr>
        <p:spPr>
          <a:xfrm>
            <a:off x="533095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0" name="s381"/>
          <p:cNvSpPr/>
          <p:nvPr/>
        </p:nvSpPr>
        <p:spPr>
          <a:xfrm>
            <a:off x="581558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s382"/>
          <p:cNvSpPr/>
          <p:nvPr/>
        </p:nvSpPr>
        <p:spPr>
          <a:xfrm>
            <a:off x="630021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2" name="s383"/>
          <p:cNvSpPr/>
          <p:nvPr/>
        </p:nvSpPr>
        <p:spPr>
          <a:xfrm>
            <a:off x="678484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3" name="s384"/>
          <p:cNvSpPr/>
          <p:nvPr/>
        </p:nvSpPr>
        <p:spPr>
          <a:xfrm>
            <a:off x="726948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4" name="s385"/>
          <p:cNvSpPr/>
          <p:nvPr/>
        </p:nvSpPr>
        <p:spPr>
          <a:xfrm>
            <a:off x="775411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5" name="s386"/>
          <p:cNvSpPr/>
          <p:nvPr/>
        </p:nvSpPr>
        <p:spPr>
          <a:xfrm>
            <a:off x="823874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s387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s388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s389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s390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s391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s392"/>
          <p:cNvSpPr/>
          <p:nvPr/>
        </p:nvSpPr>
        <p:spPr>
          <a:xfrm>
            <a:off x="9601200" y="530352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s393"/>
          <p:cNvSpPr/>
          <p:nvPr/>
        </p:nvSpPr>
        <p:spPr>
          <a:xfrm>
            <a:off x="448056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s394"/>
          <p:cNvSpPr/>
          <p:nvPr/>
        </p:nvSpPr>
        <p:spPr>
          <a:xfrm>
            <a:off x="503834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s395"/>
          <p:cNvSpPr/>
          <p:nvPr/>
        </p:nvSpPr>
        <p:spPr>
          <a:xfrm>
            <a:off x="559612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s396"/>
          <p:cNvSpPr/>
          <p:nvPr/>
        </p:nvSpPr>
        <p:spPr>
          <a:xfrm>
            <a:off x="615391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s397"/>
          <p:cNvSpPr/>
          <p:nvPr/>
        </p:nvSpPr>
        <p:spPr>
          <a:xfrm>
            <a:off x="671169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s398"/>
          <p:cNvSpPr/>
          <p:nvPr/>
        </p:nvSpPr>
        <p:spPr>
          <a:xfrm>
            <a:off x="726948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s399"/>
          <p:cNvSpPr/>
          <p:nvPr/>
        </p:nvSpPr>
        <p:spPr>
          <a:xfrm>
            <a:off x="782726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s400"/>
          <p:cNvSpPr/>
          <p:nvPr/>
        </p:nvSpPr>
        <p:spPr>
          <a:xfrm>
            <a:off x="838504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s401"/>
          <p:cNvSpPr/>
          <p:nvPr/>
        </p:nvSpPr>
        <p:spPr>
          <a:xfrm>
            <a:off x="894283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s402"/>
          <p:cNvSpPr/>
          <p:nvPr/>
        </p:nvSpPr>
        <p:spPr>
          <a:xfrm>
            <a:off x="502005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s403"/>
          <p:cNvSpPr/>
          <p:nvPr/>
        </p:nvSpPr>
        <p:spPr>
          <a:xfrm>
            <a:off x="557784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s404"/>
          <p:cNvSpPr/>
          <p:nvPr/>
        </p:nvSpPr>
        <p:spPr>
          <a:xfrm>
            <a:off x="613562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s405"/>
          <p:cNvSpPr/>
          <p:nvPr/>
        </p:nvSpPr>
        <p:spPr>
          <a:xfrm>
            <a:off x="669340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5" name="s406"/>
          <p:cNvSpPr/>
          <p:nvPr/>
        </p:nvSpPr>
        <p:spPr>
          <a:xfrm>
            <a:off x="7251192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6" name="s407"/>
          <p:cNvSpPr/>
          <p:nvPr/>
        </p:nvSpPr>
        <p:spPr>
          <a:xfrm>
            <a:off x="7808976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7" name="s408"/>
          <p:cNvSpPr/>
          <p:nvPr/>
        </p:nvSpPr>
        <p:spPr>
          <a:xfrm>
            <a:off x="8366760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8" name="s409"/>
          <p:cNvSpPr/>
          <p:nvPr/>
        </p:nvSpPr>
        <p:spPr>
          <a:xfrm>
            <a:off x="8924544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9" name="s410"/>
          <p:cNvSpPr/>
          <p:nvPr/>
        </p:nvSpPr>
        <p:spPr>
          <a:xfrm>
            <a:off x="5001768" y="3520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FB8E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0" name="s411"/>
          <p:cNvSpPr/>
          <p:nvPr/>
        </p:nvSpPr>
        <p:spPr>
          <a:xfrm>
            <a:off x="466344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1" name="s412"/>
          <p:cNvSpPr/>
          <p:nvPr/>
        </p:nvSpPr>
        <p:spPr>
          <a:xfrm>
            <a:off x="516636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2" name="s413"/>
          <p:cNvSpPr/>
          <p:nvPr/>
        </p:nvSpPr>
        <p:spPr>
          <a:xfrm>
            <a:off x="566928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3" name="s414"/>
          <p:cNvSpPr/>
          <p:nvPr/>
        </p:nvSpPr>
        <p:spPr>
          <a:xfrm>
            <a:off x="617220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4" name="s415"/>
          <p:cNvSpPr/>
          <p:nvPr/>
        </p:nvSpPr>
        <p:spPr>
          <a:xfrm>
            <a:off x="667512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s416"/>
          <p:cNvSpPr/>
          <p:nvPr/>
        </p:nvSpPr>
        <p:spPr>
          <a:xfrm>
            <a:off x="717804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6" name="s417"/>
          <p:cNvSpPr/>
          <p:nvPr/>
        </p:nvSpPr>
        <p:spPr>
          <a:xfrm>
            <a:off x="768096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7" name="s418"/>
          <p:cNvSpPr/>
          <p:nvPr/>
        </p:nvSpPr>
        <p:spPr>
          <a:xfrm>
            <a:off x="8183880" y="3703320"/>
            <a:ext cx="182880" cy="182880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8" name="s419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9" name="s420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0" name="s421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1" name="s422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2" name="s423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7A5C3E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3" name="s424"/>
          <p:cNvSpPr/>
          <p:nvPr/>
        </p:nvSpPr>
        <p:spPr>
          <a:xfrm>
            <a:off x="5020056" y="4105656"/>
            <a:ext cx="201168" cy="201168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4" name="s425"/>
          <p:cNvSpPr/>
          <p:nvPr/>
        </p:nvSpPr>
        <p:spPr>
          <a:xfrm>
            <a:off x="4370832" y="2103120"/>
            <a:ext cx="4608576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5" name="s426"/>
          <p:cNvSpPr/>
          <p:nvPr/>
        </p:nvSpPr>
        <p:spPr>
          <a:xfrm>
            <a:off x="548640" y="338328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6" name="t427"/>
          <p:cNvSpPr txBox="1"/>
          <p:nvPr/>
        </p:nvSpPr>
        <p:spPr>
          <a:xfrm>
            <a:off x="54864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500" dirty="0"/>
          </a:p>
        </p:txBody>
      </p:sp>
      <p:sp>
        <p:nvSpPr>
          <p:cNvPr id="1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3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25 0.0000 L -0.2925 -0.0933 E" pathEditMode="relative" ptsTypes="AAA">
                                      <p:cBhvr>
                                        <p:cTn id="46" dur="1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2925 0.0000 L -0.2925 -0.0933 E" pathEditMode="relative" ptsTypes="AAA">
                                      <p:cBhvr>
                                        <p:cTn id="52" dur="1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2925 0.0000 L -0.2925 -0.0933 E" pathEditMode="relative" ptsTypes="AAA">
                                      <p:cBhvr>
                                        <p:cTn id="58" dur="1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2925 0.0000 L -0.2925 -0.0933 E" pathEditMode="relative" ptsTypes="AAA">
                                      <p:cBhvr>
                                        <p:cTn id="64" dur="1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400"/>
                            </p:stCondLst>
                            <p:childTnLst>
                              <p:par>
                                <p:cTn id="6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77" dur="1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0" presetClass="path" presetSubtype="0" fill="hold" grpId="3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83" dur="11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0" presetClass="path" presetSubtype="0" fill="hold" grpId="3" nodeType="withEffect">
                                  <p:stCondLst>
                                    <p:cond delay="6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89" dur="11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0" presetClass="path" presetSubtype="0" fill="hold" grpId="3" nodeType="withEffect">
                                  <p:stCondLst>
                                    <p:cond delay="7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95" dur="11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9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0" presetClass="path" presetSubtype="0" fill="hold" grpId="3" nodeType="withEffect">
                                  <p:stCondLst>
                                    <p:cond delay="9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01" dur="11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07" dur="11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0" presetClass="path" presetSubtype="0" fill="hold" grpId="3" nodeType="withEffect">
                                  <p:stCondLst>
                                    <p:cond delay="12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13" dur="11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0" presetClass="path" presetSubtype="0" fill="hold" grpId="3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19" dur="11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15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0" presetClass="path" presetSubtype="0" fill="hold" grpId="3" nodeType="withEffect">
                                  <p:stCondLst>
                                    <p:cond delay="15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25" dur="11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0" presetClass="path" presetSubtype="0" fill="hold" grpId="3" nodeType="withEffect">
                                  <p:stCondLst>
                                    <p:cond delay="17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31" dur="11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1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0" presetClass="path" presetSubtype="0" fill="hold" grpId="3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37" dur="11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0" presetClass="path" presetSubtype="0" fill="hold" grpId="3" nodeType="withEffect">
                                  <p:stCondLst>
                                    <p:cond delay="20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43" dur="11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1" nodeType="withEffect">
                                  <p:stCondLst>
                                    <p:cond delay="31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0" presetClass="path" presetSubtype="0" fill="hold" grpId="3" nodeType="withEffect">
                                  <p:stCondLst>
                                    <p:cond delay="22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49" dur="11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332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0" presetClass="path" presetSubtype="0" fill="hold" grpId="3" nodeType="withEffect">
                                  <p:stCondLst>
                                    <p:cond delay="23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55" dur="1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348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0" presetClass="path" presetSubtype="0" fill="hold" grpId="3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61" dur="11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grpId="1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67" dur="11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0" presetClass="path" presetSubtype="0" fill="hold" grpId="3" nodeType="withEffect">
                                  <p:stCondLst>
                                    <p:cond delay="28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73" dur="1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0" presetClass="path" presetSubtype="0" fill="hold" grpId="3" nodeType="withEffect">
                                  <p:stCondLst>
                                    <p:cond delay="30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179" dur="11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1" nodeType="withEffect">
                                  <p:stCondLst>
                                    <p:cond delay="412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6" presetClass="emph" presetSubtype="0" repeatCount="3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192" dur="350" autoRev="1" fill="hold"/>
                                        <p:tgtEl>
                                          <p:spTgt spid="12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6" presetClass="emph" presetSubtype="0" repeatCount="3000" fill="hold" grpId="2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199" dur="350" autoRev="1" fill="hold"/>
                                        <p:tgtEl>
                                          <p:spTgt spid="12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6" presetClass="emph" presetSubtype="0" repeatCount="3000" fill="hold" grpId="2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206" dur="350" autoRev="1" fill="hold"/>
                                        <p:tgtEl>
                                          <p:spTgt spid="130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800 L -0.3300 -0.0800 L -0.3300 -0.2133 E" pathEditMode="relative" ptsTypes="AAAA">
                                      <p:cBhvr>
                                        <p:cTn id="216" dur="1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grpId="3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0000 -0.0800 L -0.3300 -0.0800 L -0.3300 -0.2133 E" pathEditMode="relative" ptsTypes="AAAA">
                                      <p:cBhvr>
                                        <p:cTn id="222" dur="1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1" presetClass="exit" presetSubtype="0" fill="hold" grpId="1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0800 L -0.2475 -0.0800 L -0.2475 -0.2133 E" pathEditMode="relative" ptsTypes="AAAA">
                                      <p:cBhvr>
                                        <p:cTn id="228" dur="1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0" presetClass="path" presetSubtype="0" fill="hold" grpId="3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0.0000 -0.0800 L -0.2475 -0.0800 L -0.2475 -0.2133 E" pathEditMode="relative" ptsTypes="AAAA">
                                      <p:cBhvr>
                                        <p:cTn id="234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grpId="1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800 L -0.1650 -0.0800 L -0.1650 -0.2133 E" pathEditMode="relative" ptsTypes="AAAA">
                                      <p:cBhvr>
                                        <p:cTn id="240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1" presetClass="exit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 -0.0800 L -0.1650 -0.0800 L -0.1650 -0.2133 E" pathEditMode="relative" ptsTypes="AAAA">
                                      <p:cBhvr>
                                        <p:cTn id="246" dur="1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7" presetID="1" presetClass="exit" presetSubtype="0" fill="hold" grpId="1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52" dur="11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0" presetClass="path" presetSubtype="0" fill="hold" grpId="3" nodeType="withEffect">
                                  <p:stCondLst>
                                    <p:cond delay="10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58" dur="11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1" presetClass="exit" presetSubtype="0" fill="hold" grpId="1" nodeType="withEffect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118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grpId="3" nodeType="withEffect">
                                  <p:stCondLst>
                                    <p:cond delay="11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64" dur="1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1" presetClass="exit" presetSubtype="0" fill="hold" grpId="1" nodeType="withEffect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0" presetClass="path" presetSubtype="0" fill="hold" grpId="3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70" dur="11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1" presetClass="exit" presetSubtype="0" fill="hold" grpId="1" nodeType="withEffect">
                                  <p:stCondLst>
                                    <p:cond delay="242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grpId="0" nodeType="withEffect">
                                  <p:stCondLst>
                                    <p:cond delay="146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0" presetClass="path" presetSubtype="0" fill="hold" grpId="3" nodeType="withEffect">
                                  <p:stCondLst>
                                    <p:cond delay="14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76" dur="1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1" presetClass="exit" presetSubtype="0" fill="hold" grpId="1" nodeType="withEffect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0" presetClass="path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82" dur="11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3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3" nodeType="withEffect">
                                  <p:stCondLst>
                                    <p:cond delay="17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88" dur="11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1" presetClass="exit" presetSubtype="0" fill="hold" grpId="1" nodeType="withEffect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grpId="0" nodeType="withEffect">
                                  <p:stCondLst>
                                    <p:cond delay="188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0" presetClass="path" presetSubtype="0" fill="hold" grpId="3" nodeType="withEffect">
                                  <p:stCondLst>
                                    <p:cond delay="18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294" dur="11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1" presetClass="exit" presetSubtype="0" fill="hold" grpId="1" nodeType="withEffect">
                                  <p:stCondLst>
                                    <p:cond delay="298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0" presetClass="path" presetSubtype="0" fill="hold" grpId="3" nodeType="withEffect">
                                  <p:stCondLst>
                                    <p:cond delay="20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00" dur="11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1" presetClass="exit" presetSubtype="0" fill="hold" grpId="1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0" presetClass="path" presetSubtype="0" fill="hold" grpId="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06" dur="11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7" presetID="1" presetClass="exit" presetSubtype="0" fill="hold" grpId="1" nodeType="withEffect">
                                  <p:stCondLst>
                                    <p:cond delay="326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12" dur="11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1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ntr" presetSubtype="0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0" presetClass="path" presetSubtype="0" fill="hold" grpId="3" nodeType="withEffect">
                                  <p:stCondLst>
                                    <p:cond delay="24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18" dur="11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9" presetID="1" presetClass="exit" presetSubtype="0" fill="hold" grpId="1" nodeType="withEffect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ntr" presetSubtype="0" fill="hold" grpId="0" nodeType="withEffect">
                                  <p:stCondLst>
                                    <p:cond delay="258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0" presetClass="path" presetSubtype="0" fill="hold" grpId="3" nodeType="withEffect">
                                  <p:stCondLst>
                                    <p:cond delay="25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24" dur="11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1" presetClass="exit" presetSubtype="0" fill="hold" grpId="1" nodeType="withEffect">
                                  <p:stCondLst>
                                    <p:cond delay="368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" presetClass="entr" presetSubtype="0" fill="hold" grpId="0" nodeType="withEffect">
                                  <p:stCondLst>
                                    <p:cond delay="272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0" presetClass="path" presetSubtype="0" fill="hold" grpId="3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30" dur="11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1" presetClass="exit" presetSubtype="0" fill="hold" grpId="1" nodeType="withEffect">
                                  <p:stCondLst>
                                    <p:cond delay="382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ntr" presetSubtype="0" fill="hold" grpId="0" nodeType="withEffect">
                                  <p:stCondLst>
                                    <p:cond delay="286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3" nodeType="withEffect">
                                  <p:stCondLst>
                                    <p:cond delay="286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36" dur="11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1" presetClass="exit" presetSubtype="0" fill="hold" grpId="1" nodeType="withEffect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0" presetClass="path" presetSubtype="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42" dur="11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3" presetID="1" presetClass="exit" presetSubtype="0" fill="hold" grpId="1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" presetClass="entr" presetSubtype="0" fill="hold" grpId="0" nodeType="withEffect">
                                  <p:stCondLst>
                                    <p:cond delay="314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0" presetClass="path" presetSubtype="0" fill="hold" grpId="3" nodeType="withEffect">
                                  <p:stCondLst>
                                    <p:cond delay="314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48" dur="11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1" presetClass="exit" presetSubtype="0" fill="hold" grpId="1" nodeType="withEffect">
                                  <p:stCondLst>
                                    <p:cond delay="424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1" presetClass="entr" presetSubtype="0" fill="hold" grpId="0" nodeType="withEffect">
                                  <p:stCondLst>
                                    <p:cond delay="328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0" presetClass="path" presetSubtype="0" fill="hold" grpId="3" nodeType="withEffect">
                                  <p:stCondLst>
                                    <p:cond delay="3280"/>
                                  </p:stCondLst>
                                  <p:childTnLst>
                                    <p:animMotion origin="layout" path="M 0 0 L 0.0038 -0.0600 L -0.0023 -0.1067 E" pathEditMode="relative" ptsTypes="AAA">
                                      <p:cBhvr>
                                        <p:cTn id="354" dur="11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1" presetClass="exit" presetSubtype="0" fill="hold" grpId="1" nodeType="withEffect">
                                  <p:stCondLst>
                                    <p:cond delay="438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8" dur="2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0" presetClass="path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75 -0.0467 E" pathEditMode="relative" ptsTypes="AA">
                                      <p:cBhvr>
                                        <p:cTn id="366" dur="1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0" presetClass="path" presetSubtype="0" fill="hold" grpId="3" nodeType="withEffect">
                                  <p:stCondLst>
                                    <p:cond delay="1450"/>
                                  </p:stCondLst>
                                  <p:childTnLst>
                                    <p:animMotion origin="layout" path="M 0 0 L 0.0075 -0.0667 E" pathEditMode="relative" ptsTypes="AA">
                                      <p:cBhvr>
                                        <p:cTn id="370" dur="1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0" presetClass="path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0075 -0.0867 E" pathEditMode="relative" ptsTypes="AA">
                                      <p:cBhvr>
                                        <p:cTn id="374" dur="1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5" presetID="1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0" presetClass="path" presetSubtype="0" fill="hold" grpId="3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0.0075 -0.0467 E" pathEditMode="relative" ptsTypes="AA">
                                      <p:cBhvr>
                                        <p:cTn id="378" dur="1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1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0" presetClass="path" presetSubtype="0" fill="hold" grpId="3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 L 0.0075 -0.0667 E" pathEditMode="relative" ptsTypes="AA">
                                      <p:cBhvr>
                                        <p:cTn id="382" dur="1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3" presetID="1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0" presetClass="path" presetSubtype="0" fill="hold" grpId="3" nodeType="withEffect">
                                  <p:stCondLst>
                                    <p:cond delay="2050"/>
                                  </p:stCondLst>
                                  <p:childTnLst>
                                    <p:animMotion origin="layout" path="M 0 0 L 0.0075 -0.0867 E" pathEditMode="relative" ptsTypes="AA">
                                      <p:cBhvr>
                                        <p:cTn id="386" dur="1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0" presetClass="path" presetSubtype="0" fill="hold" grpId="3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0075 -0.0467 E" pathEditMode="relative" ptsTypes="AA">
                                      <p:cBhvr>
                                        <p:cTn id="390" dur="1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1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0" presetClass="path" presetSubtype="0" fill="hold" grpId="3" nodeType="withEffect">
                                  <p:stCondLst>
                                    <p:cond delay="2350"/>
                                  </p:stCondLst>
                                  <p:childTnLst>
                                    <p:animMotion origin="layout" path="M 0 0 L 0.0075 -0.0667 E" pathEditMode="relative" ptsTypes="AA">
                                      <p:cBhvr>
                                        <p:cTn id="394" dur="1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2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75 0.1200 E" pathEditMode="relative" ptsTypes="AA">
                                      <p:cBhvr>
                                        <p:cTn id="403" dur="9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900"/>
                            </p:stCondLst>
                            <p:childTnLst>
                              <p:par>
                                <p:cTn id="40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75 -0.0947 E" pathEditMode="relative" ptsTypes="AA">
                                      <p:cBhvr>
                                        <p:cTn id="415" dur="8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6" fill="hold">
                            <p:stCondLst>
                              <p:cond delay="1700"/>
                            </p:stCondLst>
                            <p:childTnLst>
                              <p:par>
                                <p:cTn id="41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8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3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0800 E" pathEditMode="relative" ptsTypes="AA">
                                      <p:cBhvr>
                                        <p:cTn id="424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5" presetID="10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0" presetClass="path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0.0800 E" pathEditMode="relative" ptsTypes="AA">
                                      <p:cBhvr>
                                        <p:cTn id="429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0" presetID="10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0.0800 E" pathEditMode="relative" ptsTypes="AA">
                                      <p:cBhvr>
                                        <p:cTn id="434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5" presetID="10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25 0.0000 L 0.1725 -0.1373 L 0.3375 -0.1373 E" pathEditMode="relative" ptsTypes="AAAA">
                                      <p:cBhvr>
                                        <p:cTn id="446" dur="18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7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750 0.0000 L 0.0750 -0.1373 L 0.2400 -0.1373 E" pathEditMode="relative" ptsTypes="AAAA">
                                      <p:cBhvr>
                                        <p:cTn id="451" dur="1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2" presetID="10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5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456" dur="30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457" presetID="6" presetClass="emph" presetSubtype="0" repeatCount="4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458" dur="3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67" dur="2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2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0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3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78" dur="16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9" presetID="1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0" presetClass="path" presetSubtype="0" fill="hold" grpId="3" nodeType="withEffect">
                                  <p:stCondLst>
                                    <p:cond delay="58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84" dur="16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5" presetID="1" presetClass="exit" presetSubtype="0" fill="hold" grpId="1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0" presetClass="path" presetSubtype="0" fill="hold" grpId="3" nodeType="withEffect">
                                  <p:stCondLst>
                                    <p:cond delay="86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90" dur="16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1" presetID="1" presetClass="exit" presetSubtype="0" fill="hold" grpId="1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0" presetClass="path" presetSubtype="0" fill="hold" grpId="3" nodeType="withEffect">
                                  <p:stCondLst>
                                    <p:cond delay="114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496" dur="16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7" presetID="1" presetClass="exit" presetSubtype="0" fill="hold" grpId="1" nodeType="withEffect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1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0" presetClass="path" presetSubtype="0" fill="hold" grpId="3" nodeType="withEffect">
                                  <p:stCondLst>
                                    <p:cond delay="142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502" dur="16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3" presetID="1" presetClass="exit" presetSubtype="0" fill="hold" grpId="1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0" presetClass="path" presetSubtype="0" fill="hold" grpId="3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000 0.1267 L -0.2588 0.1267 E" pathEditMode="relative" ptsTypes="AAA">
                                      <p:cBhvr>
                                        <p:cTn id="508" dur="16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9" presetID="1" presetClass="exit" presetSubtype="0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2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4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6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7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8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fill="hold">
                            <p:stCondLst>
                              <p:cond delay="3800"/>
                            </p:stCondLst>
                            <p:childTnLst>
                              <p:par>
                                <p:cTn id="52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4800"/>
                            </p:stCondLst>
                            <p:childTnLst>
                              <p:par>
                                <p:cTn id="5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2600 E" pathEditMode="relative" ptsTypes="AA">
                                      <p:cBhvr>
                                        <p:cTn id="528" dur="11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9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0" dur="3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3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8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0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1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3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7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8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0" fill="hold">
                            <p:stCondLst>
                              <p:cond delay="2000"/>
                            </p:stCondLst>
                            <p:childTnLst>
                              <p:par>
                                <p:cTn id="5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1" fill="hold">
                            <p:stCondLst>
                              <p:cond delay="2500"/>
                            </p:stCondLst>
                            <p:childTnLst>
                              <p:par>
                                <p:cTn id="572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73" dur="400" autoRev="1" fill="hold"/>
                                        <p:tgtEl>
                                          <p:spTgt spid="12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74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75" dur="400" autoRev="1" fill="hold"/>
                                        <p:tgtEl>
                                          <p:spTgt spid="12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6" grpId="1" animBg="1"/>
      <p:bldP spid="7" grpId="1" animBg="1"/>
      <p:bldP spid="8" grpId="1" animBg="1"/>
      <p:bldP spid="8" grpId="3" animBg="1"/>
      <p:bldP spid="9" grpId="1" animBg="1"/>
      <p:bldP spid="9" grpId="3" animBg="1"/>
      <p:bldP spid="10" grpId="1" animBg="1"/>
      <p:bldP spid="10" grpId="3" animBg="1"/>
      <p:bldP spid="11" grpId="1" animBg="1"/>
      <p:bldP spid="12" grpId="0" animBg="1"/>
      <p:bldP spid="12" grpId="1" animBg="1"/>
      <p:bldP spid="17" grpId="2" animBg="1"/>
      <p:bldP spid="18" grpId="2" animBg="1"/>
      <p:bldP spid="21" grpId="0" animBg="1"/>
      <p:bldP spid="22" grpId="0" animBg="1"/>
      <p:bldP spid="23" grpId="0" animBg="1"/>
      <p:bldP spid="24" grpId="0" animBg="1"/>
      <p:bldP spid="26" grpId="0" animBg="1"/>
      <p:bldP spid="30" grpId="0" animBg="1"/>
      <p:bldP spid="31" grpId="0" animBg="1"/>
      <p:bldP spid="34" grpId="0" animBg="1"/>
      <p:bldP spid="36" grpId="0" animBg="1"/>
      <p:bldP spid="40" grpId="1" animBg="1"/>
      <p:bldP spid="41" grpId="0" animBg="1"/>
      <p:bldP spid="43" grpId="1" animBg="1"/>
      <p:bldP spid="44" grpId="0" animBg="1"/>
      <p:bldP spid="46" grpId="1" animBg="1"/>
      <p:bldP spid="47" grpId="0" animBg="1"/>
      <p:bldP spid="48" grpId="0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7" grpId="1" animBg="1"/>
      <p:bldP spid="57" grpId="3" animBg="1"/>
      <p:bldP spid="58" grpId="1" animBg="1"/>
      <p:bldP spid="58" grpId="3" animBg="1"/>
      <p:bldP spid="59" grpId="1" animBg="1"/>
      <p:bldP spid="59" grpId="3" animBg="1"/>
      <p:bldP spid="60" grpId="1" animBg="1"/>
      <p:bldP spid="60" grpId="2" animBg="1"/>
      <p:bldP spid="61" grpId="1" animBg="1"/>
      <p:bldP spid="61" grpId="3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4" grpId="3" animBg="1"/>
      <p:bldP spid="65" grpId="0" animBg="1"/>
      <p:bldP spid="65" grpId="1" animBg="1"/>
      <p:bldP spid="65" grpId="3" animBg="1"/>
      <p:bldP spid="66" grpId="0" animBg="1"/>
      <p:bldP spid="66" grpId="1" animBg="1"/>
      <p:bldP spid="66" grpId="3" animBg="1"/>
      <p:bldP spid="67" grpId="0" animBg="1"/>
      <p:bldP spid="67" grpId="1" animBg="1"/>
      <p:bldP spid="67" grpId="3" animBg="1"/>
      <p:bldP spid="68" grpId="0" animBg="1"/>
      <p:bldP spid="68" grpId="1" animBg="1"/>
      <p:bldP spid="68" grpId="3" animBg="1"/>
      <p:bldP spid="69" grpId="0" animBg="1"/>
      <p:bldP spid="69" grpId="1" animBg="1"/>
      <p:bldP spid="69" grpId="3" animBg="1"/>
      <p:bldP spid="70" grpId="0" animBg="1"/>
      <p:bldP spid="70" grpId="1" animBg="1"/>
      <p:bldP spid="70" grpId="3" animBg="1"/>
      <p:bldP spid="71" grpId="0" animBg="1"/>
      <p:bldP spid="71" grpId="1" animBg="1"/>
      <p:bldP spid="71" grpId="3" animBg="1"/>
      <p:bldP spid="72" grpId="0" animBg="1"/>
      <p:bldP spid="72" grpId="1" animBg="1"/>
      <p:bldP spid="72" grpId="3" animBg="1"/>
      <p:bldP spid="73" grpId="0" animBg="1"/>
      <p:bldP spid="73" grpId="1" animBg="1"/>
      <p:bldP spid="73" grpId="3" animBg="1"/>
      <p:bldP spid="74" grpId="0" animBg="1"/>
      <p:bldP spid="74" grpId="1" animBg="1"/>
      <p:bldP spid="74" grpId="3" animBg="1"/>
      <p:bldP spid="75" grpId="0" animBg="1"/>
      <p:bldP spid="75" grpId="1" animBg="1"/>
      <p:bldP spid="75" grpId="3" animBg="1"/>
      <p:bldP spid="76" grpId="0" animBg="1"/>
      <p:bldP spid="76" grpId="1" animBg="1"/>
      <p:bldP spid="76" grpId="3" animBg="1"/>
      <p:bldP spid="77" grpId="0" animBg="1"/>
      <p:bldP spid="77" grpId="1" animBg="1"/>
      <p:bldP spid="77" grpId="3" animBg="1"/>
      <p:bldP spid="78" grpId="0" animBg="1"/>
      <p:bldP spid="78" grpId="1" animBg="1"/>
      <p:bldP spid="78" grpId="3" animBg="1"/>
      <p:bldP spid="79" grpId="0" animBg="1"/>
      <p:bldP spid="79" grpId="1" animBg="1"/>
      <p:bldP spid="79" grpId="3" animBg="1"/>
      <p:bldP spid="80" grpId="0" animBg="1"/>
      <p:bldP spid="80" grpId="1" animBg="1"/>
      <p:bldP spid="80" grpId="3" animBg="1"/>
      <p:bldP spid="81" grpId="0" animBg="1"/>
      <p:bldP spid="81" grpId="1" animBg="1"/>
      <p:bldP spid="81" grpId="3" animBg="1"/>
      <p:bldP spid="82" grpId="0" animBg="1"/>
      <p:bldP spid="82" grpId="1" animBg="1"/>
      <p:bldP spid="82" grpId="3" animBg="1"/>
      <p:bldP spid="83" grpId="0" animBg="1"/>
      <p:bldP spid="83" grpId="1" animBg="1"/>
      <p:bldP spid="83" grpId="3" animBg="1"/>
      <p:bldP spid="84" grpId="0" animBg="1"/>
      <p:bldP spid="84" grpId="1" animBg="1"/>
      <p:bldP spid="84" grpId="3" animBg="1"/>
      <p:bldP spid="85" grpId="0" animBg="1"/>
      <p:bldP spid="85" grpId="1" animBg="1"/>
      <p:bldP spid="85" grpId="3" animBg="1"/>
      <p:bldP spid="86" grpId="0" animBg="1"/>
      <p:bldP spid="86" grpId="1" animBg="1"/>
      <p:bldP spid="86" grpId="3" animBg="1"/>
      <p:bldP spid="87" grpId="0" animBg="1"/>
      <p:bldP spid="87" grpId="1" animBg="1"/>
      <p:bldP spid="87" grpId="3" animBg="1"/>
      <p:bldP spid="88" grpId="0" animBg="1"/>
      <p:bldP spid="88" grpId="1" animBg="1"/>
      <p:bldP spid="88" grpId="3" animBg="1"/>
      <p:bldP spid="89" grpId="0" animBg="1"/>
      <p:bldP spid="89" grpId="1" animBg="1"/>
      <p:bldP spid="89" grpId="3" animBg="1"/>
      <p:bldP spid="90" grpId="0" animBg="1"/>
      <p:bldP spid="90" grpId="1" animBg="1"/>
      <p:bldP spid="90" grpId="3" animBg="1"/>
      <p:bldP spid="91" grpId="0" animBg="1"/>
      <p:bldP spid="91" grpId="1" animBg="1"/>
      <p:bldP spid="91" grpId="3" animBg="1"/>
      <p:bldP spid="92" grpId="0" animBg="1"/>
      <p:bldP spid="92" grpId="1" animBg="1"/>
      <p:bldP spid="92" grpId="3" animBg="1"/>
      <p:bldP spid="93" grpId="0" animBg="1"/>
      <p:bldP spid="93" grpId="1" animBg="1"/>
      <p:bldP spid="93" grpId="3" animBg="1"/>
      <p:bldP spid="94" grpId="0" animBg="1"/>
      <p:bldP spid="94" grpId="1" animBg="1"/>
      <p:bldP spid="94" grpId="3" animBg="1"/>
      <p:bldP spid="95" grpId="0" animBg="1"/>
      <p:bldP spid="95" grpId="1" animBg="1"/>
      <p:bldP spid="95" grpId="3" animBg="1"/>
      <p:bldP spid="96" grpId="0" animBg="1"/>
      <p:bldP spid="96" grpId="1" animBg="1"/>
      <p:bldP spid="96" grpId="3" animBg="1"/>
      <p:bldP spid="97" grpId="0" animBg="1"/>
      <p:bldP spid="97" grpId="1" animBg="1"/>
      <p:bldP spid="97" grpId="3" animBg="1"/>
      <p:bldP spid="98" grpId="0" animBg="1"/>
      <p:bldP spid="98" grpId="1" animBg="1"/>
      <p:bldP spid="98" grpId="3" animBg="1"/>
      <p:bldP spid="99" grpId="0" animBg="1"/>
      <p:bldP spid="99" grpId="1" animBg="1"/>
      <p:bldP spid="99" grpId="3" animBg="1"/>
      <p:bldP spid="100" grpId="0" animBg="1"/>
      <p:bldP spid="100" grpId="1" animBg="1"/>
      <p:bldP spid="100" grpId="3" animBg="1"/>
      <p:bldP spid="101" grpId="0" animBg="1"/>
      <p:bldP spid="101" grpId="1" animBg="1"/>
      <p:bldP spid="101" grpId="3" animBg="1"/>
      <p:bldP spid="102" grpId="0" animBg="1"/>
      <p:bldP spid="102" grpId="1" animBg="1"/>
      <p:bldP spid="102" grpId="3" animBg="1"/>
      <p:bldP spid="103" grpId="0" animBg="1"/>
      <p:bldP spid="103" grpId="1" animBg="1"/>
      <p:bldP spid="103" grpId="3" animBg="1"/>
      <p:bldP spid="104" grpId="0" animBg="1"/>
      <p:bldP spid="104" grpId="1" animBg="1"/>
      <p:bldP spid="104" grpId="3" animBg="1"/>
      <p:bldP spid="105" grpId="0" animBg="1"/>
      <p:bldP spid="105" grpId="1" animBg="1"/>
      <p:bldP spid="105" grpId="3" animBg="1"/>
      <p:bldP spid="106" grpId="0" animBg="1"/>
      <p:bldP spid="106" grpId="1" animBg="1"/>
      <p:bldP spid="106" grpId="3" animBg="1"/>
      <p:bldP spid="107" grpId="0" animBg="1"/>
      <p:bldP spid="107" grpId="1" animBg="1"/>
      <p:bldP spid="107" grpId="3" animBg="1"/>
      <p:bldP spid="108" grpId="0" animBg="1"/>
      <p:bldP spid="108" grpId="1" animBg="1"/>
      <p:bldP spid="108" grpId="3" animBg="1"/>
      <p:bldP spid="109" grpId="0" animBg="1"/>
      <p:bldP spid="109" grpId="1" animBg="1"/>
      <p:bldP spid="109" grpId="3" animBg="1"/>
      <p:bldP spid="110" grpId="0" animBg="1"/>
      <p:bldP spid="110" grpId="3" animBg="1"/>
      <p:bldP spid="111" grpId="0" animBg="1"/>
      <p:bldP spid="111" grpId="3" animBg="1"/>
      <p:bldP spid="112" grpId="0" animBg="1"/>
      <p:bldP spid="112" grpId="3" animBg="1"/>
      <p:bldP spid="113" grpId="0" animBg="1"/>
      <p:bldP spid="113" grpId="3" animBg="1"/>
      <p:bldP spid="114" grpId="0" animBg="1"/>
      <p:bldP spid="114" grpId="3" animBg="1"/>
      <p:bldP spid="115" grpId="0" animBg="1"/>
      <p:bldP spid="115" grpId="3" animBg="1"/>
      <p:bldP spid="116" grpId="0" animBg="1"/>
      <p:bldP spid="116" grpId="3" animBg="1"/>
      <p:bldP spid="117" grpId="0" animBg="1"/>
      <p:bldP spid="117" grpId="3" animBg="1"/>
      <p:bldP spid="118" grpId="0" animBg="1"/>
      <p:bldP spid="118" grpId="1" animBg="1"/>
      <p:bldP spid="118" grpId="3" animBg="1"/>
      <p:bldP spid="119" grpId="0" animBg="1"/>
      <p:bldP spid="119" grpId="1" animBg="1"/>
      <p:bldP spid="119" grpId="3" animBg="1"/>
      <p:bldP spid="120" grpId="0" animBg="1"/>
      <p:bldP spid="120" grpId="1" animBg="1"/>
      <p:bldP spid="120" grpId="3" animBg="1"/>
      <p:bldP spid="121" grpId="0" animBg="1"/>
      <p:bldP spid="121" grpId="1" animBg="1"/>
      <p:bldP spid="121" grpId="3" animBg="1"/>
      <p:bldP spid="122" grpId="0" animBg="1"/>
      <p:bldP spid="122" grpId="1" animBg="1"/>
      <p:bldP spid="122" grpId="3" animBg="1"/>
      <p:bldP spid="123" grpId="0" animBg="1"/>
      <p:bldP spid="123" grpId="1" animBg="1"/>
      <p:bldP spid="123" grpId="3" animBg="1"/>
      <p:bldP spid="124" grpId="0" animBg="1"/>
      <p:bldP spid="124" grpId="1" animBg="1"/>
      <p:bldP spid="124" grpId="3" animBg="1"/>
      <p:bldP spid="125" grpId="0" animBg="1"/>
      <p:bldP spid="125" grpId="2" animBg="1"/>
      <p:bldP spid="126" grpId="0" animBg="1"/>
      <p:bldP spid="126" grpId="2" animBg="1"/>
      <p:bldP spid="128" grpId="0" animBg="1"/>
      <p:bldP spid="128" grpId="1" animBg="1"/>
      <p:bldP spid="128" grpId="2" animBg="1"/>
      <p:bldP spid="129" grpId="0" animBg="1"/>
      <p:bldP spid="129" grpId="1" animBg="1"/>
      <p:bldP spid="129" grpId="2" animBg="1"/>
      <p:bldP spid="130" grpId="0" animBg="1"/>
      <p:bldP spid="130" grpId="1" animBg="1"/>
      <p:bldP spid="130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Viscosity flush / oil wash – heavy deposits</a:t>
            </a:r>
            <a:endParaRPr lang="en-US" sz="2800" dirty="0"/>
          </a:p>
        </p:txBody>
      </p:sp>
      <p:sp>
        <p:nvSpPr>
          <p:cNvPr id="3" name="s428"/>
          <p:cNvSpPr/>
          <p:nvPr/>
        </p:nvSpPr>
        <p:spPr>
          <a:xfrm>
            <a:off x="4023360" y="1645920"/>
            <a:ext cx="1097280" cy="3474720"/>
          </a:xfrm>
          <a:prstGeom prst="roundRect">
            <a:avLst>
              <a:gd name="adj" fmla="val 50000"/>
            </a:avLst>
          </a:prstGeom>
          <a:solidFill>
            <a:srgbClr val="BFDDF2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429"/>
          <p:cNvSpPr/>
          <p:nvPr/>
        </p:nvSpPr>
        <p:spPr>
          <a:xfrm>
            <a:off x="4155034" y="1975104"/>
            <a:ext cx="197510" cy="2816352"/>
          </a:xfrm>
          <a:prstGeom prst="roundRect">
            <a:avLst>
              <a:gd name="adj" fmla="val 50000"/>
            </a:avLst>
          </a:prstGeom>
          <a:solidFill>
            <a:srgbClr val="E3F0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s430"/>
          <p:cNvSpPr/>
          <p:nvPr/>
        </p:nvSpPr>
        <p:spPr>
          <a:xfrm>
            <a:off x="4023360" y="1645920"/>
            <a:ext cx="1097280" cy="3474720"/>
          </a:xfrm>
          <a:prstGeom prst="roundRect">
            <a:avLst>
              <a:gd name="adj" fmla="val 50000"/>
            </a:avLst>
          </a:prstGeom>
          <a:solidFill>
            <a:srgbClr val="6B7175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s431"/>
          <p:cNvSpPr/>
          <p:nvPr/>
        </p:nvSpPr>
        <p:spPr>
          <a:xfrm>
            <a:off x="4023360" y="1645920"/>
            <a:ext cx="1097280" cy="3474720"/>
          </a:xfrm>
          <a:prstGeom prst="roundRect">
            <a:avLst>
              <a:gd name="adj" fmla="val 50000"/>
            </a:avLst>
          </a:prstGeom>
          <a:solidFill>
            <a:srgbClr val="4A4F52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432"/>
          <p:cNvSpPr/>
          <p:nvPr/>
        </p:nvSpPr>
        <p:spPr>
          <a:xfrm>
            <a:off x="4023360" y="1645920"/>
            <a:ext cx="1097280" cy="3474720"/>
          </a:xfrm>
          <a:prstGeom prst="roundRect">
            <a:avLst>
              <a:gd name="adj" fmla="val 50000"/>
            </a:avLst>
          </a:prstGeom>
          <a:solidFill>
            <a:srgbClr val="2F3437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433"/>
          <p:cNvSpPr/>
          <p:nvPr/>
        </p:nvSpPr>
        <p:spPr>
          <a:xfrm>
            <a:off x="4626864" y="2271370"/>
            <a:ext cx="91440" cy="833933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s434"/>
          <p:cNvSpPr/>
          <p:nvPr/>
        </p:nvSpPr>
        <p:spPr>
          <a:xfrm>
            <a:off x="4813402" y="3313786"/>
            <a:ext cx="91440" cy="694944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s435"/>
          <p:cNvSpPr/>
          <p:nvPr/>
        </p:nvSpPr>
        <p:spPr>
          <a:xfrm>
            <a:off x="4484218" y="3939235"/>
            <a:ext cx="91440" cy="555955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436"/>
          <p:cNvSpPr txBox="1"/>
          <p:nvPr/>
        </p:nvSpPr>
        <p:spPr>
          <a:xfrm>
            <a:off x="3749040" y="5138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bottoms</a:t>
            </a:r>
            <a:endParaRPr lang="en-US" sz="1100" dirty="0"/>
          </a:p>
        </p:txBody>
      </p:sp>
      <p:sp>
        <p:nvSpPr>
          <p:cNvPr id="12" name="s437"/>
          <p:cNvSpPr/>
          <p:nvPr/>
        </p:nvSpPr>
        <p:spPr>
          <a:xfrm>
            <a:off x="7132320" y="39319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BFDDF2"/>
          </a:solidFill>
          <a:ln w="1905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438"/>
          <p:cNvSpPr/>
          <p:nvPr/>
        </p:nvSpPr>
        <p:spPr>
          <a:xfrm>
            <a:off x="7132320" y="39319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6B7175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439"/>
          <p:cNvSpPr/>
          <p:nvPr/>
        </p:nvSpPr>
        <p:spPr>
          <a:xfrm>
            <a:off x="7132320" y="39319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4A4F52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440"/>
          <p:cNvSpPr/>
          <p:nvPr/>
        </p:nvSpPr>
        <p:spPr>
          <a:xfrm>
            <a:off x="7132320" y="393192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2F3437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441"/>
          <p:cNvSpPr/>
          <p:nvPr/>
        </p:nvSpPr>
        <p:spPr>
          <a:xfrm>
            <a:off x="7406640" y="4069080"/>
            <a:ext cx="155448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442"/>
          <p:cNvSpPr/>
          <p:nvPr/>
        </p:nvSpPr>
        <p:spPr>
          <a:xfrm>
            <a:off x="7406640" y="4206240"/>
            <a:ext cx="155448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443"/>
          <p:cNvSpPr/>
          <p:nvPr/>
        </p:nvSpPr>
        <p:spPr>
          <a:xfrm>
            <a:off x="7406640" y="4343400"/>
            <a:ext cx="1554480" cy="0"/>
          </a:xfrm>
          <a:prstGeom prst="line">
            <a:avLst/>
          </a:prstGeom>
          <a:noFill/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444"/>
          <p:cNvSpPr txBox="1"/>
          <p:nvPr/>
        </p:nvSpPr>
        <p:spPr>
          <a:xfrm>
            <a:off x="713232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</a:t>
            </a:r>
            <a:endParaRPr lang="en-US" sz="1100" dirty="0"/>
          </a:p>
        </p:txBody>
      </p:sp>
      <p:sp>
        <p:nvSpPr>
          <p:cNvPr id="20" name="s445"/>
          <p:cNvSpPr/>
          <p:nvPr/>
        </p:nvSpPr>
        <p:spPr>
          <a:xfrm>
            <a:off x="6035040" y="525780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446"/>
          <p:cNvSpPr txBox="1"/>
          <p:nvPr/>
        </p:nvSpPr>
        <p:spPr>
          <a:xfrm>
            <a:off x="5897880" y="5532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000" dirty="0"/>
          </a:p>
        </p:txBody>
      </p:sp>
      <p:sp>
        <p:nvSpPr>
          <p:cNvPr id="22" name="s447"/>
          <p:cNvSpPr/>
          <p:nvPr/>
        </p:nvSpPr>
        <p:spPr>
          <a:xfrm>
            <a:off x="4572000" y="5120640"/>
            <a:ext cx="0" cy="338328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448"/>
          <p:cNvSpPr/>
          <p:nvPr/>
        </p:nvSpPr>
        <p:spPr>
          <a:xfrm>
            <a:off x="4572000" y="5458968"/>
            <a:ext cx="14630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449"/>
          <p:cNvSpPr/>
          <p:nvPr/>
        </p:nvSpPr>
        <p:spPr>
          <a:xfrm>
            <a:off x="6446520" y="5458968"/>
            <a:ext cx="324612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s450"/>
          <p:cNvSpPr/>
          <p:nvPr/>
        </p:nvSpPr>
        <p:spPr>
          <a:xfrm flipV="1">
            <a:off x="9692640" y="4206240"/>
            <a:ext cx="0" cy="1252728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451"/>
          <p:cNvSpPr/>
          <p:nvPr/>
        </p:nvSpPr>
        <p:spPr>
          <a:xfrm flipH="1">
            <a:off x="9144000" y="4206240"/>
            <a:ext cx="5486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7" name="s452"/>
          <p:cNvSpPr/>
          <p:nvPr/>
        </p:nvSpPr>
        <p:spPr>
          <a:xfrm flipH="1">
            <a:off x="5669280" y="4206240"/>
            <a:ext cx="14630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453"/>
          <p:cNvSpPr/>
          <p:nvPr/>
        </p:nvSpPr>
        <p:spPr>
          <a:xfrm flipV="1">
            <a:off x="5669280" y="2743200"/>
            <a:ext cx="0" cy="146304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454"/>
          <p:cNvSpPr/>
          <p:nvPr/>
        </p:nvSpPr>
        <p:spPr>
          <a:xfrm flipH="1">
            <a:off x="5120640" y="2743200"/>
            <a:ext cx="5486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0" name="s455"/>
          <p:cNvSpPr/>
          <p:nvPr/>
        </p:nvSpPr>
        <p:spPr>
          <a:xfrm>
            <a:off x="731520" y="4114800"/>
            <a:ext cx="1371600" cy="960120"/>
          </a:xfrm>
          <a:prstGeom prst="roundRect">
            <a:avLst>
              <a:gd name="adj" fmla="val 19048"/>
            </a:avLst>
          </a:prstGeom>
          <a:solidFill>
            <a:srgbClr val="F6E7C8"/>
          </a:solidFill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456"/>
          <p:cNvSpPr txBox="1"/>
          <p:nvPr/>
        </p:nvSpPr>
        <p:spPr>
          <a:xfrm>
            <a:off x="548640" y="5120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Flushing oil / cutter stock</a:t>
            </a:r>
            <a:endParaRPr lang="en-US" sz="1100" dirty="0"/>
          </a:p>
        </p:txBody>
      </p:sp>
      <p:sp>
        <p:nvSpPr>
          <p:cNvPr id="32" name="s457"/>
          <p:cNvSpPr/>
          <p:nvPr/>
        </p:nvSpPr>
        <p:spPr>
          <a:xfrm>
            <a:off x="2103120" y="4754880"/>
            <a:ext cx="82296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s458"/>
          <p:cNvSpPr/>
          <p:nvPr/>
        </p:nvSpPr>
        <p:spPr>
          <a:xfrm>
            <a:off x="2926080" y="4754880"/>
            <a:ext cx="0" cy="704088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459"/>
          <p:cNvSpPr/>
          <p:nvPr/>
        </p:nvSpPr>
        <p:spPr>
          <a:xfrm>
            <a:off x="2926080" y="5458968"/>
            <a:ext cx="164592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5" name="t460"/>
          <p:cNvSpPr txBox="1"/>
          <p:nvPr/>
        </p:nvSpPr>
        <p:spPr>
          <a:xfrm>
            <a:off x="539496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100" dirty="0"/>
          </a:p>
        </p:txBody>
      </p:sp>
      <p:sp>
        <p:nvSpPr>
          <p:cNvPr id="36" name="s461"/>
          <p:cNvSpPr/>
          <p:nvPr/>
        </p:nvSpPr>
        <p:spPr>
          <a:xfrm>
            <a:off x="6236208" y="4846320"/>
            <a:ext cx="0" cy="41148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7" name="s462"/>
          <p:cNvSpPr/>
          <p:nvPr/>
        </p:nvSpPr>
        <p:spPr>
          <a:xfrm flipV="1">
            <a:off x="9692640" y="2377440"/>
            <a:ext cx="0" cy="182880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s463"/>
          <p:cNvSpPr/>
          <p:nvPr/>
        </p:nvSpPr>
        <p:spPr>
          <a:xfrm>
            <a:off x="9692640" y="2377440"/>
            <a:ext cx="548640" cy="0"/>
          </a:xfrm>
          <a:prstGeom prst="line">
            <a:avLst/>
          </a:prstGeom>
          <a:noFill/>
          <a:ln w="50800">
            <a:solidFill>
              <a:srgbClr val="D9A441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9" name="s464"/>
          <p:cNvSpPr/>
          <p:nvPr/>
        </p:nvSpPr>
        <p:spPr>
          <a:xfrm>
            <a:off x="10241280" y="1783080"/>
            <a:ext cx="1280160" cy="114300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s465"/>
          <p:cNvSpPr/>
          <p:nvPr/>
        </p:nvSpPr>
        <p:spPr>
          <a:xfrm>
            <a:off x="10287000" y="2606040"/>
            <a:ext cx="1188720" cy="274320"/>
          </a:xfrm>
          <a:prstGeom prst="rect">
            <a:avLst/>
          </a:prstGeom>
          <a:solidFill>
            <a:srgbClr val="6B523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s466"/>
          <p:cNvSpPr/>
          <p:nvPr/>
        </p:nvSpPr>
        <p:spPr>
          <a:xfrm>
            <a:off x="10287000" y="2240280"/>
            <a:ext cx="1188720" cy="365760"/>
          </a:xfrm>
          <a:prstGeom prst="rect">
            <a:avLst/>
          </a:prstGeom>
          <a:solidFill>
            <a:srgbClr val="6B523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t467"/>
          <p:cNvSpPr txBox="1"/>
          <p:nvPr/>
        </p:nvSpPr>
        <p:spPr>
          <a:xfrm>
            <a:off x="9875520" y="2953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 / RERUN TANK</a:t>
            </a:r>
            <a:endParaRPr lang="en-US" sz="1100" dirty="0"/>
          </a:p>
        </p:txBody>
      </p:sp>
      <p:sp>
        <p:nvSpPr>
          <p:cNvPr id="43" name="s468"/>
          <p:cNvSpPr/>
          <p:nvPr/>
        </p:nvSpPr>
        <p:spPr>
          <a:xfrm>
            <a:off x="548640" y="1371600"/>
            <a:ext cx="3108960" cy="2194560"/>
          </a:xfrm>
          <a:prstGeom prst="roundRect">
            <a:avLst>
              <a:gd name="adj" fmla="val 5000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4" name="t469"/>
          <p:cNvSpPr txBox="1"/>
          <p:nvPr/>
        </p:nvSpPr>
        <p:spPr>
          <a:xfrm>
            <a:off x="73152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– RETURNING OIL</a:t>
            </a:r>
            <a:endParaRPr lang="en-US" sz="1200" dirty="0"/>
          </a:p>
        </p:txBody>
      </p:sp>
      <p:sp>
        <p:nvSpPr>
          <p:cNvPr id="45" name="s470"/>
          <p:cNvSpPr/>
          <p:nvPr/>
        </p:nvSpPr>
        <p:spPr>
          <a:xfrm>
            <a:off x="1051560" y="1874520"/>
            <a:ext cx="27432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s471"/>
          <p:cNvSpPr/>
          <p:nvPr/>
        </p:nvSpPr>
        <p:spPr>
          <a:xfrm>
            <a:off x="868680" y="2103120"/>
            <a:ext cx="640080" cy="12344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s472"/>
          <p:cNvSpPr/>
          <p:nvPr/>
        </p:nvSpPr>
        <p:spPr>
          <a:xfrm>
            <a:off x="914400" y="2377440"/>
            <a:ext cx="548640" cy="914400"/>
          </a:xfrm>
          <a:prstGeom prst="roundRect">
            <a:avLst>
              <a:gd name="adj" fmla="val 16667"/>
            </a:avLst>
          </a:prstGeom>
          <a:solidFill>
            <a:srgbClr val="F2D58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8" name="s473"/>
          <p:cNvSpPr/>
          <p:nvPr/>
        </p:nvSpPr>
        <p:spPr>
          <a:xfrm>
            <a:off x="914400" y="2377440"/>
            <a:ext cx="548640" cy="914400"/>
          </a:xfrm>
          <a:prstGeom prst="roundRect">
            <a:avLst>
              <a:gd name="adj" fmla="val 16667"/>
            </a:avLst>
          </a:prstGeom>
          <a:solidFill>
            <a:srgbClr val="C79A3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9" name="s474"/>
          <p:cNvSpPr/>
          <p:nvPr/>
        </p:nvSpPr>
        <p:spPr>
          <a:xfrm>
            <a:off x="914400" y="2377440"/>
            <a:ext cx="548640" cy="914400"/>
          </a:xfrm>
          <a:prstGeom prst="roundRect">
            <a:avLst>
              <a:gd name="adj" fmla="val 16667"/>
            </a:avLst>
          </a:prstGeom>
          <a:solidFill>
            <a:srgbClr val="5A4025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0" name="s475"/>
          <p:cNvSpPr/>
          <p:nvPr/>
        </p:nvSpPr>
        <p:spPr>
          <a:xfrm>
            <a:off x="914400" y="2377440"/>
            <a:ext cx="548640" cy="914400"/>
          </a:xfrm>
          <a:prstGeom prst="roundRect">
            <a:avLst>
              <a:gd name="adj" fmla="val 16667"/>
            </a:avLst>
          </a:prstGeom>
          <a:solidFill>
            <a:srgbClr val="1C1F2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476"/>
          <p:cNvSpPr txBox="1"/>
          <p:nvPr/>
        </p:nvSpPr>
        <p:spPr>
          <a:xfrm>
            <a:off x="169164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flushing oil</a:t>
            </a:r>
            <a:endParaRPr lang="en-US" sz="1400" dirty="0"/>
          </a:p>
        </p:txBody>
      </p:sp>
      <p:sp>
        <p:nvSpPr>
          <p:cNvPr id="52" name="t477"/>
          <p:cNvSpPr txBox="1"/>
          <p:nvPr/>
        </p:nvSpPr>
        <p:spPr>
          <a:xfrm>
            <a:off x="169164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– picking up deposits</a:t>
            </a:r>
            <a:endParaRPr lang="en-US" sz="1400" dirty="0"/>
          </a:p>
        </p:txBody>
      </p:sp>
      <p:sp>
        <p:nvSpPr>
          <p:cNvPr id="53" name="t478"/>
          <p:cNvSpPr txBox="1"/>
          <p:nvPr/>
        </p:nvSpPr>
        <p:spPr>
          <a:xfrm>
            <a:off x="169164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with each pass</a:t>
            </a:r>
            <a:endParaRPr lang="en-US" sz="1400" dirty="0"/>
          </a:p>
        </p:txBody>
      </p:sp>
      <p:sp>
        <p:nvSpPr>
          <p:cNvPr id="54" name="t479"/>
          <p:cNvSpPr txBox="1"/>
          <p:nvPr/>
        </p:nvSpPr>
        <p:spPr>
          <a:xfrm>
            <a:off x="1691640" y="23317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– flush complete</a:t>
            </a:r>
            <a:endParaRPr lang="en-US" sz="1400" dirty="0"/>
          </a:p>
        </p:txBody>
      </p:sp>
      <p:sp>
        <p:nvSpPr>
          <p:cNvPr id="100" name="n100"/>
          <p:cNvSpPr/>
          <p:nvPr/>
        </p:nvSpPr>
        <p:spPr>
          <a:xfrm flipV="1">
            <a:off x="4572000" y="1371600"/>
            <a:ext cx="0" cy="27432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n101"/>
          <p:cNvSpPr/>
          <p:nvPr/>
        </p:nvSpPr>
        <p:spPr>
          <a:xfrm>
            <a:off x="4572000" y="1371600"/>
            <a:ext cx="11887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02" name="n102"/>
          <p:cNvSpPr/>
          <p:nvPr/>
        </p:nvSpPr>
        <p:spPr>
          <a:xfrm>
            <a:off x="5760720" y="12070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9050">
            <a:solidFill>
              <a:srgbClr val="94A3B8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03" name="n103"/>
          <p:cNvSpPr/>
          <p:nvPr/>
        </p:nvSpPr>
        <p:spPr>
          <a:xfrm>
            <a:off x="5908853" y="1305763"/>
            <a:ext cx="618134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n104"/>
          <p:cNvSpPr/>
          <p:nvPr/>
        </p:nvSpPr>
        <p:spPr>
          <a:xfrm>
            <a:off x="5908853" y="1371600"/>
            <a:ext cx="618134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5" name="n105"/>
          <p:cNvSpPr/>
          <p:nvPr/>
        </p:nvSpPr>
        <p:spPr>
          <a:xfrm>
            <a:off x="5908853" y="1437437"/>
            <a:ext cx="618134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6" name="n106"/>
          <p:cNvSpPr txBox="1"/>
          <p:nvPr/>
        </p:nvSpPr>
        <p:spPr>
          <a:xfrm>
            <a:off x="5486400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</a:rPr>
              <a:t>Overhead condenser</a:t>
            </a:r>
          </a:p>
        </p:txBody>
      </p:sp>
      <p:sp>
        <p:nvSpPr>
          <p:cNvPr id="107" name="n107"/>
          <p:cNvSpPr/>
          <p:nvPr/>
        </p:nvSpPr>
        <p:spPr>
          <a:xfrm>
            <a:off x="6675120" y="1371600"/>
            <a:ext cx="64008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8" name="n108"/>
          <p:cNvSpPr/>
          <p:nvPr/>
        </p:nvSpPr>
        <p:spPr>
          <a:xfrm>
            <a:off x="7315200" y="1371600"/>
            <a:ext cx="0" cy="41148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09" name="n109"/>
          <p:cNvSpPr/>
          <p:nvPr/>
        </p:nvSpPr>
        <p:spPr>
          <a:xfrm>
            <a:off x="7040880" y="178308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9050">
            <a:solidFill>
              <a:srgbClr val="94A3B8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0" name="n110"/>
          <p:cNvSpPr/>
          <p:nvPr/>
        </p:nvSpPr>
        <p:spPr>
          <a:xfrm>
            <a:off x="7095744" y="2059686"/>
            <a:ext cx="1261872" cy="191110"/>
          </a:xfrm>
          <a:prstGeom prst="roundRect">
            <a:avLst>
              <a:gd name="adj" fmla="val 50000"/>
            </a:avLst>
          </a:prstGeom>
          <a:solidFill>
            <a:srgbClr val="D6E7F5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1" name="n111"/>
          <p:cNvSpPr txBox="1"/>
          <p:nvPr/>
        </p:nvSpPr>
        <p:spPr>
          <a:xfrm>
            <a:off x="6035040" y="19202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</a:rPr>
              <a:t>Reflux drum</a:t>
            </a:r>
          </a:p>
        </p:txBody>
      </p:sp>
      <p:sp>
        <p:nvSpPr>
          <p:cNvPr id="112" name="n112"/>
          <p:cNvSpPr/>
          <p:nvPr/>
        </p:nvSpPr>
        <p:spPr>
          <a:xfrm flipV="1">
            <a:off x="8183880" y="1600200"/>
            <a:ext cx="0" cy="210312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3" name="n113"/>
          <p:cNvSpPr/>
          <p:nvPr/>
        </p:nvSpPr>
        <p:spPr>
          <a:xfrm>
            <a:off x="8183880" y="1600200"/>
            <a:ext cx="6858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14" name="n114"/>
          <p:cNvSpPr/>
          <p:nvPr/>
        </p:nvSpPr>
        <p:spPr>
          <a:xfrm>
            <a:off x="8869680" y="1325880"/>
            <a:ext cx="182880" cy="960120"/>
          </a:xfrm>
          <a:prstGeom prst="rect">
            <a:avLst/>
          </a:prstGeom>
          <a:solidFill>
            <a:srgbClr val="B4C2D3"/>
          </a:solidFill>
          <a:ln w="12700">
            <a:solidFill>
              <a:srgbClr val="94A3B8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15" name="n115"/>
          <p:cNvSpPr/>
          <p:nvPr/>
        </p:nvSpPr>
        <p:spPr>
          <a:xfrm>
            <a:off x="8741664" y="822960"/>
            <a:ext cx="438912" cy="548640"/>
          </a:xfrm>
          <a:prstGeom prst="ellipse">
            <a:avLst/>
          </a:prstGeom>
          <a:solidFill>
            <a:srgbClr val="F7C548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6" name="n116"/>
          <p:cNvSpPr/>
          <p:nvPr/>
        </p:nvSpPr>
        <p:spPr>
          <a:xfrm>
            <a:off x="8833104" y="1033272"/>
            <a:ext cx="256032" cy="329184"/>
          </a:xfrm>
          <a:prstGeom prst="ellipse">
            <a:avLst/>
          </a:prstGeom>
          <a:solidFill>
            <a:srgbClr val="FF8C1A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7" name="n117"/>
          <p:cNvSpPr txBox="1"/>
          <p:nvPr/>
        </p:nvSpPr>
        <p:spPr>
          <a:xfrm>
            <a:off x="9144000" y="14630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</a:rPr>
              <a:t>FLARE / CLOSED VENT</a:t>
            </a:r>
          </a:p>
        </p:txBody>
      </p:sp>
      <p:sp>
        <p:nvSpPr>
          <p:cNvPr id="118" name="n118"/>
          <p:cNvSpPr/>
          <p:nvPr/>
        </p:nvSpPr>
        <p:spPr>
          <a:xfrm>
            <a:off x="7772400" y="2286000"/>
            <a:ext cx="0" cy="22860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9" name="n119"/>
          <p:cNvSpPr/>
          <p:nvPr/>
        </p:nvSpPr>
        <p:spPr>
          <a:xfrm>
            <a:off x="7772400" y="2514600"/>
            <a:ext cx="192024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0" name="n120"/>
          <p:cNvSpPr/>
          <p:nvPr/>
        </p:nvSpPr>
        <p:spPr>
          <a:xfrm>
            <a:off x="3017520" y="4480560"/>
            <a:ext cx="868680" cy="45720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9050">
            <a:solidFill>
              <a:srgbClr val="94A3B8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21" name="n121"/>
          <p:cNvSpPr/>
          <p:nvPr/>
        </p:nvSpPr>
        <p:spPr>
          <a:xfrm>
            <a:off x="3223260" y="4617720"/>
            <a:ext cx="457200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2" name="n122"/>
          <p:cNvSpPr/>
          <p:nvPr/>
        </p:nvSpPr>
        <p:spPr>
          <a:xfrm>
            <a:off x="3223260" y="4709160"/>
            <a:ext cx="457200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3" name="n123"/>
          <p:cNvSpPr/>
          <p:nvPr/>
        </p:nvSpPr>
        <p:spPr>
          <a:xfrm>
            <a:off x="3223260" y="4800600"/>
            <a:ext cx="457200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4" name="n124"/>
          <p:cNvSpPr txBox="1"/>
          <p:nvPr/>
        </p:nvSpPr>
        <p:spPr>
          <a:xfrm>
            <a:off x="2926080" y="49560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</a:rPr>
              <a:t>Reboiler</a:t>
            </a:r>
          </a:p>
        </p:txBody>
      </p:sp>
      <p:sp>
        <p:nvSpPr>
          <p:cNvPr id="125" name="n125"/>
          <p:cNvSpPr/>
          <p:nvPr/>
        </p:nvSpPr>
        <p:spPr>
          <a:xfrm flipH="1">
            <a:off x="3886200" y="4846320"/>
            <a:ext cx="210312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26" name="n126"/>
          <p:cNvSpPr/>
          <p:nvPr/>
        </p:nvSpPr>
        <p:spPr>
          <a:xfrm flipV="1">
            <a:off x="3474720" y="4389120"/>
            <a:ext cx="0" cy="914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7" name="n127"/>
          <p:cNvSpPr/>
          <p:nvPr/>
        </p:nvSpPr>
        <p:spPr>
          <a:xfrm>
            <a:off x="3474720" y="4389120"/>
            <a:ext cx="54864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55" name="s480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6" name="t481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Heavy bottoms, coker and quench circuits hold tar-like deposits that steam alone cannot shift.</a:t>
            </a:r>
            <a:endParaRPr lang="en-US" sz="1400" dirty="0"/>
          </a:p>
        </p:txBody>
      </p:sp>
      <p:sp>
        <p:nvSpPr>
          <p:cNvPr id="57" name="t482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Hot flushing oil (cutter stock) fills the bottoms circuit: column → pump → exchangers → column.</a:t>
            </a:r>
            <a:endParaRPr lang="en-US" sz="1400" dirty="0"/>
          </a:p>
        </p:txBody>
      </p:sp>
      <p:sp>
        <p:nvSpPr>
          <p:cNvPr id="58" name="t483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The oil circulates continuously through the circuit.</a:t>
            </a:r>
            <a:endParaRPr lang="en-US" sz="1400" dirty="0"/>
          </a:p>
        </p:txBody>
      </p:sp>
      <p:sp>
        <p:nvSpPr>
          <p:cNvPr id="59" name="t48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Oil-based solvent is added – it penetrates and softens the heavy deposits; the returning oil turns dark.</a:t>
            </a:r>
            <a:endParaRPr lang="en-US" sz="1400" dirty="0"/>
          </a:p>
        </p:txBody>
      </p:sp>
      <p:sp>
        <p:nvSpPr>
          <p:cNvPr id="60" name="t48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Pass after pass the deposits dissolve – the exchanger and column clean up and the sample gets lighter.</a:t>
            </a:r>
            <a:endParaRPr lang="en-US" sz="1400" dirty="0"/>
          </a:p>
        </p:txBody>
      </p:sp>
      <p:sp>
        <p:nvSpPr>
          <p:cNvPr id="61" name="t48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The loaded oil is sent to the slop / rerun tank – not to effluent.</a:t>
            </a:r>
            <a:endParaRPr lang="en-US" sz="1400" dirty="0"/>
          </a:p>
        </p:txBody>
      </p:sp>
      <p:sp>
        <p:nvSpPr>
          <p:cNvPr id="62" name="t487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Circuit clean – followed by vapour-phase for final gas-freeing.</a:t>
            </a:r>
            <a:endParaRPr lang="en-US" sz="1400" dirty="0"/>
          </a:p>
        </p:txBody>
      </p:sp>
      <p:sp>
        <p:nvSpPr>
          <p:cNvPr id="63" name="s488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4" name="s489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s490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6" name="s491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7" name="s492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8" name="s493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s494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0" name="s495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s496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s497"/>
          <p:cNvSpPr/>
          <p:nvPr/>
        </p:nvSpPr>
        <p:spPr>
          <a:xfrm>
            <a:off x="6144768" y="475488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s498"/>
          <p:cNvSpPr/>
          <p:nvPr/>
        </p:nvSpPr>
        <p:spPr>
          <a:xfrm>
            <a:off x="6144768" y="475488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s499"/>
          <p:cNvSpPr/>
          <p:nvPr/>
        </p:nvSpPr>
        <p:spPr>
          <a:xfrm>
            <a:off x="6144768" y="475488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5" name="s500"/>
          <p:cNvSpPr/>
          <p:nvPr/>
        </p:nvSpPr>
        <p:spPr>
          <a:xfrm>
            <a:off x="6144768" y="475488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6" name="s501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7" name="s502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8" name="s503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s504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0" name="s505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s506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2" name="s507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3" name="s508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4" name="s509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5" name="s510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s511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s512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s513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s514"/>
          <p:cNvSpPr/>
          <p:nvPr/>
        </p:nvSpPr>
        <p:spPr>
          <a:xfrm>
            <a:off x="6355080" y="5367528"/>
            <a:ext cx="182880" cy="182880"/>
          </a:xfrm>
          <a:prstGeom prst="ellipse">
            <a:avLst/>
          </a:prstGeom>
          <a:solidFill>
            <a:srgbClr val="D9A441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s515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s516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s517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s518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s519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s520"/>
          <p:cNvSpPr/>
          <p:nvPr/>
        </p:nvSpPr>
        <p:spPr>
          <a:xfrm>
            <a:off x="9601200" y="4114800"/>
            <a:ext cx="182880" cy="182880"/>
          </a:xfrm>
          <a:prstGeom prst="ellipse">
            <a:avLst/>
          </a:prstGeom>
          <a:solidFill>
            <a:srgbClr val="6B5236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s521"/>
          <p:cNvSpPr/>
          <p:nvPr/>
        </p:nvSpPr>
        <p:spPr>
          <a:xfrm>
            <a:off x="4111142" y="1737360"/>
            <a:ext cx="921715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7" name="s522"/>
          <p:cNvSpPr/>
          <p:nvPr/>
        </p:nvSpPr>
        <p:spPr>
          <a:xfrm>
            <a:off x="548640" y="370332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8" name="t523"/>
          <p:cNvSpPr txBox="1"/>
          <p:nvPr/>
        </p:nvSpPr>
        <p:spPr>
          <a:xfrm>
            <a:off x="548640" y="3703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VAPOUR-PHASE GAS-FREEING</a:t>
            </a:r>
            <a:endParaRPr lang="en-US" sz="1500" dirty="0"/>
          </a:p>
        </p:txBody>
      </p:sp>
      <p:sp>
        <p:nvSpPr>
          <p:cNvPr id="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4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7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300"/>
                            </p:stCondLst>
                            <p:childTnLst>
                              <p:par>
                                <p:cTn id="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6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69" dur="42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0" presetClass="path" presetSubtype="0" fill="hold" grpId="3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75" dur="4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81" dur="4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87" dur="42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55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93" dur="42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0" presetClass="path" presetSubtype="0" fill="hold" grpId="3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99" dur="4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64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05" dur="42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0" presetClass="path" presetSubtype="0" fill="hold" grpId="3" nodeType="withEffect">
                                  <p:stCondLst>
                                    <p:cond delay="31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11" dur="4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7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0" presetClass="path" presetSubtype="0" fill="hold" grpId="3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17" dur="4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0893 L 0.2835 0.0893 L 0.2835 -0.0933 L -0.0465 -0.0933 E" pathEditMode="relative" ptsTypes="AAAAA">
                                      <p:cBhvr>
                                        <p:cTn id="133" dur="24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0.0893 L 0.2835 0.0893 L 0.2835 -0.0933 L -0.0465 -0.0933 E" pathEditMode="relative" ptsTypes="AAAAA">
                                      <p:cBhvr>
                                        <p:cTn id="139" dur="24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 0.0893 L 0.2835 0.0893 L 0.2835 -0.0933 L -0.0465 -0.0933 E" pathEditMode="relative" ptsTypes="AAAAA">
                                      <p:cBhvr>
                                        <p:cTn id="145" dur="24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0.0893 L 0.2835 0.0893 L 0.2835 -0.0933 L -0.0465 -0.0933 E" pathEditMode="relative" ptsTypes="AAAAA">
                                      <p:cBhvr>
                                        <p:cTn id="151" dur="2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57" dur="42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grpId="1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63" dur="42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1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0" presetClass="path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69" dur="42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58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0" presetClass="path" presetSubtype="0" fill="hold" grpId="3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75" dur="42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1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0" presetClass="path" presetSubtype="0" fill="hold" grpId="3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81" dur="42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1" nodeType="withEffect">
                                  <p:stCondLst>
                                    <p:cond delay="68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0" presetClass="path" presetSubtype="0" fill="hold" grpId="3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187" dur="42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grpId="1" nodeType="withEffect">
                                  <p:stCondLst>
                                    <p:cond delay="73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8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14" dur="4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grpId="3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20" dur="42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grpId="1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26" dur="42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32" dur="42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55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0" presetClass="pat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38" dur="42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1" presetClass="exit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0" presetClass="path" presetSubtype="0" fill="hold" grpId="3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44" dur="42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1" presetClass="exit" presetSubtype="0" fill="hold" grpId="1" nodeType="withEffect">
                                  <p:stCondLst>
                                    <p:cond delay="645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50" dur="42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grpId="1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3" nodeType="withEffect">
                                  <p:stCondLst>
                                    <p:cond delay="3150"/>
                                  </p:stCondLst>
                                  <p:childTnLst>
                                    <p:animMotion origin="layout" path="M 0 0 L 0.2663 0.0000 L 0.2663 -0.1827 L -0.0638 -0.1827 L -0.0638 -0.3960 L -0.1538 -0.3960 L -0.1538 0.0000 L -0.0338 0.0000 E" pathEditMode="relative" ptsTypes="AAAAAAAA">
                                      <p:cBhvr>
                                        <p:cTn id="256" dur="42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1" presetClass="exit" presetSubtype="0" fill="hold" grpId="1" nodeType="withEffect">
                                  <p:stCondLst>
                                    <p:cond delay="735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9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0" presetClass="path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277" dur="1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282" dur="1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0" presetClass="pat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00 0.1267 E" pathEditMode="relative" ptsTypes="AA">
                                      <p:cBhvr>
                                        <p:cTn id="287" dur="1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8" presetID="10" presetClass="exit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0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2" dur="9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8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6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13" dur="13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4" presetID="1" presetClass="exit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19" dur="1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0" presetID="1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25" dur="1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6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31" dur="1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37" dur="13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8" presetID="1" presetClass="exit" presetSubtype="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0" presetClass="pat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 -0.2667 L 0.0675 -0.2667 E" pathEditMode="relative" ptsTypes="AAA">
                                      <p:cBhvr>
                                        <p:cTn id="343" dur="13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4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8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22" presetClass="entr" presetSubtype="4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1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0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1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1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1200"/>
                            </p:stCondLst>
                            <p:childTnLst>
                              <p:par>
                                <p:cTn id="3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4467 E" pathEditMode="relative" ptsTypes="AA">
                                      <p:cBhvr>
                                        <p:cTn id="377" dur="11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8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9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2500"/>
                            </p:stCondLst>
                            <p:childTnLst>
                              <p:par>
                                <p:cTn id="3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3000"/>
                            </p:stCondLst>
                            <p:childTnLst>
                              <p:par>
                                <p:cTn id="393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4" dur="40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5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6" dur="400" autoRev="1" fill="hold"/>
                                        <p:tgtEl>
                                          <p:spTgt spid="9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6" grpId="1" animBg="1"/>
      <p:bldP spid="7" grpId="1" animBg="1"/>
      <p:bldP spid="8" grpId="1" animBg="1"/>
      <p:bldP spid="8" grpId="3" animBg="1"/>
      <p:bldP spid="9" grpId="1" animBg="1"/>
      <p:bldP spid="9" grpId="3" animBg="1"/>
      <p:bldP spid="10" grpId="1" animBg="1"/>
      <p:bldP spid="10" grpId="3" animBg="1"/>
      <p:bldP spid="13" grpId="1" animBg="1"/>
      <p:bldP spid="14" grpId="1" animBg="1"/>
      <p:bldP spid="15" grpId="1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5" grpId="0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3" grpId="0" animBg="1"/>
      <p:bldP spid="63" grpId="1" animBg="1"/>
      <p:bldP spid="63" grpId="3" animBg="1"/>
      <p:bldP spid="64" grpId="0" animBg="1"/>
      <p:bldP spid="64" grpId="1" animBg="1"/>
      <p:bldP spid="64" grpId="3" animBg="1"/>
      <p:bldP spid="65" grpId="0" animBg="1"/>
      <p:bldP spid="65" grpId="1" animBg="1"/>
      <p:bldP spid="65" grpId="3" animBg="1"/>
      <p:bldP spid="66" grpId="0" animBg="1"/>
      <p:bldP spid="66" grpId="1" animBg="1"/>
      <p:bldP spid="66" grpId="3" animBg="1"/>
      <p:bldP spid="67" grpId="0" animBg="1"/>
      <p:bldP spid="67" grpId="1" animBg="1"/>
      <p:bldP spid="67" grpId="3" animBg="1"/>
      <p:bldP spid="68" grpId="0" animBg="1"/>
      <p:bldP spid="68" grpId="1" animBg="1"/>
      <p:bldP spid="68" grpId="3" animBg="1"/>
      <p:bldP spid="69" grpId="0" animBg="1"/>
      <p:bldP spid="69" grpId="1" animBg="1"/>
      <p:bldP spid="69" grpId="3" animBg="1"/>
      <p:bldP spid="70" grpId="0" animBg="1"/>
      <p:bldP spid="70" grpId="1" animBg="1"/>
      <p:bldP spid="70" grpId="3" animBg="1"/>
      <p:bldP spid="71" grpId="0" animBg="1"/>
      <p:bldP spid="71" grpId="1" animBg="1"/>
      <p:bldP spid="71" grpId="3" animBg="1"/>
      <p:bldP spid="72" grpId="0" animBg="1"/>
      <p:bldP spid="72" grpId="1" animBg="1"/>
      <p:bldP spid="72" grpId="3" animBg="1"/>
      <p:bldP spid="73" grpId="0" animBg="1"/>
      <p:bldP spid="73" grpId="1" animBg="1"/>
      <p:bldP spid="73" grpId="3" animBg="1"/>
      <p:bldP spid="74" grpId="0" animBg="1"/>
      <p:bldP spid="74" grpId="1" animBg="1"/>
      <p:bldP spid="74" grpId="3" animBg="1"/>
      <p:bldP spid="75" grpId="0" animBg="1"/>
      <p:bldP spid="75" grpId="1" animBg="1"/>
      <p:bldP spid="75" grpId="3" animBg="1"/>
      <p:bldP spid="76" grpId="0" animBg="1"/>
      <p:bldP spid="76" grpId="1" animBg="1"/>
      <p:bldP spid="76" grpId="3" animBg="1"/>
      <p:bldP spid="77" grpId="0" animBg="1"/>
      <p:bldP spid="77" grpId="1" animBg="1"/>
      <p:bldP spid="77" grpId="3" animBg="1"/>
      <p:bldP spid="78" grpId="0" animBg="1"/>
      <p:bldP spid="78" grpId="1" animBg="1"/>
      <p:bldP spid="78" grpId="3" animBg="1"/>
      <p:bldP spid="79" grpId="0" animBg="1"/>
      <p:bldP spid="79" grpId="1" animBg="1"/>
      <p:bldP spid="79" grpId="3" animBg="1"/>
      <p:bldP spid="80" grpId="0" animBg="1"/>
      <p:bldP spid="80" grpId="1" animBg="1"/>
      <p:bldP spid="80" grpId="3" animBg="1"/>
      <p:bldP spid="81" grpId="0" animBg="1"/>
      <p:bldP spid="81" grpId="1" animBg="1"/>
      <p:bldP spid="81" grpId="3" animBg="1"/>
      <p:bldP spid="82" grpId="0" animBg="1"/>
      <p:bldP spid="82" grpId="1" animBg="1"/>
      <p:bldP spid="82" grpId="3" animBg="1"/>
      <p:bldP spid="83" grpId="0" animBg="1"/>
      <p:bldP spid="83" grpId="1" animBg="1"/>
      <p:bldP spid="83" grpId="3" animBg="1"/>
      <p:bldP spid="84" grpId="0" animBg="1"/>
      <p:bldP spid="84" grpId="1" animBg="1"/>
      <p:bldP spid="84" grpId="3" animBg="1"/>
      <p:bldP spid="85" grpId="0" animBg="1"/>
      <p:bldP spid="85" grpId="1" animBg="1"/>
      <p:bldP spid="85" grpId="3" animBg="1"/>
      <p:bldP spid="86" grpId="0" animBg="1"/>
      <p:bldP spid="86" grpId="1" animBg="1"/>
      <p:bldP spid="86" grpId="3" animBg="1"/>
      <p:bldP spid="87" grpId="0" animBg="1"/>
      <p:bldP spid="87" grpId="1" animBg="1"/>
      <p:bldP spid="87" grpId="3" animBg="1"/>
      <p:bldP spid="88" grpId="0" animBg="1"/>
      <p:bldP spid="88" grpId="1" animBg="1"/>
      <p:bldP spid="88" grpId="3" animBg="1"/>
      <p:bldP spid="89" grpId="0" animBg="1"/>
      <p:bldP spid="89" grpId="1" animBg="1"/>
      <p:bldP spid="89" grpId="3" animBg="1"/>
      <p:bldP spid="90" grpId="0" animBg="1"/>
      <p:bldP spid="90" grpId="1" animBg="1"/>
      <p:bldP spid="90" grpId="3" animBg="1"/>
      <p:bldP spid="91" grpId="0" animBg="1"/>
      <p:bldP spid="91" grpId="1" animBg="1"/>
      <p:bldP spid="91" grpId="3" animBg="1"/>
      <p:bldP spid="92" grpId="0" animBg="1"/>
      <p:bldP spid="92" grpId="1" animBg="1"/>
      <p:bldP spid="92" grpId="3" animBg="1"/>
      <p:bldP spid="93" grpId="0" animBg="1"/>
      <p:bldP spid="93" grpId="1" animBg="1"/>
      <p:bldP spid="93" grpId="3" animBg="1"/>
      <p:bldP spid="94" grpId="0" animBg="1"/>
      <p:bldP spid="94" grpId="1" animBg="1"/>
      <p:bldP spid="94" grpId="3" animBg="1"/>
      <p:bldP spid="95" grpId="0" animBg="1"/>
      <p:bldP spid="95" grpId="1" animBg="1"/>
      <p:bldP spid="95" grpId="3" animBg="1"/>
      <p:bldP spid="96" grpId="0" animBg="1"/>
      <p:bldP spid="96" grpId="1" animBg="1"/>
      <p:bldP spid="96" grpId="3" animBg="1"/>
      <p:bldP spid="97" grpId="0" animBg="1"/>
      <p:bldP spid="97" grpId="2" animBg="1"/>
      <p:bldP spid="98" grpId="0" animBg="1"/>
      <p:bldP spid="98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circulation – tanks &amp; heat-limited vessels</a:t>
            </a:r>
            <a:endParaRPr lang="en-US" sz="2800" dirty="0"/>
          </a:p>
        </p:txBody>
      </p:sp>
      <p:sp>
        <p:nvSpPr>
          <p:cNvPr id="3" name="s524"/>
          <p:cNvSpPr/>
          <p:nvPr/>
        </p:nvSpPr>
        <p:spPr>
          <a:xfrm>
            <a:off x="4800600" y="3931920"/>
            <a:ext cx="548640" cy="548640"/>
          </a:xfrm>
          <a:prstGeom prst="trapezoid">
            <a:avLst/>
          </a:prstGeom>
          <a:solidFill>
            <a:srgbClr val="CBD5E1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525"/>
          <p:cNvSpPr/>
          <p:nvPr/>
        </p:nvSpPr>
        <p:spPr>
          <a:xfrm>
            <a:off x="6903720" y="3931920"/>
            <a:ext cx="548640" cy="548640"/>
          </a:xfrm>
          <a:prstGeom prst="trapezoid">
            <a:avLst/>
          </a:prstGeom>
          <a:solidFill>
            <a:srgbClr val="CBD5E1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526"/>
          <p:cNvSpPr/>
          <p:nvPr/>
        </p:nvSpPr>
        <p:spPr>
          <a:xfrm>
            <a:off x="4480560" y="4462272"/>
            <a:ext cx="3291840" cy="5486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527"/>
          <p:cNvSpPr/>
          <p:nvPr/>
        </p:nvSpPr>
        <p:spPr>
          <a:xfrm>
            <a:off x="4773168" y="2194560"/>
            <a:ext cx="146304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528"/>
          <p:cNvSpPr/>
          <p:nvPr/>
        </p:nvSpPr>
        <p:spPr>
          <a:xfrm>
            <a:off x="7242048" y="2194560"/>
            <a:ext cx="146304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529"/>
          <p:cNvSpPr/>
          <p:nvPr/>
        </p:nvSpPr>
        <p:spPr>
          <a:xfrm>
            <a:off x="4453128" y="3840480"/>
            <a:ext cx="146304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530"/>
          <p:cNvSpPr/>
          <p:nvPr/>
        </p:nvSpPr>
        <p:spPr>
          <a:xfrm>
            <a:off x="7607808" y="3840480"/>
            <a:ext cx="146304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531"/>
          <p:cNvSpPr/>
          <p:nvPr/>
        </p:nvSpPr>
        <p:spPr>
          <a:xfrm>
            <a:off x="4206240" y="2377440"/>
            <a:ext cx="3840480" cy="1737360"/>
          </a:xfrm>
          <a:prstGeom prst="roundRect">
            <a:avLst>
              <a:gd name="adj" fmla="val 50000"/>
            </a:avLst>
          </a:prstGeom>
          <a:solidFill>
            <a:srgbClr val="BFDDF2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532"/>
          <p:cNvSpPr/>
          <p:nvPr/>
        </p:nvSpPr>
        <p:spPr>
          <a:xfrm>
            <a:off x="4667098" y="2585923"/>
            <a:ext cx="691286" cy="1320394"/>
          </a:xfrm>
          <a:prstGeom prst="roundRect">
            <a:avLst>
              <a:gd name="adj" fmla="val 50000"/>
            </a:avLst>
          </a:prstGeom>
          <a:solidFill>
            <a:srgbClr val="E3F0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s533"/>
          <p:cNvSpPr/>
          <p:nvPr/>
        </p:nvSpPr>
        <p:spPr>
          <a:xfrm>
            <a:off x="4206240" y="2377440"/>
            <a:ext cx="3840480" cy="1737360"/>
          </a:xfrm>
          <a:prstGeom prst="roundRect">
            <a:avLst>
              <a:gd name="adj" fmla="val 50000"/>
            </a:avLst>
          </a:prstGeom>
          <a:solidFill>
            <a:srgbClr val="A08467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534"/>
          <p:cNvSpPr/>
          <p:nvPr/>
        </p:nvSpPr>
        <p:spPr>
          <a:xfrm>
            <a:off x="4206240" y="2377440"/>
            <a:ext cx="3840480" cy="1737360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535"/>
          <p:cNvSpPr/>
          <p:nvPr/>
        </p:nvSpPr>
        <p:spPr>
          <a:xfrm>
            <a:off x="4206240" y="2377440"/>
            <a:ext cx="3840480" cy="1737360"/>
          </a:xfrm>
          <a:prstGeom prst="roundRect">
            <a:avLst>
              <a:gd name="adj" fmla="val 50000"/>
            </a:avLst>
          </a:prstGeom>
          <a:solidFill>
            <a:srgbClr val="5C4630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536"/>
          <p:cNvSpPr/>
          <p:nvPr/>
        </p:nvSpPr>
        <p:spPr>
          <a:xfrm>
            <a:off x="6318504" y="2690165"/>
            <a:ext cx="91440" cy="416966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s537"/>
          <p:cNvSpPr/>
          <p:nvPr/>
        </p:nvSpPr>
        <p:spPr>
          <a:xfrm>
            <a:off x="6971386" y="3211373"/>
            <a:ext cx="91440" cy="347472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s538"/>
          <p:cNvSpPr/>
          <p:nvPr/>
        </p:nvSpPr>
        <p:spPr>
          <a:xfrm>
            <a:off x="5819242" y="3524098"/>
            <a:ext cx="91440" cy="277978"/>
          </a:xfrm>
          <a:prstGeom prst="roundRect">
            <a:avLst>
              <a:gd name="adj" fmla="val 50000"/>
            </a:avLst>
          </a:prstGeom>
          <a:solidFill>
            <a:srgbClr val="3E2F2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8" name="t539"/>
          <p:cNvSpPr txBox="1"/>
          <p:nvPr/>
        </p:nvSpPr>
        <p:spPr>
          <a:xfrm>
            <a:off x="4023360" y="4553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vessel – temperature-limited</a:t>
            </a:r>
            <a:endParaRPr lang="en-US" sz="1100" dirty="0"/>
          </a:p>
        </p:txBody>
      </p:sp>
      <p:sp>
        <p:nvSpPr>
          <p:cNvPr id="19" name="t540"/>
          <p:cNvSpPr txBox="1"/>
          <p:nvPr/>
        </p:nvSpPr>
        <p:spPr>
          <a:xfrm>
            <a:off x="4023360" y="4828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steam: lined, coated or low design temperature</a:t>
            </a:r>
            <a:endParaRPr lang="en-US" sz="1100" dirty="0"/>
          </a:p>
        </p:txBody>
      </p:sp>
      <p:sp>
        <p:nvSpPr>
          <p:cNvPr id="20" name="s541"/>
          <p:cNvSpPr/>
          <p:nvPr/>
        </p:nvSpPr>
        <p:spPr>
          <a:xfrm flipV="1">
            <a:off x="7315200" y="1463040"/>
            <a:ext cx="0" cy="73152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1" name="t542"/>
          <p:cNvSpPr txBox="1"/>
          <p:nvPr/>
        </p:nvSpPr>
        <p:spPr>
          <a:xfrm>
            <a:off x="539496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flare / closed vent</a:t>
            </a:r>
            <a:endParaRPr lang="en-US" sz="1100" dirty="0"/>
          </a:p>
        </p:txBody>
      </p:sp>
      <p:sp>
        <p:nvSpPr>
          <p:cNvPr id="22" name="s543"/>
          <p:cNvSpPr/>
          <p:nvPr/>
        </p:nvSpPr>
        <p:spPr>
          <a:xfrm>
            <a:off x="731520" y="3291840"/>
            <a:ext cx="1280160" cy="1280160"/>
          </a:xfrm>
          <a:prstGeom prst="roundRect">
            <a:avLst>
              <a:gd name="adj" fmla="val 10714"/>
            </a:avLst>
          </a:prstGeom>
          <a:solidFill>
            <a:srgbClr val="EAF6EC"/>
          </a:solidFill>
          <a:ln w="1905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544"/>
          <p:cNvSpPr txBox="1"/>
          <p:nvPr/>
        </p:nvSpPr>
        <p:spPr>
          <a:xfrm>
            <a:off x="54864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tank</a:t>
            </a:r>
            <a:endParaRPr lang="en-US" sz="1100" dirty="0"/>
          </a:p>
        </p:txBody>
      </p:sp>
      <p:sp>
        <p:nvSpPr>
          <p:cNvPr id="24" name="s545"/>
          <p:cNvSpPr/>
          <p:nvPr/>
        </p:nvSpPr>
        <p:spPr>
          <a:xfrm>
            <a:off x="2743200" y="498348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546"/>
          <p:cNvSpPr txBox="1"/>
          <p:nvPr/>
        </p:nvSpPr>
        <p:spPr>
          <a:xfrm>
            <a:off x="2514600" y="5413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skid</a:t>
            </a:r>
            <a:endParaRPr lang="en-US" sz="1000" dirty="0"/>
          </a:p>
        </p:txBody>
      </p:sp>
      <p:sp>
        <p:nvSpPr>
          <p:cNvPr id="26" name="s547"/>
          <p:cNvSpPr/>
          <p:nvPr/>
        </p:nvSpPr>
        <p:spPr>
          <a:xfrm>
            <a:off x="1371600" y="4572000"/>
            <a:ext cx="0" cy="612648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s548"/>
          <p:cNvSpPr/>
          <p:nvPr/>
        </p:nvSpPr>
        <p:spPr>
          <a:xfrm>
            <a:off x="1371600" y="5184648"/>
            <a:ext cx="1371600" cy="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549"/>
          <p:cNvSpPr/>
          <p:nvPr/>
        </p:nvSpPr>
        <p:spPr>
          <a:xfrm>
            <a:off x="3154680" y="5184648"/>
            <a:ext cx="1371600" cy="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550"/>
          <p:cNvSpPr/>
          <p:nvPr/>
        </p:nvSpPr>
        <p:spPr>
          <a:xfrm flipV="1">
            <a:off x="4526280" y="4114800"/>
            <a:ext cx="0" cy="1069848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0" name="s551"/>
          <p:cNvSpPr/>
          <p:nvPr/>
        </p:nvSpPr>
        <p:spPr>
          <a:xfrm flipV="1">
            <a:off x="4846320" y="2011680"/>
            <a:ext cx="0" cy="18288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552"/>
          <p:cNvSpPr/>
          <p:nvPr/>
        </p:nvSpPr>
        <p:spPr>
          <a:xfrm flipH="1">
            <a:off x="1371600" y="2011680"/>
            <a:ext cx="3474720" cy="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s553"/>
          <p:cNvSpPr/>
          <p:nvPr/>
        </p:nvSpPr>
        <p:spPr>
          <a:xfrm>
            <a:off x="1371600" y="2011680"/>
            <a:ext cx="0" cy="128016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3" name="s554"/>
          <p:cNvSpPr/>
          <p:nvPr/>
        </p:nvSpPr>
        <p:spPr>
          <a:xfrm>
            <a:off x="8412480" y="1417320"/>
            <a:ext cx="3200400" cy="2514600"/>
          </a:xfrm>
          <a:prstGeom prst="roundRect">
            <a:avLst>
              <a:gd name="adj" fmla="val 4364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t555"/>
          <p:cNvSpPr txBox="1"/>
          <p:nvPr/>
        </p:nvSpPr>
        <p:spPr>
          <a:xfrm>
            <a:off x="8595360" y="1527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RETURN-LINE MONITORING</a:t>
            </a:r>
            <a:endParaRPr lang="en-US" sz="1200" dirty="0"/>
          </a:p>
        </p:txBody>
      </p:sp>
      <p:sp>
        <p:nvSpPr>
          <p:cNvPr id="35" name="t556"/>
          <p:cNvSpPr txBox="1"/>
          <p:nvPr/>
        </p:nvSpPr>
        <p:spPr>
          <a:xfrm>
            <a:off x="8595360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36" name="t557"/>
          <p:cNvSpPr txBox="1"/>
          <p:nvPr/>
        </p:nvSpPr>
        <p:spPr>
          <a:xfrm>
            <a:off x="97840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97" name="dec97"/>
          <p:cNvSpPr txBox="1"/>
          <p:nvPr/>
        </p:nvSpPr>
        <p:spPr>
          <a:xfrm>
            <a:off x="97840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Decreasing ↓</a:t>
            </a:r>
            <a:endParaRPr lang="en-US" sz="1300" dirty="0"/>
          </a:p>
        </p:txBody>
      </p:sp>
      <p:sp>
        <p:nvSpPr>
          <p:cNvPr id="37" name="t558"/>
          <p:cNvSpPr txBox="1"/>
          <p:nvPr/>
        </p:nvSpPr>
        <p:spPr>
          <a:xfrm>
            <a:off x="97840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✓</a:t>
            </a:r>
            <a:endParaRPr lang="en-US" sz="1300" dirty="0"/>
          </a:p>
        </p:txBody>
      </p:sp>
      <p:sp>
        <p:nvSpPr>
          <p:cNvPr id="38" name="t559"/>
          <p:cNvSpPr txBox="1"/>
          <p:nvPr/>
        </p:nvSpPr>
        <p:spPr>
          <a:xfrm>
            <a:off x="85953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400" dirty="0"/>
          </a:p>
        </p:txBody>
      </p:sp>
      <p:sp>
        <p:nvSpPr>
          <p:cNvPr id="39" name="t560"/>
          <p:cNvSpPr txBox="1"/>
          <p:nvPr/>
        </p:nvSpPr>
        <p:spPr>
          <a:xfrm>
            <a:off x="97840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Off-spec</a:t>
            </a:r>
            <a:endParaRPr lang="en-US" sz="1300" dirty="0"/>
          </a:p>
        </p:txBody>
      </p:sp>
      <p:sp>
        <p:nvSpPr>
          <p:cNvPr id="40" name="t561"/>
          <p:cNvSpPr txBox="1"/>
          <p:nvPr/>
        </p:nvSpPr>
        <p:spPr>
          <a:xfrm>
            <a:off x="97840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✓</a:t>
            </a:r>
            <a:endParaRPr lang="en-US" sz="1300" dirty="0"/>
          </a:p>
        </p:txBody>
      </p:sp>
      <p:sp>
        <p:nvSpPr>
          <p:cNvPr id="41" name="t562"/>
          <p:cNvSpPr txBox="1"/>
          <p:nvPr/>
        </p:nvSpPr>
        <p:spPr>
          <a:xfrm>
            <a:off x="8595360" y="2834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(Fe)</a:t>
            </a:r>
            <a:endParaRPr lang="en-US" sz="1400" dirty="0"/>
          </a:p>
        </p:txBody>
      </p:sp>
      <p:sp>
        <p:nvSpPr>
          <p:cNvPr id="42" name="t563"/>
          <p:cNvSpPr txBox="1"/>
          <p:nvPr/>
        </p:nvSpPr>
        <p:spPr>
          <a:xfrm>
            <a:off x="978408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1300" dirty="0"/>
          </a:p>
        </p:txBody>
      </p:sp>
      <p:sp>
        <p:nvSpPr>
          <p:cNvPr id="43" name="t564"/>
          <p:cNvSpPr txBox="1"/>
          <p:nvPr/>
        </p:nvSpPr>
        <p:spPr>
          <a:xfrm>
            <a:off x="978408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✓</a:t>
            </a:r>
            <a:endParaRPr lang="en-US" sz="1300" dirty="0"/>
          </a:p>
        </p:txBody>
      </p:sp>
      <p:sp>
        <p:nvSpPr>
          <p:cNvPr id="44" name="t565"/>
          <p:cNvSpPr txBox="1"/>
          <p:nvPr/>
        </p:nvSpPr>
        <p:spPr>
          <a:xfrm>
            <a:off x="859536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</a:t>
            </a:r>
            <a:endParaRPr lang="en-US" sz="1400" dirty="0"/>
          </a:p>
        </p:txBody>
      </p:sp>
      <p:sp>
        <p:nvSpPr>
          <p:cNvPr id="45" name="t566"/>
          <p:cNvSpPr txBox="1"/>
          <p:nvPr/>
        </p:nvSpPr>
        <p:spPr>
          <a:xfrm>
            <a:off x="97840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limit</a:t>
            </a:r>
            <a:endParaRPr lang="en-US" sz="1300" dirty="0"/>
          </a:p>
        </p:txBody>
      </p:sp>
      <p:sp>
        <p:nvSpPr>
          <p:cNvPr id="98" name="dec98"/>
          <p:cNvSpPr txBox="1"/>
          <p:nvPr/>
        </p:nvSpPr>
        <p:spPr>
          <a:xfrm>
            <a:off x="97840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Decreasing ↓</a:t>
            </a:r>
            <a:endParaRPr lang="en-US" sz="1300" dirty="0"/>
          </a:p>
        </p:txBody>
      </p:sp>
      <p:sp>
        <p:nvSpPr>
          <p:cNvPr id="46" name="t567"/>
          <p:cNvSpPr txBox="1"/>
          <p:nvPr/>
        </p:nvSpPr>
        <p:spPr>
          <a:xfrm>
            <a:off x="9784080" y="3291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✓</a:t>
            </a:r>
            <a:endParaRPr lang="en-US" sz="1300" dirty="0"/>
          </a:p>
        </p:txBody>
      </p:sp>
      <p:sp>
        <p:nvSpPr>
          <p:cNvPr id="47" name="s568"/>
          <p:cNvSpPr/>
          <p:nvPr/>
        </p:nvSpPr>
        <p:spPr>
          <a:xfrm>
            <a:off x="7680960" y="4114800"/>
            <a:ext cx="0" cy="22860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s569"/>
          <p:cNvSpPr/>
          <p:nvPr/>
        </p:nvSpPr>
        <p:spPr>
          <a:xfrm>
            <a:off x="7680960" y="4343400"/>
            <a:ext cx="23317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49" name="s570"/>
          <p:cNvSpPr/>
          <p:nvPr/>
        </p:nvSpPr>
        <p:spPr>
          <a:xfrm>
            <a:off x="10012680" y="3931920"/>
            <a:ext cx="1371600" cy="105156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0" name="s571"/>
          <p:cNvSpPr/>
          <p:nvPr/>
        </p:nvSpPr>
        <p:spPr>
          <a:xfrm>
            <a:off x="10058400" y="4663440"/>
            <a:ext cx="1280160" cy="274320"/>
          </a:xfrm>
          <a:prstGeom prst="rect">
            <a:avLst/>
          </a:prstGeom>
          <a:solidFill>
            <a:srgbClr val="B8A68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s572"/>
          <p:cNvSpPr/>
          <p:nvPr/>
        </p:nvSpPr>
        <p:spPr>
          <a:xfrm>
            <a:off x="10058400" y="4297680"/>
            <a:ext cx="1280160" cy="365760"/>
          </a:xfrm>
          <a:prstGeom prst="rect">
            <a:avLst/>
          </a:prstGeom>
          <a:solidFill>
            <a:srgbClr val="B8A68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2" name="t573"/>
          <p:cNvSpPr txBox="1"/>
          <p:nvPr/>
        </p:nvSpPr>
        <p:spPr>
          <a:xfrm>
            <a:off x="9646920" y="5010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53" name="s574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4" name="t57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Temperature-limited vessels (lined, coated, low design temperature) cannot be steamed.</a:t>
            </a:r>
            <a:endParaRPr lang="en-US" sz="1400" dirty="0"/>
          </a:p>
        </p:txBody>
      </p:sp>
      <p:sp>
        <p:nvSpPr>
          <p:cNvPr id="55" name="t57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A temporary circulation skid is set up: mixing tank and pump, hosed to the equipment.</a:t>
            </a:r>
            <a:endParaRPr lang="en-US" sz="1400" dirty="0"/>
          </a:p>
        </p:txBody>
      </p:sp>
      <p:sp>
        <p:nvSpPr>
          <p:cNvPr id="56" name="t577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Decon solution is circulated continuously through the equipment and back to the mixing tank.</a:t>
            </a:r>
            <a:endParaRPr lang="en-US" sz="1400" dirty="0"/>
          </a:p>
        </p:txBody>
      </p:sp>
      <p:sp>
        <p:nvSpPr>
          <p:cNvPr id="57" name="t578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H₂S is converted into stable compounds and FeS is oxidised; LEL / benzene vapours are vented to the flare.</a:t>
            </a:r>
            <a:endParaRPr lang="en-US" sz="1400" dirty="0"/>
          </a:p>
        </p:txBody>
      </p:sp>
      <p:sp>
        <p:nvSpPr>
          <p:cNvPr id="58" name="t579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The return line is monitored until H₂S is low, pH is neutral and the iron level is stable.</a:t>
            </a:r>
            <a:endParaRPr lang="en-US" sz="1400" dirty="0"/>
          </a:p>
        </p:txBody>
      </p:sp>
      <p:sp>
        <p:nvSpPr>
          <p:cNvPr id="59" name="t580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The solution is drained to the effluent tank and a neutralising rinse follows.</a:t>
            </a:r>
            <a:endParaRPr lang="en-US" sz="1400" dirty="0"/>
          </a:p>
        </p:txBody>
      </p:sp>
      <p:sp>
        <p:nvSpPr>
          <p:cNvPr id="60" name="t581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Gas tests confirm the entry criteria – safe entry.</a:t>
            </a:r>
            <a:endParaRPr lang="en-US" sz="1400" dirty="0"/>
          </a:p>
        </p:txBody>
      </p:sp>
      <p:sp>
        <p:nvSpPr>
          <p:cNvPr id="61" name="tag582"/>
          <p:cNvSpPr/>
          <p:nvPr/>
        </p:nvSpPr>
        <p:spPr>
          <a:xfrm>
            <a:off x="5120640" y="26060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62" name="tag583"/>
          <p:cNvSpPr/>
          <p:nvPr/>
        </p:nvSpPr>
        <p:spPr>
          <a:xfrm>
            <a:off x="6309360" y="26060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63" name="s584"/>
          <p:cNvSpPr/>
          <p:nvPr/>
        </p:nvSpPr>
        <p:spPr>
          <a:xfrm>
            <a:off x="5605272" y="3456432"/>
            <a:ext cx="1042416" cy="457200"/>
          </a:xfrm>
          <a:prstGeom prst="roundRect">
            <a:avLst>
              <a:gd name="adj" fmla="val 50000"/>
            </a:avLst>
          </a:prstGeom>
          <a:solidFill>
            <a:srgbClr val="FF8C1A">
              <a:alpha val="45000"/>
            </a:srgbClr>
          </a:solidFill>
          <a:ln w="25400">
            <a:solidFill>
              <a:srgbClr val="FF8C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4" name="tag585"/>
          <p:cNvSpPr/>
          <p:nvPr/>
        </p:nvSpPr>
        <p:spPr>
          <a:xfrm>
            <a:off x="5669280" y="35204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65" name="tag586"/>
          <p:cNvSpPr/>
          <p:nvPr/>
        </p:nvSpPr>
        <p:spPr>
          <a:xfrm>
            <a:off x="5029200" y="26060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salt</a:t>
            </a:r>
            <a:endParaRPr lang="en-US" sz="1200" dirty="0"/>
          </a:p>
        </p:txBody>
      </p:sp>
      <p:sp>
        <p:nvSpPr>
          <p:cNvPr id="66" name="tag587"/>
          <p:cNvSpPr/>
          <p:nvPr/>
        </p:nvSpPr>
        <p:spPr>
          <a:xfrm>
            <a:off x="5577840" y="35204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oxide</a:t>
            </a:r>
            <a:endParaRPr lang="en-US" sz="1200" dirty="0"/>
          </a:p>
        </p:txBody>
      </p:sp>
      <p:sp>
        <p:nvSpPr>
          <p:cNvPr id="67" name="s588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8" name="s589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9" name="s590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0" name="s591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1" name="s592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s593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3" name="s594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4" name="s595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5" name="s596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6" name="s597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7" name="s598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8" name="s599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9" name="s600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0" name="s601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1" name="s602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2" name="s603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3" name="s604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4" name="s605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5" name="s606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s607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s608"/>
          <p:cNvSpPr/>
          <p:nvPr/>
        </p:nvSpPr>
        <p:spPr>
          <a:xfrm>
            <a:off x="1280160" y="4480560"/>
            <a:ext cx="182880" cy="182880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s609"/>
          <p:cNvSpPr/>
          <p:nvPr/>
        </p:nvSpPr>
        <p:spPr>
          <a:xfrm>
            <a:off x="7589520" y="3931920"/>
            <a:ext cx="182880" cy="182880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s610"/>
          <p:cNvSpPr/>
          <p:nvPr/>
        </p:nvSpPr>
        <p:spPr>
          <a:xfrm>
            <a:off x="7589520" y="3931920"/>
            <a:ext cx="182880" cy="182880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s611"/>
          <p:cNvSpPr/>
          <p:nvPr/>
        </p:nvSpPr>
        <p:spPr>
          <a:xfrm>
            <a:off x="7589520" y="3931920"/>
            <a:ext cx="182880" cy="182880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s612"/>
          <p:cNvSpPr/>
          <p:nvPr/>
        </p:nvSpPr>
        <p:spPr>
          <a:xfrm>
            <a:off x="7589520" y="3931920"/>
            <a:ext cx="182880" cy="182880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s613"/>
          <p:cNvSpPr/>
          <p:nvPr/>
        </p:nvSpPr>
        <p:spPr>
          <a:xfrm>
            <a:off x="7589520" y="3931920"/>
            <a:ext cx="182880" cy="182880"/>
          </a:xfrm>
          <a:prstGeom prst="ellipse">
            <a:avLst/>
          </a:prstGeom>
          <a:solidFill>
            <a:srgbClr val="8E9AA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s614"/>
          <p:cNvSpPr/>
          <p:nvPr/>
        </p:nvSpPr>
        <p:spPr>
          <a:xfrm>
            <a:off x="4513478" y="2468880"/>
            <a:ext cx="3226003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4" name="s615"/>
          <p:cNvSpPr/>
          <p:nvPr/>
        </p:nvSpPr>
        <p:spPr>
          <a:xfrm>
            <a:off x="4572000" y="516636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5" name="t616"/>
          <p:cNvSpPr txBox="1"/>
          <p:nvPr/>
        </p:nvSpPr>
        <p:spPr>
          <a:xfrm>
            <a:off x="4572000" y="51663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500" dirty="0"/>
          </a:p>
        </p:txBody>
      </p:sp>
      <p:sp>
        <p:nvSpPr>
          <p:cNvPr id="9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300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2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4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9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2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mph" presetSubtype="0" repeatCount="3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78" dur="3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" presetClass="emph" presetSubtype="0" repeatCount="3000" fill="hold" grpId="2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85" dur="350" autoRev="1" fill="hold"/>
                                        <p:tgtEl>
                                          <p:spTgt spid="9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92" dur="42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0" presetClass="path" presetSubtype="0" fill="hold" grpId="3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98" dur="4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04" dur="42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3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10" dur="4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55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16" dur="4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1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grpId="3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22" dur="42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64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28" dur="42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31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3" nodeType="withEffect">
                                  <p:stCondLst>
                                    <p:cond delay="315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34" dur="42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1" nodeType="withEffect">
                                  <p:stCondLst>
                                    <p:cond delay="73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0" presetClass="path" presetSubtype="0" fill="hold" grpId="3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40" dur="42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78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53" dur="42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59" dur="42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0" presetID="1" presetClass="exit" presetSubtype="0" fill="hold" grpId="1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0" presetClass="path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65" dur="42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1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71" dur="42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0" presetClass="pat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77" dur="42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0" presetClass="path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183" dur="42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1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7" dur="30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450 -0.0867 L 0.0450 -0.1800 E" pathEditMode="relative" ptsTypes="AAA">
                                      <p:cBhvr>
                                        <p:cTn id="204" dur="1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221" dur="4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227" dur="42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1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0" presetClass="path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233" dur="42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1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239" dur="42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grpId="1" nodeType="with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0" presetClass="pat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245" dur="42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6" presetID="1" presetClass="exit" presetSubtype="0" fill="hold" grpId="1" nodeType="withEffect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0" presetClass="path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0.0000 0.0893 L 0.2588 0.0893 L 0.2588 -0.0933 L 0.2850 -0.2000 L 0.2850 -0.3733 L 0.0000 -0.3733 L 0.0000 -0.1867 E" pathEditMode="relative" ptsTypes="AAAAAAAA">
                                      <p:cBhvr>
                                        <p:cTn id="251" dur="42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2" presetID="1" presetClass="exit" presetSubtype="0" fill="hold" grpId="1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53" presetClass="entr" presetSubtype="16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0000 0.0633 E" pathEditMode="relative" ptsTypes="AA">
                                      <p:cBhvr>
                                        <p:cTn id="279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0" presetClass="path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0.0633 E" pathEditMode="relative" ptsTypes="AA">
                                      <p:cBhvr>
                                        <p:cTn id="284" dur="1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0.0633 E" pathEditMode="relative" ptsTypes="AA">
                                      <p:cBhvr>
                                        <p:cTn id="289" dur="1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0" presetClass="path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0.0467 L 0.2100 0.0467 E" pathEditMode="relative" ptsTypes="AAA">
                                      <p:cBhvr>
                                        <p:cTn id="309" dur="12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0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0" presetClass="path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0.0467 L 0.2100 0.0467 E" pathEditMode="relative" ptsTypes="AAA">
                                      <p:cBhvr>
                                        <p:cTn id="315" dur="12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6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0000 0.0467 L 0.2100 0.0467 E" pathEditMode="relative" ptsTypes="AAA">
                                      <p:cBhvr>
                                        <p:cTn id="321" dur="12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2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 0.0467 L 0.2100 0.0467 E" pathEditMode="relative" ptsTypes="AAA">
                                      <p:cBhvr>
                                        <p:cTn id="327" dur="12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8" presetID="1" presetClass="exit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0" presetClass="pat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00 0.0467 L 0.2100 0.0467 E" pathEditMode="relative" ptsTypes="AAA">
                                      <p:cBhvr>
                                        <p:cTn id="333" dur="12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4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2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8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22" presetClass="entr" presetSubtype="4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1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3" dur="1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1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3100"/>
                            </p:stCondLst>
                            <p:childTnLst>
                              <p:par>
                                <p:cTn id="3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1933 E" pathEditMode="relative" ptsTypes="AA">
                                      <p:cBhvr>
                                        <p:cTn id="349" dur="11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4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800"/>
                            </p:stCondLst>
                            <p:childTnLst>
                              <p:par>
                                <p:cTn id="3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1300"/>
                            </p:stCondLst>
                            <p:childTnLst>
                              <p:par>
                                <p:cTn id="379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0" dur="40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81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2" dur="40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 animBg="1"/>
      <p:bldP spid="13" grpId="1" animBg="1"/>
      <p:bldP spid="14" grpId="1" animBg="1"/>
      <p:bldP spid="15" grpId="1" animBg="1"/>
      <p:bldP spid="15" grpId="3" animBg="1"/>
      <p:bldP spid="16" grpId="1" animBg="1"/>
      <p:bldP spid="16" grpId="3" animBg="1"/>
      <p:bldP spid="17" grpId="1" animBg="1"/>
      <p:bldP spid="17" grpId="3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6" grpId="1" animBg="1"/>
      <p:bldP spid="37" grpId="0" animBg="1"/>
      <p:bldP spid="39" grpId="1" animBg="1"/>
      <p:bldP spid="40" grpId="0" animBg="1"/>
      <p:bldP spid="42" grpId="1" animBg="1"/>
      <p:bldP spid="43" grpId="0" animBg="1"/>
      <p:bldP spid="45" grpId="1" animBg="1"/>
      <p:bldP spid="46" grpId="0" animBg="1"/>
      <p:bldP spid="50" grpId="0" animBg="1"/>
      <p:bldP spid="51" grpId="0" animBg="1"/>
      <p:bldP spid="53" grpId="0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1" grpId="1" animBg="1"/>
      <p:bldP spid="61" grpId="2" animBg="1"/>
      <p:bldP spid="62" grpId="1" animBg="1"/>
      <p:bldP spid="62" grpId="3" animBg="1"/>
      <p:bldP spid="63" grpId="1" animBg="1"/>
      <p:bldP spid="63" grpId="2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7" grpId="3" animBg="1"/>
      <p:bldP spid="68" grpId="0" animBg="1"/>
      <p:bldP spid="68" grpId="1" animBg="1"/>
      <p:bldP spid="68" grpId="3" animBg="1"/>
      <p:bldP spid="69" grpId="0" animBg="1"/>
      <p:bldP spid="69" grpId="1" animBg="1"/>
      <p:bldP spid="69" grpId="3" animBg="1"/>
      <p:bldP spid="70" grpId="0" animBg="1"/>
      <p:bldP spid="70" grpId="1" animBg="1"/>
      <p:bldP spid="70" grpId="3" animBg="1"/>
      <p:bldP spid="71" grpId="0" animBg="1"/>
      <p:bldP spid="71" grpId="1" animBg="1"/>
      <p:bldP spid="71" grpId="3" animBg="1"/>
      <p:bldP spid="72" grpId="0" animBg="1"/>
      <p:bldP spid="72" grpId="1" animBg="1"/>
      <p:bldP spid="72" grpId="3" animBg="1"/>
      <p:bldP spid="73" grpId="0" animBg="1"/>
      <p:bldP spid="73" grpId="1" animBg="1"/>
      <p:bldP spid="73" grpId="3" animBg="1"/>
      <p:bldP spid="74" grpId="0" animBg="1"/>
      <p:bldP spid="74" grpId="1" animBg="1"/>
      <p:bldP spid="74" grpId="3" animBg="1"/>
      <p:bldP spid="75" grpId="0" animBg="1"/>
      <p:bldP spid="75" grpId="1" animBg="1"/>
      <p:bldP spid="75" grpId="3" animBg="1"/>
      <p:bldP spid="76" grpId="0" animBg="1"/>
      <p:bldP spid="76" grpId="1" animBg="1"/>
      <p:bldP spid="76" grpId="3" animBg="1"/>
      <p:bldP spid="77" grpId="0" animBg="1"/>
      <p:bldP spid="77" grpId="1" animBg="1"/>
      <p:bldP spid="77" grpId="3" animBg="1"/>
      <p:bldP spid="78" grpId="0" animBg="1"/>
      <p:bldP spid="78" grpId="1" animBg="1"/>
      <p:bldP spid="78" grpId="3" animBg="1"/>
      <p:bldP spid="79" grpId="0" animBg="1"/>
      <p:bldP spid="79" grpId="1" animBg="1"/>
      <p:bldP spid="79" grpId="3" animBg="1"/>
      <p:bldP spid="80" grpId="0" animBg="1"/>
      <p:bldP spid="80" grpId="1" animBg="1"/>
      <p:bldP spid="80" grpId="3" animBg="1"/>
      <p:bldP spid="81" grpId="0" animBg="1"/>
      <p:bldP spid="81" grpId="1" animBg="1"/>
      <p:bldP spid="81" grpId="3" animBg="1"/>
      <p:bldP spid="82" grpId="0" animBg="1"/>
      <p:bldP spid="82" grpId="1" animBg="1"/>
      <p:bldP spid="82" grpId="3" animBg="1"/>
      <p:bldP spid="83" grpId="0" animBg="1"/>
      <p:bldP spid="83" grpId="1" animBg="1"/>
      <p:bldP spid="83" grpId="3" animBg="1"/>
      <p:bldP spid="84" grpId="0" animBg="1"/>
      <p:bldP spid="84" grpId="1" animBg="1"/>
      <p:bldP spid="84" grpId="3" animBg="1"/>
      <p:bldP spid="85" grpId="0" animBg="1"/>
      <p:bldP spid="85" grpId="1" animBg="1"/>
      <p:bldP spid="85" grpId="3" animBg="1"/>
      <p:bldP spid="86" grpId="0" animBg="1"/>
      <p:bldP spid="86" grpId="1" animBg="1"/>
      <p:bldP spid="86" grpId="3" animBg="1"/>
      <p:bldP spid="87" grpId="0" animBg="1"/>
      <p:bldP spid="87" grpId="1" animBg="1"/>
      <p:bldP spid="87" grpId="3" animBg="1"/>
      <p:bldP spid="88" grpId="0" animBg="1"/>
      <p:bldP spid="88" grpId="1" animBg="1"/>
      <p:bldP spid="88" grpId="3" animBg="1"/>
      <p:bldP spid="89" grpId="0" animBg="1"/>
      <p:bldP spid="89" grpId="1" animBg="1"/>
      <p:bldP spid="89" grpId="3" animBg="1"/>
      <p:bldP spid="90" grpId="0" animBg="1"/>
      <p:bldP spid="90" grpId="1" animBg="1"/>
      <p:bldP spid="90" grpId="3" animBg="1"/>
      <p:bldP spid="91" grpId="0" animBg="1"/>
      <p:bldP spid="91" grpId="1" animBg="1"/>
      <p:bldP spid="91" grpId="3" animBg="1"/>
      <p:bldP spid="92" grpId="0" animBg="1"/>
      <p:bldP spid="92" grpId="1" animBg="1"/>
      <p:bldP spid="92" grpId="3" animBg="1"/>
      <p:bldP spid="93" grpId="0" animBg="1"/>
      <p:bldP spid="93" grpId="1" animBg="1"/>
      <p:bldP spid="93" grpId="3" animBg="1"/>
      <p:bldP spid="94" grpId="0" animBg="1"/>
      <p:bldP spid="94" grpId="2" animBg="1"/>
      <p:bldP spid="95" grpId="0" animBg="1"/>
      <p:bldP spid="95" grpId="2" animBg="1"/>
      <p:bldP spid="97" grpId="0" animBg="1"/>
      <p:bldP spid="97" grpId="1" animBg="1"/>
      <p:bldP spid="97" grpId="2" animBg="1"/>
      <p:bldP spid="98" grpId="0" animBg="1"/>
      <p:bldP spid="98" grpId="1" animBg="1"/>
      <p:bldP spid="98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Packing pre- &amp; post-treatment – packed columns</a:t>
            </a:r>
            <a:endParaRPr lang="en-US" sz="2800" dirty="0"/>
          </a:p>
        </p:txBody>
      </p:sp>
      <p:sp>
        <p:nvSpPr>
          <p:cNvPr id="3" name="ph0"/>
          <p:cNvSpPr/>
          <p:nvPr/>
        </p:nvSpPr>
        <p:spPr>
          <a:xfrm>
            <a:off x="548640" y="1417320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F3F7FA"/>
          </a:solidFill>
          <a:ln w="12700">
            <a:solidFill>
              <a:srgbClr val="E1E8E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PRE-TREATMENT</a:t>
            </a:r>
            <a:endParaRPr lang="en-US" sz="1200" dirty="0"/>
          </a:p>
        </p:txBody>
      </p:sp>
      <p:sp>
        <p:nvSpPr>
          <p:cNvPr id="4" name="tag617"/>
          <p:cNvSpPr/>
          <p:nvPr/>
        </p:nvSpPr>
        <p:spPr>
          <a:xfrm>
            <a:off x="548640" y="141732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PRE-TREATMENT</a:t>
            </a:r>
            <a:endParaRPr lang="en-US" sz="1200" dirty="0"/>
          </a:p>
        </p:txBody>
      </p:sp>
      <p:sp>
        <p:nvSpPr>
          <p:cNvPr id="5" name="ph1"/>
          <p:cNvSpPr/>
          <p:nvPr/>
        </p:nvSpPr>
        <p:spPr>
          <a:xfrm>
            <a:off x="548640" y="1856232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F3F7FA"/>
          </a:solidFill>
          <a:ln w="12700">
            <a:solidFill>
              <a:srgbClr val="E1E8E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VAPOUR-PHASE</a:t>
            </a:r>
            <a:endParaRPr lang="en-US" sz="1200" dirty="0"/>
          </a:p>
        </p:txBody>
      </p:sp>
      <p:sp>
        <p:nvSpPr>
          <p:cNvPr id="6" name="tag618"/>
          <p:cNvSpPr/>
          <p:nvPr/>
        </p:nvSpPr>
        <p:spPr>
          <a:xfrm>
            <a:off x="548640" y="1856232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VAPOUR-PHASE</a:t>
            </a:r>
            <a:endParaRPr lang="en-US" sz="1200" dirty="0"/>
          </a:p>
        </p:txBody>
      </p:sp>
      <p:sp>
        <p:nvSpPr>
          <p:cNvPr id="7" name="ph2"/>
          <p:cNvSpPr/>
          <p:nvPr/>
        </p:nvSpPr>
        <p:spPr>
          <a:xfrm>
            <a:off x="548640" y="2295144"/>
            <a:ext cx="3017520" cy="347472"/>
          </a:xfrm>
          <a:prstGeom prst="roundRect">
            <a:avLst>
              <a:gd name="adj" fmla="val 50000"/>
            </a:avLst>
          </a:prstGeom>
          <a:solidFill>
            <a:srgbClr val="F3F7FA"/>
          </a:solidFill>
          <a:ln w="12700">
            <a:solidFill>
              <a:srgbClr val="E1E8E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POST-TREATMENT</a:t>
            </a:r>
            <a:endParaRPr lang="en-US" sz="1200" dirty="0"/>
          </a:p>
        </p:txBody>
      </p:sp>
      <p:sp>
        <p:nvSpPr>
          <p:cNvPr id="8" name="tag619"/>
          <p:cNvSpPr/>
          <p:nvPr/>
        </p:nvSpPr>
        <p:spPr>
          <a:xfrm>
            <a:off x="548640" y="2295144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POST-TREATMENT</a:t>
            </a:r>
            <a:endParaRPr lang="en-US" sz="1200" dirty="0"/>
          </a:p>
        </p:txBody>
      </p:sp>
      <p:sp>
        <p:nvSpPr>
          <p:cNvPr id="9" name="s620"/>
          <p:cNvSpPr/>
          <p:nvPr/>
        </p:nvSpPr>
        <p:spPr>
          <a:xfrm>
            <a:off x="4937760" y="1691640"/>
            <a:ext cx="1280160" cy="361188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621"/>
          <p:cNvSpPr/>
          <p:nvPr/>
        </p:nvSpPr>
        <p:spPr>
          <a:xfrm>
            <a:off x="5029200" y="2103120"/>
            <a:ext cx="1097280" cy="685800"/>
          </a:xfrm>
          <a:prstGeom prst="rect">
            <a:avLst/>
          </a:prstGeom>
          <a:solidFill>
            <a:srgbClr val="C9B9A3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622"/>
          <p:cNvSpPr/>
          <p:nvPr/>
        </p:nvSpPr>
        <p:spPr>
          <a:xfrm>
            <a:off x="5029200" y="210312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s623"/>
          <p:cNvSpPr/>
          <p:nvPr/>
        </p:nvSpPr>
        <p:spPr>
          <a:xfrm>
            <a:off x="5248656" y="210312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s624"/>
          <p:cNvSpPr/>
          <p:nvPr/>
        </p:nvSpPr>
        <p:spPr>
          <a:xfrm>
            <a:off x="5468112" y="210312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625"/>
          <p:cNvSpPr/>
          <p:nvPr/>
        </p:nvSpPr>
        <p:spPr>
          <a:xfrm>
            <a:off x="5687568" y="210312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626"/>
          <p:cNvSpPr/>
          <p:nvPr/>
        </p:nvSpPr>
        <p:spPr>
          <a:xfrm>
            <a:off x="5907024" y="210312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627"/>
          <p:cNvSpPr/>
          <p:nvPr/>
        </p:nvSpPr>
        <p:spPr>
          <a:xfrm>
            <a:off x="5029200" y="2103120"/>
            <a:ext cx="1097280" cy="685800"/>
          </a:xfrm>
          <a:prstGeom prst="rect">
            <a:avLst/>
          </a:prstGeom>
          <a:solidFill>
            <a:srgbClr val="7A5C3E">
              <a:alpha val="85000"/>
            </a:srgbClr>
          </a:solidFill>
          <a:ln w="12700">
            <a:solidFill>
              <a:srgbClr val="5C46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628"/>
          <p:cNvSpPr/>
          <p:nvPr/>
        </p:nvSpPr>
        <p:spPr>
          <a:xfrm>
            <a:off x="4974336" y="2066544"/>
            <a:ext cx="1207008" cy="758952"/>
          </a:xfrm>
          <a:prstGeom prst="rect">
            <a:avLst/>
          </a:prstGeom>
          <a:solidFill>
            <a:srgbClr val="3AB54A">
              <a:alpha val="30000"/>
            </a:srgbClr>
          </a:solidFill>
          <a:ln w="3175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629"/>
          <p:cNvSpPr/>
          <p:nvPr/>
        </p:nvSpPr>
        <p:spPr>
          <a:xfrm>
            <a:off x="4956048" y="2057400"/>
            <a:ext cx="1243584" cy="777240"/>
          </a:xfrm>
          <a:prstGeom prst="rect">
            <a:avLst/>
          </a:prstGeom>
          <a:solidFill>
            <a:srgbClr val="FF8C1A">
              <a:alpha val="55000"/>
            </a:srgbClr>
          </a:solidFill>
          <a:ln w="25400">
            <a:solidFill>
              <a:srgbClr val="FF8C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630"/>
          <p:cNvSpPr/>
          <p:nvPr/>
        </p:nvSpPr>
        <p:spPr>
          <a:xfrm>
            <a:off x="5029200" y="3063240"/>
            <a:ext cx="1097280" cy="685800"/>
          </a:xfrm>
          <a:prstGeom prst="rect">
            <a:avLst/>
          </a:prstGeom>
          <a:solidFill>
            <a:srgbClr val="C9B9A3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631"/>
          <p:cNvSpPr/>
          <p:nvPr/>
        </p:nvSpPr>
        <p:spPr>
          <a:xfrm>
            <a:off x="5029200" y="306324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632"/>
          <p:cNvSpPr/>
          <p:nvPr/>
        </p:nvSpPr>
        <p:spPr>
          <a:xfrm>
            <a:off x="5248656" y="306324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633"/>
          <p:cNvSpPr/>
          <p:nvPr/>
        </p:nvSpPr>
        <p:spPr>
          <a:xfrm>
            <a:off x="5468112" y="306324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634"/>
          <p:cNvSpPr/>
          <p:nvPr/>
        </p:nvSpPr>
        <p:spPr>
          <a:xfrm>
            <a:off x="5687568" y="306324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635"/>
          <p:cNvSpPr/>
          <p:nvPr/>
        </p:nvSpPr>
        <p:spPr>
          <a:xfrm>
            <a:off x="5907024" y="306324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s636"/>
          <p:cNvSpPr/>
          <p:nvPr/>
        </p:nvSpPr>
        <p:spPr>
          <a:xfrm>
            <a:off x="5029200" y="3063240"/>
            <a:ext cx="1097280" cy="685800"/>
          </a:xfrm>
          <a:prstGeom prst="rect">
            <a:avLst/>
          </a:prstGeom>
          <a:solidFill>
            <a:srgbClr val="7A5C3E">
              <a:alpha val="85000"/>
            </a:srgbClr>
          </a:solidFill>
          <a:ln w="12700">
            <a:solidFill>
              <a:srgbClr val="5C46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s637"/>
          <p:cNvSpPr/>
          <p:nvPr/>
        </p:nvSpPr>
        <p:spPr>
          <a:xfrm>
            <a:off x="4974336" y="3026664"/>
            <a:ext cx="1207008" cy="758952"/>
          </a:xfrm>
          <a:prstGeom prst="rect">
            <a:avLst/>
          </a:prstGeom>
          <a:solidFill>
            <a:srgbClr val="3AB54A">
              <a:alpha val="30000"/>
            </a:srgbClr>
          </a:solidFill>
          <a:ln w="3175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s638"/>
          <p:cNvSpPr/>
          <p:nvPr/>
        </p:nvSpPr>
        <p:spPr>
          <a:xfrm>
            <a:off x="4956048" y="3017520"/>
            <a:ext cx="1243584" cy="777240"/>
          </a:xfrm>
          <a:prstGeom prst="rect">
            <a:avLst/>
          </a:prstGeom>
          <a:solidFill>
            <a:srgbClr val="FF8C1A">
              <a:alpha val="55000"/>
            </a:srgbClr>
          </a:solidFill>
          <a:ln w="25400">
            <a:solidFill>
              <a:srgbClr val="FF8C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s639"/>
          <p:cNvSpPr/>
          <p:nvPr/>
        </p:nvSpPr>
        <p:spPr>
          <a:xfrm>
            <a:off x="5029200" y="4023360"/>
            <a:ext cx="1097280" cy="685800"/>
          </a:xfrm>
          <a:prstGeom prst="rect">
            <a:avLst/>
          </a:prstGeom>
          <a:solidFill>
            <a:srgbClr val="C9B9A3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640"/>
          <p:cNvSpPr/>
          <p:nvPr/>
        </p:nvSpPr>
        <p:spPr>
          <a:xfrm>
            <a:off x="5029200" y="402336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s641"/>
          <p:cNvSpPr/>
          <p:nvPr/>
        </p:nvSpPr>
        <p:spPr>
          <a:xfrm>
            <a:off x="5248656" y="402336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642"/>
          <p:cNvSpPr/>
          <p:nvPr/>
        </p:nvSpPr>
        <p:spPr>
          <a:xfrm>
            <a:off x="5468112" y="402336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s643"/>
          <p:cNvSpPr/>
          <p:nvPr/>
        </p:nvSpPr>
        <p:spPr>
          <a:xfrm>
            <a:off x="5687568" y="402336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s644"/>
          <p:cNvSpPr/>
          <p:nvPr/>
        </p:nvSpPr>
        <p:spPr>
          <a:xfrm>
            <a:off x="5907024" y="4023360"/>
            <a:ext cx="219456" cy="685800"/>
          </a:xfrm>
          <a:prstGeom prst="line">
            <a:avLst/>
          </a:prstGeom>
          <a:noFill/>
          <a:ln w="9525">
            <a:solidFill>
              <a:srgbClr val="9C8A7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4" name="s645"/>
          <p:cNvSpPr/>
          <p:nvPr/>
        </p:nvSpPr>
        <p:spPr>
          <a:xfrm>
            <a:off x="5029200" y="4023360"/>
            <a:ext cx="1097280" cy="685800"/>
          </a:xfrm>
          <a:prstGeom prst="rect">
            <a:avLst/>
          </a:prstGeom>
          <a:solidFill>
            <a:srgbClr val="7A5C3E">
              <a:alpha val="85000"/>
            </a:srgbClr>
          </a:solidFill>
          <a:ln w="12700">
            <a:solidFill>
              <a:srgbClr val="5C463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s646"/>
          <p:cNvSpPr/>
          <p:nvPr/>
        </p:nvSpPr>
        <p:spPr>
          <a:xfrm>
            <a:off x="4974336" y="3986784"/>
            <a:ext cx="1207008" cy="758952"/>
          </a:xfrm>
          <a:prstGeom prst="rect">
            <a:avLst/>
          </a:prstGeom>
          <a:solidFill>
            <a:srgbClr val="3AB54A">
              <a:alpha val="30000"/>
            </a:srgbClr>
          </a:solidFill>
          <a:ln w="3175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6" name="s647"/>
          <p:cNvSpPr/>
          <p:nvPr/>
        </p:nvSpPr>
        <p:spPr>
          <a:xfrm>
            <a:off x="4956048" y="3977640"/>
            <a:ext cx="1243584" cy="777240"/>
          </a:xfrm>
          <a:prstGeom prst="rect">
            <a:avLst/>
          </a:prstGeom>
          <a:solidFill>
            <a:srgbClr val="FF8C1A">
              <a:alpha val="55000"/>
            </a:srgbClr>
          </a:solidFill>
          <a:ln w="25400">
            <a:solidFill>
              <a:srgbClr val="FF8C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t648"/>
          <p:cNvSpPr txBox="1"/>
          <p:nvPr/>
        </p:nvSpPr>
        <p:spPr>
          <a:xfrm>
            <a:off x="4663440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column</a:t>
            </a:r>
            <a:endParaRPr lang="en-US" sz="1100" dirty="0"/>
          </a:p>
        </p:txBody>
      </p:sp>
      <p:sp>
        <p:nvSpPr>
          <p:cNvPr id="38" name="s649"/>
          <p:cNvSpPr/>
          <p:nvPr/>
        </p:nvSpPr>
        <p:spPr>
          <a:xfrm>
            <a:off x="3931920" y="1417320"/>
            <a:ext cx="1645920" cy="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s650"/>
          <p:cNvSpPr/>
          <p:nvPr/>
        </p:nvSpPr>
        <p:spPr>
          <a:xfrm>
            <a:off x="5577840" y="1417320"/>
            <a:ext cx="0" cy="274320"/>
          </a:xfrm>
          <a:prstGeom prst="line">
            <a:avLst/>
          </a:prstGeom>
          <a:noFill/>
          <a:ln w="50800">
            <a:solidFill>
              <a:srgbClr val="3AB54A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40" name="t651"/>
          <p:cNvSpPr txBox="1"/>
          <p:nvPr/>
        </p:nvSpPr>
        <p:spPr>
          <a:xfrm>
            <a:off x="3657600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PRE-TREAT CHEMISTRY</a:t>
            </a:r>
            <a:endParaRPr lang="en-US" sz="1200" dirty="0"/>
          </a:p>
        </p:txBody>
      </p:sp>
      <p:sp>
        <p:nvSpPr>
          <p:cNvPr id="41" name="t652"/>
          <p:cNvSpPr txBox="1"/>
          <p:nvPr/>
        </p:nvSpPr>
        <p:spPr>
          <a:xfrm>
            <a:off x="3657600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OXIDISER SOLUTION</a:t>
            </a:r>
            <a:endParaRPr lang="en-US" sz="1200" dirty="0"/>
          </a:p>
        </p:txBody>
      </p:sp>
      <p:sp>
        <p:nvSpPr>
          <p:cNvPr id="42" name="s653"/>
          <p:cNvSpPr/>
          <p:nvPr/>
        </p:nvSpPr>
        <p:spPr>
          <a:xfrm>
            <a:off x="3840480" y="4846320"/>
            <a:ext cx="109728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43" name="t654"/>
          <p:cNvSpPr txBox="1"/>
          <p:nvPr/>
        </p:nvSpPr>
        <p:spPr>
          <a:xfrm>
            <a:off x="3840480" y="4553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00" dirty="0"/>
          </a:p>
        </p:txBody>
      </p:sp>
      <p:sp>
        <p:nvSpPr>
          <p:cNvPr id="44" name="s655"/>
          <p:cNvSpPr/>
          <p:nvPr/>
        </p:nvSpPr>
        <p:spPr>
          <a:xfrm flipV="1">
            <a:off x="5897880" y="1463040"/>
            <a:ext cx="0" cy="27432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s656"/>
          <p:cNvSpPr/>
          <p:nvPr/>
        </p:nvSpPr>
        <p:spPr>
          <a:xfrm>
            <a:off x="5897880" y="1463040"/>
            <a:ext cx="6858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6" name="s657"/>
          <p:cNvSpPr/>
          <p:nvPr/>
        </p:nvSpPr>
        <p:spPr>
          <a:xfrm>
            <a:off x="8595360" y="1463040"/>
            <a:ext cx="0" cy="64008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s658"/>
          <p:cNvSpPr/>
          <p:nvPr/>
        </p:nvSpPr>
        <p:spPr>
          <a:xfrm>
            <a:off x="8595360" y="2103120"/>
            <a:ext cx="18288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48" name="s659"/>
          <p:cNvSpPr/>
          <p:nvPr/>
        </p:nvSpPr>
        <p:spPr>
          <a:xfrm>
            <a:off x="8778240" y="1737360"/>
            <a:ext cx="182880" cy="1188720"/>
          </a:xfrm>
          <a:prstGeom prst="rect">
            <a:avLst/>
          </a:prstGeom>
          <a:solidFill>
            <a:srgbClr val="B4C2D3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s660"/>
          <p:cNvSpPr/>
          <p:nvPr/>
        </p:nvSpPr>
        <p:spPr>
          <a:xfrm>
            <a:off x="8650224" y="1234440"/>
            <a:ext cx="438912" cy="548640"/>
          </a:xfrm>
          <a:prstGeom prst="ellipse">
            <a:avLst/>
          </a:prstGeom>
          <a:solidFill>
            <a:srgbClr val="F7C548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0" name="s661"/>
          <p:cNvSpPr/>
          <p:nvPr/>
        </p:nvSpPr>
        <p:spPr>
          <a:xfrm>
            <a:off x="8741664" y="1444752"/>
            <a:ext cx="256032" cy="329184"/>
          </a:xfrm>
          <a:prstGeom prst="ellipse">
            <a:avLst/>
          </a:prstGeom>
          <a:solidFill>
            <a:srgbClr val="FF8C1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1" name="t662"/>
          <p:cNvSpPr txBox="1"/>
          <p:nvPr/>
        </p:nvSpPr>
        <p:spPr>
          <a:xfrm>
            <a:off x="8321040" y="2971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VENT</a:t>
            </a:r>
            <a:endParaRPr lang="en-US" sz="1100" dirty="0"/>
          </a:p>
        </p:txBody>
      </p:sp>
      <p:sp>
        <p:nvSpPr>
          <p:cNvPr id="52" name="tag663"/>
          <p:cNvSpPr/>
          <p:nvPr/>
        </p:nvSpPr>
        <p:spPr>
          <a:xfrm>
            <a:off x="6400800" y="22860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pre-wetted</a:t>
            </a:r>
            <a:endParaRPr lang="en-US" sz="1200" dirty="0"/>
          </a:p>
        </p:txBody>
      </p:sp>
      <p:sp>
        <p:nvSpPr>
          <p:cNvPr id="53" name="tag664"/>
          <p:cNvSpPr/>
          <p:nvPr/>
        </p:nvSpPr>
        <p:spPr>
          <a:xfrm>
            <a:off x="6400800" y="32461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pre-wetted</a:t>
            </a:r>
            <a:endParaRPr lang="en-US" sz="1200" dirty="0"/>
          </a:p>
        </p:txBody>
      </p:sp>
      <p:sp>
        <p:nvSpPr>
          <p:cNvPr id="54" name="tag665"/>
          <p:cNvSpPr/>
          <p:nvPr/>
        </p:nvSpPr>
        <p:spPr>
          <a:xfrm>
            <a:off x="6400800" y="42062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pre-wetted</a:t>
            </a:r>
            <a:endParaRPr lang="en-US" sz="1200" dirty="0"/>
          </a:p>
        </p:txBody>
      </p:sp>
      <p:sp>
        <p:nvSpPr>
          <p:cNvPr id="55" name="tag666"/>
          <p:cNvSpPr/>
          <p:nvPr/>
        </p:nvSpPr>
        <p:spPr>
          <a:xfrm>
            <a:off x="6400800" y="22860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56" name="tag667"/>
          <p:cNvSpPr/>
          <p:nvPr/>
        </p:nvSpPr>
        <p:spPr>
          <a:xfrm>
            <a:off x="6400800" y="32461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57" name="tag668"/>
          <p:cNvSpPr/>
          <p:nvPr/>
        </p:nvSpPr>
        <p:spPr>
          <a:xfrm>
            <a:off x="6400800" y="22860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→ iron oxide</a:t>
            </a:r>
            <a:endParaRPr lang="en-US" sz="1200" dirty="0"/>
          </a:p>
        </p:txBody>
      </p:sp>
      <p:sp>
        <p:nvSpPr>
          <p:cNvPr id="58" name="tag669"/>
          <p:cNvSpPr/>
          <p:nvPr/>
        </p:nvSpPr>
        <p:spPr>
          <a:xfrm>
            <a:off x="6400800" y="324612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→ iron oxide</a:t>
            </a:r>
            <a:endParaRPr lang="en-US" sz="1200" dirty="0"/>
          </a:p>
        </p:txBody>
      </p:sp>
      <p:sp>
        <p:nvSpPr>
          <p:cNvPr id="59" name="tag670"/>
          <p:cNvSpPr/>
          <p:nvPr/>
        </p:nvSpPr>
        <p:spPr>
          <a:xfrm>
            <a:off x="6400800" y="42062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A052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→ iron oxide</a:t>
            </a:r>
            <a:endParaRPr lang="en-US" sz="1200" dirty="0"/>
          </a:p>
        </p:txBody>
      </p:sp>
      <p:sp>
        <p:nvSpPr>
          <p:cNvPr id="60" name="s671"/>
          <p:cNvSpPr/>
          <p:nvPr/>
        </p:nvSpPr>
        <p:spPr>
          <a:xfrm>
            <a:off x="6400800" y="4617720"/>
            <a:ext cx="566928" cy="502920"/>
          </a:xfrm>
          <a:prstGeom prst="triangle">
            <a:avLst/>
          </a:prstGeom>
          <a:solidFill>
            <a:srgbClr val="F7C548"/>
          </a:solidFill>
          <a:ln w="19050">
            <a:solidFill>
              <a:srgbClr val="FF8C1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1" name="t672"/>
          <p:cNvSpPr txBox="1"/>
          <p:nvPr/>
        </p:nvSpPr>
        <p:spPr>
          <a:xfrm>
            <a:off x="6400800" y="47091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62" name="t673"/>
          <p:cNvSpPr txBox="1"/>
          <p:nvPr/>
        </p:nvSpPr>
        <p:spPr>
          <a:xfrm>
            <a:off x="7086600" y="4572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Pyrophoric FeS left on the packing – ignites in air</a:t>
            </a:r>
            <a:endParaRPr lang="en-US" sz="1300" dirty="0"/>
          </a:p>
        </p:txBody>
      </p:sp>
      <p:sp>
        <p:nvSpPr>
          <p:cNvPr id="63" name="s674"/>
          <p:cNvSpPr/>
          <p:nvPr/>
        </p:nvSpPr>
        <p:spPr>
          <a:xfrm>
            <a:off x="5577840" y="5303520"/>
            <a:ext cx="0" cy="22860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4" name="s675"/>
          <p:cNvSpPr/>
          <p:nvPr/>
        </p:nvSpPr>
        <p:spPr>
          <a:xfrm>
            <a:off x="5577840" y="5532120"/>
            <a:ext cx="32004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5" name="s676"/>
          <p:cNvSpPr/>
          <p:nvPr/>
        </p:nvSpPr>
        <p:spPr>
          <a:xfrm flipV="1">
            <a:off x="8778240" y="5074920"/>
            <a:ext cx="0" cy="45720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6" name="s677"/>
          <p:cNvSpPr/>
          <p:nvPr/>
        </p:nvSpPr>
        <p:spPr>
          <a:xfrm>
            <a:off x="8778240" y="5074920"/>
            <a:ext cx="36576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67" name="s678"/>
          <p:cNvSpPr/>
          <p:nvPr/>
        </p:nvSpPr>
        <p:spPr>
          <a:xfrm>
            <a:off x="9144000" y="4343400"/>
            <a:ext cx="1371600" cy="109728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8" name="s679"/>
          <p:cNvSpPr/>
          <p:nvPr/>
        </p:nvSpPr>
        <p:spPr>
          <a:xfrm>
            <a:off x="9189720" y="5120640"/>
            <a:ext cx="1280160" cy="274320"/>
          </a:xfrm>
          <a:prstGeom prst="rect">
            <a:avLst/>
          </a:prstGeom>
          <a:solidFill>
            <a:srgbClr val="B8A68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9" name="s680"/>
          <p:cNvSpPr/>
          <p:nvPr/>
        </p:nvSpPr>
        <p:spPr>
          <a:xfrm>
            <a:off x="9189720" y="4754880"/>
            <a:ext cx="1280160" cy="365760"/>
          </a:xfrm>
          <a:prstGeom prst="rect">
            <a:avLst/>
          </a:prstGeom>
          <a:solidFill>
            <a:srgbClr val="B8A68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0" name="t681"/>
          <p:cNvSpPr txBox="1"/>
          <p:nvPr/>
        </p:nvSpPr>
        <p:spPr>
          <a:xfrm>
            <a:off x="8778240" y="5468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71" name="s682"/>
          <p:cNvSpPr/>
          <p:nvPr/>
        </p:nvSpPr>
        <p:spPr>
          <a:xfrm>
            <a:off x="548640" y="288036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2" name="t683"/>
          <p:cNvSpPr txBox="1"/>
          <p:nvPr/>
        </p:nvSpPr>
        <p:spPr>
          <a:xfrm>
            <a:off x="73152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MANWAY</a:t>
            </a:r>
            <a:endParaRPr lang="en-US" sz="1200" dirty="0"/>
          </a:p>
        </p:txBody>
      </p:sp>
      <p:sp>
        <p:nvSpPr>
          <p:cNvPr id="73" name="t684"/>
          <p:cNvSpPr txBox="1"/>
          <p:nvPr/>
        </p:nvSpPr>
        <p:spPr>
          <a:xfrm>
            <a:off x="731520" y="33832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400" dirty="0"/>
          </a:p>
        </p:txBody>
      </p:sp>
      <p:sp>
        <p:nvSpPr>
          <p:cNvPr id="74" name="t685"/>
          <p:cNvSpPr txBox="1"/>
          <p:nvPr/>
        </p:nvSpPr>
        <p:spPr>
          <a:xfrm>
            <a:off x="1737360" y="3383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131" name="dec131"/>
          <p:cNvSpPr txBox="1"/>
          <p:nvPr/>
        </p:nvSpPr>
        <p:spPr>
          <a:xfrm>
            <a:off x="1737360" y="3383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75" name="t686"/>
          <p:cNvSpPr txBox="1"/>
          <p:nvPr/>
        </p:nvSpPr>
        <p:spPr>
          <a:xfrm>
            <a:off x="1737360" y="3383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76" name="t687"/>
          <p:cNvSpPr txBox="1"/>
          <p:nvPr/>
        </p:nvSpPr>
        <p:spPr>
          <a:xfrm>
            <a:off x="731520" y="37947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77" name="t688"/>
          <p:cNvSpPr txBox="1"/>
          <p:nvPr/>
        </p:nvSpPr>
        <p:spPr>
          <a:xfrm>
            <a:off x="1737360" y="3794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132" name="dec132"/>
          <p:cNvSpPr txBox="1"/>
          <p:nvPr/>
        </p:nvSpPr>
        <p:spPr>
          <a:xfrm>
            <a:off x="1737360" y="3794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78" name="t689"/>
          <p:cNvSpPr txBox="1"/>
          <p:nvPr/>
        </p:nvSpPr>
        <p:spPr>
          <a:xfrm>
            <a:off x="1737360" y="37947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79" name="t690"/>
          <p:cNvSpPr txBox="1"/>
          <p:nvPr/>
        </p:nvSpPr>
        <p:spPr>
          <a:xfrm>
            <a:off x="731520" y="4206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80" name="t691"/>
          <p:cNvSpPr txBox="1"/>
          <p:nvPr/>
        </p:nvSpPr>
        <p:spPr>
          <a:xfrm>
            <a:off x="173736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133" name="dec133"/>
          <p:cNvSpPr txBox="1"/>
          <p:nvPr/>
        </p:nvSpPr>
        <p:spPr>
          <a:xfrm>
            <a:off x="173736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81" name="t692"/>
          <p:cNvSpPr txBox="1"/>
          <p:nvPr/>
        </p:nvSpPr>
        <p:spPr>
          <a:xfrm>
            <a:off x="1737360" y="4206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134" name="n134"/>
          <p:cNvSpPr/>
          <p:nvPr/>
        </p:nvSpPr>
        <p:spPr>
          <a:xfrm>
            <a:off x="6583680" y="1298448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9050">
            <a:solidFill>
              <a:srgbClr val="94A3B8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35" name="n135"/>
          <p:cNvSpPr/>
          <p:nvPr/>
        </p:nvSpPr>
        <p:spPr>
          <a:xfrm>
            <a:off x="6731813" y="1397203"/>
            <a:ext cx="435254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6" name="n136"/>
          <p:cNvSpPr/>
          <p:nvPr/>
        </p:nvSpPr>
        <p:spPr>
          <a:xfrm>
            <a:off x="6731813" y="1463040"/>
            <a:ext cx="435254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7" name="n137"/>
          <p:cNvSpPr/>
          <p:nvPr/>
        </p:nvSpPr>
        <p:spPr>
          <a:xfrm>
            <a:off x="6731813" y="1528877"/>
            <a:ext cx="435254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8" name="n138"/>
          <p:cNvSpPr txBox="1"/>
          <p:nvPr/>
        </p:nvSpPr>
        <p:spPr>
          <a:xfrm>
            <a:off x="6309360" y="1051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</a:rPr>
              <a:t>Overhead condenser</a:t>
            </a:r>
          </a:p>
        </p:txBody>
      </p:sp>
      <p:sp>
        <p:nvSpPr>
          <p:cNvPr id="139" name="n139"/>
          <p:cNvSpPr/>
          <p:nvPr/>
        </p:nvSpPr>
        <p:spPr>
          <a:xfrm>
            <a:off x="7315200" y="1463040"/>
            <a:ext cx="2743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0" name="n140"/>
          <p:cNvSpPr/>
          <p:nvPr/>
        </p:nvSpPr>
        <p:spPr>
          <a:xfrm>
            <a:off x="7589520" y="1463040"/>
            <a:ext cx="0" cy="32004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41" name="n141"/>
          <p:cNvSpPr/>
          <p:nvPr/>
        </p:nvSpPr>
        <p:spPr>
          <a:xfrm>
            <a:off x="6949440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9050">
            <a:solidFill>
              <a:srgbClr val="94A3B8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42" name="n142"/>
          <p:cNvSpPr/>
          <p:nvPr/>
        </p:nvSpPr>
        <p:spPr>
          <a:xfrm>
            <a:off x="7004304" y="1994306"/>
            <a:ext cx="1078992" cy="145938"/>
          </a:xfrm>
          <a:prstGeom prst="roundRect">
            <a:avLst>
              <a:gd name="adj" fmla="val 50000"/>
            </a:avLst>
          </a:prstGeom>
          <a:solidFill>
            <a:srgbClr val="D6E7F5"/>
          </a:solidFill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43" name="n143"/>
          <p:cNvSpPr txBox="1"/>
          <p:nvPr/>
        </p:nvSpPr>
        <p:spPr>
          <a:xfrm>
            <a:off x="6263640" y="181051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7085"/>
                </a:solidFill>
                <a:latin typeface="Calibri" pitchFamily="34" charset="0"/>
              </a:rPr>
              <a:t>Reflux drum</a:t>
            </a:r>
          </a:p>
        </p:txBody>
      </p:sp>
      <p:sp>
        <p:nvSpPr>
          <p:cNvPr id="144" name="n144"/>
          <p:cNvSpPr/>
          <p:nvPr/>
        </p:nvSpPr>
        <p:spPr>
          <a:xfrm flipV="1">
            <a:off x="7909560" y="1463040"/>
            <a:ext cx="0" cy="338328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5" name="n145"/>
          <p:cNvSpPr/>
          <p:nvPr/>
        </p:nvSpPr>
        <p:spPr>
          <a:xfrm>
            <a:off x="7909560" y="1463040"/>
            <a:ext cx="6858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6" name="n146"/>
          <p:cNvSpPr/>
          <p:nvPr/>
        </p:nvSpPr>
        <p:spPr>
          <a:xfrm>
            <a:off x="8138160" y="1975104"/>
            <a:ext cx="128016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7" name="n147"/>
          <p:cNvSpPr/>
          <p:nvPr/>
        </p:nvSpPr>
        <p:spPr>
          <a:xfrm>
            <a:off x="8266176" y="1975104"/>
            <a:ext cx="0" cy="2139696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8" name="n148"/>
          <p:cNvSpPr/>
          <p:nvPr/>
        </p:nvSpPr>
        <p:spPr>
          <a:xfrm>
            <a:off x="8266176" y="4114800"/>
            <a:ext cx="1563624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9" name="n149"/>
          <p:cNvSpPr/>
          <p:nvPr/>
        </p:nvSpPr>
        <p:spPr>
          <a:xfrm>
            <a:off x="9829800" y="4114800"/>
            <a:ext cx="0" cy="22860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50" name="n150"/>
          <p:cNvSpPr/>
          <p:nvPr/>
        </p:nvSpPr>
        <p:spPr>
          <a:xfrm>
            <a:off x="3794760" y="50292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19050">
            <a:solidFill>
              <a:srgbClr val="94A3B8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1" name="n151"/>
          <p:cNvSpPr/>
          <p:nvPr/>
        </p:nvSpPr>
        <p:spPr>
          <a:xfrm>
            <a:off x="3967582" y="5144414"/>
            <a:ext cx="614477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2" name="n152"/>
          <p:cNvSpPr/>
          <p:nvPr/>
        </p:nvSpPr>
        <p:spPr>
          <a:xfrm>
            <a:off x="3967582" y="5221224"/>
            <a:ext cx="614477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3" name="n153"/>
          <p:cNvSpPr/>
          <p:nvPr/>
        </p:nvSpPr>
        <p:spPr>
          <a:xfrm>
            <a:off x="3967582" y="5298034"/>
            <a:ext cx="614477" cy="0"/>
          </a:xfrm>
          <a:prstGeom prst="line">
            <a:avLst/>
          </a:prstGeom>
          <a:noFill/>
          <a:ln w="12700">
            <a:solidFill>
              <a:srgbClr val="B4C2D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4" name="n154"/>
          <p:cNvSpPr txBox="1"/>
          <p:nvPr/>
        </p:nvSpPr>
        <p:spPr>
          <a:xfrm>
            <a:off x="3794760" y="54223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</a:rPr>
              <a:t>Reboiler</a:t>
            </a:r>
          </a:p>
        </p:txBody>
      </p:sp>
      <p:sp>
        <p:nvSpPr>
          <p:cNvPr id="155" name="n155"/>
          <p:cNvSpPr/>
          <p:nvPr/>
        </p:nvSpPr>
        <p:spPr>
          <a:xfrm>
            <a:off x="4754880" y="5138928"/>
            <a:ext cx="36576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56" name="n156"/>
          <p:cNvSpPr/>
          <p:nvPr/>
        </p:nvSpPr>
        <p:spPr>
          <a:xfrm>
            <a:off x="5257800" y="5230368"/>
            <a:ext cx="0" cy="109728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7" name="n157"/>
          <p:cNvSpPr/>
          <p:nvPr/>
        </p:nvSpPr>
        <p:spPr>
          <a:xfrm flipH="1">
            <a:off x="4754880" y="5340096"/>
            <a:ext cx="5029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158" name="n158"/>
          <p:cNvSpPr/>
          <p:nvPr/>
        </p:nvSpPr>
        <p:spPr>
          <a:xfrm>
            <a:off x="5184648" y="5184648"/>
            <a:ext cx="146304" cy="146304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59" name="n159"/>
          <p:cNvSpPr/>
          <p:nvPr/>
        </p:nvSpPr>
        <p:spPr>
          <a:xfrm>
            <a:off x="5184648" y="5184648"/>
            <a:ext cx="146304" cy="146304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0" name="n160"/>
          <p:cNvSpPr/>
          <p:nvPr/>
        </p:nvSpPr>
        <p:spPr>
          <a:xfrm>
            <a:off x="5184648" y="5184648"/>
            <a:ext cx="146304" cy="146304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1" name="n161"/>
          <p:cNvSpPr/>
          <p:nvPr/>
        </p:nvSpPr>
        <p:spPr>
          <a:xfrm>
            <a:off x="8193024" y="1901952"/>
            <a:ext cx="146304" cy="146304"/>
          </a:xfrm>
          <a:prstGeom prst="ellipse">
            <a:avLst/>
          </a:prstGeom>
          <a:solidFill>
            <a:srgbClr val="8FC1E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2" name="n162"/>
          <p:cNvSpPr/>
          <p:nvPr/>
        </p:nvSpPr>
        <p:spPr>
          <a:xfrm>
            <a:off x="8193024" y="1901952"/>
            <a:ext cx="146304" cy="146304"/>
          </a:xfrm>
          <a:prstGeom prst="ellipse">
            <a:avLst/>
          </a:prstGeom>
          <a:solidFill>
            <a:srgbClr val="8FC1E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3" name="n163"/>
          <p:cNvSpPr/>
          <p:nvPr/>
        </p:nvSpPr>
        <p:spPr>
          <a:xfrm>
            <a:off x="8193024" y="1901952"/>
            <a:ext cx="146304" cy="146304"/>
          </a:xfrm>
          <a:prstGeom prst="ellipse">
            <a:avLst/>
          </a:prstGeom>
          <a:solidFill>
            <a:srgbClr val="8FC1E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164" name="n164"/>
          <p:cNvSpPr/>
          <p:nvPr/>
        </p:nvSpPr>
        <p:spPr>
          <a:xfrm>
            <a:off x="8193024" y="1901952"/>
            <a:ext cx="146304" cy="146304"/>
          </a:xfrm>
          <a:prstGeom prst="ellipse">
            <a:avLst/>
          </a:prstGeom>
          <a:solidFill>
            <a:srgbClr val="8FC1E3"/>
          </a:solidFill>
          <a:ln w="9525">
            <a:solidFill>
              <a:srgbClr val="FFFFFF"/>
            </a:solidFill>
          </a:ln>
        </p:spPr>
        <p:txBody>
          <a:bodyPr/>
          <a:lstStyle/>
          <a:p>
            <a:endParaRPr lang="en-AE"/>
          </a:p>
        </p:txBody>
      </p:sp>
      <p:sp>
        <p:nvSpPr>
          <p:cNvPr id="82" name="s693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3" name="t69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Packed beds hold hydrocarbon film and pyrophoric iron sulphide deep inside the packing geometry.</a:t>
            </a:r>
            <a:endParaRPr lang="en-US" sz="1400" dirty="0"/>
          </a:p>
        </p:txBody>
      </p:sp>
      <p:sp>
        <p:nvSpPr>
          <p:cNvPr id="84" name="t69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PRE-TREATMENT: decon chemistry is fed from the top and coats every surface of the packing.</a:t>
            </a:r>
            <a:endParaRPr lang="en-US" sz="1400" dirty="0"/>
          </a:p>
        </p:txBody>
      </p:sp>
      <p:sp>
        <p:nvSpPr>
          <p:cNvPr id="85" name="t69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With the packing pre-wetted, the vapour-phase that follows reaches deep into every bed.</a:t>
            </a:r>
            <a:endParaRPr lang="en-US" sz="1400" dirty="0"/>
          </a:p>
        </p:txBody>
      </p:sp>
      <p:sp>
        <p:nvSpPr>
          <p:cNvPr id="86" name="t697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VAPOUR-PHASE: steam carries the chemistry up through the beds – LEL and benzene go to flare.</a:t>
            </a:r>
            <a:endParaRPr lang="en-US" sz="1400" dirty="0"/>
          </a:p>
        </p:txBody>
      </p:sp>
      <p:sp>
        <p:nvSpPr>
          <p:cNvPr id="87" name="t698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Pyrophoric FeS can remain on the packing – it would self-heat once the column is opened.</a:t>
            </a:r>
            <a:endParaRPr lang="en-US" sz="1400" dirty="0"/>
          </a:p>
        </p:txBody>
      </p:sp>
      <p:sp>
        <p:nvSpPr>
          <p:cNvPr id="88" name="t699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POST-TREATMENT: an oxidiser wash trickles through each bed – FeS becomes stable iron oxide.</a:t>
            </a:r>
            <a:endParaRPr lang="en-US" sz="1400" dirty="0"/>
          </a:p>
        </p:txBody>
      </p:sp>
      <p:sp>
        <p:nvSpPr>
          <p:cNvPr id="89" name="t700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The spent wash drains to the effluent tank.</a:t>
            </a:r>
            <a:endParaRPr lang="en-US" sz="1400" dirty="0"/>
          </a:p>
        </p:txBody>
      </p:sp>
      <p:sp>
        <p:nvSpPr>
          <p:cNvPr id="90" name="t701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Gas tests pass – the column is safe to open and the packing safe to unload.</a:t>
            </a:r>
            <a:endParaRPr lang="en-US" sz="1400" dirty="0"/>
          </a:p>
        </p:txBody>
      </p:sp>
      <p:sp>
        <p:nvSpPr>
          <p:cNvPr id="91" name="s702"/>
          <p:cNvSpPr/>
          <p:nvPr/>
        </p:nvSpPr>
        <p:spPr>
          <a:xfrm>
            <a:off x="5093208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s703"/>
          <p:cNvSpPr/>
          <p:nvPr/>
        </p:nvSpPr>
        <p:spPr>
          <a:xfrm>
            <a:off x="5294376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s704"/>
          <p:cNvSpPr/>
          <p:nvPr/>
        </p:nvSpPr>
        <p:spPr>
          <a:xfrm>
            <a:off x="5495544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s705"/>
          <p:cNvSpPr/>
          <p:nvPr/>
        </p:nvSpPr>
        <p:spPr>
          <a:xfrm>
            <a:off x="5696712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s706"/>
          <p:cNvSpPr/>
          <p:nvPr/>
        </p:nvSpPr>
        <p:spPr>
          <a:xfrm>
            <a:off x="5897880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s707"/>
          <p:cNvSpPr/>
          <p:nvPr/>
        </p:nvSpPr>
        <p:spPr>
          <a:xfrm>
            <a:off x="5093208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s708"/>
          <p:cNvSpPr/>
          <p:nvPr/>
        </p:nvSpPr>
        <p:spPr>
          <a:xfrm>
            <a:off x="5294376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s709"/>
          <p:cNvSpPr/>
          <p:nvPr/>
        </p:nvSpPr>
        <p:spPr>
          <a:xfrm>
            <a:off x="5495544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s710"/>
          <p:cNvSpPr/>
          <p:nvPr/>
        </p:nvSpPr>
        <p:spPr>
          <a:xfrm>
            <a:off x="5696712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s711"/>
          <p:cNvSpPr/>
          <p:nvPr/>
        </p:nvSpPr>
        <p:spPr>
          <a:xfrm>
            <a:off x="5897880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s712"/>
          <p:cNvSpPr/>
          <p:nvPr/>
        </p:nvSpPr>
        <p:spPr>
          <a:xfrm>
            <a:off x="5038344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s713"/>
          <p:cNvSpPr/>
          <p:nvPr/>
        </p:nvSpPr>
        <p:spPr>
          <a:xfrm>
            <a:off x="5340096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s714"/>
          <p:cNvSpPr/>
          <p:nvPr/>
        </p:nvSpPr>
        <p:spPr>
          <a:xfrm>
            <a:off x="5641848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s715"/>
          <p:cNvSpPr/>
          <p:nvPr/>
        </p:nvSpPr>
        <p:spPr>
          <a:xfrm>
            <a:off x="5943600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5" name="s716"/>
          <p:cNvSpPr/>
          <p:nvPr/>
        </p:nvSpPr>
        <p:spPr>
          <a:xfrm>
            <a:off x="5038344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6" name="s717"/>
          <p:cNvSpPr/>
          <p:nvPr/>
        </p:nvSpPr>
        <p:spPr>
          <a:xfrm>
            <a:off x="5340096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7" name="s718"/>
          <p:cNvSpPr/>
          <p:nvPr/>
        </p:nvSpPr>
        <p:spPr>
          <a:xfrm>
            <a:off x="5641848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8" name="s719"/>
          <p:cNvSpPr/>
          <p:nvPr/>
        </p:nvSpPr>
        <p:spPr>
          <a:xfrm>
            <a:off x="5943600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9" name="s720"/>
          <p:cNvSpPr/>
          <p:nvPr/>
        </p:nvSpPr>
        <p:spPr>
          <a:xfrm>
            <a:off x="5038344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0" name="s721"/>
          <p:cNvSpPr/>
          <p:nvPr/>
        </p:nvSpPr>
        <p:spPr>
          <a:xfrm>
            <a:off x="5340096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1" name="s722"/>
          <p:cNvSpPr/>
          <p:nvPr/>
        </p:nvSpPr>
        <p:spPr>
          <a:xfrm>
            <a:off x="5641848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2" name="s723"/>
          <p:cNvSpPr/>
          <p:nvPr/>
        </p:nvSpPr>
        <p:spPr>
          <a:xfrm>
            <a:off x="5943600" y="476402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3" name="s724"/>
          <p:cNvSpPr/>
          <p:nvPr/>
        </p:nvSpPr>
        <p:spPr>
          <a:xfrm>
            <a:off x="5093208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4" name="s725"/>
          <p:cNvSpPr/>
          <p:nvPr/>
        </p:nvSpPr>
        <p:spPr>
          <a:xfrm>
            <a:off x="5294376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s726"/>
          <p:cNvSpPr/>
          <p:nvPr/>
        </p:nvSpPr>
        <p:spPr>
          <a:xfrm>
            <a:off x="5495544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6" name="s727"/>
          <p:cNvSpPr/>
          <p:nvPr/>
        </p:nvSpPr>
        <p:spPr>
          <a:xfrm>
            <a:off x="5696712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7" name="s728"/>
          <p:cNvSpPr/>
          <p:nvPr/>
        </p:nvSpPr>
        <p:spPr>
          <a:xfrm>
            <a:off x="5897880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8" name="s729"/>
          <p:cNvSpPr/>
          <p:nvPr/>
        </p:nvSpPr>
        <p:spPr>
          <a:xfrm>
            <a:off x="5093208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9" name="s730"/>
          <p:cNvSpPr/>
          <p:nvPr/>
        </p:nvSpPr>
        <p:spPr>
          <a:xfrm>
            <a:off x="5294376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0" name="s731"/>
          <p:cNvSpPr/>
          <p:nvPr/>
        </p:nvSpPr>
        <p:spPr>
          <a:xfrm>
            <a:off x="5495544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1" name="s732"/>
          <p:cNvSpPr/>
          <p:nvPr/>
        </p:nvSpPr>
        <p:spPr>
          <a:xfrm>
            <a:off x="5696712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2" name="s733"/>
          <p:cNvSpPr/>
          <p:nvPr/>
        </p:nvSpPr>
        <p:spPr>
          <a:xfrm>
            <a:off x="5897880" y="170992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3" name="s734"/>
          <p:cNvSpPr/>
          <p:nvPr/>
        </p:nvSpPr>
        <p:spPr>
          <a:xfrm>
            <a:off x="5477256" y="4928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4" name="s735"/>
          <p:cNvSpPr/>
          <p:nvPr/>
        </p:nvSpPr>
        <p:spPr>
          <a:xfrm>
            <a:off x="5477256" y="4928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5" name="s736"/>
          <p:cNvSpPr/>
          <p:nvPr/>
        </p:nvSpPr>
        <p:spPr>
          <a:xfrm>
            <a:off x="5477256" y="4928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6" name="s737"/>
          <p:cNvSpPr/>
          <p:nvPr/>
        </p:nvSpPr>
        <p:spPr>
          <a:xfrm>
            <a:off x="5477256" y="4928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7" name="s738"/>
          <p:cNvSpPr/>
          <p:nvPr/>
        </p:nvSpPr>
        <p:spPr>
          <a:xfrm>
            <a:off x="5477256" y="4928616"/>
            <a:ext cx="201168" cy="201168"/>
          </a:xfrm>
          <a:prstGeom prst="ellipse">
            <a:avLst/>
          </a:prstGeom>
          <a:solidFill>
            <a:srgbClr val="A0522D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8" name="s739"/>
          <p:cNvSpPr/>
          <p:nvPr/>
        </p:nvSpPr>
        <p:spPr>
          <a:xfrm>
            <a:off x="548640" y="4846320"/>
            <a:ext cx="301752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9" name="t740"/>
          <p:cNvSpPr txBox="1"/>
          <p:nvPr/>
        </p:nvSpPr>
        <p:spPr>
          <a:xfrm>
            <a:off x="548640" y="4846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 TO OPEN &amp; UNLOAD</a:t>
            </a:r>
            <a:endParaRPr lang="en-US" sz="1500" dirty="0"/>
          </a:p>
        </p:txBody>
      </p:sp>
      <p:sp>
        <p:nvSpPr>
          <p:cNvPr id="1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200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repeatCount="200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5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200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6" dur="50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mph" presetSubtype="0" repeatCount="3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27" dur="350" autoRev="1" fill="hold"/>
                                        <p:tgtEl>
                                          <p:spTgt spid="13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mph" presetSubtype="0" repeatCount="3000" fill="hold" grpId="2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34" dur="350" autoRev="1" fill="hold"/>
                                        <p:tgtEl>
                                          <p:spTgt spid="132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mph" presetSubtype="0" repeatCount="3000" fill="hold" grpId="2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41" dur="350" autoRev="1" fill="hold"/>
                                        <p:tgtEl>
                                          <p:spTgt spid="13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60" dur="22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3" nodeType="withEffect">
                                  <p:stCondLst>
                                    <p:cond delay="112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66" dur="22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33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13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0" presetClass="path" presetSubtype="0" fill="hold" grpId="3" nodeType="withEffect">
                                  <p:stCondLst>
                                    <p:cond delay="134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72" dur="22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78" dur="22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37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17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path" presetSubtype="0" fill="hold" grpId="3" nodeType="withEffect">
                                  <p:stCondLst>
                                    <p:cond delay="178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84" dur="22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39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90" dur="22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22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3" nodeType="withEffect">
                                  <p:stCondLst>
                                    <p:cond delay="222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96" dur="22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44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3" nodeType="withEffect">
                                  <p:stCondLst>
                                    <p:cond delay="244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102" dur="22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46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grpId="3" nodeType="withEffect">
                                  <p:stCondLst>
                                    <p:cond delay="266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108" dur="22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1" nodeType="withEffect">
                                  <p:stCondLst>
                                    <p:cond delay="48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28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3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114" dur="22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1" nodeType="withEffect">
                                  <p:stCondLst>
                                    <p:cond delay="50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9" dur="4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0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1" dur="4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3" dur="4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0000 0.0120 L -0.0788 0.0120 L -0.0788 -0.0173 L -0.0113 -0.0173 E" pathEditMode="relative" ptsTypes="AAAAA">
                                      <p:cBhvr>
                                        <p:cTn id="161" dur="16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2" presetID="1" presetClass="exit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0" presetClass="path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 L 0.0000 0.0120 L -0.0788 0.0120 L -0.0788 -0.0173 L -0.0113 -0.0173 E" pathEditMode="relative" ptsTypes="AAAAA">
                                      <p:cBhvr>
                                        <p:cTn id="167" dur="16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0" presetClass="pat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0.0120 L -0.0788 0.0120 L -0.0788 -0.0173 L -0.0113 -0.0173 E" pathEditMode="relative" ptsTypes="AAAAA">
                                      <p:cBhvr>
                                        <p:cTn id="173" dur="16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0" presetClass="path" presetSubtype="0" fill="hold" grpId="3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 L 0.0000 0.3120 L 0.1283 0.3120 L 0.1283 0.3720 E" pathEditMode="relative" ptsTypes="AAAA">
                                      <p:cBhvr>
                                        <p:cTn id="179" dur="13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grpId="0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0" presetClass="path" presetSubtype="0" fill="hold" grpId="3" nodeType="withEffect">
                                  <p:stCondLst>
                                    <p:cond delay="3550"/>
                                  </p:stCondLst>
                                  <p:childTnLst>
                                    <p:animMotion origin="layout" path="M 0 0 L 0.0000 0.3120 L 0.1283 0.3120 L 0.1283 0.3720 E" pathEditMode="relative" ptsTypes="AAAA">
                                      <p:cBhvr>
                                        <p:cTn id="185" dur="13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485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0" presetClass="path" presetSubtype="0" fill="hold" grpId="3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 0 L 0.0000 0.3120 L 0.1283 0.3120 L 0.1283 0.3720 E" pathEditMode="relative" ptsTypes="AAAA">
                                      <p:cBhvr>
                                        <p:cTn id="191" dur="13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1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0" presetClass="path" presetSubtype="0" fill="hold" grpId="3" nodeType="withEffect">
                                  <p:stCondLst>
                                    <p:cond delay="4250"/>
                                  </p:stCondLst>
                                  <p:childTnLst>
                                    <p:animMotion origin="layout" path="M 0 0 L 0.0000 0.3120 L 0.1283 0.3120 L 0.1283 0.3720 E" pathEditMode="relative" ptsTypes="AAAA">
                                      <p:cBhvr>
                                        <p:cTn id="197" dur="13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1" nodeType="withEffect">
                                  <p:stCondLst>
                                    <p:cond delay="555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6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30" dur="18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36" dur="18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0" presetClass="path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42" dur="18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3" presetID="1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0" presetClass="path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48" dur="18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9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54" dur="18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1" presetClass="exit" presetSubtype="0" fill="hold" grpId="1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0" presetClass="path" presetSubtype="0" fill="hold" grpId="3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60" dur="18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1" presetClass="exit" presetSubtype="0" fill="hold" grpId="1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0" presetClass="path" presetSubtype="0" fill="hold" grpId="3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66" dur="18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7" presetID="1" presetClass="exit" presetSubtype="0" fill="hold" grpId="1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0" presetClass="path" presetSubtype="0" fill="hold" grpId="3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72" dur="18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1" presetClass="exit" presetSubtype="0" fill="hold" grpId="1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0" presetClass="path" presetSubtype="0" fill="hold" grpId="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78" dur="18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9" presetID="1" presetClass="exit" presetSubtype="0" fill="hold" grpId="1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0" presetClass="path" presetSubtype="0" fill="hold" grpId="3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84" dur="18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1" presetClass="exit" presetSubtype="0" fill="hold" grpId="1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0" presetClass="path" presetSubtype="0" fill="hold" grpId="3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90" dur="18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1" presetID="1" presetClass="exit" presetSubtype="0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3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 L 0.0000 -0.4333 E" pathEditMode="relative" ptsTypes="AA">
                                      <p:cBhvr>
                                        <p:cTn id="296" dur="18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1" presetClass="exit" presetSubtype="0" fill="hold" grpId="1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22" presetClass="entr" presetSubtype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7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22" presetClass="entr" presetSubtype="4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3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2" presetClass="entr" presetSubtype="8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0" presetClass="path" presetSubtype="0" fill="hold" grpId="3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-0.0900 -0.1440 L 0.0488 -0.1440 L 0.0488 -0.0693 L 0.0750 -0.0693 L 0.0750 -0.1440 L 0.1313 -0.1440 L 0.1313 -0.0507 L 0.1538 -0.0507 E" pathEditMode="relative" ptsTypes="AAAAAAAAA">
                                      <p:cBhvr>
                                        <p:cTn id="318" dur="1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9" presetID="10" presetClass="exit" presetSubtype="0" fill="hold" grpId="1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0" presetClass="path" presetSubtype="0" fill="hold" grpId="3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 L -0.0900 -0.2840 L 0.0488 -0.2840 L 0.0488 -0.2093 L 0.0750 -0.2093 L 0.0750 -0.2840 L 0.1313 -0.2840 L 0.1313 -0.1907 L 0.1538 -0.1907 E" pathEditMode="relative" ptsTypes="AAAAAAAAA">
                                      <p:cBhvr>
                                        <p:cTn id="323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6" presetClass="emph" presetSubtype="0" repeatCount="3000" fill="hold" grpId="2" nodeType="withEffect">
                                  <p:stCondLst>
                                    <p:cond delay="3800"/>
                                  </p:stCondLst>
                                  <p:childTnLst>
                                    <p:animScale>
                                      <p:cBhvr>
                                        <p:cTn id="328" dur="3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29" presetID="6" presetClass="emph" presetSubtype="0" repeatCount="3000" fill="hold" grpId="2" nodeType="withEffect">
                                  <p:stCondLst>
                                    <p:cond delay="3800"/>
                                  </p:stCondLst>
                                  <p:childTnLst>
                                    <p:animScale>
                                      <p:cBhvr>
                                        <p:cTn id="330" dur="3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31" presetID="10" presetClass="exit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2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8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4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8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53" presetClass="entr" presetSubtype="16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3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" presetClass="exit" presetSubtype="0" fill="hold" grpId="1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53" presetClass="entr" presetSubtype="1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0" dur="4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4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2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presetID="1" presetClass="exit" presetSubtype="0" fill="hold" grpId="1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53" presetClass="entr" presetSubtype="16" fill="hold" grpId="0" nodeType="with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7" dur="4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4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9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3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500"/>
                            </p:stCondLst>
                            <p:childTnLst>
                              <p:par>
                                <p:cTn id="387" presetID="6" presetClass="emph" presetSubtype="0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8" dur="4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89" presetID="6" presetClass="emph" presetSubtype="0" repeatCount="3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0" dur="4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91" presetID="6" presetClass="emph" presetSubtype="0" repeatCount="3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2" dur="4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39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3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27" dur="22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8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0" presetClass="path" presetSubtype="0" fill="hold" grpId="3" nodeType="withEffect">
                                  <p:stCondLst>
                                    <p:cond delay="62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33" dur="22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4" presetID="1" presetClass="exit" presetSubtype="0" fill="hold" grpId="1" nodeType="withEffect">
                                  <p:stCondLst>
                                    <p:cond delay="282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0" presetClass="path" presetSubtype="0" fill="hold" grpId="3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39" dur="22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0" presetID="1" presetClass="exit" presetSubtype="0" fill="hold" grpId="1" nodeType="withEffect">
                                  <p:stCondLst>
                                    <p:cond delay="304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0" presetClass="path" presetSubtype="0" fill="hold" grpId="3" nodeType="withEffect">
                                  <p:stCondLst>
                                    <p:cond delay="106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45" dur="22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6" presetID="1" presetClass="exit" presetSubtype="0" fill="hold" grpId="1" nodeType="withEffect">
                                  <p:stCondLst>
                                    <p:cond delay="326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0" presetClass="path" presetSubtype="0" fill="hold" grpId="3" nodeType="withEffect">
                                  <p:stCondLst>
                                    <p:cond delay="128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51" dur="22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2" presetID="1" presetClass="exit" presetSubtype="0" fill="hold" grpId="1" nodeType="withEffect">
                                  <p:stCondLst>
                                    <p:cond delay="348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0" presetClass="pat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57" dur="22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8" presetID="1" presetClass="exit" presetSubtype="0" fill="hold" grpId="1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1" presetClass="entr" presetSubtype="0" fill="hold" grpId="0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0" presetClass="path" presetSubtype="0" fill="hold" grpId="3" nodeType="withEffect">
                                  <p:stCondLst>
                                    <p:cond delay="172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63" dur="22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4" presetID="1" presetClass="exit" presetSubtype="0" fill="hold" grpId="1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ntr" presetSubtype="0" fill="hold" grpId="0" nodeType="withEffect">
                                  <p:stCondLst>
                                    <p:cond delay="194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0" presetClass="path" presetSubtype="0" fill="hold" grpId="3" nodeType="withEffect">
                                  <p:stCondLst>
                                    <p:cond delay="194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69" dur="22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0" presetID="1" presetClass="exit" presetSubtype="0" fill="hold" grpId="1" nodeType="withEffect">
                                  <p:stCondLst>
                                    <p:cond delay="414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1" presetClass="entr" presetSubtype="0" fill="hold" grpId="0" nodeType="withEffect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0" presetClass="path" presetSubtype="0" fill="hold" grpId="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75" dur="22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6" presetID="1" presetClass="exit" presetSubtype="0" fill="hold" grpId="1" nodeType="withEffect">
                                  <p:stCondLst>
                                    <p:cond delay="436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0" presetClass="path" presetSubtype="0" fill="hold" grpId="3" nodeType="withEffect">
                                  <p:stCondLst>
                                    <p:cond delay="2380"/>
                                  </p:stCondLst>
                                  <p:childTnLst>
                                    <p:animMotion origin="layout" path="M 0 0 L 0.0000 0.4600 E" pathEditMode="relative" ptsTypes="AA">
                                      <p:cBhvr>
                                        <p:cTn id="481" dur="22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2" presetID="1" presetClass="exit" presetSubtype="0" fill="hold" grpId="1" nodeType="withEffect">
                                  <p:stCondLst>
                                    <p:cond delay="458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0" presetClass="exit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1" presetID="10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2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42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10" presetClass="exit" presetSubtype="0" fill="hold" grpId="1" nodeType="withEffect">
                                  <p:stCondLst>
                                    <p:cond delay="2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0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2" presetID="42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3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0.0733 L 0.2625 0.0733 L 0.2625 0.0067 L 0.3113 0.0067 E" pathEditMode="relative" ptsTypes="AAAAA">
                                      <p:cBhvr>
                                        <p:cTn id="536" dur="18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7" presetID="1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1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0" presetClass="path" presetSubtype="0" fill="hold" grpId="3" nodeType="withEffect">
                                  <p:stCondLst>
                                    <p:cond delay="550"/>
                                  </p:stCondLst>
                                  <p:childTnLst>
                                    <p:animMotion origin="layout" path="M 0 0 L 0.0000 0.0733 L 0.2625 0.0733 L 0.2625 0.0067 L 0.3113 0.0067 E" pathEditMode="relative" ptsTypes="AAAAA">
                                      <p:cBhvr>
                                        <p:cTn id="542" dur="18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3" presetID="1" presetClass="exit" presetSubtype="0" fill="hold" grpId="1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0000 0.0733 L 0.2625 0.0733 L 0.2625 0.0067 L 0.3113 0.0067 E" pathEditMode="relative" ptsTypes="AAAAA">
                                      <p:cBhvr>
                                        <p:cTn id="548" dur="18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9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1" presetID="1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0" presetClass="path" presetSubtype="0" fill="hold" grpId="3" nodeType="withEffect">
                                  <p:stCondLst>
                                    <p:cond delay="1050"/>
                                  </p:stCondLst>
                                  <p:childTnLst>
                                    <p:animMotion origin="layout" path="M 0 0 L 0.0000 0.0733 L 0.2625 0.0733 L 0.2625 0.0067 L 0.3113 0.0067 E" pathEditMode="relative" ptsTypes="AAAAA">
                                      <p:cBhvr>
                                        <p:cTn id="554" dur="18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5" presetID="1" presetClass="exit" presetSubtype="0" fill="hold" grpId="1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0" presetClass="path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0000 0.0733 L 0.2625 0.0733 L 0.2625 0.0067 L 0.3113 0.0067 E" pathEditMode="relative" ptsTypes="AAAAA">
                                      <p:cBhvr>
                                        <p:cTn id="560" dur="18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1" presetID="1" presetClass="exit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3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5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22" presetClass="entr" presetSubtype="4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8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3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6" fill="hold">
                            <p:stCondLst>
                              <p:cond delay="500"/>
                            </p:stCondLst>
                            <p:childTnLst>
                              <p:par>
                                <p:cTn id="5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8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9" dur="400" autoRev="1" fill="hold"/>
                                        <p:tgtEl>
                                          <p:spTgt spid="12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90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1" dur="400" autoRev="1" fill="hold"/>
                                        <p:tgtEl>
                                          <p:spTgt spid="12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8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25" grpId="1" animBg="1"/>
      <p:bldP spid="25" grpId="2" animBg="1"/>
      <p:bldP spid="26" grpId="0" animBg="1"/>
      <p:bldP spid="26" grpId="1" animBg="1"/>
      <p:bldP spid="26" grpId="2" animBg="1"/>
      <p:bldP spid="27" grpId="0" animBg="1"/>
      <p:bldP spid="27" grpId="1" animBg="1"/>
      <p:bldP spid="27" grpId="2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8" grpId="0" animBg="1"/>
      <p:bldP spid="39" grpId="0" animBg="1"/>
      <p:bldP spid="40" grpId="0" animBg="1"/>
      <p:bldP spid="40" grpId="1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9" grpId="2" animBg="1"/>
      <p:bldP spid="50" grpId="2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5" grpId="3" animBg="1"/>
      <p:bldP spid="56" grpId="0" animBg="1"/>
      <p:bldP spid="56" grpId="1" animBg="1"/>
      <p:bldP spid="56" grpId="3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8" grpId="0" animBg="1"/>
      <p:bldP spid="69" grpId="0" animBg="1"/>
      <p:bldP spid="74" grpId="1" animBg="1"/>
      <p:bldP spid="75" grpId="0" animBg="1"/>
      <p:bldP spid="77" grpId="1" animBg="1"/>
      <p:bldP spid="78" grpId="0" animBg="1"/>
      <p:bldP spid="80" grpId="1" animBg="1"/>
      <p:bldP spid="81" grpId="0" animBg="1"/>
      <p:bldP spid="82" grpId="0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1" grpId="0" animBg="1"/>
      <p:bldP spid="91" grpId="1" animBg="1"/>
      <p:bldP spid="91" grpId="3" animBg="1"/>
      <p:bldP spid="92" grpId="0" animBg="1"/>
      <p:bldP spid="92" grpId="1" animBg="1"/>
      <p:bldP spid="92" grpId="3" animBg="1"/>
      <p:bldP spid="93" grpId="0" animBg="1"/>
      <p:bldP spid="93" grpId="1" animBg="1"/>
      <p:bldP spid="93" grpId="3" animBg="1"/>
      <p:bldP spid="94" grpId="0" animBg="1"/>
      <p:bldP spid="94" grpId="1" animBg="1"/>
      <p:bldP spid="94" grpId="3" animBg="1"/>
      <p:bldP spid="95" grpId="0" animBg="1"/>
      <p:bldP spid="95" grpId="1" animBg="1"/>
      <p:bldP spid="95" grpId="3" animBg="1"/>
      <p:bldP spid="96" grpId="0" animBg="1"/>
      <p:bldP spid="96" grpId="1" animBg="1"/>
      <p:bldP spid="96" grpId="3" animBg="1"/>
      <p:bldP spid="97" grpId="0" animBg="1"/>
      <p:bldP spid="97" grpId="1" animBg="1"/>
      <p:bldP spid="97" grpId="3" animBg="1"/>
      <p:bldP spid="98" grpId="0" animBg="1"/>
      <p:bldP spid="98" grpId="1" animBg="1"/>
      <p:bldP spid="98" grpId="3" animBg="1"/>
      <p:bldP spid="99" grpId="0" animBg="1"/>
      <p:bldP spid="99" grpId="1" animBg="1"/>
      <p:bldP spid="99" grpId="3" animBg="1"/>
      <p:bldP spid="100" grpId="0" animBg="1"/>
      <p:bldP spid="100" grpId="1" animBg="1"/>
      <p:bldP spid="100" grpId="3" animBg="1"/>
      <p:bldP spid="101" grpId="0" animBg="1"/>
      <p:bldP spid="101" grpId="1" animBg="1"/>
      <p:bldP spid="101" grpId="3" animBg="1"/>
      <p:bldP spid="102" grpId="0" animBg="1"/>
      <p:bldP spid="102" grpId="1" animBg="1"/>
      <p:bldP spid="102" grpId="3" animBg="1"/>
      <p:bldP spid="103" grpId="0" animBg="1"/>
      <p:bldP spid="103" grpId="1" animBg="1"/>
      <p:bldP spid="103" grpId="3" animBg="1"/>
      <p:bldP spid="104" grpId="0" animBg="1"/>
      <p:bldP spid="104" grpId="1" animBg="1"/>
      <p:bldP spid="104" grpId="3" animBg="1"/>
      <p:bldP spid="105" grpId="0" animBg="1"/>
      <p:bldP spid="105" grpId="1" animBg="1"/>
      <p:bldP spid="105" grpId="3" animBg="1"/>
      <p:bldP spid="106" grpId="0" animBg="1"/>
      <p:bldP spid="106" grpId="1" animBg="1"/>
      <p:bldP spid="106" grpId="3" animBg="1"/>
      <p:bldP spid="107" grpId="0" animBg="1"/>
      <p:bldP spid="107" grpId="1" animBg="1"/>
      <p:bldP spid="107" grpId="3" animBg="1"/>
      <p:bldP spid="108" grpId="0" animBg="1"/>
      <p:bldP spid="108" grpId="1" animBg="1"/>
      <p:bldP spid="108" grpId="3" animBg="1"/>
      <p:bldP spid="109" grpId="0" animBg="1"/>
      <p:bldP spid="109" grpId="1" animBg="1"/>
      <p:bldP spid="109" grpId="3" animBg="1"/>
      <p:bldP spid="110" grpId="0" animBg="1"/>
      <p:bldP spid="110" grpId="1" animBg="1"/>
      <p:bldP spid="110" grpId="3" animBg="1"/>
      <p:bldP spid="111" grpId="0" animBg="1"/>
      <p:bldP spid="111" grpId="1" animBg="1"/>
      <p:bldP spid="111" grpId="3" animBg="1"/>
      <p:bldP spid="112" grpId="0" animBg="1"/>
      <p:bldP spid="112" grpId="1" animBg="1"/>
      <p:bldP spid="112" grpId="3" animBg="1"/>
      <p:bldP spid="113" grpId="0" animBg="1"/>
      <p:bldP spid="113" grpId="1" animBg="1"/>
      <p:bldP spid="113" grpId="3" animBg="1"/>
      <p:bldP spid="114" grpId="0" animBg="1"/>
      <p:bldP spid="114" grpId="1" animBg="1"/>
      <p:bldP spid="114" grpId="3" animBg="1"/>
      <p:bldP spid="115" grpId="0" animBg="1"/>
      <p:bldP spid="115" grpId="1" animBg="1"/>
      <p:bldP spid="115" grpId="3" animBg="1"/>
      <p:bldP spid="116" grpId="0" animBg="1"/>
      <p:bldP spid="116" grpId="1" animBg="1"/>
      <p:bldP spid="116" grpId="3" animBg="1"/>
      <p:bldP spid="117" grpId="0" animBg="1"/>
      <p:bldP spid="117" grpId="1" animBg="1"/>
      <p:bldP spid="117" grpId="3" animBg="1"/>
      <p:bldP spid="118" grpId="0" animBg="1"/>
      <p:bldP spid="118" grpId="1" animBg="1"/>
      <p:bldP spid="118" grpId="3" animBg="1"/>
      <p:bldP spid="119" grpId="0" animBg="1"/>
      <p:bldP spid="119" grpId="1" animBg="1"/>
      <p:bldP spid="119" grpId="3" animBg="1"/>
      <p:bldP spid="120" grpId="0" animBg="1"/>
      <p:bldP spid="120" grpId="1" animBg="1"/>
      <p:bldP spid="120" grpId="3" animBg="1"/>
      <p:bldP spid="121" grpId="0" animBg="1"/>
      <p:bldP spid="121" grpId="1" animBg="1"/>
      <p:bldP spid="121" grpId="3" animBg="1"/>
      <p:bldP spid="122" grpId="0" animBg="1"/>
      <p:bldP spid="122" grpId="1" animBg="1"/>
      <p:bldP spid="122" grpId="3" animBg="1"/>
      <p:bldP spid="123" grpId="0" animBg="1"/>
      <p:bldP spid="123" grpId="1" animBg="1"/>
      <p:bldP spid="123" grpId="3" animBg="1"/>
      <p:bldP spid="124" grpId="0" animBg="1"/>
      <p:bldP spid="124" grpId="1" animBg="1"/>
      <p:bldP spid="124" grpId="3" animBg="1"/>
      <p:bldP spid="125" grpId="0" animBg="1"/>
      <p:bldP spid="125" grpId="1" animBg="1"/>
      <p:bldP spid="125" grpId="3" animBg="1"/>
      <p:bldP spid="126" grpId="0" animBg="1"/>
      <p:bldP spid="126" grpId="1" animBg="1"/>
      <p:bldP spid="126" grpId="3" animBg="1"/>
      <p:bldP spid="127" grpId="0" animBg="1"/>
      <p:bldP spid="127" grpId="1" animBg="1"/>
      <p:bldP spid="127" grpId="3" animBg="1"/>
      <p:bldP spid="128" grpId="0" animBg="1"/>
      <p:bldP spid="128" grpId="2" animBg="1"/>
      <p:bldP spid="129" grpId="0" animBg="1"/>
      <p:bldP spid="129" grpId="2" animBg="1"/>
      <p:bldP spid="131" grpId="0" animBg="1"/>
      <p:bldP spid="131" grpId="1" animBg="1"/>
      <p:bldP spid="131" grpId="2" animBg="1"/>
      <p:bldP spid="132" grpId="0" animBg="1"/>
      <p:bldP spid="132" grpId="1" animBg="1"/>
      <p:bldP spid="132" grpId="2" animBg="1"/>
      <p:bldP spid="133" grpId="0" animBg="1"/>
      <p:bldP spid="133" grpId="1" animBg="1"/>
      <p:bldP spid="133" grpId="2" animBg="1"/>
      <p:bldP spid="158" grpId="0" animBg="1"/>
      <p:bldP spid="158" grpId="1" animBg="1"/>
      <p:bldP spid="158" grpId="3" animBg="1"/>
      <p:bldP spid="159" grpId="0" animBg="1"/>
      <p:bldP spid="159" grpId="1" animBg="1"/>
      <p:bldP spid="159" grpId="3" animBg="1"/>
      <p:bldP spid="160" grpId="0" animBg="1"/>
      <p:bldP spid="160" grpId="1" animBg="1"/>
      <p:bldP spid="160" grpId="3" animBg="1"/>
      <p:bldP spid="161" grpId="0" animBg="1"/>
      <p:bldP spid="161" grpId="1" animBg="1"/>
      <p:bldP spid="161" grpId="3" animBg="1"/>
      <p:bldP spid="162" grpId="0" animBg="1"/>
      <p:bldP spid="162" grpId="1" animBg="1"/>
      <p:bldP spid="162" grpId="3" animBg="1"/>
      <p:bldP spid="163" grpId="0" animBg="1"/>
      <p:bldP spid="163" grpId="1" animBg="1"/>
      <p:bldP spid="163" grpId="3" animBg="1"/>
      <p:bldP spid="164" grpId="0" animBg="1"/>
      <p:bldP spid="164" grpId="1" animBg="1"/>
      <p:bldP spid="164" grpId="3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Tank decontamination – gamma-jet circulation</a:t>
            </a:r>
            <a:endParaRPr lang="en-US" sz="2800" dirty="0"/>
          </a:p>
        </p:txBody>
      </p:sp>
      <p:sp>
        <p:nvSpPr>
          <p:cNvPr id="3" name="s741"/>
          <p:cNvSpPr/>
          <p:nvPr/>
        </p:nvSpPr>
        <p:spPr>
          <a:xfrm>
            <a:off x="3840480" y="4892040"/>
            <a:ext cx="420624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742"/>
          <p:cNvSpPr/>
          <p:nvPr/>
        </p:nvSpPr>
        <p:spPr>
          <a:xfrm>
            <a:off x="3840480" y="2240280"/>
            <a:ext cx="4206240" cy="2880360"/>
          </a:xfrm>
          <a:prstGeom prst="roundRect">
            <a:avLst>
              <a:gd name="adj" fmla="val 1587"/>
            </a:avLst>
          </a:prstGeom>
          <a:solidFill>
            <a:srgbClr val="BFDDF2"/>
          </a:solidFill>
          <a:ln w="254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743"/>
          <p:cNvSpPr/>
          <p:nvPr/>
        </p:nvSpPr>
        <p:spPr>
          <a:xfrm>
            <a:off x="4345229" y="2267712"/>
            <a:ext cx="757123" cy="2825496"/>
          </a:xfrm>
          <a:prstGeom prst="roundRect">
            <a:avLst>
              <a:gd name="adj" fmla="val 50000"/>
            </a:avLst>
          </a:prstGeom>
          <a:solidFill>
            <a:srgbClr val="E3F0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s744"/>
          <p:cNvSpPr/>
          <p:nvPr/>
        </p:nvSpPr>
        <p:spPr>
          <a:xfrm>
            <a:off x="3840480" y="2240280"/>
            <a:ext cx="4206240" cy="2880360"/>
          </a:xfrm>
          <a:prstGeom prst="roundRect">
            <a:avLst>
              <a:gd name="adj" fmla="val 1587"/>
            </a:avLst>
          </a:prstGeom>
          <a:solidFill>
            <a:srgbClr val="A08467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745"/>
          <p:cNvSpPr/>
          <p:nvPr/>
        </p:nvSpPr>
        <p:spPr>
          <a:xfrm>
            <a:off x="3840480" y="2240280"/>
            <a:ext cx="4206240" cy="2880360"/>
          </a:xfrm>
          <a:prstGeom prst="roundRect">
            <a:avLst>
              <a:gd name="adj" fmla="val 1587"/>
            </a:avLst>
          </a:prstGeom>
          <a:solidFill>
            <a:srgbClr val="7A5C3E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s746"/>
          <p:cNvSpPr/>
          <p:nvPr/>
        </p:nvSpPr>
        <p:spPr>
          <a:xfrm>
            <a:off x="3840480" y="2240280"/>
            <a:ext cx="4206240" cy="2880360"/>
          </a:xfrm>
          <a:prstGeom prst="roundRect">
            <a:avLst>
              <a:gd name="adj" fmla="val 1587"/>
            </a:avLst>
          </a:prstGeom>
          <a:solidFill>
            <a:srgbClr val="5C4630"/>
          </a:solidFill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747"/>
          <p:cNvSpPr/>
          <p:nvPr/>
        </p:nvSpPr>
        <p:spPr>
          <a:xfrm>
            <a:off x="3840480" y="2011680"/>
            <a:ext cx="4206240" cy="457200"/>
          </a:xfrm>
          <a:prstGeom prst="ellipse">
            <a:avLst/>
          </a:prstGeom>
          <a:solidFill>
            <a:srgbClr val="DDE5EE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748"/>
          <p:cNvSpPr/>
          <p:nvPr/>
        </p:nvSpPr>
        <p:spPr>
          <a:xfrm>
            <a:off x="3886200" y="4343400"/>
            <a:ext cx="4114800" cy="731520"/>
          </a:xfrm>
          <a:prstGeom prst="rect">
            <a:avLst/>
          </a:prstGeom>
          <a:solidFill>
            <a:srgbClr val="5C46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s749"/>
          <p:cNvSpPr/>
          <p:nvPr/>
        </p:nvSpPr>
        <p:spPr>
          <a:xfrm>
            <a:off x="3886200" y="4800600"/>
            <a:ext cx="4114800" cy="274320"/>
          </a:xfrm>
          <a:prstGeom prst="rect">
            <a:avLst/>
          </a:prstGeom>
          <a:solidFill>
            <a:srgbClr val="7A5C3E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2" name="t750"/>
          <p:cNvSpPr txBox="1"/>
          <p:nvPr/>
        </p:nvSpPr>
        <p:spPr>
          <a:xfrm>
            <a:off x="5029200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tank</a:t>
            </a:r>
            <a:endParaRPr lang="en-US" sz="1100" dirty="0"/>
          </a:p>
        </p:txBody>
      </p:sp>
      <p:sp>
        <p:nvSpPr>
          <p:cNvPr id="13" name="s751"/>
          <p:cNvSpPr/>
          <p:nvPr/>
        </p:nvSpPr>
        <p:spPr>
          <a:xfrm>
            <a:off x="5943600" y="1737360"/>
            <a:ext cx="0" cy="1600200"/>
          </a:xfrm>
          <a:prstGeom prst="line">
            <a:avLst/>
          </a:prstGeom>
          <a:noFill/>
          <a:ln w="381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752"/>
          <p:cNvSpPr/>
          <p:nvPr/>
        </p:nvSpPr>
        <p:spPr>
          <a:xfrm flipH="1" flipV="1">
            <a:off x="3977640" y="2743200"/>
            <a:ext cx="1965960" cy="822960"/>
          </a:xfrm>
          <a:prstGeom prst="line">
            <a:avLst/>
          </a:prstGeom>
          <a:noFill/>
          <a:ln w="31750">
            <a:solidFill>
              <a:srgbClr val="9CCB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753"/>
          <p:cNvSpPr/>
          <p:nvPr/>
        </p:nvSpPr>
        <p:spPr>
          <a:xfrm flipH="1">
            <a:off x="3977640" y="3566160"/>
            <a:ext cx="1965960" cy="274320"/>
          </a:xfrm>
          <a:prstGeom prst="line">
            <a:avLst/>
          </a:prstGeom>
          <a:noFill/>
          <a:ln w="31750">
            <a:solidFill>
              <a:srgbClr val="9CCB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s754"/>
          <p:cNvSpPr/>
          <p:nvPr/>
        </p:nvSpPr>
        <p:spPr>
          <a:xfrm flipH="1">
            <a:off x="4114800" y="3566160"/>
            <a:ext cx="1828800" cy="1280160"/>
          </a:xfrm>
          <a:prstGeom prst="line">
            <a:avLst/>
          </a:prstGeom>
          <a:noFill/>
          <a:ln w="31750">
            <a:solidFill>
              <a:srgbClr val="9CCB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s755"/>
          <p:cNvSpPr/>
          <p:nvPr/>
        </p:nvSpPr>
        <p:spPr>
          <a:xfrm flipH="1">
            <a:off x="5120640" y="3566160"/>
            <a:ext cx="822960" cy="1417320"/>
          </a:xfrm>
          <a:prstGeom prst="line">
            <a:avLst/>
          </a:prstGeom>
          <a:noFill/>
          <a:ln w="31750">
            <a:solidFill>
              <a:srgbClr val="9CCB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s756"/>
          <p:cNvSpPr/>
          <p:nvPr/>
        </p:nvSpPr>
        <p:spPr>
          <a:xfrm>
            <a:off x="5943600" y="3566160"/>
            <a:ext cx="822960" cy="1417320"/>
          </a:xfrm>
          <a:prstGeom prst="line">
            <a:avLst/>
          </a:prstGeom>
          <a:noFill/>
          <a:ln w="31750">
            <a:solidFill>
              <a:srgbClr val="9CCB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757"/>
          <p:cNvSpPr/>
          <p:nvPr/>
        </p:nvSpPr>
        <p:spPr>
          <a:xfrm>
            <a:off x="5943600" y="3566160"/>
            <a:ext cx="1828800" cy="1280160"/>
          </a:xfrm>
          <a:prstGeom prst="line">
            <a:avLst/>
          </a:prstGeom>
          <a:noFill/>
          <a:ln w="31750">
            <a:solidFill>
              <a:srgbClr val="9CCB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s758"/>
          <p:cNvSpPr/>
          <p:nvPr/>
        </p:nvSpPr>
        <p:spPr>
          <a:xfrm>
            <a:off x="5943600" y="3566160"/>
            <a:ext cx="1965960" cy="274320"/>
          </a:xfrm>
          <a:prstGeom prst="line">
            <a:avLst/>
          </a:prstGeom>
          <a:noFill/>
          <a:ln w="31750">
            <a:solidFill>
              <a:srgbClr val="9CCB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s759"/>
          <p:cNvSpPr/>
          <p:nvPr/>
        </p:nvSpPr>
        <p:spPr>
          <a:xfrm flipV="1">
            <a:off x="5943600" y="2743200"/>
            <a:ext cx="1965960" cy="822960"/>
          </a:xfrm>
          <a:prstGeom prst="line">
            <a:avLst/>
          </a:prstGeom>
          <a:noFill/>
          <a:ln w="31750">
            <a:solidFill>
              <a:srgbClr val="9CCB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s760"/>
          <p:cNvSpPr/>
          <p:nvPr/>
        </p:nvSpPr>
        <p:spPr>
          <a:xfrm flipH="1" flipV="1">
            <a:off x="4846320" y="2377440"/>
            <a:ext cx="1097280" cy="1188720"/>
          </a:xfrm>
          <a:prstGeom prst="line">
            <a:avLst/>
          </a:prstGeom>
          <a:noFill/>
          <a:ln w="31750">
            <a:solidFill>
              <a:srgbClr val="9CCB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761"/>
          <p:cNvSpPr/>
          <p:nvPr/>
        </p:nvSpPr>
        <p:spPr>
          <a:xfrm flipV="1">
            <a:off x="5943600" y="2377440"/>
            <a:ext cx="1097280" cy="1188720"/>
          </a:xfrm>
          <a:prstGeom prst="line">
            <a:avLst/>
          </a:prstGeom>
          <a:noFill/>
          <a:ln w="31750">
            <a:solidFill>
              <a:srgbClr val="9CCB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s762"/>
          <p:cNvSpPr/>
          <p:nvPr/>
        </p:nvSpPr>
        <p:spPr>
          <a:xfrm>
            <a:off x="5833872" y="3456432"/>
            <a:ext cx="219456" cy="219456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5" name="t763"/>
          <p:cNvSpPr txBox="1"/>
          <p:nvPr/>
        </p:nvSpPr>
        <p:spPr>
          <a:xfrm>
            <a:off x="5029200" y="4462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Gamma-jet nozzle</a:t>
            </a:r>
            <a:endParaRPr lang="en-US" sz="1100" dirty="0"/>
          </a:p>
        </p:txBody>
      </p:sp>
      <p:sp>
        <p:nvSpPr>
          <p:cNvPr id="26" name="s764"/>
          <p:cNvSpPr/>
          <p:nvPr/>
        </p:nvSpPr>
        <p:spPr>
          <a:xfrm flipV="1">
            <a:off x="4572000" y="1691640"/>
            <a:ext cx="0" cy="41148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s765"/>
          <p:cNvSpPr/>
          <p:nvPr/>
        </p:nvSpPr>
        <p:spPr>
          <a:xfrm flipH="1">
            <a:off x="3108960" y="1691640"/>
            <a:ext cx="146304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28" name="s766"/>
          <p:cNvSpPr/>
          <p:nvPr/>
        </p:nvSpPr>
        <p:spPr>
          <a:xfrm>
            <a:off x="2377440" y="1463040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4A5560"/>
          </a:solidFill>
          <a:ln w="1270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s767"/>
          <p:cNvSpPr/>
          <p:nvPr/>
        </p:nvSpPr>
        <p:spPr>
          <a:xfrm>
            <a:off x="2468880" y="1645920"/>
            <a:ext cx="548640" cy="0"/>
          </a:xfrm>
          <a:prstGeom prst="line">
            <a:avLst/>
          </a:prstGeom>
          <a:noFill/>
          <a:ln w="12700">
            <a:solidFill>
              <a:srgbClr val="7C879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s768"/>
          <p:cNvSpPr/>
          <p:nvPr/>
        </p:nvSpPr>
        <p:spPr>
          <a:xfrm>
            <a:off x="2468880" y="1874520"/>
            <a:ext cx="548640" cy="0"/>
          </a:xfrm>
          <a:prstGeom prst="line">
            <a:avLst/>
          </a:prstGeom>
          <a:noFill/>
          <a:ln w="12700">
            <a:solidFill>
              <a:srgbClr val="7C879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s769"/>
          <p:cNvSpPr/>
          <p:nvPr/>
        </p:nvSpPr>
        <p:spPr>
          <a:xfrm>
            <a:off x="2468880" y="2103120"/>
            <a:ext cx="548640" cy="0"/>
          </a:xfrm>
          <a:prstGeom prst="line">
            <a:avLst/>
          </a:prstGeom>
          <a:noFill/>
          <a:ln w="12700">
            <a:solidFill>
              <a:srgbClr val="7C879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770"/>
          <p:cNvSpPr txBox="1"/>
          <p:nvPr/>
        </p:nvSpPr>
        <p:spPr>
          <a:xfrm>
            <a:off x="201168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FILTER</a:t>
            </a:r>
            <a:endParaRPr lang="en-US" sz="1100" dirty="0"/>
          </a:p>
        </p:txBody>
      </p:sp>
      <p:sp>
        <p:nvSpPr>
          <p:cNvPr id="33" name="s771"/>
          <p:cNvSpPr/>
          <p:nvPr/>
        </p:nvSpPr>
        <p:spPr>
          <a:xfrm flipV="1">
            <a:off x="2743200" y="1188720"/>
            <a:ext cx="0" cy="274320"/>
          </a:xfrm>
          <a:prstGeom prst="line">
            <a:avLst/>
          </a:prstGeom>
          <a:noFill/>
          <a:ln w="31750">
            <a:solidFill>
              <a:srgbClr val="3AB54A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4" name="t772"/>
          <p:cNvSpPr txBox="1"/>
          <p:nvPr/>
        </p:nvSpPr>
        <p:spPr>
          <a:xfrm>
            <a:off x="2834640" y="1115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vent</a:t>
            </a:r>
            <a:endParaRPr lang="en-US" sz="1000" dirty="0"/>
          </a:p>
        </p:txBody>
      </p:sp>
      <p:sp>
        <p:nvSpPr>
          <p:cNvPr id="35" name="s773"/>
          <p:cNvSpPr/>
          <p:nvPr/>
        </p:nvSpPr>
        <p:spPr>
          <a:xfrm>
            <a:off x="8046720" y="4892040"/>
            <a:ext cx="548640" cy="0"/>
          </a:xfrm>
          <a:prstGeom prst="line">
            <a:avLst/>
          </a:prstGeom>
          <a:noFill/>
          <a:ln w="50800">
            <a:solidFill>
              <a:srgbClr val="7A5C3E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6" name="s774"/>
          <p:cNvSpPr/>
          <p:nvPr/>
        </p:nvSpPr>
        <p:spPr>
          <a:xfrm>
            <a:off x="8595360" y="466344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5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t775"/>
          <p:cNvSpPr txBox="1"/>
          <p:nvPr/>
        </p:nvSpPr>
        <p:spPr>
          <a:xfrm>
            <a:off x="8046720" y="5138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pump</a:t>
            </a:r>
            <a:endParaRPr lang="en-US" sz="1000" dirty="0"/>
          </a:p>
        </p:txBody>
      </p:sp>
      <p:sp>
        <p:nvSpPr>
          <p:cNvPr id="38" name="s776"/>
          <p:cNvSpPr/>
          <p:nvPr/>
        </p:nvSpPr>
        <p:spPr>
          <a:xfrm>
            <a:off x="9052560" y="4892040"/>
            <a:ext cx="365760" cy="0"/>
          </a:xfrm>
          <a:prstGeom prst="line">
            <a:avLst/>
          </a:prstGeom>
          <a:noFill/>
          <a:ln w="50800">
            <a:solidFill>
              <a:srgbClr val="7A5C3E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39" name="s777"/>
          <p:cNvSpPr/>
          <p:nvPr/>
        </p:nvSpPr>
        <p:spPr>
          <a:xfrm>
            <a:off x="9418320" y="4160520"/>
            <a:ext cx="1371600" cy="105156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0" name="s778"/>
          <p:cNvSpPr/>
          <p:nvPr/>
        </p:nvSpPr>
        <p:spPr>
          <a:xfrm>
            <a:off x="9464040" y="4892040"/>
            <a:ext cx="1280160" cy="274320"/>
          </a:xfrm>
          <a:prstGeom prst="rect">
            <a:avLst/>
          </a:prstGeom>
          <a:solidFill>
            <a:srgbClr val="5C46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1" name="s779"/>
          <p:cNvSpPr/>
          <p:nvPr/>
        </p:nvSpPr>
        <p:spPr>
          <a:xfrm>
            <a:off x="9464040" y="4526280"/>
            <a:ext cx="1280160" cy="365760"/>
          </a:xfrm>
          <a:prstGeom prst="rect">
            <a:avLst/>
          </a:prstGeom>
          <a:solidFill>
            <a:srgbClr val="5C463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2" name="t780"/>
          <p:cNvSpPr txBox="1"/>
          <p:nvPr/>
        </p:nvSpPr>
        <p:spPr>
          <a:xfrm>
            <a:off x="9052560" y="5239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→ DISPOSAL</a:t>
            </a:r>
            <a:endParaRPr lang="en-US" sz="1100" dirty="0"/>
          </a:p>
        </p:txBody>
      </p:sp>
      <p:sp>
        <p:nvSpPr>
          <p:cNvPr id="43" name="s781"/>
          <p:cNvSpPr/>
          <p:nvPr/>
        </p:nvSpPr>
        <p:spPr>
          <a:xfrm>
            <a:off x="8046720" y="4023360"/>
            <a:ext cx="100584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44" name="s782"/>
          <p:cNvSpPr/>
          <p:nvPr/>
        </p:nvSpPr>
        <p:spPr>
          <a:xfrm>
            <a:off x="9052560" y="379476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t783"/>
          <p:cNvSpPr txBox="1"/>
          <p:nvPr/>
        </p:nvSpPr>
        <p:spPr>
          <a:xfrm>
            <a:off x="850392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pump</a:t>
            </a:r>
            <a:endParaRPr lang="en-US" sz="1000" dirty="0"/>
          </a:p>
        </p:txBody>
      </p:sp>
      <p:sp>
        <p:nvSpPr>
          <p:cNvPr id="46" name="s784"/>
          <p:cNvSpPr/>
          <p:nvPr/>
        </p:nvSpPr>
        <p:spPr>
          <a:xfrm flipV="1">
            <a:off x="9281160" y="1508760"/>
            <a:ext cx="0" cy="228600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s785"/>
          <p:cNvSpPr/>
          <p:nvPr/>
        </p:nvSpPr>
        <p:spPr>
          <a:xfrm flipH="1">
            <a:off x="5943600" y="1508760"/>
            <a:ext cx="3337560" cy="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s786"/>
          <p:cNvSpPr/>
          <p:nvPr/>
        </p:nvSpPr>
        <p:spPr>
          <a:xfrm>
            <a:off x="5943600" y="1508760"/>
            <a:ext cx="0" cy="228600"/>
          </a:xfrm>
          <a:prstGeom prst="line">
            <a:avLst/>
          </a:prstGeom>
          <a:noFill/>
          <a:ln w="50800">
            <a:solidFill>
              <a:srgbClr val="0C74BC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49" name="t787"/>
          <p:cNvSpPr txBox="1"/>
          <p:nvPr/>
        </p:nvSpPr>
        <p:spPr>
          <a:xfrm>
            <a:off x="603504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C7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Recirculated wash water + chemistry</a:t>
            </a:r>
            <a:endParaRPr lang="en-US" sz="1100" dirty="0"/>
          </a:p>
        </p:txBody>
      </p:sp>
      <p:sp>
        <p:nvSpPr>
          <p:cNvPr id="50" name="s788"/>
          <p:cNvSpPr/>
          <p:nvPr/>
        </p:nvSpPr>
        <p:spPr>
          <a:xfrm flipH="1">
            <a:off x="9281160" y="1920240"/>
            <a:ext cx="1325880" cy="0"/>
          </a:xfrm>
          <a:prstGeom prst="line">
            <a:avLst/>
          </a:prstGeom>
          <a:noFill/>
          <a:ln w="38100">
            <a:solidFill>
              <a:srgbClr val="3AB54A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51" name="t789"/>
          <p:cNvSpPr txBox="1"/>
          <p:nvPr/>
        </p:nvSpPr>
        <p:spPr>
          <a:xfrm>
            <a:off x="9509760" y="1627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CHEMISTRY</a:t>
            </a:r>
            <a:endParaRPr lang="en-US" sz="1000" dirty="0"/>
          </a:p>
        </p:txBody>
      </p:sp>
      <p:sp>
        <p:nvSpPr>
          <p:cNvPr id="52" name="s790"/>
          <p:cNvSpPr/>
          <p:nvPr/>
        </p:nvSpPr>
        <p:spPr>
          <a:xfrm>
            <a:off x="9509760" y="4023360"/>
            <a:ext cx="54864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s791"/>
          <p:cNvSpPr/>
          <p:nvPr/>
        </p:nvSpPr>
        <p:spPr>
          <a:xfrm flipV="1">
            <a:off x="10058400" y="3291840"/>
            <a:ext cx="0" cy="73152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4" name="s792"/>
          <p:cNvSpPr/>
          <p:nvPr/>
        </p:nvSpPr>
        <p:spPr>
          <a:xfrm>
            <a:off x="10058400" y="3291840"/>
            <a:ext cx="18288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AE"/>
          </a:p>
        </p:txBody>
      </p:sp>
      <p:sp>
        <p:nvSpPr>
          <p:cNvPr id="55" name="s793"/>
          <p:cNvSpPr/>
          <p:nvPr/>
        </p:nvSpPr>
        <p:spPr>
          <a:xfrm>
            <a:off x="10241280" y="2606040"/>
            <a:ext cx="1188720" cy="914400"/>
          </a:xfrm>
          <a:prstGeom prst="rect">
            <a:avLst/>
          </a:prstGeom>
          <a:solidFill>
            <a:srgbClr val="EEF2F6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6" name="s794"/>
          <p:cNvSpPr/>
          <p:nvPr/>
        </p:nvSpPr>
        <p:spPr>
          <a:xfrm>
            <a:off x="10287000" y="3200400"/>
            <a:ext cx="1097280" cy="274320"/>
          </a:xfrm>
          <a:prstGeom prst="rect">
            <a:avLst/>
          </a:prstGeom>
          <a:solidFill>
            <a:srgbClr val="B8A68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7" name="s795"/>
          <p:cNvSpPr/>
          <p:nvPr/>
        </p:nvSpPr>
        <p:spPr>
          <a:xfrm>
            <a:off x="10287000" y="2834640"/>
            <a:ext cx="1097280" cy="365760"/>
          </a:xfrm>
          <a:prstGeom prst="rect">
            <a:avLst/>
          </a:prstGeom>
          <a:solidFill>
            <a:srgbClr val="B8A68F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8" name="t796"/>
          <p:cNvSpPr txBox="1"/>
          <p:nvPr/>
        </p:nvSpPr>
        <p:spPr>
          <a:xfrm>
            <a:off x="9875520" y="35478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TANK</a:t>
            </a:r>
            <a:endParaRPr lang="en-US" sz="1100" dirty="0"/>
          </a:p>
        </p:txBody>
      </p:sp>
      <p:sp>
        <p:nvSpPr>
          <p:cNvPr id="59" name="s797"/>
          <p:cNvSpPr/>
          <p:nvPr/>
        </p:nvSpPr>
        <p:spPr>
          <a:xfrm>
            <a:off x="548640" y="306324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0" name="t798"/>
          <p:cNvSpPr txBox="1"/>
          <p:nvPr/>
        </p:nvSpPr>
        <p:spPr>
          <a:xfrm>
            <a:off x="731520" y="3172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 AT VENTS / SAMPLE POINT</a:t>
            </a:r>
            <a:endParaRPr lang="en-US" sz="1200" dirty="0"/>
          </a:p>
        </p:txBody>
      </p:sp>
      <p:sp>
        <p:nvSpPr>
          <p:cNvPr id="61" name="t799"/>
          <p:cNvSpPr txBox="1"/>
          <p:nvPr/>
        </p:nvSpPr>
        <p:spPr>
          <a:xfrm>
            <a:off x="731520" y="35661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400" dirty="0"/>
          </a:p>
        </p:txBody>
      </p:sp>
      <p:sp>
        <p:nvSpPr>
          <p:cNvPr id="62" name="t800"/>
          <p:cNvSpPr txBox="1"/>
          <p:nvPr/>
        </p:nvSpPr>
        <p:spPr>
          <a:xfrm>
            <a:off x="1737360" y="3566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138" name="dec138"/>
          <p:cNvSpPr txBox="1"/>
          <p:nvPr/>
        </p:nvSpPr>
        <p:spPr>
          <a:xfrm>
            <a:off x="1737360" y="3566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63" name="t801"/>
          <p:cNvSpPr txBox="1"/>
          <p:nvPr/>
        </p:nvSpPr>
        <p:spPr>
          <a:xfrm>
            <a:off x="1737360" y="35661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64" name="t802"/>
          <p:cNvSpPr txBox="1"/>
          <p:nvPr/>
        </p:nvSpPr>
        <p:spPr>
          <a:xfrm>
            <a:off x="731520" y="3977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400" dirty="0"/>
          </a:p>
        </p:txBody>
      </p:sp>
      <p:sp>
        <p:nvSpPr>
          <p:cNvPr id="65" name="t803"/>
          <p:cNvSpPr txBox="1"/>
          <p:nvPr/>
        </p:nvSpPr>
        <p:spPr>
          <a:xfrm>
            <a:off x="173736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139" name="dec139"/>
          <p:cNvSpPr txBox="1"/>
          <p:nvPr/>
        </p:nvSpPr>
        <p:spPr>
          <a:xfrm>
            <a:off x="173736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66" name="t804"/>
          <p:cNvSpPr txBox="1"/>
          <p:nvPr/>
        </p:nvSpPr>
        <p:spPr>
          <a:xfrm>
            <a:off x="173736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67" name="t805"/>
          <p:cNvSpPr txBox="1"/>
          <p:nvPr/>
        </p:nvSpPr>
        <p:spPr>
          <a:xfrm>
            <a:off x="731520" y="43891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400" dirty="0"/>
          </a:p>
        </p:txBody>
      </p:sp>
      <p:sp>
        <p:nvSpPr>
          <p:cNvPr id="68" name="t806"/>
          <p:cNvSpPr txBox="1"/>
          <p:nvPr/>
        </p:nvSpPr>
        <p:spPr>
          <a:xfrm>
            <a:off x="1737360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above limit</a:t>
            </a:r>
            <a:endParaRPr lang="en-US" sz="1300" dirty="0"/>
          </a:p>
        </p:txBody>
      </p:sp>
      <p:sp>
        <p:nvSpPr>
          <p:cNvPr id="140" name="dec140"/>
          <p:cNvSpPr txBox="1"/>
          <p:nvPr/>
        </p:nvSpPr>
        <p:spPr>
          <a:xfrm>
            <a:off x="1737360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decreasing</a:t>
            </a:r>
            <a:endParaRPr lang="en-US" sz="1300" dirty="0"/>
          </a:p>
        </p:txBody>
      </p:sp>
      <p:sp>
        <p:nvSpPr>
          <p:cNvPr id="69" name="t807"/>
          <p:cNvSpPr txBox="1"/>
          <p:nvPr/>
        </p:nvSpPr>
        <p:spPr>
          <a:xfrm>
            <a:off x="1737360" y="4389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OK</a:t>
            </a:r>
            <a:endParaRPr lang="en-US" sz="1300" dirty="0"/>
          </a:p>
        </p:txBody>
      </p:sp>
      <p:sp>
        <p:nvSpPr>
          <p:cNvPr id="70" name="s808"/>
          <p:cNvSpPr/>
          <p:nvPr/>
        </p:nvSpPr>
        <p:spPr>
          <a:xfrm>
            <a:off x="548640" y="5852160"/>
            <a:ext cx="10515600" cy="713232"/>
          </a:xfrm>
          <a:prstGeom prst="roundRect">
            <a:avLst>
              <a:gd name="adj" fmla="val 25641"/>
            </a:avLst>
          </a:prstGeom>
          <a:solidFill>
            <a:srgbClr val="EAF3F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1" name="t809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Crude and product tanks: bottom sludge, and benzene, LEL and H₂S in the vapour space – entry is not allowed.</a:t>
            </a:r>
            <a:endParaRPr lang="en-US" sz="1400" dirty="0"/>
          </a:p>
        </p:txBody>
      </p:sp>
      <p:sp>
        <p:nvSpPr>
          <p:cNvPr id="72" name="t810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The tank vent is routed through a carbon filter – vapours are treated before release.</a:t>
            </a:r>
            <a:endParaRPr lang="en-US" sz="1400" dirty="0"/>
          </a:p>
        </p:txBody>
      </p:sp>
      <p:sp>
        <p:nvSpPr>
          <p:cNvPr id="73" name="t811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Bulk sludge is removed first: a vacuum pump transfers it to a waste tank for licensed disposal.</a:t>
            </a:r>
            <a:endParaRPr lang="en-US" sz="1400" dirty="0"/>
          </a:p>
        </p:txBody>
      </p:sp>
      <p:sp>
        <p:nvSpPr>
          <p:cNvPr id="74" name="t812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A gamma-jet nozzle is lowered through the roof manway; wash water with decon chemistry is circulated to it.</a:t>
            </a:r>
            <a:endParaRPr lang="en-US" sz="1400" dirty="0"/>
          </a:p>
        </p:txBody>
      </p:sp>
      <p:sp>
        <p:nvSpPr>
          <p:cNvPr id="75" name="t813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Gamma-jetting and circulation run for 8–12 hours – the jets sweep shell, roof and floor.</a:t>
            </a:r>
            <a:endParaRPr lang="en-US" sz="1400" dirty="0"/>
          </a:p>
        </p:txBody>
      </p:sp>
      <p:sp>
        <p:nvSpPr>
          <p:cNvPr id="76" name="t814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H₂S is converted into stable compounds; benzene and LEL vapours leave through the carbon filter.</a:t>
            </a:r>
            <a:endParaRPr lang="en-US" sz="1400" dirty="0"/>
          </a:p>
        </p:txBody>
      </p:sp>
      <p:sp>
        <p:nvSpPr>
          <p:cNvPr id="77" name="t815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Walls and floor are clean – the spent wash is drained to the effluent tank.</a:t>
            </a:r>
            <a:endParaRPr lang="en-US" sz="1400" dirty="0"/>
          </a:p>
        </p:txBody>
      </p:sp>
      <p:sp>
        <p:nvSpPr>
          <p:cNvPr id="78" name="t816"/>
          <p:cNvSpPr txBox="1"/>
          <p:nvPr/>
        </p:nvSpPr>
        <p:spPr>
          <a:xfrm>
            <a:off x="777240" y="58521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 Gas tests confirm the entry criteria – safe entry.</a:t>
            </a:r>
            <a:endParaRPr lang="en-US" sz="1400" dirty="0"/>
          </a:p>
        </p:txBody>
      </p:sp>
      <p:sp>
        <p:nvSpPr>
          <p:cNvPr id="79" name="tag817"/>
          <p:cNvSpPr/>
          <p:nvPr/>
        </p:nvSpPr>
        <p:spPr>
          <a:xfrm>
            <a:off x="4206240" y="26517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80" name="tag818"/>
          <p:cNvSpPr/>
          <p:nvPr/>
        </p:nvSpPr>
        <p:spPr>
          <a:xfrm>
            <a:off x="6766560" y="26517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81" name="tag819"/>
          <p:cNvSpPr/>
          <p:nvPr/>
        </p:nvSpPr>
        <p:spPr>
          <a:xfrm>
            <a:off x="6766560" y="315468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82" name="tag820"/>
          <p:cNvSpPr/>
          <p:nvPr/>
        </p:nvSpPr>
        <p:spPr>
          <a:xfrm>
            <a:off x="4114800" y="26517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salt</a:t>
            </a:r>
            <a:endParaRPr lang="en-US" sz="1200" dirty="0"/>
          </a:p>
        </p:txBody>
      </p:sp>
      <p:sp>
        <p:nvSpPr>
          <p:cNvPr id="83" name="s821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4" name="s822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5" name="s823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6" name="s824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7" name="s825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8" name="s826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9" name="s827"/>
          <p:cNvSpPr/>
          <p:nvPr/>
        </p:nvSpPr>
        <p:spPr>
          <a:xfrm>
            <a:off x="7955280" y="4800600"/>
            <a:ext cx="182880" cy="182880"/>
          </a:xfrm>
          <a:prstGeom prst="ellipse">
            <a:avLst/>
          </a:prstGeom>
          <a:solidFill>
            <a:srgbClr val="5C4630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0" name="s828"/>
          <p:cNvSpPr/>
          <p:nvPr/>
        </p:nvSpPr>
        <p:spPr>
          <a:xfrm>
            <a:off x="7964424" y="394106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1" name="s829"/>
          <p:cNvSpPr/>
          <p:nvPr/>
        </p:nvSpPr>
        <p:spPr>
          <a:xfrm>
            <a:off x="7964424" y="394106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2" name="s830"/>
          <p:cNvSpPr/>
          <p:nvPr/>
        </p:nvSpPr>
        <p:spPr>
          <a:xfrm>
            <a:off x="7964424" y="394106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3" name="s831"/>
          <p:cNvSpPr/>
          <p:nvPr/>
        </p:nvSpPr>
        <p:spPr>
          <a:xfrm>
            <a:off x="7964424" y="394106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4" name="s832"/>
          <p:cNvSpPr/>
          <p:nvPr/>
        </p:nvSpPr>
        <p:spPr>
          <a:xfrm>
            <a:off x="7964424" y="394106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5" name="s833"/>
          <p:cNvSpPr/>
          <p:nvPr/>
        </p:nvSpPr>
        <p:spPr>
          <a:xfrm>
            <a:off x="7964424" y="394106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6" name="s834"/>
          <p:cNvSpPr/>
          <p:nvPr/>
        </p:nvSpPr>
        <p:spPr>
          <a:xfrm>
            <a:off x="7964424" y="3941064"/>
            <a:ext cx="164592" cy="164592"/>
          </a:xfrm>
          <a:prstGeom prst="ellipse">
            <a:avLst/>
          </a:prstGeom>
          <a:solidFill>
            <a:srgbClr val="0C74BC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7" name="s835"/>
          <p:cNvSpPr/>
          <p:nvPr/>
        </p:nvSpPr>
        <p:spPr>
          <a:xfrm>
            <a:off x="10533888" y="184708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8" name="s836"/>
          <p:cNvSpPr/>
          <p:nvPr/>
        </p:nvSpPr>
        <p:spPr>
          <a:xfrm>
            <a:off x="10533888" y="184708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9" name="s837"/>
          <p:cNvSpPr/>
          <p:nvPr/>
        </p:nvSpPr>
        <p:spPr>
          <a:xfrm>
            <a:off x="10533888" y="1847088"/>
            <a:ext cx="146304" cy="146304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0" name="s838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1" name="s839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2" name="s840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3" name="s841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4" name="s842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5" name="s843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6" name="s844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7" name="s845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8" name="s846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9" name="s847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0" name="s848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1" name="s849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2" name="s850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3" name="s851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4" name="s852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5" name="s853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6" name="s854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7" name="s855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8" name="s856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9" name="s857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0" name="s858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1" name="s859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2" name="s860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3" name="s861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4" name="s862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5" name="s863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6" name="s864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7" name="s865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8" name="s866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5DADE2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9" name="s867"/>
          <p:cNvSpPr/>
          <p:nvPr/>
        </p:nvSpPr>
        <p:spPr>
          <a:xfrm>
            <a:off x="5884164" y="3506724"/>
            <a:ext cx="118872" cy="118872"/>
          </a:xfrm>
          <a:prstGeom prst="ellipse">
            <a:avLst/>
          </a:prstGeom>
          <a:solidFill>
            <a:srgbClr val="3AB54A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0" name="s868"/>
          <p:cNvSpPr/>
          <p:nvPr/>
        </p:nvSpPr>
        <p:spPr>
          <a:xfrm>
            <a:off x="9427464" y="3941064"/>
            <a:ext cx="164592" cy="164592"/>
          </a:xfrm>
          <a:prstGeom prst="ellipse">
            <a:avLst/>
          </a:prstGeom>
          <a:solidFill>
            <a:srgbClr val="B8A68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1" name="s869"/>
          <p:cNvSpPr/>
          <p:nvPr/>
        </p:nvSpPr>
        <p:spPr>
          <a:xfrm>
            <a:off x="9427464" y="3941064"/>
            <a:ext cx="164592" cy="164592"/>
          </a:xfrm>
          <a:prstGeom prst="ellipse">
            <a:avLst/>
          </a:prstGeom>
          <a:solidFill>
            <a:srgbClr val="B8A68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2" name="s870"/>
          <p:cNvSpPr/>
          <p:nvPr/>
        </p:nvSpPr>
        <p:spPr>
          <a:xfrm>
            <a:off x="9427464" y="3941064"/>
            <a:ext cx="164592" cy="164592"/>
          </a:xfrm>
          <a:prstGeom prst="ellipse">
            <a:avLst/>
          </a:prstGeom>
          <a:solidFill>
            <a:srgbClr val="B8A68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3" name="s871"/>
          <p:cNvSpPr/>
          <p:nvPr/>
        </p:nvSpPr>
        <p:spPr>
          <a:xfrm>
            <a:off x="9427464" y="3941064"/>
            <a:ext cx="164592" cy="164592"/>
          </a:xfrm>
          <a:prstGeom prst="ellipse">
            <a:avLst/>
          </a:prstGeom>
          <a:solidFill>
            <a:srgbClr val="B8A68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4" name="s872"/>
          <p:cNvSpPr/>
          <p:nvPr/>
        </p:nvSpPr>
        <p:spPr>
          <a:xfrm>
            <a:off x="4176979" y="2331720"/>
            <a:ext cx="3533242" cy="164592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5" name="s873"/>
          <p:cNvSpPr/>
          <p:nvPr/>
        </p:nvSpPr>
        <p:spPr>
          <a:xfrm>
            <a:off x="548640" y="48006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6" name="t874"/>
          <p:cNvSpPr txBox="1"/>
          <p:nvPr/>
        </p:nvSpPr>
        <p:spPr>
          <a:xfrm>
            <a:off x="548640" y="4800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READY FOR SAFE ENTRY</a:t>
            </a:r>
            <a:endParaRPr lang="en-US" sz="1500" dirty="0"/>
          </a:p>
        </p:txBody>
      </p:sp>
      <p:sp>
        <p:nvSpPr>
          <p:cNvPr id="1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repeatCount="2000" fill="hold" grpId="2" nodeType="withEffect" nodePh="1">
                                  <p:stCondLst>
                                    <p:cond delay="9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25" dur="350" autoRev="1" fill="hold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1313 0.0000 E" pathEditMode="relative" ptsTypes="AA">
                                      <p:cBhvr>
                                        <p:cTn id="4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1313 0.0000 E" pathEditMode="relative" ptsTypes="AA">
                                      <p:cBhvr>
                                        <p:cTn id="5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0" presetClass="path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1313 0.0000 E" pathEditMode="relative" ptsTypes="AA">
                                      <p:cBhvr>
                                        <p:cTn id="6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0.1313 0.0000 E" pathEditMode="relative" ptsTypes="AA">
                                      <p:cBhvr>
                                        <p:cTn id="6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0" presetClass="path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1313 0.0000 E" pathEditMode="relative" ptsTypes="AA">
                                      <p:cBhvr>
                                        <p:cTn id="7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3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 L 0.1313 0.0000 E" pathEditMode="relative" ptsTypes="AA">
                                      <p:cBhvr>
                                        <p:cTn id="7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0" presetClass="path" presetSubtype="0" fill="hold" grpId="3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1313 0.0000 E" pathEditMode="relative" ptsTypes="AA">
                                      <p:cBhvr>
                                        <p:cTn id="8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2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21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2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2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8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6" presetClass="emph" presetSubtype="0" repeatCount="3000" fill="hold" grpId="2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139" dur="350" autoRev="1" fill="hold"/>
                                        <p:tgtEl>
                                          <p:spTgt spid="13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6" presetClass="emph" presetSubtype="0" repeatCount="3000" fill="hold" grpId="2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146" dur="350" autoRev="1" fill="hold"/>
                                        <p:tgtEl>
                                          <p:spTgt spid="13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6" presetClass="emph" presetSubtype="0" repeatCount="3000" fill="hold" grpId="2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3" dur="350" autoRev="1" fill="hold"/>
                                        <p:tgtEl>
                                          <p:spTgt spid="140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3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013 0.0000 L 0.1013 -0.3667 L -0.1725 -0.3667 L -0.1725 -0.0800 E" pathEditMode="relative" ptsTypes="AAAAA">
                                      <p:cBhvr>
                                        <p:cTn id="160" dur="22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1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1013 0.0000 L 0.1013 -0.3667 L -0.1725 -0.3667 L -0.1725 -0.0800 E" pathEditMode="relative" ptsTypes="AAAAA">
                                      <p:cBhvr>
                                        <p:cTn id="166" dur="22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1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1013 0.0000 L 0.1013 -0.3667 L -0.1725 -0.3667 L -0.1725 -0.0800 E" pathEditMode="relative" ptsTypes="AAAAA">
                                      <p:cBhvr>
                                        <p:cTn id="172" dur="22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0" presetClass="path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1013 0.0000 L 0.1013 -0.3667 L -0.1725 -0.3667 L -0.1725 -0.0800 E" pathEditMode="relative" ptsTypes="AAAAA">
                                      <p:cBhvr>
                                        <p:cTn id="178" dur="22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0" presetClass="path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 L 0.1013 0.0000 L 0.1013 -0.3667 L -0.1725 -0.3667 L -0.1725 -0.0800 E" pathEditMode="relative" ptsTypes="AAAAA">
                                      <p:cBhvr>
                                        <p:cTn id="184" dur="22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0" presetClass="path" presetSubtype="0" fill="hold" grpId="3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1013 0.0000 L 0.1013 -0.3667 L -0.1725 -0.3667 L -0.1725 -0.0800 E" pathEditMode="relative" ptsTypes="AAAAA">
                                      <p:cBhvr>
                                        <p:cTn id="190" dur="22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1" presetClass="exit" presetSubtype="0" fill="hold" grpId="1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grpId="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.1013 0.0000 L 0.1013 -0.3667 L -0.1725 -0.3667 L -0.1725 -0.0800 E" pathEditMode="relative" ptsTypes="AAAAA">
                                      <p:cBhvr>
                                        <p:cTn id="196" dur="22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1088 0.0000 E" pathEditMode="relative" ptsTypes="AA">
                                      <p:cBhvr>
                                        <p:cTn id="202" dur="7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1088 0.0000 E" pathEditMode="relative" ptsTypes="AA">
                                      <p:cBhvr>
                                        <p:cTn id="208" dur="7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 L -0.1088 0.0000 E" pathEditMode="relative" ptsTypes="AA">
                                      <p:cBhvr>
                                        <p:cTn id="214" dur="7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1" presetClass="exit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0" presetClass="path" presetSubtype="0" fill="hold" grpId="3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-0.1613 -0.1200 E" pathEditMode="relative" ptsTypes="AA">
                                      <p:cBhvr>
                                        <p:cTn id="250" dur="6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grpId="1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3" nodeType="withEffect">
                                  <p:stCondLst>
                                    <p:cond delay="2320"/>
                                  </p:stCondLst>
                                  <p:childTnLst>
                                    <p:animMotion origin="layout" path="M 0 0 L -0.1613 0.0400 E" pathEditMode="relative" ptsTypes="AA">
                                      <p:cBhvr>
                                        <p:cTn id="256" dur="6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1" presetClass="exit" presetSubtype="0" fill="hold" grpId="1" nodeType="withEffect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0" presetClass="path" presetSubtype="0" fill="hold" grpId="3" nodeType="withEffect">
                                  <p:stCondLst>
                                    <p:cond delay="2440"/>
                                  </p:stCondLst>
                                  <p:childTnLst>
                                    <p:animMotion origin="layout" path="M 0 0 L -0.1500 0.1867 E" pathEditMode="relative" ptsTypes="AA">
                                      <p:cBhvr>
                                        <p:cTn id="262" dur="6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grpId="1" nodeType="withEffect">
                                  <p:stCondLst>
                                    <p:cond delay="309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grpId="0" nodeType="withEffect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0" presetClass="path" presetSubtype="0" fill="hold" grpId="3" nodeType="withEffect">
                                  <p:stCondLst>
                                    <p:cond delay="2560"/>
                                  </p:stCondLst>
                                  <p:childTnLst>
                                    <p:animMotion origin="layout" path="M 0 0 L -0.0675 0.2067 E" pathEditMode="relative" ptsTypes="AA">
                                      <p:cBhvr>
                                        <p:cTn id="268" dur="6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1" presetClass="exit" presetSubtype="0" fill="hold" grpId="1" nodeType="withEffect">
                                  <p:stCondLst>
                                    <p:cond delay="321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0" presetClass="path" presetSubtype="0" fill="hold" grpId="3" nodeType="withEffect">
                                  <p:stCondLst>
                                    <p:cond delay="2680"/>
                                  </p:stCondLst>
                                  <p:childTnLst>
                                    <p:animMotion origin="layout" path="M 0 0 L 0.0675 0.2067 E" pathEditMode="relative" ptsTypes="AA">
                                      <p:cBhvr>
                                        <p:cTn id="274" dur="6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1" presetClass="exit" presetSubtype="0" fill="hold" grpId="1" nodeType="withEffect">
                                  <p:stCondLst>
                                    <p:cond delay="333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3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1500 0.1867 E" pathEditMode="relative" ptsTypes="AA">
                                      <p:cBhvr>
                                        <p:cTn id="280" dur="6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1" presetClass="exit" presetSubtype="0" fill="hold" grpId="1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232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0" presetClass="path" presetSubtype="0" fill="hold" grpId="3" nodeType="withEffect">
                                  <p:stCondLst>
                                    <p:cond delay="2320"/>
                                  </p:stCondLst>
                                  <p:childTnLst>
                                    <p:animMotion origin="layout" path="M 0 0 L 0.1613 0.0400 E" pathEditMode="relative" ptsTypes="AA">
                                      <p:cBhvr>
                                        <p:cTn id="286" dur="6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7" presetID="1" presetClass="exit" presetSubtype="0" fill="hold" grpId="1" nodeType="withEffect">
                                  <p:stCondLst>
                                    <p:cond delay="297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grpId="3" nodeType="withEffect">
                                  <p:stCondLst>
                                    <p:cond delay="2440"/>
                                  </p:stCondLst>
                                  <p:childTnLst>
                                    <p:animMotion origin="layout" path="M 0 0 L 0.1613 -0.1200 E" pathEditMode="relative" ptsTypes="AA">
                                      <p:cBhvr>
                                        <p:cTn id="292" dur="6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1" presetClass="exit" presetSubtype="0" fill="hold" grpId="1" nodeType="withEffect">
                                  <p:stCondLst>
                                    <p:cond delay="309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grpId="0" nodeType="withEffect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0" presetClass="path" presetSubtype="0" fill="hold" grpId="3" nodeType="withEffect">
                                  <p:stCondLst>
                                    <p:cond delay="2560"/>
                                  </p:stCondLst>
                                  <p:childTnLst>
                                    <p:animMotion origin="layout" path="M 0 0 L -0.0900 -0.1733 E" pathEditMode="relative" ptsTypes="AA">
                                      <p:cBhvr>
                                        <p:cTn id="298" dur="6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9" presetID="1" presetClass="exit" presetSubtype="0" fill="hold" grpId="1" nodeType="withEffect">
                                  <p:stCondLst>
                                    <p:cond delay="321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268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3" nodeType="withEffect">
                                  <p:stCondLst>
                                    <p:cond delay="2680"/>
                                  </p:stCondLst>
                                  <p:childTnLst>
                                    <p:animMotion origin="layout" path="M 0 0 L 0.0900 -0.1733 E" pathEditMode="relative" ptsTypes="AA">
                                      <p:cBhvr>
                                        <p:cTn id="304" dur="6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1" presetClass="exit" presetSubtype="0" fill="hold" grpId="1" nodeType="withEffect">
                                  <p:stCondLst>
                                    <p:cond delay="333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0" presetClass="path" presetSubtype="0" fill="hold" grpId="3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 L -0.1613 -0.1200 E" pathEditMode="relative" ptsTypes="AA">
                                      <p:cBhvr>
                                        <p:cTn id="310" dur="6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1" presetID="1" presetClass="exit" presetSubtype="0" fill="hold" grpId="1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3" nodeType="withEffect">
                                  <p:stCondLst>
                                    <p:cond delay="3020"/>
                                  </p:stCondLst>
                                  <p:childTnLst>
                                    <p:animMotion origin="layout" path="M 0 0 L -0.1613 0.0400 E" pathEditMode="relative" ptsTypes="AA">
                                      <p:cBhvr>
                                        <p:cTn id="316" dur="6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1" presetClass="exit" presetSubtype="0" fill="hold" grpId="1" nodeType="withEffect">
                                  <p:stCondLst>
                                    <p:cond delay="367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ntr" presetSubtype="0" fill="hold" grpId="0" nodeType="withEffect">
                                  <p:stCondLst>
                                    <p:cond delay="314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0" presetClass="path" presetSubtype="0" fill="hold" grpId="3" nodeType="withEffect">
                                  <p:stCondLst>
                                    <p:cond delay="3140"/>
                                  </p:stCondLst>
                                  <p:childTnLst>
                                    <p:animMotion origin="layout" path="M 0 0 L -0.1500 0.1867 E" pathEditMode="relative" ptsTypes="AA">
                                      <p:cBhvr>
                                        <p:cTn id="322" dur="6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1" presetClass="exit" presetSubtype="0" fill="hold" grpId="1" nodeType="withEffect">
                                  <p:stCondLst>
                                    <p:cond delay="379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" presetClass="entr" presetSubtype="0" fill="hold" grpId="0" nodeType="withEffect">
                                  <p:stCondLst>
                                    <p:cond delay="326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0" presetClass="path" presetSubtype="0" fill="hold" grpId="3" nodeType="withEffect">
                                  <p:stCondLst>
                                    <p:cond delay="3260"/>
                                  </p:stCondLst>
                                  <p:childTnLst>
                                    <p:animMotion origin="layout" path="M 0 0 L -0.0675 0.2067 E" pathEditMode="relative" ptsTypes="AA">
                                      <p:cBhvr>
                                        <p:cTn id="328" dur="6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9" presetID="1" presetClass="exit" presetSubtype="0" fill="hold" grpId="1" nodeType="withEffect">
                                  <p:stCondLst>
                                    <p:cond delay="391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0" presetClass="path" presetSubtype="0" fill="hold" grpId="3" nodeType="withEffect">
                                  <p:stCondLst>
                                    <p:cond delay="3380"/>
                                  </p:stCondLst>
                                  <p:childTnLst>
                                    <p:animMotion origin="layout" path="M 0 0 L 0.0675 0.2067 E" pathEditMode="relative" ptsTypes="AA">
                                      <p:cBhvr>
                                        <p:cTn id="334" dur="6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5" presetID="1" presetClass="exit" presetSubtype="0" fill="hold" grpId="1" nodeType="withEffect">
                                  <p:stCondLst>
                                    <p:cond delay="403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grpId="3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 L 0.1500 0.1867 E" pathEditMode="relative" ptsTypes="AA">
                                      <p:cBhvr>
                                        <p:cTn id="340" dur="65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1" presetClass="exit" presetSubtype="0" fill="hold" grpId="1" nodeType="withEffect">
                                  <p:stCondLst>
                                    <p:cond delay="355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" presetClass="entr" presetSubtype="0" fill="hold" grpId="0" nodeType="withEffect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0" presetClass="path" presetSubtype="0" fill="hold" grpId="3" nodeType="withEffect">
                                  <p:stCondLst>
                                    <p:cond delay="3020"/>
                                  </p:stCondLst>
                                  <p:childTnLst>
                                    <p:animMotion origin="layout" path="M 0 0 L 0.1613 0.0400 E" pathEditMode="relative" ptsTypes="AA">
                                      <p:cBhvr>
                                        <p:cTn id="346" dur="6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1" presetClass="exit" presetSubtype="0" fill="hold" grpId="1" nodeType="withEffect">
                                  <p:stCondLst>
                                    <p:cond delay="367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ntr" presetSubtype="0" fill="hold" grpId="0" nodeType="withEffect">
                                  <p:stCondLst>
                                    <p:cond delay="314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0" presetClass="path" presetSubtype="0" fill="hold" grpId="3" nodeType="withEffect">
                                  <p:stCondLst>
                                    <p:cond delay="3140"/>
                                  </p:stCondLst>
                                  <p:childTnLst>
                                    <p:animMotion origin="layout" path="M 0 0 L 0.1613 -0.1200 E" pathEditMode="relative" ptsTypes="AA">
                                      <p:cBhvr>
                                        <p:cTn id="352" dur="6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3" presetID="1" presetClass="exit" presetSubtype="0" fill="hold" grpId="1" nodeType="withEffect">
                                  <p:stCondLst>
                                    <p:cond delay="379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ntr" presetSubtype="0" fill="hold" grpId="0" nodeType="withEffect">
                                  <p:stCondLst>
                                    <p:cond delay="326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0" presetClass="path" presetSubtype="0" fill="hold" grpId="3" nodeType="withEffect">
                                  <p:stCondLst>
                                    <p:cond delay="3260"/>
                                  </p:stCondLst>
                                  <p:childTnLst>
                                    <p:animMotion origin="layout" path="M 0 0 L -0.0900 -0.1733 E" pathEditMode="relative" ptsTypes="AA">
                                      <p:cBhvr>
                                        <p:cTn id="358" dur="6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1" presetClass="exit" presetSubtype="0" fill="hold" grpId="1" nodeType="withEffect">
                                  <p:stCondLst>
                                    <p:cond delay="391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ntr" presetSubtype="0" fill="hold" grpId="0" nodeType="withEffect">
                                  <p:stCondLst>
                                    <p:cond delay="338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0" presetClass="path" presetSubtype="0" fill="hold" grpId="3" nodeType="withEffect">
                                  <p:stCondLst>
                                    <p:cond delay="3380"/>
                                  </p:stCondLst>
                                  <p:childTnLst>
                                    <p:animMotion origin="layout" path="M 0 0 L 0.0900 -0.1733 E" pathEditMode="relative" ptsTypes="AA">
                                      <p:cBhvr>
                                        <p:cTn id="364" dur="6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1" presetClass="exit" presetSubtype="0" fill="hold" grpId="1" nodeType="withEffect">
                                  <p:stCondLst>
                                    <p:cond delay="403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0" presetClass="path" presetSubtype="0" fill="hold" grpId="3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-0.1613 -0.1200 E" pathEditMode="relative" ptsTypes="AA">
                                      <p:cBhvr>
                                        <p:cTn id="370" dur="6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1" presetClass="exit" presetSubtype="0" fill="hold" grpId="1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ntr" presetSubtype="0" fill="hold" grpId="0" nodeType="withEffect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0" presetClass="path" presetSubtype="0" fill="hold" grpId="3" nodeType="withEffect">
                                  <p:stCondLst>
                                    <p:cond delay="3720"/>
                                  </p:stCondLst>
                                  <p:childTnLst>
                                    <p:animMotion origin="layout" path="M 0 0 L -0.1613 0.0400 E" pathEditMode="relative" ptsTypes="AA">
                                      <p:cBhvr>
                                        <p:cTn id="376" dur="6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1" presetClass="exit" presetSubtype="0" fill="hold" grpId="1" nodeType="withEffect">
                                  <p:stCondLst>
                                    <p:cond delay="437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ntr" presetSubtype="0" fill="hold" grpId="0" nodeType="withEffect">
                                  <p:stCondLst>
                                    <p:cond delay="384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0" presetClass="path" presetSubtype="0" fill="hold" grpId="3" nodeType="withEffect">
                                  <p:stCondLst>
                                    <p:cond delay="3840"/>
                                  </p:stCondLst>
                                  <p:childTnLst>
                                    <p:animMotion origin="layout" path="M 0 0 L -0.1500 0.1867 E" pathEditMode="relative" ptsTypes="AA">
                                      <p:cBhvr>
                                        <p:cTn id="382" dur="6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3" presetID="1" presetClass="exit" presetSubtype="0" fill="hold" grpId="1" nodeType="withEffect">
                                  <p:stCondLst>
                                    <p:cond delay="449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1" presetClass="entr" presetSubtype="0" fill="hold" grpId="0" nodeType="withEffect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0" presetClass="path" presetSubtype="0" fill="hold" grpId="3" nodeType="withEffect">
                                  <p:stCondLst>
                                    <p:cond delay="3960"/>
                                  </p:stCondLst>
                                  <p:childTnLst>
                                    <p:animMotion origin="layout" path="M 0 0 L -0.0675 0.2067 E" pathEditMode="relative" ptsTypes="AA">
                                      <p:cBhvr>
                                        <p:cTn id="388" dur="6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1" presetClass="exit" presetSubtype="0" fill="hold" grpId="1" nodeType="withEffect">
                                  <p:stCondLst>
                                    <p:cond delay="461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ntr" presetSubtype="0" fill="hold" grpId="0" nodeType="withEffect">
                                  <p:stCondLst>
                                    <p:cond delay="408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0" presetClass="path" presetSubtype="0" fill="hold" grpId="3" nodeType="withEffect">
                                  <p:stCondLst>
                                    <p:cond delay="4080"/>
                                  </p:stCondLst>
                                  <p:childTnLst>
                                    <p:animMotion origin="layout" path="M 0 0 L 0.0675 0.2067 E" pathEditMode="relative" ptsTypes="AA">
                                      <p:cBhvr>
                                        <p:cTn id="394" dur="6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1" presetClass="exit" presetSubtype="0" fill="hold" grpId="1" nodeType="withEffect">
                                  <p:stCondLst>
                                    <p:cond delay="473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1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0" presetClass="path" presetSubtype="0" fill="hold" grpId="3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.1500 0.1867 E" pathEditMode="relative" ptsTypes="AA">
                                      <p:cBhvr>
                                        <p:cTn id="400" dur="6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1" presetID="1" presetClass="exit" presetSubtype="0" fill="hold" grpId="1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1" presetClass="entr" presetSubtype="0" fill="hold" grpId="0" nodeType="withEffect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0" presetClass="path" presetSubtype="0" fill="hold" grpId="3" nodeType="withEffect">
                                  <p:stCondLst>
                                    <p:cond delay="3720"/>
                                  </p:stCondLst>
                                  <p:childTnLst>
                                    <p:animMotion origin="layout" path="M 0 0 L 0.1613 0.0400 E" pathEditMode="relative" ptsTypes="AA">
                                      <p:cBhvr>
                                        <p:cTn id="406" dur="65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7" presetID="1" presetClass="exit" presetSubtype="0" fill="hold" grpId="1" nodeType="withEffect">
                                  <p:stCondLst>
                                    <p:cond delay="437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ntr" presetSubtype="0" fill="hold" grpId="0" nodeType="withEffect">
                                  <p:stCondLst>
                                    <p:cond delay="384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0" presetClass="path" presetSubtype="0" fill="hold" grpId="3" nodeType="withEffect">
                                  <p:stCondLst>
                                    <p:cond delay="3840"/>
                                  </p:stCondLst>
                                  <p:childTnLst>
                                    <p:animMotion origin="layout" path="M 0 0 L 0.1613 -0.1200 E" pathEditMode="relative" ptsTypes="AA">
                                      <p:cBhvr>
                                        <p:cTn id="412" dur="65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3" presetID="1" presetClass="exit" presetSubtype="0" fill="hold" grpId="1" nodeType="withEffect">
                                  <p:stCondLst>
                                    <p:cond delay="449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ntr" presetSubtype="0" fill="hold" grpId="0" nodeType="withEffect">
                                  <p:stCondLst>
                                    <p:cond delay="396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0" presetClass="path" presetSubtype="0" fill="hold" grpId="3" nodeType="withEffect">
                                  <p:stCondLst>
                                    <p:cond delay="3960"/>
                                  </p:stCondLst>
                                  <p:childTnLst>
                                    <p:animMotion origin="layout" path="M 0 0 L -0.0900 -0.1733 E" pathEditMode="relative" ptsTypes="AA">
                                      <p:cBhvr>
                                        <p:cTn id="418" dur="65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" presetID="1" presetClass="exit" presetSubtype="0" fill="hold" grpId="1" nodeType="withEffect">
                                  <p:stCondLst>
                                    <p:cond delay="461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ntr" presetSubtype="0" fill="hold" grpId="0" nodeType="withEffect">
                                  <p:stCondLst>
                                    <p:cond delay="408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0" presetClass="path" presetSubtype="0" fill="hold" grpId="3" nodeType="withEffect">
                                  <p:stCondLst>
                                    <p:cond delay="4080"/>
                                  </p:stCondLst>
                                  <p:childTnLst>
                                    <p:animMotion origin="layout" path="M 0 0 L 0.0900 -0.1733 E" pathEditMode="relative" ptsTypes="AA">
                                      <p:cBhvr>
                                        <p:cTn id="424" dur="6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5" presetID="1" presetClass="exit" presetSubtype="0" fill="hold" grpId="1" nodeType="withEffect">
                                  <p:stCondLst>
                                    <p:cond delay="473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5" dur="30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436" presetID="10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2175 0.0000 L -0.2175 -0.1640 L -0.3375 -0.1640 E" pathEditMode="relative" ptsTypes="AAAA">
                                      <p:cBhvr>
                                        <p:cTn id="443" dur="18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0" presetClass="path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-0.2175 0.0000 L -0.2175 -0.2373 L -0.3375 -0.2373 E" pathEditMode="relative" ptsTypes="AAAA">
                                      <p:cBhvr>
                                        <p:cTn id="448" dur="18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10" presetClass="exit" presetSubtype="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0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>
                      <p:stCondLst>
                        <p:cond delay="indefinite"/>
                      </p:stCondLst>
                      <p:childTnLst>
                        <p:par>
                          <p:cTn id="453" fill="hold">
                            <p:stCondLst>
                              <p:cond delay="0"/>
                            </p:stCondLst>
                            <p:childTnLst>
                              <p:par>
                                <p:cTn id="4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0" dur="8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2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4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7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0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3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7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0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0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22" presetClass="entr" presetSubtype="8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6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presetID="22" presetClass="entr" presetSubtype="1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presetID="22" presetClass="entr" presetSubtype="8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2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3" presetID="1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5" presetID="0" presetClass="path" presetSubtype="0" fill="hold" grpId="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 L 0.0450 0.0000 L 0.0450 -0.1067 L 0.0825 -0.1067 E" pathEditMode="relative" ptsTypes="AAAA">
                                      <p:cBhvr>
                                        <p:cTn id="516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7" presetID="1" presetClass="exit" presetSubtype="0" fill="hold" grpId="1" nodeType="withEffect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" presetClass="entr" presetSubtype="0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0" presetClass="path" presetSubtype="0" fill="hold" grpId="3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.0450 0.0000 L 0.0450 -0.1067 L 0.0825 -0.1067 E" pathEditMode="relative" ptsTypes="AAAA">
                                      <p:cBhvr>
                                        <p:cTn id="522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3" presetID="1" presetClass="exit" presetSubtype="0" fill="hold" grpId="1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ntr" presetSubtype="0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0" presetClass="path" presetSubtype="0" fill="hold" grpId="3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 0 L 0.0450 0.0000 L 0.0450 -0.1067 L 0.0825 -0.1067 E" pathEditMode="relative" ptsTypes="AAAA">
                                      <p:cBhvr>
                                        <p:cTn id="528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9" presetID="1" presetClass="exit" presetSubtype="0" fill="hold" grpId="1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0" presetClass="path" presetSubtype="0" fill="hold" grpId="3" nodeType="withEffect">
                                  <p:stCondLst>
                                    <p:cond delay="4200"/>
                                  </p:stCondLst>
                                  <p:childTnLst>
                                    <p:animMotion origin="layout" path="M 0 0 L 0.0450 0.0000 L 0.0450 -0.1067 L 0.0825 -0.1067 E" pathEditMode="relative" ptsTypes="AAAA">
                                      <p:cBhvr>
                                        <p:cTn id="534" dur="1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5" presetID="1" presetClass="exit" presetSubtype="0" fill="hold" grpId="1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22" presetClass="entr" presetSubtype="4" fill="hold" grpId="0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9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0" presetID="22" presetClass="entr" presetSubtype="4" fill="hold" grpId="0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2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0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0.3600 E" pathEditMode="relative" ptsTypes="AA">
                                      <p:cBhvr>
                                        <p:cTn id="547" dur="11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8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9" dur="3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8" presetID="1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2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3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4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5" presetID="1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9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0" dur="4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1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presetID="1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6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7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8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fill="hold">
                            <p:stCondLst>
                              <p:cond delay="2000"/>
                            </p:stCondLst>
                            <p:childTnLst>
                              <p:par>
                                <p:cTn id="5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2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3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0" fill="hold">
                            <p:stCondLst>
                              <p:cond delay="2500"/>
                            </p:stCondLst>
                            <p:childTnLst>
                              <p:par>
                                <p:cTn id="591" presetID="6" presetClass="emph" presetSubtype="0" repeatCount="2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2" dur="400" autoRev="1" fill="hold"/>
                                        <p:tgtEl>
                                          <p:spTgt spid="13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93" presetID="6" presetClass="emph" presetSubtype="0" repeatCount="2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4" dur="400" autoRev="1" fill="hold"/>
                                        <p:tgtEl>
                                          <p:spTgt spid="13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7" grpId="1" animBg="1"/>
      <p:bldP spid="8" grpId="1" animBg="1"/>
      <p:bldP spid="10" grpId="1" animBg="1"/>
      <p:bldP spid="11" grpId="1" animBg="1"/>
      <p:bldP spid="13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6" grpId="0" animBg="1"/>
      <p:bldP spid="27" grpId="0" animBg="1"/>
      <p:bldP spid="28" grpId="2"/>
      <p:bldP spid="33" grpId="0" animBg="1"/>
      <p:bldP spid="34" grpId="0" animBg="1"/>
      <p:bldP spid="35" grpId="0" animBg="1"/>
      <p:bldP spid="38" grpId="0" animBg="1"/>
      <p:bldP spid="40" grpId="0" animBg="1"/>
      <p:bldP spid="41" grpId="0" animBg="1"/>
      <p:bldP spid="43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62" grpId="1" animBg="1"/>
      <p:bldP spid="63" grpId="0" animBg="1"/>
      <p:bldP spid="65" grpId="1" animBg="1"/>
      <p:bldP spid="66" grpId="0" animBg="1"/>
      <p:bldP spid="68" grpId="1" animBg="1"/>
      <p:bldP spid="69" grpId="0" animBg="1"/>
      <p:bldP spid="70" grpId="0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6" grpId="1" animBg="1"/>
      <p:bldP spid="77" grpId="0" animBg="1"/>
      <p:bldP spid="77" grpId="1" animBg="1"/>
      <p:bldP spid="78" grpId="0" animBg="1"/>
      <p:bldP spid="79" grpId="1" animBg="1"/>
      <p:bldP spid="79" grpId="2" animBg="1"/>
      <p:bldP spid="80" grpId="1" animBg="1"/>
      <p:bldP spid="80" grpId="3" animBg="1"/>
      <p:bldP spid="81" grpId="1" animBg="1"/>
      <p:bldP spid="81" grpId="3" animBg="1"/>
      <p:bldP spid="82" grpId="0" animBg="1"/>
      <p:bldP spid="82" grpId="1" animBg="1"/>
      <p:bldP spid="83" grpId="0" animBg="1"/>
      <p:bldP spid="83" grpId="1" animBg="1"/>
      <p:bldP spid="83" grpId="3" animBg="1"/>
      <p:bldP spid="84" grpId="0" animBg="1"/>
      <p:bldP spid="84" grpId="1" animBg="1"/>
      <p:bldP spid="84" grpId="3" animBg="1"/>
      <p:bldP spid="85" grpId="0" animBg="1"/>
      <p:bldP spid="85" grpId="1" animBg="1"/>
      <p:bldP spid="85" grpId="3" animBg="1"/>
      <p:bldP spid="86" grpId="0" animBg="1"/>
      <p:bldP spid="86" grpId="1" animBg="1"/>
      <p:bldP spid="86" grpId="3" animBg="1"/>
      <p:bldP spid="87" grpId="0" animBg="1"/>
      <p:bldP spid="87" grpId="1" animBg="1"/>
      <p:bldP spid="87" grpId="3" animBg="1"/>
      <p:bldP spid="88" grpId="0" animBg="1"/>
      <p:bldP spid="88" grpId="1" animBg="1"/>
      <p:bldP spid="88" grpId="3" animBg="1"/>
      <p:bldP spid="89" grpId="0" animBg="1"/>
      <p:bldP spid="89" grpId="1" animBg="1"/>
      <p:bldP spid="89" grpId="3" animBg="1"/>
      <p:bldP spid="90" grpId="0" animBg="1"/>
      <p:bldP spid="90" grpId="1" animBg="1"/>
      <p:bldP spid="90" grpId="3" animBg="1"/>
      <p:bldP spid="91" grpId="0" animBg="1"/>
      <p:bldP spid="91" grpId="1" animBg="1"/>
      <p:bldP spid="91" grpId="3" animBg="1"/>
      <p:bldP spid="92" grpId="0" animBg="1"/>
      <p:bldP spid="92" grpId="1" animBg="1"/>
      <p:bldP spid="92" grpId="3" animBg="1"/>
      <p:bldP spid="93" grpId="0" animBg="1"/>
      <p:bldP spid="93" grpId="1" animBg="1"/>
      <p:bldP spid="93" grpId="3" animBg="1"/>
      <p:bldP spid="94" grpId="0" animBg="1"/>
      <p:bldP spid="94" grpId="1" animBg="1"/>
      <p:bldP spid="94" grpId="3" animBg="1"/>
      <p:bldP spid="95" grpId="0" animBg="1"/>
      <p:bldP spid="95" grpId="1" animBg="1"/>
      <p:bldP spid="95" grpId="3" animBg="1"/>
      <p:bldP spid="96" grpId="0" animBg="1"/>
      <p:bldP spid="96" grpId="1" animBg="1"/>
      <p:bldP spid="96" grpId="3" animBg="1"/>
      <p:bldP spid="97" grpId="0" animBg="1"/>
      <p:bldP spid="97" grpId="1" animBg="1"/>
      <p:bldP spid="97" grpId="3" animBg="1"/>
      <p:bldP spid="98" grpId="0" animBg="1"/>
      <p:bldP spid="98" grpId="1" animBg="1"/>
      <p:bldP spid="98" grpId="3" animBg="1"/>
      <p:bldP spid="99" grpId="0" animBg="1"/>
      <p:bldP spid="99" grpId="1" animBg="1"/>
      <p:bldP spid="99" grpId="3" animBg="1"/>
      <p:bldP spid="100" grpId="0" animBg="1"/>
      <p:bldP spid="100" grpId="1" animBg="1"/>
      <p:bldP spid="100" grpId="3" animBg="1"/>
      <p:bldP spid="101" grpId="0" animBg="1"/>
      <p:bldP spid="101" grpId="1" animBg="1"/>
      <p:bldP spid="101" grpId="3" animBg="1"/>
      <p:bldP spid="102" grpId="0" animBg="1"/>
      <p:bldP spid="102" grpId="1" animBg="1"/>
      <p:bldP spid="102" grpId="3" animBg="1"/>
      <p:bldP spid="103" grpId="0" animBg="1"/>
      <p:bldP spid="103" grpId="1" animBg="1"/>
      <p:bldP spid="103" grpId="3" animBg="1"/>
      <p:bldP spid="104" grpId="0" animBg="1"/>
      <p:bldP spid="104" grpId="1" animBg="1"/>
      <p:bldP spid="104" grpId="3" animBg="1"/>
      <p:bldP spid="105" grpId="0" animBg="1"/>
      <p:bldP spid="105" grpId="1" animBg="1"/>
      <p:bldP spid="105" grpId="3" animBg="1"/>
      <p:bldP spid="106" grpId="0" animBg="1"/>
      <p:bldP spid="106" grpId="1" animBg="1"/>
      <p:bldP spid="106" grpId="3" animBg="1"/>
      <p:bldP spid="107" grpId="0" animBg="1"/>
      <p:bldP spid="107" grpId="1" animBg="1"/>
      <p:bldP spid="107" grpId="3" animBg="1"/>
      <p:bldP spid="108" grpId="0" animBg="1"/>
      <p:bldP spid="108" grpId="1" animBg="1"/>
      <p:bldP spid="108" grpId="3" animBg="1"/>
      <p:bldP spid="109" grpId="0" animBg="1"/>
      <p:bldP spid="109" grpId="1" animBg="1"/>
      <p:bldP spid="109" grpId="3" animBg="1"/>
      <p:bldP spid="110" grpId="0" animBg="1"/>
      <p:bldP spid="110" grpId="1" animBg="1"/>
      <p:bldP spid="110" grpId="3" animBg="1"/>
      <p:bldP spid="111" grpId="0" animBg="1"/>
      <p:bldP spid="111" grpId="1" animBg="1"/>
      <p:bldP spid="111" grpId="3" animBg="1"/>
      <p:bldP spid="112" grpId="0" animBg="1"/>
      <p:bldP spid="112" grpId="1" animBg="1"/>
      <p:bldP spid="112" grpId="3" animBg="1"/>
      <p:bldP spid="113" grpId="0" animBg="1"/>
      <p:bldP spid="113" grpId="1" animBg="1"/>
      <p:bldP spid="113" grpId="3" animBg="1"/>
      <p:bldP spid="114" grpId="0" animBg="1"/>
      <p:bldP spid="114" grpId="1" animBg="1"/>
      <p:bldP spid="114" grpId="3" animBg="1"/>
      <p:bldP spid="115" grpId="0" animBg="1"/>
      <p:bldP spid="115" grpId="1" animBg="1"/>
      <p:bldP spid="115" grpId="3" animBg="1"/>
      <p:bldP spid="116" grpId="0" animBg="1"/>
      <p:bldP spid="116" grpId="1" animBg="1"/>
      <p:bldP spid="116" grpId="3" animBg="1"/>
      <p:bldP spid="117" grpId="0" animBg="1"/>
      <p:bldP spid="117" grpId="1" animBg="1"/>
      <p:bldP spid="117" grpId="3" animBg="1"/>
      <p:bldP spid="118" grpId="0" animBg="1"/>
      <p:bldP spid="118" grpId="1" animBg="1"/>
      <p:bldP spid="118" grpId="3" animBg="1"/>
      <p:bldP spid="119" grpId="0" animBg="1"/>
      <p:bldP spid="119" grpId="1" animBg="1"/>
      <p:bldP spid="119" grpId="3" animBg="1"/>
      <p:bldP spid="120" grpId="0" animBg="1"/>
      <p:bldP spid="120" grpId="1" animBg="1"/>
      <p:bldP spid="120" grpId="3" animBg="1"/>
      <p:bldP spid="121" grpId="0" animBg="1"/>
      <p:bldP spid="121" grpId="1" animBg="1"/>
      <p:bldP spid="121" grpId="3" animBg="1"/>
      <p:bldP spid="122" grpId="0" animBg="1"/>
      <p:bldP spid="122" grpId="1" animBg="1"/>
      <p:bldP spid="122" grpId="3" animBg="1"/>
      <p:bldP spid="123" grpId="0" animBg="1"/>
      <p:bldP spid="123" grpId="1" animBg="1"/>
      <p:bldP spid="123" grpId="3" animBg="1"/>
      <p:bldP spid="124" grpId="0" animBg="1"/>
      <p:bldP spid="124" grpId="1" animBg="1"/>
      <p:bldP spid="124" grpId="3" animBg="1"/>
      <p:bldP spid="125" grpId="0" animBg="1"/>
      <p:bldP spid="125" grpId="1" animBg="1"/>
      <p:bldP spid="125" grpId="3" animBg="1"/>
      <p:bldP spid="126" grpId="0" animBg="1"/>
      <p:bldP spid="126" grpId="1" animBg="1"/>
      <p:bldP spid="126" grpId="3" animBg="1"/>
      <p:bldP spid="127" grpId="0" animBg="1"/>
      <p:bldP spid="127" grpId="1" animBg="1"/>
      <p:bldP spid="127" grpId="3" animBg="1"/>
      <p:bldP spid="128" grpId="0" animBg="1"/>
      <p:bldP spid="128" grpId="1" animBg="1"/>
      <p:bldP spid="128" grpId="3" animBg="1"/>
      <p:bldP spid="129" grpId="0" animBg="1"/>
      <p:bldP spid="129" grpId="1" animBg="1"/>
      <p:bldP spid="129" grpId="3" animBg="1"/>
      <p:bldP spid="130" grpId="0" animBg="1"/>
      <p:bldP spid="130" grpId="1" animBg="1"/>
      <p:bldP spid="130" grpId="3" animBg="1"/>
      <p:bldP spid="131" grpId="0" animBg="1"/>
      <p:bldP spid="131" grpId="1" animBg="1"/>
      <p:bldP spid="131" grpId="3" animBg="1"/>
      <p:bldP spid="132" grpId="0" animBg="1"/>
      <p:bldP spid="132" grpId="1" animBg="1"/>
      <p:bldP spid="132" grpId="3" animBg="1"/>
      <p:bldP spid="133" grpId="0" animBg="1"/>
      <p:bldP spid="133" grpId="1" animBg="1"/>
      <p:bldP spid="133" grpId="3" animBg="1"/>
      <p:bldP spid="134" grpId="0" animBg="1"/>
      <p:bldP spid="134" grpId="1" animBg="1"/>
      <p:bldP spid="134" grpId="3" animBg="1"/>
      <p:bldP spid="135" grpId="0" animBg="1"/>
      <p:bldP spid="135" grpId="2" animBg="1"/>
      <p:bldP spid="136" grpId="0" animBg="1"/>
      <p:bldP spid="136" grpId="2" animBg="1"/>
      <p:bldP spid="138" grpId="0" animBg="1"/>
      <p:bldP spid="138" grpId="1" animBg="1"/>
      <p:bldP spid="138" grpId="2" animBg="1"/>
      <p:bldP spid="139" grpId="0" animBg="1"/>
      <p:bldP spid="139" grpId="1" animBg="1"/>
      <p:bldP spid="139" grpId="2" animBg="1"/>
      <p:bldP spid="140" grpId="0" animBg="1"/>
      <p:bldP spid="140" grpId="1" animBg="1"/>
      <p:bldP spid="140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each contaminant go?</a:t>
            </a:r>
            <a:endParaRPr lang="en-US" sz="2800" dirty="0"/>
          </a:p>
        </p:txBody>
      </p:sp>
      <p:sp>
        <p:nvSpPr>
          <p:cNvPr id="3" name="s875"/>
          <p:cNvSpPr/>
          <p:nvPr/>
        </p:nvSpPr>
        <p:spPr>
          <a:xfrm>
            <a:off x="3200400" y="137160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" name="s876"/>
          <p:cNvSpPr/>
          <p:nvPr/>
        </p:nvSpPr>
        <p:spPr>
          <a:xfrm>
            <a:off x="3429000" y="155448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87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619" y="1708099"/>
            <a:ext cx="332842" cy="332842"/>
          </a:xfrm>
          <a:prstGeom prst="rect">
            <a:avLst/>
          </a:prstGeom>
        </p:spPr>
      </p:pic>
      <p:sp>
        <p:nvSpPr>
          <p:cNvPr id="6" name="t878"/>
          <p:cNvSpPr txBox="1"/>
          <p:nvPr/>
        </p:nvSpPr>
        <p:spPr>
          <a:xfrm>
            <a:off x="416052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 / closed vent</a:t>
            </a:r>
            <a:endParaRPr lang="en-US" sz="1500" dirty="0"/>
          </a:p>
        </p:txBody>
      </p:sp>
      <p:sp>
        <p:nvSpPr>
          <p:cNvPr id="7" name="t879"/>
          <p:cNvSpPr txBox="1"/>
          <p:nvPr/>
        </p:nvSpPr>
        <p:spPr>
          <a:xfrm>
            <a:off x="342900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Vapours swept out with the steam or vented</a:t>
            </a:r>
            <a:endParaRPr lang="en-US" sz="1200" dirty="0"/>
          </a:p>
        </p:txBody>
      </p:sp>
      <p:sp>
        <p:nvSpPr>
          <p:cNvPr id="8" name="s880"/>
          <p:cNvSpPr/>
          <p:nvPr/>
        </p:nvSpPr>
        <p:spPr>
          <a:xfrm>
            <a:off x="5989320" y="137160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881"/>
          <p:cNvSpPr/>
          <p:nvPr/>
        </p:nvSpPr>
        <p:spPr>
          <a:xfrm>
            <a:off x="6217920" y="1554480"/>
            <a:ext cx="640080" cy="64008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0" name="i88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539" y="1708099"/>
            <a:ext cx="332842" cy="332842"/>
          </a:xfrm>
          <a:prstGeom prst="rect">
            <a:avLst/>
          </a:prstGeom>
        </p:spPr>
      </p:pic>
      <p:sp>
        <p:nvSpPr>
          <p:cNvPr id="11" name="t883"/>
          <p:cNvSpPr txBox="1"/>
          <p:nvPr/>
        </p:nvSpPr>
        <p:spPr>
          <a:xfrm>
            <a:off x="694944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&amp; drained</a:t>
            </a:r>
            <a:endParaRPr lang="en-US" sz="1500" dirty="0"/>
          </a:p>
        </p:txBody>
      </p:sp>
      <p:sp>
        <p:nvSpPr>
          <p:cNvPr id="12" name="t884"/>
          <p:cNvSpPr txBox="1"/>
          <p:nvPr/>
        </p:nvSpPr>
        <p:spPr>
          <a:xfrm>
            <a:off x="621792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stable in the equipment, then drained to the effluent tank</a:t>
            </a:r>
            <a:endParaRPr lang="en-US" sz="1200" dirty="0"/>
          </a:p>
        </p:txBody>
      </p:sp>
      <p:sp>
        <p:nvSpPr>
          <p:cNvPr id="13" name="s885"/>
          <p:cNvSpPr/>
          <p:nvPr/>
        </p:nvSpPr>
        <p:spPr>
          <a:xfrm>
            <a:off x="8778240" y="1371600"/>
            <a:ext cx="2651760" cy="42976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886"/>
          <p:cNvSpPr/>
          <p:nvPr/>
        </p:nvSpPr>
        <p:spPr>
          <a:xfrm>
            <a:off x="9006840" y="1554480"/>
            <a:ext cx="640080" cy="640080"/>
          </a:xfrm>
          <a:prstGeom prst="ellipse">
            <a:avLst/>
          </a:prstGeom>
          <a:solidFill>
            <a:srgbClr val="7A5C3E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88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0459" y="1708099"/>
            <a:ext cx="332842" cy="332842"/>
          </a:xfrm>
          <a:prstGeom prst="rect">
            <a:avLst/>
          </a:prstGeom>
        </p:spPr>
      </p:pic>
      <p:sp>
        <p:nvSpPr>
          <p:cNvPr id="16" name="t888"/>
          <p:cNvSpPr txBox="1"/>
          <p:nvPr/>
        </p:nvSpPr>
        <p:spPr>
          <a:xfrm>
            <a:off x="9738360" y="15544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oil</a:t>
            </a:r>
            <a:endParaRPr lang="en-US" sz="1500" dirty="0"/>
          </a:p>
        </p:txBody>
      </p:sp>
      <p:sp>
        <p:nvSpPr>
          <p:cNvPr id="17" name="t889"/>
          <p:cNvSpPr txBox="1"/>
          <p:nvPr/>
        </p:nvSpPr>
        <p:spPr>
          <a:xfrm>
            <a:off x="9006840" y="2286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 to the slop / rerun tank</a:t>
            </a:r>
            <a:endParaRPr lang="en-US" sz="1200" dirty="0"/>
          </a:p>
        </p:txBody>
      </p:sp>
      <p:sp>
        <p:nvSpPr>
          <p:cNvPr id="18" name="tag890"/>
          <p:cNvSpPr/>
          <p:nvPr/>
        </p:nvSpPr>
        <p:spPr>
          <a:xfrm>
            <a:off x="548640" y="141732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</a:t>
            </a:r>
            <a:endParaRPr lang="en-US" sz="1200" dirty="0"/>
          </a:p>
        </p:txBody>
      </p:sp>
      <p:sp>
        <p:nvSpPr>
          <p:cNvPr id="19" name="tag891"/>
          <p:cNvSpPr/>
          <p:nvPr/>
        </p:nvSpPr>
        <p:spPr>
          <a:xfrm>
            <a:off x="548640" y="194767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</a:t>
            </a:r>
            <a:endParaRPr lang="en-US" sz="1200" dirty="0"/>
          </a:p>
        </p:txBody>
      </p:sp>
      <p:sp>
        <p:nvSpPr>
          <p:cNvPr id="20" name="tag892"/>
          <p:cNvSpPr/>
          <p:nvPr/>
        </p:nvSpPr>
        <p:spPr>
          <a:xfrm>
            <a:off x="548640" y="2478024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</a:t>
            </a:r>
            <a:endParaRPr lang="en-US" sz="1200" dirty="0"/>
          </a:p>
        </p:txBody>
      </p:sp>
      <p:sp>
        <p:nvSpPr>
          <p:cNvPr id="21" name="tag893"/>
          <p:cNvSpPr/>
          <p:nvPr/>
        </p:nvSpPr>
        <p:spPr>
          <a:xfrm>
            <a:off x="548640" y="300837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</a:t>
            </a:r>
            <a:endParaRPr lang="en-US" sz="1200" dirty="0"/>
          </a:p>
        </p:txBody>
      </p:sp>
      <p:sp>
        <p:nvSpPr>
          <p:cNvPr id="22" name="tag894"/>
          <p:cNvSpPr/>
          <p:nvPr/>
        </p:nvSpPr>
        <p:spPr>
          <a:xfrm>
            <a:off x="548640" y="3538728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Ammonia</a:t>
            </a:r>
            <a:endParaRPr lang="en-US" sz="1200" dirty="0"/>
          </a:p>
        </p:txBody>
      </p:sp>
      <p:sp>
        <p:nvSpPr>
          <p:cNvPr id="23" name="tag895"/>
          <p:cNvSpPr/>
          <p:nvPr/>
        </p:nvSpPr>
        <p:spPr>
          <a:xfrm>
            <a:off x="548640" y="40690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</a:t>
            </a:r>
            <a:endParaRPr lang="en-US" sz="1200" dirty="0"/>
          </a:p>
        </p:txBody>
      </p:sp>
      <p:sp>
        <p:nvSpPr>
          <p:cNvPr id="24" name="tag896"/>
          <p:cNvSpPr/>
          <p:nvPr/>
        </p:nvSpPr>
        <p:spPr>
          <a:xfrm>
            <a:off x="548640" y="4599432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</a:t>
            </a:r>
            <a:endParaRPr lang="en-US" sz="1200" dirty="0"/>
          </a:p>
        </p:txBody>
      </p:sp>
      <p:sp>
        <p:nvSpPr>
          <p:cNvPr id="25" name="tag897"/>
          <p:cNvSpPr/>
          <p:nvPr/>
        </p:nvSpPr>
        <p:spPr>
          <a:xfrm>
            <a:off x="548640" y="5129784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5C46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</a:t>
            </a:r>
            <a:endParaRPr lang="en-US" sz="1200" dirty="0"/>
          </a:p>
        </p:txBody>
      </p:sp>
      <p:sp>
        <p:nvSpPr>
          <p:cNvPr id="26" name="tag898"/>
          <p:cNvSpPr/>
          <p:nvPr/>
        </p:nvSpPr>
        <p:spPr>
          <a:xfrm>
            <a:off x="6217920" y="30632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→ stable salt</a:t>
            </a:r>
            <a:endParaRPr lang="en-US" sz="1200" dirty="0"/>
          </a:p>
        </p:txBody>
      </p:sp>
      <p:sp>
        <p:nvSpPr>
          <p:cNvPr id="27" name="tag899"/>
          <p:cNvSpPr/>
          <p:nvPr/>
        </p:nvSpPr>
        <p:spPr>
          <a:xfrm>
            <a:off x="6217920" y="35204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 → iron oxide</a:t>
            </a:r>
            <a:endParaRPr lang="en-US" sz="1200" dirty="0"/>
          </a:p>
        </p:txBody>
      </p:sp>
      <p:sp>
        <p:nvSpPr>
          <p:cNvPr id="28" name="tag900"/>
          <p:cNvSpPr/>
          <p:nvPr/>
        </p:nvSpPr>
        <p:spPr>
          <a:xfrm>
            <a:off x="6217920" y="39776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NH₃ → neutralised</a:t>
            </a:r>
            <a:endParaRPr lang="en-US" sz="1200" dirty="0"/>
          </a:p>
        </p:txBody>
      </p:sp>
      <p:sp>
        <p:nvSpPr>
          <p:cNvPr id="29" name="tag901"/>
          <p:cNvSpPr/>
          <p:nvPr/>
        </p:nvSpPr>
        <p:spPr>
          <a:xfrm>
            <a:off x="6217920" y="44348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8E9AA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Mercaptans → converted</a:t>
            </a:r>
            <a:endParaRPr lang="en-US" sz="1200" dirty="0"/>
          </a:p>
        </p:txBody>
      </p:sp>
      <p:sp>
        <p:nvSpPr>
          <p:cNvPr id="30" name="tag902"/>
          <p:cNvSpPr/>
          <p:nvPr/>
        </p:nvSpPr>
        <p:spPr>
          <a:xfrm>
            <a:off x="6217920" y="48920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7A5C3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→ emulsified</a:t>
            </a:r>
            <a:endParaRPr lang="en-US" sz="1200" dirty="0"/>
          </a:p>
        </p:txBody>
      </p:sp>
      <p:sp>
        <p:nvSpPr>
          <p:cNvPr id="31" name="tag903"/>
          <p:cNvSpPr/>
          <p:nvPr/>
        </p:nvSpPr>
        <p:spPr>
          <a:xfrm>
            <a:off x="9006840" y="306324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5C46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oil → slop / rerun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363 0.2400 E" pathEditMode="relative" ptsTypes="AA">
                                      <p:cBhvr>
                                        <p:cTn id="6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2363 0.2293 E" pathEditMode="relative" ptsTypes="AA">
                                      <p:cBhvr>
                                        <p:cTn id="8" dur="11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4650 0.0853 E" pathEditMode="relative" ptsTypes="AA">
                                      <p:cBhvr>
                                        <p:cTn id="12" dur="11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0" presetClass="path" presetSubtype="0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4650 0.0747 E" pathEditMode="relative" ptsTypes="AA">
                                      <p:cBhvr>
                                        <p:cTn id="20" dur="11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fill="hold" grpId="3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4650 0.0640 E" pathEditMode="relative" ptsTypes="AA">
                                      <p:cBhvr>
                                        <p:cTn id="28" dur="1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3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4650 0.0533 E" pathEditMode="relative" ptsTypes="AA">
                                      <p:cBhvr>
                                        <p:cTn id="36" dur="1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0.4650 0.0427 E" pathEditMode="relative" ptsTypes="AA">
                                      <p:cBhvr>
                                        <p:cTn id="44" dur="1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6938 -0.3013 E" pathEditMode="relative" ptsTypes="AA">
                                      <p:cBhvr>
                                        <p:cTn id="54" dur="1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3" animBg="1"/>
      <p:bldP spid="19" grpId="3" animBg="1"/>
      <p:bldP spid="20" grpId="1" animBg="1"/>
      <p:bldP spid="20" grpId="3" animBg="1"/>
      <p:bldP spid="21" grpId="1" animBg="1"/>
      <p:bldP spid="21" grpId="3" animBg="1"/>
      <p:bldP spid="22" grpId="1" animBg="1"/>
      <p:bldP spid="22" grpId="3" animBg="1"/>
      <p:bldP spid="23" grpId="1" animBg="1"/>
      <p:bldP spid="23" grpId="3" animBg="1"/>
      <p:bldP spid="24" grpId="1" animBg="1"/>
      <p:bldP spid="24" grpId="3" animBg="1"/>
      <p:bldP spid="25" grpId="1" animBg="1"/>
      <p:bldP spid="25" grpId="3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Decontamination chemistry toolkit</a:t>
            </a:r>
            <a:endParaRPr lang="en-US" sz="2800" dirty="0"/>
          </a:p>
        </p:txBody>
      </p:sp>
      <p:sp>
        <p:nvSpPr>
          <p:cNvPr id="3" name="s904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" name="s905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90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742846"/>
            <a:ext cx="309067" cy="309067"/>
          </a:xfrm>
          <a:prstGeom prst="rect">
            <a:avLst/>
          </a:prstGeom>
        </p:spPr>
      </p:pic>
      <p:sp>
        <p:nvSpPr>
          <p:cNvPr id="6" name="t907"/>
          <p:cNvSpPr txBox="1"/>
          <p:nvPr/>
        </p:nvSpPr>
        <p:spPr>
          <a:xfrm>
            <a:off x="1508760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degreaser</a:t>
            </a:r>
            <a:endParaRPr lang="en-US" sz="1500" dirty="0"/>
          </a:p>
        </p:txBody>
      </p:sp>
      <p:sp>
        <p:nvSpPr>
          <p:cNvPr id="7" name="t908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by steam; lifts hydrocarbons and releases LEL / benzene for safe venting.</a:t>
            </a:r>
            <a:endParaRPr lang="en-US" sz="1300" dirty="0"/>
          </a:p>
        </p:txBody>
      </p:sp>
      <p:sp>
        <p:nvSpPr>
          <p:cNvPr id="8" name="t909"/>
          <p:cNvSpPr txBox="1"/>
          <p:nvPr/>
        </p:nvSpPr>
        <p:spPr>
          <a:xfrm>
            <a:off x="7772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Columns, overheads, exchangers</a:t>
            </a:r>
            <a:endParaRPr lang="en-US" sz="1200" dirty="0"/>
          </a:p>
        </p:txBody>
      </p:sp>
      <p:sp>
        <p:nvSpPr>
          <p:cNvPr id="9" name="s910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911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1" name="i9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926" y="1742846"/>
            <a:ext cx="309067" cy="309067"/>
          </a:xfrm>
          <a:prstGeom prst="rect">
            <a:avLst/>
          </a:prstGeom>
        </p:spPr>
      </p:pic>
      <p:sp>
        <p:nvSpPr>
          <p:cNvPr id="12" name="t913"/>
          <p:cNvSpPr txBox="1"/>
          <p:nvPr/>
        </p:nvSpPr>
        <p:spPr>
          <a:xfrm>
            <a:off x="5257800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Water-based solvent</a:t>
            </a:r>
            <a:endParaRPr lang="en-US" sz="1500" dirty="0"/>
          </a:p>
        </p:txBody>
      </p:sp>
      <p:sp>
        <p:nvSpPr>
          <p:cNvPr id="13" name="t914"/>
          <p:cNvSpPr txBox="1"/>
          <p:nvPr/>
        </p:nvSpPr>
        <p:spPr>
          <a:xfrm>
            <a:off x="452628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Emulsifies oil and sludge in water; non-flammable, low odour.</a:t>
            </a:r>
            <a:endParaRPr lang="en-US" sz="1300" dirty="0"/>
          </a:p>
        </p:txBody>
      </p:sp>
      <p:sp>
        <p:nvSpPr>
          <p:cNvPr id="14" name="t915"/>
          <p:cNvSpPr txBox="1"/>
          <p:nvPr/>
        </p:nvSpPr>
        <p:spPr>
          <a:xfrm>
            <a:off x="452628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Boil-out, circulation, tanks</a:t>
            </a:r>
            <a:endParaRPr lang="en-US" sz="1200" dirty="0"/>
          </a:p>
        </p:txBody>
      </p:sp>
      <p:sp>
        <p:nvSpPr>
          <p:cNvPr id="15" name="s916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917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7" name="i9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1742846"/>
            <a:ext cx="309067" cy="309067"/>
          </a:xfrm>
          <a:prstGeom prst="rect">
            <a:avLst/>
          </a:prstGeom>
        </p:spPr>
      </p:pic>
      <p:sp>
        <p:nvSpPr>
          <p:cNvPr id="18" name="t919"/>
          <p:cNvSpPr txBox="1"/>
          <p:nvPr/>
        </p:nvSpPr>
        <p:spPr>
          <a:xfrm>
            <a:off x="9006840" y="1600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Oil-based solvent</a:t>
            </a:r>
            <a:endParaRPr lang="en-US" sz="1500" dirty="0"/>
          </a:p>
        </p:txBody>
      </p:sp>
      <p:sp>
        <p:nvSpPr>
          <p:cNvPr id="19" name="t920"/>
          <p:cNvSpPr txBox="1"/>
          <p:nvPr/>
        </p:nvSpPr>
        <p:spPr>
          <a:xfrm>
            <a:off x="827532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flushing oil to penetrate heavy deposits, tar and coke.</a:t>
            </a:r>
            <a:endParaRPr lang="en-US" sz="1300" dirty="0"/>
          </a:p>
        </p:txBody>
      </p:sp>
      <p:sp>
        <p:nvSpPr>
          <p:cNvPr id="20" name="t921"/>
          <p:cNvSpPr txBox="1"/>
          <p:nvPr/>
        </p:nvSpPr>
        <p:spPr>
          <a:xfrm>
            <a:off x="827532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Viscosity flush, coker, quench oil</a:t>
            </a:r>
            <a:endParaRPr lang="en-US" sz="1200" dirty="0"/>
          </a:p>
        </p:txBody>
      </p:sp>
      <p:sp>
        <p:nvSpPr>
          <p:cNvPr id="21" name="s922"/>
          <p:cNvSpPr/>
          <p:nvPr/>
        </p:nvSpPr>
        <p:spPr>
          <a:xfrm>
            <a:off x="548640" y="3703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923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3" name="i92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074566"/>
            <a:ext cx="309067" cy="309067"/>
          </a:xfrm>
          <a:prstGeom prst="rect">
            <a:avLst/>
          </a:prstGeom>
        </p:spPr>
      </p:pic>
      <p:sp>
        <p:nvSpPr>
          <p:cNvPr id="24" name="t925"/>
          <p:cNvSpPr txBox="1"/>
          <p:nvPr/>
        </p:nvSpPr>
        <p:spPr>
          <a:xfrm>
            <a:off x="150876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Sulphide / pyrophoric oxidiser</a:t>
            </a:r>
            <a:endParaRPr lang="en-US" sz="1500" dirty="0"/>
          </a:p>
        </p:txBody>
      </p:sp>
      <p:sp>
        <p:nvSpPr>
          <p:cNvPr id="25" name="t926"/>
          <p:cNvSpPr txBox="1"/>
          <p:nvPr/>
        </p:nvSpPr>
        <p:spPr>
          <a:xfrm>
            <a:off x="777240" y="4617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H₂S and pyrophoric FeS into stable compounds.</a:t>
            </a:r>
            <a:endParaRPr lang="en-US" sz="1300" dirty="0"/>
          </a:p>
        </p:txBody>
      </p:sp>
      <p:sp>
        <p:nvSpPr>
          <p:cNvPr id="26" name="t927"/>
          <p:cNvSpPr txBox="1"/>
          <p:nvPr/>
        </p:nvSpPr>
        <p:spPr>
          <a:xfrm>
            <a:off x="77724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Post-treatment wash, packed beds, SWS, SRU</a:t>
            </a:r>
            <a:endParaRPr lang="en-US" sz="1200" dirty="0"/>
          </a:p>
        </p:txBody>
      </p:sp>
      <p:sp>
        <p:nvSpPr>
          <p:cNvPr id="27" name="s928"/>
          <p:cNvSpPr/>
          <p:nvPr/>
        </p:nvSpPr>
        <p:spPr>
          <a:xfrm>
            <a:off x="4297680" y="3703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8" name="s929"/>
          <p:cNvSpPr/>
          <p:nvPr/>
        </p:nvSpPr>
        <p:spPr>
          <a:xfrm>
            <a:off x="4526280" y="3931920"/>
            <a:ext cx="594360" cy="59436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9" name="i93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8926" y="4074566"/>
            <a:ext cx="309067" cy="309067"/>
          </a:xfrm>
          <a:prstGeom prst="rect">
            <a:avLst/>
          </a:prstGeom>
        </p:spPr>
      </p:pic>
      <p:sp>
        <p:nvSpPr>
          <p:cNvPr id="30" name="t931"/>
          <p:cNvSpPr txBox="1"/>
          <p:nvPr/>
        </p:nvSpPr>
        <p:spPr>
          <a:xfrm>
            <a:off x="525780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Neutraliser</a:t>
            </a:r>
            <a:endParaRPr lang="en-US" sz="1500" dirty="0"/>
          </a:p>
        </p:txBody>
      </p:sp>
      <p:sp>
        <p:nvSpPr>
          <p:cNvPr id="31" name="t932"/>
          <p:cNvSpPr txBox="1"/>
          <p:nvPr/>
        </p:nvSpPr>
        <p:spPr>
          <a:xfrm>
            <a:off x="4526280" y="4617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pH and treats ammonia / acid residues for disposal.</a:t>
            </a:r>
            <a:endParaRPr lang="en-US" sz="1300" dirty="0"/>
          </a:p>
        </p:txBody>
      </p:sp>
      <p:sp>
        <p:nvSpPr>
          <p:cNvPr id="32" name="t933"/>
          <p:cNvSpPr txBox="1"/>
          <p:nvPr/>
        </p:nvSpPr>
        <p:spPr>
          <a:xfrm>
            <a:off x="452628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Post-rinse, effluent tanks</a:t>
            </a:r>
            <a:endParaRPr lang="en-US" sz="1200" dirty="0"/>
          </a:p>
        </p:txBody>
      </p:sp>
      <p:sp>
        <p:nvSpPr>
          <p:cNvPr id="33" name="s934"/>
          <p:cNvSpPr/>
          <p:nvPr/>
        </p:nvSpPr>
        <p:spPr>
          <a:xfrm>
            <a:off x="8046720" y="37033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4" name="s935"/>
          <p:cNvSpPr/>
          <p:nvPr/>
        </p:nvSpPr>
        <p:spPr>
          <a:xfrm>
            <a:off x="8275320" y="3931920"/>
            <a:ext cx="594360" cy="59436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5" name="i93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7966" y="4074566"/>
            <a:ext cx="309067" cy="309067"/>
          </a:xfrm>
          <a:prstGeom prst="rect">
            <a:avLst/>
          </a:prstGeom>
        </p:spPr>
      </p:pic>
      <p:sp>
        <p:nvSpPr>
          <p:cNvPr id="36" name="t937"/>
          <p:cNvSpPr txBox="1"/>
          <p:nvPr/>
        </p:nvSpPr>
        <p:spPr>
          <a:xfrm>
            <a:off x="9006840" y="39319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Antifoam / dispersant</a:t>
            </a:r>
            <a:endParaRPr lang="en-US" sz="1500" dirty="0"/>
          </a:p>
        </p:txBody>
      </p:sp>
      <p:sp>
        <p:nvSpPr>
          <p:cNvPr id="37" name="t938"/>
          <p:cNvSpPr txBox="1"/>
          <p:nvPr/>
        </p:nvSpPr>
        <p:spPr>
          <a:xfrm>
            <a:off x="8275320" y="4617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foaming and keeps solids dispersed.</a:t>
            </a:r>
            <a:endParaRPr lang="en-US" sz="1300" dirty="0"/>
          </a:p>
        </p:txBody>
      </p:sp>
      <p:sp>
        <p:nvSpPr>
          <p:cNvPr id="38" name="t939"/>
          <p:cNvSpPr txBox="1"/>
          <p:nvPr/>
        </p:nvSpPr>
        <p:spPr>
          <a:xfrm>
            <a:off x="827532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systems, boil-outs</a:t>
            </a:r>
            <a:endParaRPr lang="en-US" sz="1200" dirty="0"/>
          </a:p>
        </p:txBody>
      </p:sp>
      <p:sp>
        <p:nvSpPr>
          <p:cNvPr id="39" name="t940"/>
          <p:cNvSpPr txBox="1"/>
          <p:nvPr/>
        </p:nvSpPr>
        <p:spPr>
          <a:xfrm>
            <a:off x="54864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selected per unit after a compatibility check; product data and SDS are shared with the client.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  <p:bldP spid="37" grpId="0" animBg="1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94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552" y="274320"/>
            <a:ext cx="502920" cy="658368"/>
          </a:xfrm>
          <a:prstGeom prst="rect">
            <a:avLst/>
          </a:prstGeom>
        </p:spPr>
      </p:pic>
      <p:sp>
        <p:nvSpPr>
          <p:cNvPr id="3" name="t942"/>
          <p:cNvSpPr txBox="1"/>
          <p:nvPr/>
        </p:nvSpPr>
        <p:spPr>
          <a:xfrm>
            <a:off x="685800" y="1600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0C74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4" name="t943"/>
          <p:cNvSpPr txBox="1"/>
          <p:nvPr/>
        </p:nvSpPr>
        <p:spPr>
          <a:xfrm>
            <a:off x="685800" y="29260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and why Delight</a:t>
            </a:r>
            <a:endParaRPr lang="en-US" sz="3400" dirty="0"/>
          </a:p>
        </p:txBody>
      </p:sp>
      <p:sp>
        <p:nvSpPr>
          <p:cNvPr id="5" name="t944"/>
          <p:cNvSpPr txBox="1"/>
          <p:nvPr/>
        </p:nvSpPr>
        <p:spPr>
          <a:xfrm>
            <a:off x="68580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site survey to handover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execute</a:t>
            </a:r>
            <a:endParaRPr lang="en-US" sz="2800" dirty="0"/>
          </a:p>
        </p:txBody>
      </p:sp>
      <p:sp>
        <p:nvSpPr>
          <p:cNvPr id="3" name="s945"/>
          <p:cNvSpPr/>
          <p:nvPr/>
        </p:nvSpPr>
        <p:spPr>
          <a:xfrm>
            <a:off x="1097280" y="2423160"/>
            <a:ext cx="9966960" cy="0"/>
          </a:xfrm>
          <a:prstGeom prst="line">
            <a:avLst/>
          </a:prstGeom>
          <a:noFill/>
          <a:ln w="38100">
            <a:solidFill>
              <a:srgbClr val="C6D3E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946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94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2185416"/>
            <a:ext cx="475488" cy="475488"/>
          </a:xfrm>
          <a:prstGeom prst="rect">
            <a:avLst/>
          </a:prstGeom>
        </p:spPr>
      </p:pic>
      <p:sp>
        <p:nvSpPr>
          <p:cNvPr id="6" name="t948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survey</a:t>
            </a:r>
            <a:endParaRPr lang="en-US" sz="1500" dirty="0"/>
          </a:p>
        </p:txBody>
      </p:sp>
      <p:sp>
        <p:nvSpPr>
          <p:cNvPr id="7" name="t949"/>
          <p:cNvSpPr txBox="1"/>
          <p:nvPr/>
        </p:nvSpPr>
        <p:spPr>
          <a:xfrm>
            <a:off x="6400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isometrics, data sheets, injection points</a:t>
            </a:r>
            <a:endParaRPr lang="en-US" sz="1300" dirty="0"/>
          </a:p>
        </p:txBody>
      </p:sp>
      <p:sp>
        <p:nvSpPr>
          <p:cNvPr id="8" name="s950"/>
          <p:cNvSpPr/>
          <p:nvPr/>
        </p:nvSpPr>
        <p:spPr>
          <a:xfrm>
            <a:off x="292608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9" name="i95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5536" y="2185416"/>
            <a:ext cx="475488" cy="475488"/>
          </a:xfrm>
          <a:prstGeom prst="rect">
            <a:avLst/>
          </a:prstGeom>
        </p:spPr>
      </p:pic>
      <p:sp>
        <p:nvSpPr>
          <p:cNvPr id="10" name="t952"/>
          <p:cNvSpPr txBox="1"/>
          <p:nvPr/>
        </p:nvSpPr>
        <p:spPr>
          <a:xfrm>
            <a:off x="25146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plan</a:t>
            </a:r>
            <a:endParaRPr lang="en-US" sz="1500" dirty="0"/>
          </a:p>
        </p:txBody>
      </p:sp>
      <p:sp>
        <p:nvSpPr>
          <p:cNvPr id="11" name="t953"/>
          <p:cNvSpPr txBox="1"/>
          <p:nvPr/>
        </p:nvSpPr>
        <p:spPr>
          <a:xfrm>
            <a:off x="251460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statement, chemistry, volumes, waste plan</a:t>
            </a:r>
            <a:endParaRPr lang="en-US" sz="1300" dirty="0"/>
          </a:p>
        </p:txBody>
      </p:sp>
      <p:sp>
        <p:nvSpPr>
          <p:cNvPr id="12" name="s954"/>
          <p:cNvSpPr/>
          <p:nvPr/>
        </p:nvSpPr>
        <p:spPr>
          <a:xfrm>
            <a:off x="480060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3" name="i95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6" y="2185416"/>
            <a:ext cx="475488" cy="475488"/>
          </a:xfrm>
          <a:prstGeom prst="rect">
            <a:avLst/>
          </a:prstGeom>
        </p:spPr>
      </p:pic>
      <p:sp>
        <p:nvSpPr>
          <p:cNvPr id="14" name="t956"/>
          <p:cNvSpPr txBox="1"/>
          <p:nvPr/>
        </p:nvSpPr>
        <p:spPr>
          <a:xfrm>
            <a:off x="43891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rig-up</a:t>
            </a:r>
            <a:endParaRPr lang="en-US" sz="1500" dirty="0"/>
          </a:p>
        </p:txBody>
      </p:sp>
      <p:sp>
        <p:nvSpPr>
          <p:cNvPr id="15" name="t957"/>
          <p:cNvSpPr txBox="1"/>
          <p:nvPr/>
        </p:nvSpPr>
        <p:spPr>
          <a:xfrm>
            <a:off x="438912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hoses, injection manifolds, effluent tanks</a:t>
            </a:r>
            <a:endParaRPr lang="en-US" sz="1300" dirty="0"/>
          </a:p>
        </p:txBody>
      </p:sp>
      <p:sp>
        <p:nvSpPr>
          <p:cNvPr id="16" name="s958"/>
          <p:cNvSpPr/>
          <p:nvPr/>
        </p:nvSpPr>
        <p:spPr>
          <a:xfrm>
            <a:off x="667512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7" name="i95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576" y="2185416"/>
            <a:ext cx="475488" cy="475488"/>
          </a:xfrm>
          <a:prstGeom prst="rect">
            <a:avLst/>
          </a:prstGeom>
        </p:spPr>
      </p:pic>
      <p:sp>
        <p:nvSpPr>
          <p:cNvPr id="18" name="t960"/>
          <p:cNvSpPr txBox="1"/>
          <p:nvPr/>
        </p:nvSpPr>
        <p:spPr>
          <a:xfrm>
            <a:off x="6263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</a:t>
            </a:r>
            <a:endParaRPr lang="en-US" sz="1500" dirty="0"/>
          </a:p>
        </p:txBody>
      </p:sp>
      <p:sp>
        <p:nvSpPr>
          <p:cNvPr id="19" name="t961"/>
          <p:cNvSpPr txBox="1"/>
          <p:nvPr/>
        </p:nvSpPr>
        <p:spPr>
          <a:xfrm>
            <a:off x="626364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Vapour-phase, boil-out, flush or circulation with live monitoring</a:t>
            </a:r>
            <a:endParaRPr lang="en-US" sz="1300" dirty="0"/>
          </a:p>
        </p:txBody>
      </p:sp>
      <p:sp>
        <p:nvSpPr>
          <p:cNvPr id="20" name="s962"/>
          <p:cNvSpPr/>
          <p:nvPr/>
        </p:nvSpPr>
        <p:spPr>
          <a:xfrm>
            <a:off x="8549640" y="1965960"/>
            <a:ext cx="914400" cy="91440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1" name="i96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9096" y="2185416"/>
            <a:ext cx="475488" cy="475488"/>
          </a:xfrm>
          <a:prstGeom prst="rect">
            <a:avLst/>
          </a:prstGeom>
        </p:spPr>
      </p:pic>
      <p:sp>
        <p:nvSpPr>
          <p:cNvPr id="22" name="t964"/>
          <p:cNvSpPr txBox="1"/>
          <p:nvPr/>
        </p:nvSpPr>
        <p:spPr>
          <a:xfrm>
            <a:off x="81381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hand over</a:t>
            </a:r>
            <a:endParaRPr lang="en-US" sz="1500" dirty="0"/>
          </a:p>
        </p:txBody>
      </p:sp>
      <p:sp>
        <p:nvSpPr>
          <p:cNvPr id="23" name="t965"/>
          <p:cNvSpPr txBox="1"/>
          <p:nvPr/>
        </p:nvSpPr>
        <p:spPr>
          <a:xfrm>
            <a:off x="813816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tests against entry criteria, sign-off</a:t>
            </a:r>
            <a:endParaRPr lang="en-US" sz="1300" dirty="0"/>
          </a:p>
        </p:txBody>
      </p:sp>
      <p:sp>
        <p:nvSpPr>
          <p:cNvPr id="24" name="s966"/>
          <p:cNvSpPr/>
          <p:nvPr/>
        </p:nvSpPr>
        <p:spPr>
          <a:xfrm>
            <a:off x="10424160" y="1965960"/>
            <a:ext cx="914400" cy="91440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5" name="i96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3616" y="2185416"/>
            <a:ext cx="475488" cy="475488"/>
          </a:xfrm>
          <a:prstGeom prst="rect">
            <a:avLst/>
          </a:prstGeom>
        </p:spPr>
      </p:pic>
      <p:sp>
        <p:nvSpPr>
          <p:cNvPr id="26" name="t968"/>
          <p:cNvSpPr txBox="1"/>
          <p:nvPr/>
        </p:nvSpPr>
        <p:spPr>
          <a:xfrm>
            <a:off x="100126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demob</a:t>
            </a:r>
            <a:endParaRPr lang="en-US" sz="1500" dirty="0"/>
          </a:p>
        </p:txBody>
      </p:sp>
      <p:sp>
        <p:nvSpPr>
          <p:cNvPr id="27" name="t969"/>
          <p:cNvSpPr txBox="1"/>
          <p:nvPr/>
        </p:nvSpPr>
        <p:spPr>
          <a:xfrm>
            <a:off x="10012680" y="365760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Neutralise, test and dispose via licensed contractor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80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800"/>
                            </p:stCondLst>
                            <p:childTnLst>
                              <p:par>
                                <p:cTn id="9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30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responsibilities</a:t>
            </a:r>
            <a:endParaRPr lang="en-US" sz="2800" dirty="0"/>
          </a:p>
        </p:txBody>
      </p:sp>
      <p:sp>
        <p:nvSpPr>
          <p:cNvPr id="3" name="s970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" name="s971"/>
          <p:cNvSpPr/>
          <p:nvPr/>
        </p:nvSpPr>
        <p:spPr>
          <a:xfrm>
            <a:off x="82296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972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</a:t>
            </a:r>
            <a:endParaRPr lang="en-US" sz="1500" dirty="0"/>
          </a:p>
        </p:txBody>
      </p:sp>
      <p:sp>
        <p:nvSpPr>
          <p:cNvPr id="6" name="t973"/>
          <p:cNvSpPr txBox="1"/>
          <p:nvPr/>
        </p:nvSpPr>
        <p:spPr>
          <a:xfrm>
            <a:off x="96012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 engineering and method statement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supervisors and technicians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chemistry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Pumps, skids, injection hoses and manifolds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monitoring during decontamination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neutralisation and waste coordination</a:t>
            </a:r>
            <a:endParaRPr lang="en-US" sz="1500" dirty="0"/>
          </a:p>
        </p:txBody>
      </p:sp>
      <p:sp>
        <p:nvSpPr>
          <p:cNvPr id="7" name="s974"/>
          <p:cNvSpPr/>
          <p:nvPr/>
        </p:nvSpPr>
        <p:spPr>
          <a:xfrm>
            <a:off x="617220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975"/>
          <p:cNvSpPr/>
          <p:nvPr/>
        </p:nvSpPr>
        <p:spPr>
          <a:xfrm>
            <a:off x="6446520" y="1645920"/>
            <a:ext cx="4846320" cy="548640"/>
          </a:xfrm>
          <a:prstGeom prst="roundRect">
            <a:avLst>
              <a:gd name="adj" fmla="val 50000"/>
            </a:avLst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976"/>
          <p:cNvSpPr txBox="1"/>
          <p:nvPr/>
        </p:nvSpPr>
        <p:spPr>
          <a:xfrm>
            <a:off x="644652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10" name="t977"/>
          <p:cNvSpPr txBox="1"/>
          <p:nvPr/>
        </p:nvSpPr>
        <p:spPr>
          <a:xfrm>
            <a:off x="658368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de-inventory and permits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Steam, water, nitrogen and power utilities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control room / DCS readings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to drain low points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support for sample analysis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contact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validation</a:t>
            </a:r>
            <a:endParaRPr lang="en-US" sz="2800" dirty="0"/>
          </a:p>
        </p:txBody>
      </p:sp>
      <p:sp>
        <p:nvSpPr>
          <p:cNvPr id="3" name="s978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" name="s979"/>
          <p:cNvSpPr/>
          <p:nvPr/>
        </p:nvSpPr>
        <p:spPr>
          <a:xfrm>
            <a:off x="1371600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98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029" y="1922069"/>
            <a:ext cx="499262" cy="499262"/>
          </a:xfrm>
          <a:prstGeom prst="rect">
            <a:avLst/>
          </a:prstGeom>
        </p:spPr>
      </p:pic>
      <p:sp>
        <p:nvSpPr>
          <p:cNvPr id="6" name="t981"/>
          <p:cNvSpPr txBox="1"/>
          <p:nvPr/>
        </p:nvSpPr>
        <p:spPr>
          <a:xfrm>
            <a:off x="68580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meter</a:t>
            </a:r>
            <a:endParaRPr lang="en-US" sz="1600" dirty="0"/>
          </a:p>
        </p:txBody>
      </p:sp>
      <p:sp>
        <p:nvSpPr>
          <p:cNvPr id="7" name="t982"/>
          <p:cNvSpPr txBox="1"/>
          <p:nvPr/>
        </p:nvSpPr>
        <p:spPr>
          <a:xfrm>
            <a:off x="731520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LEL, H₂S, O₂ and CO at vents and manways</a:t>
            </a:r>
            <a:endParaRPr lang="en-US" sz="1400" dirty="0"/>
          </a:p>
        </p:txBody>
      </p:sp>
      <p:sp>
        <p:nvSpPr>
          <p:cNvPr id="8" name="s983"/>
          <p:cNvSpPr/>
          <p:nvPr/>
        </p:nvSpPr>
        <p:spPr>
          <a:xfrm>
            <a:off x="3364992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984"/>
          <p:cNvSpPr/>
          <p:nvPr/>
        </p:nvSpPr>
        <p:spPr>
          <a:xfrm>
            <a:off x="4187952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0" name="i98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1922069"/>
            <a:ext cx="499262" cy="499262"/>
          </a:xfrm>
          <a:prstGeom prst="rect">
            <a:avLst/>
          </a:prstGeom>
        </p:spPr>
      </p:pic>
      <p:sp>
        <p:nvSpPr>
          <p:cNvPr id="11" name="t986"/>
          <p:cNvSpPr txBox="1"/>
          <p:nvPr/>
        </p:nvSpPr>
        <p:spPr>
          <a:xfrm>
            <a:off x="3502152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Benzene / VOC meter</a:t>
            </a:r>
            <a:endParaRPr lang="en-US" sz="1600" dirty="0"/>
          </a:p>
        </p:txBody>
      </p:sp>
      <p:sp>
        <p:nvSpPr>
          <p:cNvPr id="12" name="t987"/>
          <p:cNvSpPr txBox="1"/>
          <p:nvPr/>
        </p:nvSpPr>
        <p:spPr>
          <a:xfrm>
            <a:off x="3547872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readings and detector tubes for benzene</a:t>
            </a:r>
            <a:endParaRPr lang="en-US" sz="1400" dirty="0"/>
          </a:p>
        </p:txBody>
      </p:sp>
      <p:sp>
        <p:nvSpPr>
          <p:cNvPr id="13" name="s988"/>
          <p:cNvSpPr/>
          <p:nvPr/>
        </p:nvSpPr>
        <p:spPr>
          <a:xfrm>
            <a:off x="6181344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989"/>
          <p:cNvSpPr/>
          <p:nvPr/>
        </p:nvSpPr>
        <p:spPr>
          <a:xfrm>
            <a:off x="7004304" y="1691640"/>
            <a:ext cx="960120" cy="96012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99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733" y="1922069"/>
            <a:ext cx="499262" cy="499262"/>
          </a:xfrm>
          <a:prstGeom prst="rect">
            <a:avLst/>
          </a:prstGeom>
        </p:spPr>
      </p:pic>
      <p:sp>
        <p:nvSpPr>
          <p:cNvPr id="16" name="t991"/>
          <p:cNvSpPr txBox="1"/>
          <p:nvPr/>
        </p:nvSpPr>
        <p:spPr>
          <a:xfrm>
            <a:off x="6318504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sampling</a:t>
            </a:r>
            <a:endParaRPr lang="en-US" sz="1600" dirty="0"/>
          </a:p>
        </p:txBody>
      </p:sp>
      <p:sp>
        <p:nvSpPr>
          <p:cNvPr id="17" name="t992"/>
          <p:cNvSpPr txBox="1"/>
          <p:nvPr/>
        </p:nvSpPr>
        <p:spPr>
          <a:xfrm>
            <a:off x="6364224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bombs to the client laboratory where required</a:t>
            </a:r>
            <a:endParaRPr lang="en-US" sz="1400" dirty="0"/>
          </a:p>
        </p:txBody>
      </p:sp>
      <p:sp>
        <p:nvSpPr>
          <p:cNvPr id="18" name="s993"/>
          <p:cNvSpPr/>
          <p:nvPr/>
        </p:nvSpPr>
        <p:spPr>
          <a:xfrm>
            <a:off x="8997696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994"/>
          <p:cNvSpPr/>
          <p:nvPr/>
        </p:nvSpPr>
        <p:spPr>
          <a:xfrm>
            <a:off x="9820656" y="1691640"/>
            <a:ext cx="960120" cy="96012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0" name="i99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1085" y="1922069"/>
            <a:ext cx="499262" cy="499262"/>
          </a:xfrm>
          <a:prstGeom prst="rect">
            <a:avLst/>
          </a:prstGeom>
        </p:spPr>
      </p:pic>
      <p:sp>
        <p:nvSpPr>
          <p:cNvPr id="21" name="t996"/>
          <p:cNvSpPr txBox="1"/>
          <p:nvPr/>
        </p:nvSpPr>
        <p:spPr>
          <a:xfrm>
            <a:off x="9134856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Effluent checks</a:t>
            </a:r>
            <a:endParaRPr lang="en-US" sz="1600" dirty="0"/>
          </a:p>
        </p:txBody>
      </p:sp>
      <p:sp>
        <p:nvSpPr>
          <p:cNvPr id="22" name="t997"/>
          <p:cNvSpPr txBox="1"/>
          <p:nvPr/>
        </p:nvSpPr>
        <p:spPr>
          <a:xfrm>
            <a:off x="9180576" y="32918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pH, COD and oil content before disposal</a:t>
            </a:r>
            <a:endParaRPr lang="en-US" sz="1400" dirty="0"/>
          </a:p>
        </p:txBody>
      </p:sp>
      <p:sp>
        <p:nvSpPr>
          <p:cNvPr id="23" name="s998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AF6E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4" name="t999"/>
          <p:cNvSpPr txBox="1"/>
          <p:nvPr/>
        </p:nvSpPr>
        <p:spPr>
          <a:xfrm>
            <a:off x="777240" y="4892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is complete when the client’s entry criteria are met and confirmed by validation readings – then the equipment is handed over for opening.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2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8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waste, less exposure</a:t>
            </a:r>
            <a:endParaRPr lang="en-US" sz="2800" dirty="0"/>
          </a:p>
        </p:txBody>
      </p:sp>
      <p:sp>
        <p:nvSpPr>
          <p:cNvPr id="3" name="s1000"/>
          <p:cNvSpPr/>
          <p:nvPr/>
        </p:nvSpPr>
        <p:spPr>
          <a:xfrm>
            <a:off x="731520" y="1417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4" name="i100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1614830"/>
            <a:ext cx="427939" cy="427939"/>
          </a:xfrm>
          <a:prstGeom prst="rect">
            <a:avLst/>
          </a:prstGeom>
        </p:spPr>
      </p:pic>
      <p:sp>
        <p:nvSpPr>
          <p:cNvPr id="5" name="t1002"/>
          <p:cNvSpPr txBox="1"/>
          <p:nvPr/>
        </p:nvSpPr>
        <p:spPr>
          <a:xfrm>
            <a:off x="1828800" y="1399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water than water washing</a:t>
            </a:r>
            <a:endParaRPr lang="en-US" sz="1800" dirty="0"/>
          </a:p>
        </p:txBody>
      </p:sp>
      <p:sp>
        <p:nvSpPr>
          <p:cNvPr id="6" name="t1003"/>
          <p:cNvSpPr txBox="1"/>
          <p:nvPr/>
        </p:nvSpPr>
        <p:spPr>
          <a:xfrm>
            <a:off x="182880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Vapour-phase uses steam already available on the unit.</a:t>
            </a:r>
            <a:endParaRPr lang="en-US" sz="1500" dirty="0"/>
          </a:p>
        </p:txBody>
      </p:sp>
      <p:sp>
        <p:nvSpPr>
          <p:cNvPr id="7" name="s1004"/>
          <p:cNvSpPr/>
          <p:nvPr/>
        </p:nvSpPr>
        <p:spPr>
          <a:xfrm>
            <a:off x="731520" y="2560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8" name="i100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" y="2757830"/>
            <a:ext cx="427939" cy="427939"/>
          </a:xfrm>
          <a:prstGeom prst="rect">
            <a:avLst/>
          </a:prstGeom>
        </p:spPr>
      </p:pic>
      <p:sp>
        <p:nvSpPr>
          <p:cNvPr id="9" name="t1006"/>
          <p:cNvSpPr txBox="1"/>
          <p:nvPr/>
        </p:nvSpPr>
        <p:spPr>
          <a:xfrm>
            <a:off x="1828800" y="2542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confined-space entry</a:t>
            </a:r>
            <a:endParaRPr lang="en-US" sz="1800" dirty="0"/>
          </a:p>
        </p:txBody>
      </p:sp>
      <p:sp>
        <p:nvSpPr>
          <p:cNvPr id="10" name="t1007"/>
          <p:cNvSpPr txBox="1"/>
          <p:nvPr/>
        </p:nvSpPr>
        <p:spPr>
          <a:xfrm>
            <a:off x="1828800" y="2971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gas-free and pyrophoric-safe before it is opened.</a:t>
            </a:r>
            <a:endParaRPr lang="en-US" sz="1500" dirty="0"/>
          </a:p>
        </p:txBody>
      </p:sp>
      <p:sp>
        <p:nvSpPr>
          <p:cNvPr id="11" name="s1008"/>
          <p:cNvSpPr/>
          <p:nvPr/>
        </p:nvSpPr>
        <p:spPr>
          <a:xfrm>
            <a:off x="731520" y="3703320"/>
            <a:ext cx="822960" cy="82296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2" name="i100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" y="3900830"/>
            <a:ext cx="427939" cy="427939"/>
          </a:xfrm>
          <a:prstGeom prst="rect">
            <a:avLst/>
          </a:prstGeom>
        </p:spPr>
      </p:pic>
      <p:sp>
        <p:nvSpPr>
          <p:cNvPr id="13" name="t1010"/>
          <p:cNvSpPr txBox="1"/>
          <p:nvPr/>
        </p:nvSpPr>
        <p:spPr>
          <a:xfrm>
            <a:off x="1828800" y="3685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effluent</a:t>
            </a:r>
            <a:endParaRPr lang="en-US" sz="1800" dirty="0"/>
          </a:p>
        </p:txBody>
      </p:sp>
      <p:sp>
        <p:nvSpPr>
          <p:cNvPr id="14" name="t1011"/>
          <p:cNvSpPr txBox="1"/>
          <p:nvPr/>
        </p:nvSpPr>
        <p:spPr>
          <a:xfrm>
            <a:off x="1828800" y="4114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holding tanks, neutralised and tested before disposal.</a:t>
            </a:r>
            <a:endParaRPr lang="en-US" sz="1500" dirty="0"/>
          </a:p>
        </p:txBody>
      </p:sp>
      <p:sp>
        <p:nvSpPr>
          <p:cNvPr id="15" name="s1012"/>
          <p:cNvSpPr/>
          <p:nvPr/>
        </p:nvSpPr>
        <p:spPr>
          <a:xfrm>
            <a:off x="731520" y="4846320"/>
            <a:ext cx="822960" cy="82296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6" name="i10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" y="5043830"/>
            <a:ext cx="427939" cy="427939"/>
          </a:xfrm>
          <a:prstGeom prst="rect">
            <a:avLst/>
          </a:prstGeom>
        </p:spPr>
      </p:pic>
      <p:sp>
        <p:nvSpPr>
          <p:cNvPr id="17" name="t1014"/>
          <p:cNvSpPr txBox="1"/>
          <p:nvPr/>
        </p:nvSpPr>
        <p:spPr>
          <a:xfrm>
            <a:off x="1828800" y="48280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recovered, not wasted</a:t>
            </a:r>
            <a:endParaRPr lang="en-US" sz="1800" dirty="0"/>
          </a:p>
        </p:txBody>
      </p:sp>
      <p:sp>
        <p:nvSpPr>
          <p:cNvPr id="18" name="t1015"/>
          <p:cNvSpPr txBox="1"/>
          <p:nvPr/>
        </p:nvSpPr>
        <p:spPr>
          <a:xfrm>
            <a:off x="1828800" y="5257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Flushing oil goes back to slop / rerun.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47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5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Delight</a:t>
            </a:r>
            <a:endParaRPr lang="en-US" sz="2800" dirty="0"/>
          </a:p>
        </p:txBody>
      </p:sp>
      <p:sp>
        <p:nvSpPr>
          <p:cNvPr id="3" name="s1016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" name="s1017"/>
          <p:cNvSpPr/>
          <p:nvPr/>
        </p:nvSpPr>
        <p:spPr>
          <a:xfrm>
            <a:off x="77724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5" name="i10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810512"/>
            <a:ext cx="356616" cy="356616"/>
          </a:xfrm>
          <a:prstGeom prst="rect">
            <a:avLst/>
          </a:prstGeom>
        </p:spPr>
      </p:pic>
      <p:sp>
        <p:nvSpPr>
          <p:cNvPr id="6" name="t1019"/>
          <p:cNvSpPr txBox="1"/>
          <p:nvPr/>
        </p:nvSpPr>
        <p:spPr>
          <a:xfrm>
            <a:off x="160020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QHSE</a:t>
            </a:r>
            <a:endParaRPr lang="en-US" sz="1600" dirty="0"/>
          </a:p>
        </p:txBody>
      </p:sp>
      <p:sp>
        <p:nvSpPr>
          <p:cNvPr id="7" name="t1020"/>
          <p:cNvSpPr txBox="1"/>
          <p:nvPr/>
        </p:nvSpPr>
        <p:spPr>
          <a:xfrm>
            <a:off x="77724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45001 management system</a:t>
            </a:r>
            <a:endParaRPr lang="en-US" sz="1400" dirty="0"/>
          </a:p>
        </p:txBody>
      </p:sp>
      <p:sp>
        <p:nvSpPr>
          <p:cNvPr id="8" name="s1021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s1022"/>
          <p:cNvSpPr/>
          <p:nvPr/>
        </p:nvSpPr>
        <p:spPr>
          <a:xfrm>
            <a:off x="4526280" y="164592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0" name="i10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810512"/>
            <a:ext cx="356616" cy="356616"/>
          </a:xfrm>
          <a:prstGeom prst="rect">
            <a:avLst/>
          </a:prstGeom>
        </p:spPr>
      </p:pic>
      <p:sp>
        <p:nvSpPr>
          <p:cNvPr id="11" name="t1024"/>
          <p:cNvSpPr txBox="1"/>
          <p:nvPr/>
        </p:nvSpPr>
        <p:spPr>
          <a:xfrm>
            <a:off x="534924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</a:t>
            </a:r>
            <a:endParaRPr lang="en-US" sz="1600" dirty="0"/>
          </a:p>
        </p:txBody>
      </p:sp>
      <p:sp>
        <p:nvSpPr>
          <p:cNvPr id="12" name="t1025"/>
          <p:cNvSpPr txBox="1"/>
          <p:nvPr/>
        </p:nvSpPr>
        <p:spPr>
          <a:xfrm>
            <a:off x="452628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UAE, Saudi Arabia, Oman, Qatar and India</a:t>
            </a:r>
            <a:endParaRPr lang="en-US" sz="1400" dirty="0"/>
          </a:p>
        </p:txBody>
      </p:sp>
      <p:sp>
        <p:nvSpPr>
          <p:cNvPr id="13" name="s1026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s1027"/>
          <p:cNvSpPr/>
          <p:nvPr/>
        </p:nvSpPr>
        <p:spPr>
          <a:xfrm>
            <a:off x="8275320" y="164592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15" name="i102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810512"/>
            <a:ext cx="356616" cy="356616"/>
          </a:xfrm>
          <a:prstGeom prst="rect">
            <a:avLst/>
          </a:prstGeom>
        </p:spPr>
      </p:pic>
      <p:sp>
        <p:nvSpPr>
          <p:cNvPr id="16" name="t1029"/>
          <p:cNvSpPr txBox="1"/>
          <p:nvPr/>
        </p:nvSpPr>
        <p:spPr>
          <a:xfrm>
            <a:off x="909828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</a:t>
            </a:r>
            <a:endParaRPr lang="en-US" sz="1600" dirty="0"/>
          </a:p>
        </p:txBody>
      </p:sp>
      <p:sp>
        <p:nvSpPr>
          <p:cNvPr id="17" name="t1030"/>
          <p:cNvSpPr txBox="1"/>
          <p:nvPr/>
        </p:nvSpPr>
        <p:spPr>
          <a:xfrm>
            <a:off x="8275320" y="2468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Decontamination, chemical cleaning, hydro jetting, bundle extraction</a:t>
            </a:r>
            <a:endParaRPr lang="en-US" sz="1400" dirty="0"/>
          </a:p>
        </p:txBody>
      </p:sp>
      <p:sp>
        <p:nvSpPr>
          <p:cNvPr id="18" name="s1031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9" name="s1032"/>
          <p:cNvSpPr/>
          <p:nvPr/>
        </p:nvSpPr>
        <p:spPr>
          <a:xfrm>
            <a:off x="77724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0" name="i103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187952"/>
            <a:ext cx="356616" cy="356616"/>
          </a:xfrm>
          <a:prstGeom prst="rect">
            <a:avLst/>
          </a:prstGeom>
        </p:spPr>
      </p:pic>
      <p:sp>
        <p:nvSpPr>
          <p:cNvPr id="21" name="t1034"/>
          <p:cNvSpPr txBox="1"/>
          <p:nvPr/>
        </p:nvSpPr>
        <p:spPr>
          <a:xfrm>
            <a:off x="160020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fleet</a:t>
            </a:r>
            <a:endParaRPr lang="en-US" sz="1600" dirty="0"/>
          </a:p>
        </p:txBody>
      </p:sp>
      <p:sp>
        <p:nvSpPr>
          <p:cNvPr id="22" name="t1035"/>
          <p:cNvSpPr txBox="1"/>
          <p:nvPr/>
        </p:nvSpPr>
        <p:spPr>
          <a:xfrm>
            <a:off x="77724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/ UHP units and 22 T – 65 T bundle extractors</a:t>
            </a:r>
            <a:endParaRPr lang="en-US" sz="1400" dirty="0"/>
          </a:p>
        </p:txBody>
      </p:sp>
      <p:sp>
        <p:nvSpPr>
          <p:cNvPr id="23" name="s1036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4" name="s1037"/>
          <p:cNvSpPr/>
          <p:nvPr/>
        </p:nvSpPr>
        <p:spPr>
          <a:xfrm>
            <a:off x="4526280" y="4023360"/>
            <a:ext cx="685800" cy="685800"/>
          </a:xfrm>
          <a:prstGeom prst="ellipse">
            <a:avLst/>
          </a:prstGeom>
          <a:solidFill>
            <a:srgbClr val="0C74BC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25" name="i103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187952"/>
            <a:ext cx="356616" cy="356616"/>
          </a:xfrm>
          <a:prstGeom prst="rect">
            <a:avLst/>
          </a:prstGeom>
        </p:spPr>
      </p:pic>
      <p:sp>
        <p:nvSpPr>
          <p:cNvPr id="26" name="t1039"/>
          <p:cNvSpPr txBox="1"/>
          <p:nvPr/>
        </p:nvSpPr>
        <p:spPr>
          <a:xfrm>
            <a:off x="534924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crews</a:t>
            </a:r>
            <a:endParaRPr lang="en-US" sz="1600" dirty="0"/>
          </a:p>
        </p:txBody>
      </p:sp>
      <p:sp>
        <p:nvSpPr>
          <p:cNvPr id="27" name="t1040"/>
          <p:cNvSpPr txBox="1"/>
          <p:nvPr/>
        </p:nvSpPr>
        <p:spPr>
          <a:xfrm>
            <a:off x="452628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supervisors and technicians for shutdown work</a:t>
            </a:r>
            <a:endParaRPr lang="en-US" sz="1400" dirty="0"/>
          </a:p>
        </p:txBody>
      </p:sp>
      <p:sp>
        <p:nvSpPr>
          <p:cNvPr id="28" name="s1041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3F7FA"/>
          </a:solidFill>
          <a:ln w="12700">
            <a:solidFill>
              <a:srgbClr val="E1E8EF"/>
            </a:solidFill>
            <a:prstDash val="solid"/>
          </a:ln>
          <a:effectLst>
            <a:outerShdw blurRad="76200" dist="25400" dir="5400000" algn="bl" rotWithShape="0">
              <a:srgbClr val="9AA9B8">
                <a:alpha val="22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9" name="s1042"/>
          <p:cNvSpPr/>
          <p:nvPr/>
        </p:nvSpPr>
        <p:spPr>
          <a:xfrm>
            <a:off x="8275320" y="4023360"/>
            <a:ext cx="685800" cy="685800"/>
          </a:xfrm>
          <a:prstGeom prst="ellipse">
            <a:avLst/>
          </a:prstGeom>
          <a:solidFill>
            <a:srgbClr val="3AB54A"/>
          </a:solidFill>
          <a:ln/>
        </p:spPr>
        <p:txBody>
          <a:bodyPr/>
          <a:lstStyle/>
          <a:p>
            <a:endParaRPr lang="en-AE"/>
          </a:p>
        </p:txBody>
      </p:sp>
      <p:pic>
        <p:nvPicPr>
          <p:cNvPr id="30" name="i104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187952"/>
            <a:ext cx="356616" cy="356616"/>
          </a:xfrm>
          <a:prstGeom prst="rect">
            <a:avLst/>
          </a:prstGeom>
        </p:spPr>
      </p:pic>
      <p:sp>
        <p:nvSpPr>
          <p:cNvPr id="31" name="t1044"/>
          <p:cNvSpPr txBox="1"/>
          <p:nvPr/>
        </p:nvSpPr>
        <p:spPr>
          <a:xfrm>
            <a:off x="9098280" y="40416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responsibility</a:t>
            </a:r>
            <a:endParaRPr lang="en-US" sz="1600" dirty="0"/>
          </a:p>
        </p:txBody>
      </p:sp>
      <p:sp>
        <p:nvSpPr>
          <p:cNvPr id="32" name="t1045"/>
          <p:cNvSpPr txBox="1"/>
          <p:nvPr/>
        </p:nvSpPr>
        <p:spPr>
          <a:xfrm>
            <a:off x="8275320" y="4846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and planning to waste handling and handover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104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48640"/>
            <a:ext cx="914400" cy="1197864"/>
          </a:xfrm>
          <a:prstGeom prst="rect">
            <a:avLst/>
          </a:prstGeom>
        </p:spPr>
      </p:pic>
      <p:sp>
        <p:nvSpPr>
          <p:cNvPr id="3" name="t1047"/>
          <p:cNvSpPr txBox="1"/>
          <p:nvPr/>
        </p:nvSpPr>
        <p:spPr>
          <a:xfrm>
            <a:off x="6858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1048"/>
          <p:cNvSpPr txBox="1"/>
          <p:nvPr/>
        </p:nvSpPr>
        <p:spPr>
          <a:xfrm>
            <a:off x="685800" y="3108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5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plan the decontamination for your next shutdown.</a:t>
            </a:r>
            <a:endParaRPr lang="en-US" sz="2000" dirty="0"/>
          </a:p>
        </p:txBody>
      </p:sp>
      <p:sp>
        <p:nvSpPr>
          <p:cNvPr id="5" name="t1049"/>
          <p:cNvSpPr txBox="1"/>
          <p:nvPr/>
        </p:nvSpPr>
        <p:spPr>
          <a:xfrm>
            <a:off x="685800" y="4297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Delight Equipment International L.L.C.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P.O. Box 2932, Abu Dhabi, United Arab Emirates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+971 2 5515641  ·  info@delightintl.ae  ·  www.delightintl.ae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(Jubail) +966 59348 1459  ·  India (Udupi) +91 9686433661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3281</Words>
  <Application>Microsoft Office PowerPoint</Application>
  <PresentationFormat>Widescreen</PresentationFormat>
  <Paragraphs>600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Decontamination across the oil &amp; gas value chain</dc:title>
  <dc:subject>PptxGenJS Presentation</dc:subject>
  <dc:creator>Delight International</dc:creator>
  <cp:lastModifiedBy>Mohammed Ibrahim</cp:lastModifiedBy>
  <cp:revision>2</cp:revision>
  <dcterms:created xsi:type="dcterms:W3CDTF">2026-10-06T08:11:19Z</dcterms:created>
  <dcterms:modified xsi:type="dcterms:W3CDTF">2026-10-06T08:17:03Z</dcterms:modified>
</cp:coreProperties>
</file>