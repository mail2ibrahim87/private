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the value chain branch by branch. The green ticks mark where Delight decontaminates.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 zooms into the Downstream branch: the tree shrinks to the corner and the refining leaves fly into the rows. Then the units and contaminants 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through the six steps: steam, chemistry, contaminants swept out, column cleans, gas tests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decontamination fits in oil &amp; gas</a:t>
            </a:r>
            <a:endParaRPr lang="en-US" sz="2800" dirty="0"/>
          </a:p>
        </p:txBody>
      </p:sp>
      <p:sp>
        <p:nvSpPr>
          <p:cNvPr id="4" name="!!root"/>
          <p:cNvSpPr/>
          <p:nvPr/>
        </p:nvSpPr>
        <p:spPr>
          <a:xfrm>
            <a:off x="4178808" y="1280160"/>
            <a:ext cx="3840480" cy="658368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/>
        </p:spPr>
      </p:sp>
      <p:sp>
        <p:nvSpPr>
          <p:cNvPr id="5" name="!!root_t"/>
          <p:cNvSpPr txBox="1"/>
          <p:nvPr/>
        </p:nvSpPr>
        <p:spPr>
          <a:xfrm>
            <a:off x="4178808" y="12801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VALUE CHAIN</a:t>
            </a:r>
            <a:endParaRPr lang="en-US" sz="1600" dirty="0"/>
          </a:p>
        </p:txBody>
      </p:sp>
      <p:sp>
        <p:nvSpPr>
          <p:cNvPr id="6" name="!!bar_v"/>
          <p:cNvSpPr/>
          <p:nvPr/>
        </p:nvSpPr>
        <p:spPr>
          <a:xfrm>
            <a:off x="6099048" y="1938528"/>
            <a:ext cx="0" cy="256032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</p:sp>
      <p:sp>
        <p:nvSpPr>
          <p:cNvPr id="7" name="!!bar_h"/>
          <p:cNvSpPr/>
          <p:nvPr/>
        </p:nvSpPr>
        <p:spPr>
          <a:xfrm>
            <a:off x="1783080" y="2194560"/>
            <a:ext cx="8641080" cy="0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</p:sp>
      <p:sp>
        <p:nvSpPr>
          <p:cNvPr id="8" name="!!spine0"/>
          <p:cNvSpPr/>
          <p:nvPr/>
        </p:nvSpPr>
        <p:spPr>
          <a:xfrm>
            <a:off x="1783080" y="2194560"/>
            <a:ext cx="0" cy="3246120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</p:sp>
      <p:sp>
        <p:nvSpPr>
          <p:cNvPr id="9" name="!!br0"/>
          <p:cNvSpPr/>
          <p:nvPr/>
        </p:nvSpPr>
        <p:spPr>
          <a:xfrm>
            <a:off x="502920" y="246888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0C74BC"/>
          </a:solidFill>
          <a:ln/>
        </p:spPr>
      </p:sp>
      <p:pic>
        <p:nvPicPr>
          <p:cNvPr id="10" name="!!br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6040"/>
            <a:ext cx="566928" cy="566928"/>
          </a:xfrm>
          <a:prstGeom prst="rect">
            <a:avLst/>
          </a:prstGeom>
        </p:spPr>
      </p:pic>
      <p:sp>
        <p:nvSpPr>
          <p:cNvPr id="11" name="!!brt0"/>
          <p:cNvSpPr txBox="1"/>
          <p:nvPr/>
        </p:nvSpPr>
        <p:spPr>
          <a:xfrm>
            <a:off x="1280160" y="24688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gas processing</a:t>
            </a:r>
            <a:endParaRPr lang="en-US" sz="1350" dirty="0"/>
          </a:p>
        </p:txBody>
      </p:sp>
      <p:sp>
        <p:nvSpPr>
          <p:cNvPr id="12" name="!!lf0_0"/>
          <p:cNvSpPr/>
          <p:nvPr/>
        </p:nvSpPr>
        <p:spPr>
          <a:xfrm>
            <a:off x="502920" y="3611880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</p:sp>
      <p:sp>
        <p:nvSpPr>
          <p:cNvPr id="13" name="!!lft0_0"/>
          <p:cNvSpPr txBox="1"/>
          <p:nvPr/>
        </p:nvSpPr>
        <p:spPr>
          <a:xfrm>
            <a:off x="685800" y="36118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production stations</a:t>
            </a:r>
            <a:endParaRPr lang="en-US" sz="1250" dirty="0"/>
          </a:p>
        </p:txBody>
      </p:sp>
      <p:sp>
        <p:nvSpPr>
          <p:cNvPr id="14" name="!!mk0_0"/>
          <p:cNvSpPr/>
          <p:nvPr/>
        </p:nvSpPr>
        <p:spPr>
          <a:xfrm>
            <a:off x="2679192" y="3712464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!!mki0_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3794760"/>
            <a:ext cx="164592" cy="164592"/>
          </a:xfrm>
          <a:prstGeom prst="rect">
            <a:avLst/>
          </a:prstGeom>
        </p:spPr>
      </p:pic>
      <p:sp>
        <p:nvSpPr>
          <p:cNvPr id="16" name="!!lf0_1"/>
          <p:cNvSpPr/>
          <p:nvPr/>
        </p:nvSpPr>
        <p:spPr>
          <a:xfrm>
            <a:off x="502920" y="4270248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</p:sp>
      <p:sp>
        <p:nvSpPr>
          <p:cNvPr id="17" name="!!lft0_1"/>
          <p:cNvSpPr txBox="1"/>
          <p:nvPr/>
        </p:nvSpPr>
        <p:spPr>
          <a:xfrm>
            <a:off x="685800" y="42702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processing plants</a:t>
            </a:r>
            <a:endParaRPr lang="en-US" sz="1250" dirty="0"/>
          </a:p>
        </p:txBody>
      </p:sp>
      <p:sp>
        <p:nvSpPr>
          <p:cNvPr id="18" name="!!mk0_1"/>
          <p:cNvSpPr/>
          <p:nvPr/>
        </p:nvSpPr>
        <p:spPr>
          <a:xfrm>
            <a:off x="2679192" y="4370832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!!mki0_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4453128"/>
            <a:ext cx="164592" cy="164592"/>
          </a:xfrm>
          <a:prstGeom prst="rect">
            <a:avLst/>
          </a:prstGeom>
        </p:spPr>
      </p:pic>
      <p:sp>
        <p:nvSpPr>
          <p:cNvPr id="20" name="!!lf0_2"/>
          <p:cNvSpPr/>
          <p:nvPr/>
        </p:nvSpPr>
        <p:spPr>
          <a:xfrm>
            <a:off x="502920" y="4928616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</p:sp>
      <p:sp>
        <p:nvSpPr>
          <p:cNvPr id="21" name="!!lft0_2"/>
          <p:cNvSpPr txBox="1"/>
          <p:nvPr/>
        </p:nvSpPr>
        <p:spPr>
          <a:xfrm>
            <a:off x="685800" y="492861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water &amp; tank farms</a:t>
            </a:r>
            <a:endParaRPr lang="en-US" sz="1250" dirty="0"/>
          </a:p>
        </p:txBody>
      </p:sp>
      <p:sp>
        <p:nvSpPr>
          <p:cNvPr id="22" name="!!mk0_2"/>
          <p:cNvSpPr/>
          <p:nvPr/>
        </p:nvSpPr>
        <p:spPr>
          <a:xfrm>
            <a:off x="2679192" y="5029200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!!mki0_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1488" y="5111496"/>
            <a:ext cx="164592" cy="164592"/>
          </a:xfrm>
          <a:prstGeom prst="rect">
            <a:avLst/>
          </a:prstGeom>
        </p:spPr>
      </p:pic>
      <p:sp>
        <p:nvSpPr>
          <p:cNvPr id="24" name="!!spine1"/>
          <p:cNvSpPr/>
          <p:nvPr/>
        </p:nvSpPr>
        <p:spPr>
          <a:xfrm>
            <a:off x="4663440" y="2194560"/>
            <a:ext cx="0" cy="3246120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</p:sp>
      <p:sp>
        <p:nvSpPr>
          <p:cNvPr id="25" name="!!br1"/>
          <p:cNvSpPr/>
          <p:nvPr/>
        </p:nvSpPr>
        <p:spPr>
          <a:xfrm>
            <a:off x="3383280" y="246888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3AB54A"/>
          </a:solidFill>
          <a:ln/>
        </p:spPr>
      </p:sp>
      <p:pic>
        <p:nvPicPr>
          <p:cNvPr id="26" name="!!bri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2606040"/>
            <a:ext cx="566928" cy="566928"/>
          </a:xfrm>
          <a:prstGeom prst="rect">
            <a:avLst/>
          </a:prstGeom>
        </p:spPr>
      </p:pic>
      <p:sp>
        <p:nvSpPr>
          <p:cNvPr id="27" name="!!brt1"/>
          <p:cNvSpPr txBox="1"/>
          <p:nvPr/>
        </p:nvSpPr>
        <p:spPr>
          <a:xfrm>
            <a:off x="4160520" y="24688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MIDSTREAM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storage</a:t>
            </a:r>
            <a:endParaRPr lang="en-US" sz="1350" dirty="0"/>
          </a:p>
        </p:txBody>
      </p:sp>
      <p:sp>
        <p:nvSpPr>
          <p:cNvPr id="28" name="!!lf1_0"/>
          <p:cNvSpPr/>
          <p:nvPr/>
        </p:nvSpPr>
        <p:spPr>
          <a:xfrm>
            <a:off x="3383280" y="3611880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</p:sp>
      <p:sp>
        <p:nvSpPr>
          <p:cNvPr id="29" name="!!lft1_0"/>
          <p:cNvSpPr txBox="1"/>
          <p:nvPr/>
        </p:nvSpPr>
        <p:spPr>
          <a:xfrm>
            <a:off x="3566160" y="36118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pig receivers</a:t>
            </a:r>
            <a:endParaRPr lang="en-US" sz="1250" dirty="0"/>
          </a:p>
        </p:txBody>
      </p:sp>
      <p:sp>
        <p:nvSpPr>
          <p:cNvPr id="30" name="!!mk1_0"/>
          <p:cNvSpPr/>
          <p:nvPr/>
        </p:nvSpPr>
        <p:spPr>
          <a:xfrm>
            <a:off x="5559552" y="3712464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!!mki1_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1848" y="3794760"/>
            <a:ext cx="164592" cy="164592"/>
          </a:xfrm>
          <a:prstGeom prst="rect">
            <a:avLst/>
          </a:prstGeom>
        </p:spPr>
      </p:pic>
      <p:sp>
        <p:nvSpPr>
          <p:cNvPr id="32" name="!!lf1_1"/>
          <p:cNvSpPr/>
          <p:nvPr/>
        </p:nvSpPr>
        <p:spPr>
          <a:xfrm>
            <a:off x="3383280" y="4270248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</p:sp>
      <p:sp>
        <p:nvSpPr>
          <p:cNvPr id="33" name="!!lft1_1"/>
          <p:cNvSpPr txBox="1"/>
          <p:nvPr/>
        </p:nvSpPr>
        <p:spPr>
          <a:xfrm>
            <a:off x="3566160" y="42702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terminals &amp; tank farms</a:t>
            </a:r>
            <a:endParaRPr lang="en-US" sz="1250" dirty="0"/>
          </a:p>
        </p:txBody>
      </p:sp>
      <p:sp>
        <p:nvSpPr>
          <p:cNvPr id="34" name="!!mk1_1"/>
          <p:cNvSpPr/>
          <p:nvPr/>
        </p:nvSpPr>
        <p:spPr>
          <a:xfrm>
            <a:off x="5559552" y="4370832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!!mki1_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1848" y="4453128"/>
            <a:ext cx="164592" cy="164592"/>
          </a:xfrm>
          <a:prstGeom prst="rect">
            <a:avLst/>
          </a:prstGeom>
        </p:spPr>
      </p:pic>
      <p:sp>
        <p:nvSpPr>
          <p:cNvPr id="36" name="!!lf1_2"/>
          <p:cNvSpPr/>
          <p:nvPr/>
        </p:nvSpPr>
        <p:spPr>
          <a:xfrm>
            <a:off x="3383280" y="4928616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</p:sp>
      <p:sp>
        <p:nvSpPr>
          <p:cNvPr id="37" name="!!lft1_2"/>
          <p:cNvSpPr txBox="1"/>
          <p:nvPr/>
        </p:nvSpPr>
        <p:spPr>
          <a:xfrm>
            <a:off x="3566160" y="492861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/ NGL plants &amp; spheres</a:t>
            </a:r>
            <a:endParaRPr lang="en-US" sz="1250" dirty="0"/>
          </a:p>
        </p:txBody>
      </p:sp>
      <p:sp>
        <p:nvSpPr>
          <p:cNvPr id="38" name="!!mk1_2"/>
          <p:cNvSpPr/>
          <p:nvPr/>
        </p:nvSpPr>
        <p:spPr>
          <a:xfrm>
            <a:off x="5559552" y="5029200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9" name="!!mki1_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1848" y="5111496"/>
            <a:ext cx="164592" cy="164592"/>
          </a:xfrm>
          <a:prstGeom prst="rect">
            <a:avLst/>
          </a:prstGeom>
        </p:spPr>
      </p:pic>
      <p:sp>
        <p:nvSpPr>
          <p:cNvPr id="40" name="!!spine2"/>
          <p:cNvSpPr/>
          <p:nvPr/>
        </p:nvSpPr>
        <p:spPr>
          <a:xfrm>
            <a:off x="7543800" y="2194560"/>
            <a:ext cx="0" cy="3246120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</p:sp>
      <p:sp>
        <p:nvSpPr>
          <p:cNvPr id="41" name="!!br2"/>
          <p:cNvSpPr/>
          <p:nvPr/>
        </p:nvSpPr>
        <p:spPr>
          <a:xfrm>
            <a:off x="6263640" y="246888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0C74BC"/>
          </a:solidFill>
          <a:ln/>
        </p:spPr>
      </p:sp>
      <p:pic>
        <p:nvPicPr>
          <p:cNvPr id="42" name="!!bri2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2606040"/>
            <a:ext cx="566928" cy="566928"/>
          </a:xfrm>
          <a:prstGeom prst="rect">
            <a:avLst/>
          </a:prstGeom>
        </p:spPr>
      </p:pic>
      <p:sp>
        <p:nvSpPr>
          <p:cNvPr id="43" name="!!brt2"/>
          <p:cNvSpPr txBox="1"/>
          <p:nvPr/>
        </p:nvSpPr>
        <p:spPr>
          <a:xfrm>
            <a:off x="7040880" y="24688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</a:t>
            </a:r>
            <a:endParaRPr lang="en-US" sz="1350" dirty="0"/>
          </a:p>
        </p:txBody>
      </p:sp>
      <p:sp>
        <p:nvSpPr>
          <p:cNvPr id="44" name="!!lf2_0"/>
          <p:cNvSpPr/>
          <p:nvPr/>
        </p:nvSpPr>
        <p:spPr>
          <a:xfrm>
            <a:off x="6263640" y="3611880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</p:sp>
      <p:sp>
        <p:nvSpPr>
          <p:cNvPr id="45" name="!!lft2_0"/>
          <p:cNvSpPr txBox="1"/>
          <p:nvPr/>
        </p:nvSpPr>
        <p:spPr>
          <a:xfrm>
            <a:off x="6446520" y="36118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&amp; vacuum units</a:t>
            </a:r>
            <a:endParaRPr lang="en-US" sz="1250" dirty="0"/>
          </a:p>
        </p:txBody>
      </p:sp>
      <p:sp>
        <p:nvSpPr>
          <p:cNvPr id="46" name="!!mk2_0"/>
          <p:cNvSpPr/>
          <p:nvPr/>
        </p:nvSpPr>
        <p:spPr>
          <a:xfrm>
            <a:off x="8439912" y="3712464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7" name="!!mki2_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2208" y="3794760"/>
            <a:ext cx="164592" cy="164592"/>
          </a:xfrm>
          <a:prstGeom prst="rect">
            <a:avLst/>
          </a:prstGeom>
        </p:spPr>
      </p:pic>
      <p:sp>
        <p:nvSpPr>
          <p:cNvPr id="48" name="!!lf2_1"/>
          <p:cNvSpPr/>
          <p:nvPr/>
        </p:nvSpPr>
        <p:spPr>
          <a:xfrm>
            <a:off x="6263640" y="4270248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</p:sp>
      <p:sp>
        <p:nvSpPr>
          <p:cNvPr id="49" name="!!lft2_1"/>
          <p:cNvSpPr txBox="1"/>
          <p:nvPr/>
        </p:nvSpPr>
        <p:spPr>
          <a:xfrm>
            <a:off x="6446520" y="42702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Hydroprocessing &amp; conversion</a:t>
            </a:r>
            <a:endParaRPr lang="en-US" sz="1250" dirty="0"/>
          </a:p>
        </p:txBody>
      </p:sp>
      <p:sp>
        <p:nvSpPr>
          <p:cNvPr id="50" name="!!mk2_1"/>
          <p:cNvSpPr/>
          <p:nvPr/>
        </p:nvSpPr>
        <p:spPr>
          <a:xfrm>
            <a:off x="8439912" y="4370832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1" name="!!mki2_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2208" y="4453128"/>
            <a:ext cx="164592" cy="164592"/>
          </a:xfrm>
          <a:prstGeom prst="rect">
            <a:avLst/>
          </a:prstGeom>
        </p:spPr>
      </p:pic>
      <p:sp>
        <p:nvSpPr>
          <p:cNvPr id="52" name="!!lf2_2"/>
          <p:cNvSpPr/>
          <p:nvPr/>
        </p:nvSpPr>
        <p:spPr>
          <a:xfrm>
            <a:off x="6263640" y="4928616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</p:sp>
      <p:sp>
        <p:nvSpPr>
          <p:cNvPr id="53" name="!!lft2_2"/>
          <p:cNvSpPr txBox="1"/>
          <p:nvPr/>
        </p:nvSpPr>
        <p:spPr>
          <a:xfrm>
            <a:off x="6446520" y="492861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 water, amine &amp; sulphur</a:t>
            </a:r>
            <a:endParaRPr lang="en-US" sz="1250" dirty="0"/>
          </a:p>
        </p:txBody>
      </p:sp>
      <p:sp>
        <p:nvSpPr>
          <p:cNvPr id="54" name="!!mk2_2"/>
          <p:cNvSpPr/>
          <p:nvPr/>
        </p:nvSpPr>
        <p:spPr>
          <a:xfrm>
            <a:off x="8439912" y="5029200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5" name="!!mki2_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22208" y="5111496"/>
            <a:ext cx="164592" cy="164592"/>
          </a:xfrm>
          <a:prstGeom prst="rect">
            <a:avLst/>
          </a:prstGeom>
        </p:spPr>
      </p:pic>
      <p:sp>
        <p:nvSpPr>
          <p:cNvPr id="56" name="!!spine3"/>
          <p:cNvSpPr/>
          <p:nvPr/>
        </p:nvSpPr>
        <p:spPr>
          <a:xfrm>
            <a:off x="10424160" y="2194560"/>
            <a:ext cx="0" cy="3246120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</p:sp>
      <p:sp>
        <p:nvSpPr>
          <p:cNvPr id="57" name="!!br3"/>
          <p:cNvSpPr/>
          <p:nvPr/>
        </p:nvSpPr>
        <p:spPr>
          <a:xfrm>
            <a:off x="9144000" y="246888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3AB54A"/>
          </a:solidFill>
          <a:ln/>
        </p:spPr>
      </p:sp>
      <p:pic>
        <p:nvPicPr>
          <p:cNvPr id="58" name="!!bri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81160" y="2606040"/>
            <a:ext cx="566928" cy="566928"/>
          </a:xfrm>
          <a:prstGeom prst="rect">
            <a:avLst/>
          </a:prstGeom>
        </p:spPr>
      </p:pic>
      <p:sp>
        <p:nvSpPr>
          <p:cNvPr id="59" name="!!brt3"/>
          <p:cNvSpPr txBox="1"/>
          <p:nvPr/>
        </p:nvSpPr>
        <p:spPr>
          <a:xfrm>
            <a:off x="9921240" y="24688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PETROCHEMICALS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 &amp; polymers</a:t>
            </a:r>
            <a:endParaRPr lang="en-US" sz="1350" dirty="0"/>
          </a:p>
        </p:txBody>
      </p:sp>
      <p:sp>
        <p:nvSpPr>
          <p:cNvPr id="60" name="!!lf3_0"/>
          <p:cNvSpPr/>
          <p:nvPr/>
        </p:nvSpPr>
        <p:spPr>
          <a:xfrm>
            <a:off x="9144000" y="3611880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</p:sp>
      <p:sp>
        <p:nvSpPr>
          <p:cNvPr id="61" name="!!lft3_0"/>
          <p:cNvSpPr txBox="1"/>
          <p:nvPr/>
        </p:nvSpPr>
        <p:spPr>
          <a:xfrm>
            <a:off x="9326880" y="36118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Aromatics (BTX)</a:t>
            </a:r>
            <a:endParaRPr lang="en-US" sz="1250" dirty="0"/>
          </a:p>
        </p:txBody>
      </p:sp>
      <p:sp>
        <p:nvSpPr>
          <p:cNvPr id="62" name="!!mk3_0"/>
          <p:cNvSpPr/>
          <p:nvPr/>
        </p:nvSpPr>
        <p:spPr>
          <a:xfrm>
            <a:off x="11320272" y="3712464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3" name="!!mki3_0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02568" y="3794760"/>
            <a:ext cx="164592" cy="164592"/>
          </a:xfrm>
          <a:prstGeom prst="rect">
            <a:avLst/>
          </a:prstGeom>
        </p:spPr>
      </p:pic>
      <p:sp>
        <p:nvSpPr>
          <p:cNvPr id="64" name="!!lf3_1"/>
          <p:cNvSpPr/>
          <p:nvPr/>
        </p:nvSpPr>
        <p:spPr>
          <a:xfrm>
            <a:off x="9144000" y="4270248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</p:sp>
      <p:sp>
        <p:nvSpPr>
          <p:cNvPr id="65" name="!!lft3_1"/>
          <p:cNvSpPr txBox="1"/>
          <p:nvPr/>
        </p:nvSpPr>
        <p:spPr>
          <a:xfrm>
            <a:off x="9326880" y="42702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Olefins &amp; polymers</a:t>
            </a:r>
            <a:endParaRPr lang="en-US" sz="1250" dirty="0"/>
          </a:p>
        </p:txBody>
      </p:sp>
      <p:sp>
        <p:nvSpPr>
          <p:cNvPr id="66" name="!!mk3_1"/>
          <p:cNvSpPr/>
          <p:nvPr/>
        </p:nvSpPr>
        <p:spPr>
          <a:xfrm>
            <a:off x="11320272" y="4370832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7" name="!!mki3_1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02568" y="4453128"/>
            <a:ext cx="164592" cy="164592"/>
          </a:xfrm>
          <a:prstGeom prst="rect">
            <a:avLst/>
          </a:prstGeom>
        </p:spPr>
      </p:pic>
      <p:sp>
        <p:nvSpPr>
          <p:cNvPr id="68" name="!!lf3_2"/>
          <p:cNvSpPr/>
          <p:nvPr/>
        </p:nvSpPr>
        <p:spPr>
          <a:xfrm>
            <a:off x="9144000" y="4928616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</p:sp>
      <p:sp>
        <p:nvSpPr>
          <p:cNvPr id="69" name="!!lft3_2"/>
          <p:cNvSpPr txBox="1"/>
          <p:nvPr/>
        </p:nvSpPr>
        <p:spPr>
          <a:xfrm>
            <a:off x="9326880" y="492861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&amp; fertilisers</a:t>
            </a:r>
            <a:endParaRPr lang="en-US" sz="1250" dirty="0"/>
          </a:p>
        </p:txBody>
      </p:sp>
      <p:sp>
        <p:nvSpPr>
          <p:cNvPr id="70" name="!!mk3_2"/>
          <p:cNvSpPr/>
          <p:nvPr/>
        </p:nvSpPr>
        <p:spPr>
          <a:xfrm>
            <a:off x="11320272" y="5029200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1" name="!!mki3_2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402568" y="5111496"/>
            <a:ext cx="164592" cy="164592"/>
          </a:xfrm>
          <a:prstGeom prst="rect">
            <a:avLst/>
          </a:prstGeom>
        </p:spPr>
      </p:pic>
      <p:sp>
        <p:nvSpPr>
          <p:cNvPr id="72" name="s1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/>
        </p:spPr>
      </p:sp>
      <p:sp>
        <p:nvSpPr>
          <p:cNvPr id="73" name="t2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holds hydrocarbons, H₂S or pyrophoric scale – and needs decontamination before entry.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6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7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7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7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7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7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2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2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4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7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7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2" dur="4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4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7" dur="4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4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9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7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2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4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7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2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4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7" dur="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400"/>
                            </p:stCondLst>
                            <p:childTnLst>
                              <p:par>
                                <p:cTn id="3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7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4" dur="7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7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7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9" dur="7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7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1100"/>
                            </p:stCondLst>
                            <p:childTnLst>
                              <p:par>
                                <p:cTn id="362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3" dur="40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64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5" dur="4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66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7" dur="4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68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9" dur="40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70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1" dur="40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72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3" dur="40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74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5" dur="40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76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7" dur="40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78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9" dur="40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80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1" dur="400" autoRev="1" fill="hold"/>
                                        <p:tgtEl>
                                          <p:spTgt spid="6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82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3" dur="400" autoRev="1" fill="hold"/>
                                        <p:tgtEl>
                                          <p:spTgt spid="6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84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5" dur="400" autoRev="1" fill="hold"/>
                                        <p:tgtEl>
                                          <p:spTgt spid="7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1" grpId="0" animBg="1"/>
      <p:bldP spid="25" grpId="0" animBg="1"/>
      <p:bldP spid="27" grpId="0" animBg="1"/>
      <p:bldP spid="41" grpId="0" animBg="1"/>
      <p:bldP spid="43" grpId="0" animBg="1"/>
      <p:bldP spid="57" grpId="0" animBg="1"/>
      <p:bldP spid="59" grpId="0" animBg="1"/>
      <p:bldP spid="8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  <p:bldP spid="24" grpId="0" animBg="1"/>
      <p:bldP spid="28" grpId="0" animBg="1"/>
      <p:bldP spid="29" grpId="0" animBg="1"/>
      <p:bldP spid="32" grpId="0" animBg="1"/>
      <p:bldP spid="33" grpId="0" animBg="1"/>
      <p:bldP spid="36" grpId="0" animBg="1"/>
      <p:bldP spid="37" grpId="0" animBg="1"/>
      <p:bldP spid="40" grpId="0" animBg="1"/>
      <p:bldP spid="44" grpId="0" animBg="1"/>
      <p:bldP spid="45" grpId="0" animBg="1"/>
      <p:bldP spid="48" grpId="0" animBg="1"/>
      <p:bldP spid="49" grpId="0" animBg="1"/>
      <p:bldP spid="52" grpId="0" animBg="1"/>
      <p:bldP spid="53" grpId="0" animBg="1"/>
      <p:bldP spid="56" grpId="0" animBg="1"/>
      <p:bldP spid="60" grpId="0" animBg="1"/>
      <p:bldP spid="61" grpId="0" animBg="1"/>
      <p:bldP spid="64" grpId="0" animBg="1"/>
      <p:bldP spid="65" grpId="0" animBg="1"/>
      <p:bldP spid="68" grpId="0" animBg="1"/>
      <p:bldP spid="69" grpId="0" animBg="1"/>
      <p:bldP spid="14" grpId="0" animBg="1"/>
      <p:bldP spid="18" grpId="0" animBg="1"/>
      <p:bldP spid="22" grpId="0" animBg="1"/>
      <p:bldP spid="30" grpId="0" animBg="1"/>
      <p:bldP spid="34" grpId="0" animBg="1"/>
      <p:bldP spid="38" grpId="0" animBg="1"/>
      <p:bldP spid="46" grpId="0" animBg="1"/>
      <p:bldP spid="50" grpId="0" animBg="1"/>
      <p:bldP spid="54" grpId="0" animBg="1"/>
      <p:bldP spid="62" grpId="0" animBg="1"/>
      <p:bldP spid="66" grpId="0" animBg="1"/>
      <p:bldP spid="70" grpId="0" animBg="1"/>
      <p:bldP spid="72" grpId="0" animBg="1"/>
      <p:bldP spid="73" grpId="0" animBg="1"/>
      <p:bldP spid="14" grpId="2" animBg="1"/>
      <p:bldP spid="18" grpId="2" animBg="1"/>
      <p:bldP spid="22" grpId="2" animBg="1"/>
      <p:bldP spid="30" grpId="2" animBg="1"/>
      <p:bldP spid="34" grpId="2" animBg="1"/>
      <p:bldP spid="38" grpId="2" animBg="1"/>
      <p:bldP spid="46" grpId="2" animBg="1"/>
      <p:bldP spid="50" grpId="2" animBg="1"/>
      <p:bldP spid="54" grpId="2" animBg="1"/>
      <p:bldP spid="62" grpId="2" animBg="1"/>
      <p:bldP spid="66" grpId="2" animBg="1"/>
      <p:bldP spid="70" grpId="2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Downstream – refining</a:t>
            </a:r>
            <a:endParaRPr lang="en-US" sz="2800" dirty="0"/>
          </a:p>
        </p:txBody>
      </p:sp>
      <p:sp>
        <p:nvSpPr>
          <p:cNvPr id="4" name="!!root"/>
          <p:cNvSpPr/>
          <p:nvPr/>
        </p:nvSpPr>
        <p:spPr>
          <a:xfrm>
            <a:off x="9437522" y="1161288"/>
            <a:ext cx="1152144" cy="197510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/>
        </p:spPr>
      </p:sp>
      <p:sp>
        <p:nvSpPr>
          <p:cNvPr id="5" name="!!root_t"/>
          <p:cNvSpPr txBox="1"/>
          <p:nvPr/>
        </p:nvSpPr>
        <p:spPr>
          <a:xfrm>
            <a:off x="9437522" y="1161288"/>
            <a:ext cx="115214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VALUE CHAIN</a:t>
            </a:r>
            <a:endParaRPr lang="en-US" sz="480" dirty="0"/>
          </a:p>
        </p:txBody>
      </p:sp>
      <p:sp>
        <p:nvSpPr>
          <p:cNvPr id="6" name="!!bar_v"/>
          <p:cNvSpPr/>
          <p:nvPr/>
        </p:nvSpPr>
        <p:spPr>
          <a:xfrm>
            <a:off x="10013594" y="1358798"/>
            <a:ext cx="0" cy="7681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7" name="!!bar_h"/>
          <p:cNvSpPr/>
          <p:nvPr/>
        </p:nvSpPr>
        <p:spPr>
          <a:xfrm>
            <a:off x="8718804" y="1435608"/>
            <a:ext cx="2592324" cy="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8" name="!!spine0"/>
          <p:cNvSpPr/>
          <p:nvPr/>
        </p:nvSpPr>
        <p:spPr>
          <a:xfrm>
            <a:off x="8718804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9" name="!!br0"/>
          <p:cNvSpPr/>
          <p:nvPr/>
        </p:nvSpPr>
        <p:spPr>
          <a:xfrm>
            <a:off x="8334756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>
              <a:alpha val="35000"/>
            </a:srgbClr>
          </a:solidFill>
          <a:ln/>
        </p:spPr>
      </p:sp>
      <p:pic>
        <p:nvPicPr>
          <p:cNvPr id="10" name="!!bri0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8375904" y="1559052"/>
            <a:ext cx="170078" cy="170078"/>
          </a:xfrm>
          <a:prstGeom prst="rect">
            <a:avLst/>
          </a:prstGeom>
        </p:spPr>
      </p:pic>
      <p:sp>
        <p:nvSpPr>
          <p:cNvPr id="11" name="!!brt0"/>
          <p:cNvSpPr txBox="1"/>
          <p:nvPr/>
        </p:nvSpPr>
        <p:spPr>
          <a:xfrm>
            <a:off x="8567928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gas processing</a:t>
            </a:r>
            <a:endParaRPr lang="en-US" sz="410" dirty="0"/>
          </a:p>
        </p:txBody>
      </p:sp>
      <p:sp>
        <p:nvSpPr>
          <p:cNvPr id="12" name="!!lf0_0"/>
          <p:cNvSpPr/>
          <p:nvPr/>
        </p:nvSpPr>
        <p:spPr>
          <a:xfrm>
            <a:off x="8334756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13" name="!!lft0_0"/>
          <p:cNvSpPr txBox="1"/>
          <p:nvPr/>
        </p:nvSpPr>
        <p:spPr>
          <a:xfrm>
            <a:off x="8389620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production stations</a:t>
            </a:r>
            <a:endParaRPr lang="en-US" sz="380" dirty="0"/>
          </a:p>
        </p:txBody>
      </p:sp>
      <p:sp>
        <p:nvSpPr>
          <p:cNvPr id="14" name="!!mk0_0"/>
          <p:cNvSpPr/>
          <p:nvPr/>
        </p:nvSpPr>
        <p:spPr>
          <a:xfrm>
            <a:off x="8987638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!!mki0_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2326" y="1915668"/>
            <a:ext cx="49378" cy="49378"/>
          </a:xfrm>
          <a:prstGeom prst="rect">
            <a:avLst/>
          </a:prstGeom>
        </p:spPr>
      </p:pic>
      <p:sp>
        <p:nvSpPr>
          <p:cNvPr id="16" name="!!lf0_1"/>
          <p:cNvSpPr/>
          <p:nvPr/>
        </p:nvSpPr>
        <p:spPr>
          <a:xfrm>
            <a:off x="8334756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17" name="!!lft0_1"/>
          <p:cNvSpPr txBox="1"/>
          <p:nvPr/>
        </p:nvSpPr>
        <p:spPr>
          <a:xfrm>
            <a:off x="8389620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processing plants</a:t>
            </a:r>
            <a:endParaRPr lang="en-US" sz="380" dirty="0"/>
          </a:p>
        </p:txBody>
      </p:sp>
      <p:sp>
        <p:nvSpPr>
          <p:cNvPr id="18" name="!!mk0_1"/>
          <p:cNvSpPr/>
          <p:nvPr/>
        </p:nvSpPr>
        <p:spPr>
          <a:xfrm>
            <a:off x="8987638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!!mki0_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26" y="2113178"/>
            <a:ext cx="49378" cy="49378"/>
          </a:xfrm>
          <a:prstGeom prst="rect">
            <a:avLst/>
          </a:prstGeom>
        </p:spPr>
      </p:pic>
      <p:sp>
        <p:nvSpPr>
          <p:cNvPr id="20" name="!!lf0_2"/>
          <p:cNvSpPr/>
          <p:nvPr/>
        </p:nvSpPr>
        <p:spPr>
          <a:xfrm>
            <a:off x="8334756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21" name="!!lft0_2"/>
          <p:cNvSpPr txBox="1"/>
          <p:nvPr/>
        </p:nvSpPr>
        <p:spPr>
          <a:xfrm>
            <a:off x="8389620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water &amp; tank farms</a:t>
            </a:r>
            <a:endParaRPr lang="en-US" sz="380" dirty="0"/>
          </a:p>
        </p:txBody>
      </p:sp>
      <p:sp>
        <p:nvSpPr>
          <p:cNvPr id="22" name="!!mk0_2"/>
          <p:cNvSpPr/>
          <p:nvPr/>
        </p:nvSpPr>
        <p:spPr>
          <a:xfrm>
            <a:off x="8987638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!!mki0_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2326" y="2310689"/>
            <a:ext cx="49378" cy="49378"/>
          </a:xfrm>
          <a:prstGeom prst="rect">
            <a:avLst/>
          </a:prstGeom>
        </p:spPr>
      </p:pic>
      <p:sp>
        <p:nvSpPr>
          <p:cNvPr id="24" name="!!spine1"/>
          <p:cNvSpPr/>
          <p:nvPr/>
        </p:nvSpPr>
        <p:spPr>
          <a:xfrm>
            <a:off x="9582912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25" name="!!br1"/>
          <p:cNvSpPr/>
          <p:nvPr/>
        </p:nvSpPr>
        <p:spPr>
          <a:xfrm>
            <a:off x="9198864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>
              <a:alpha val="35000"/>
            </a:srgbClr>
          </a:solidFill>
          <a:ln/>
        </p:spPr>
      </p:sp>
      <p:pic>
        <p:nvPicPr>
          <p:cNvPr id="26" name="!!bri1" descr="preencoded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9240012" y="1559052"/>
            <a:ext cx="170078" cy="170078"/>
          </a:xfrm>
          <a:prstGeom prst="rect">
            <a:avLst/>
          </a:prstGeom>
        </p:spPr>
      </p:pic>
      <p:sp>
        <p:nvSpPr>
          <p:cNvPr id="27" name="!!brt1"/>
          <p:cNvSpPr txBox="1"/>
          <p:nvPr/>
        </p:nvSpPr>
        <p:spPr>
          <a:xfrm>
            <a:off x="9432036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MIDSTREAM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storage</a:t>
            </a:r>
            <a:endParaRPr lang="en-US" sz="410" dirty="0"/>
          </a:p>
        </p:txBody>
      </p:sp>
      <p:sp>
        <p:nvSpPr>
          <p:cNvPr id="28" name="!!lf1_0"/>
          <p:cNvSpPr/>
          <p:nvPr/>
        </p:nvSpPr>
        <p:spPr>
          <a:xfrm>
            <a:off x="9198864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29" name="!!lft1_0"/>
          <p:cNvSpPr txBox="1"/>
          <p:nvPr/>
        </p:nvSpPr>
        <p:spPr>
          <a:xfrm>
            <a:off x="9253728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pig receivers</a:t>
            </a:r>
            <a:endParaRPr lang="en-US" sz="380" dirty="0"/>
          </a:p>
        </p:txBody>
      </p:sp>
      <p:sp>
        <p:nvSpPr>
          <p:cNvPr id="30" name="!!mk1_0"/>
          <p:cNvSpPr/>
          <p:nvPr/>
        </p:nvSpPr>
        <p:spPr>
          <a:xfrm>
            <a:off x="9851746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!!mki1_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6434" y="1915668"/>
            <a:ext cx="49378" cy="49378"/>
          </a:xfrm>
          <a:prstGeom prst="rect">
            <a:avLst/>
          </a:prstGeom>
        </p:spPr>
      </p:pic>
      <p:sp>
        <p:nvSpPr>
          <p:cNvPr id="32" name="!!lf1_1"/>
          <p:cNvSpPr/>
          <p:nvPr/>
        </p:nvSpPr>
        <p:spPr>
          <a:xfrm>
            <a:off x="9198864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33" name="!!lft1_1"/>
          <p:cNvSpPr txBox="1"/>
          <p:nvPr/>
        </p:nvSpPr>
        <p:spPr>
          <a:xfrm>
            <a:off x="9253728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terminals &amp; tank farms</a:t>
            </a:r>
            <a:endParaRPr lang="en-US" sz="380" dirty="0"/>
          </a:p>
        </p:txBody>
      </p:sp>
      <p:sp>
        <p:nvSpPr>
          <p:cNvPr id="34" name="!!mk1_1"/>
          <p:cNvSpPr/>
          <p:nvPr/>
        </p:nvSpPr>
        <p:spPr>
          <a:xfrm>
            <a:off x="9851746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!!mki1_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6434" y="2113178"/>
            <a:ext cx="49378" cy="49378"/>
          </a:xfrm>
          <a:prstGeom prst="rect">
            <a:avLst/>
          </a:prstGeom>
        </p:spPr>
      </p:pic>
      <p:sp>
        <p:nvSpPr>
          <p:cNvPr id="36" name="!!lf1_2"/>
          <p:cNvSpPr/>
          <p:nvPr/>
        </p:nvSpPr>
        <p:spPr>
          <a:xfrm>
            <a:off x="9198864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37" name="!!lft1_2"/>
          <p:cNvSpPr txBox="1"/>
          <p:nvPr/>
        </p:nvSpPr>
        <p:spPr>
          <a:xfrm>
            <a:off x="9253728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/ NGL plants &amp; spheres</a:t>
            </a:r>
            <a:endParaRPr lang="en-US" sz="380" dirty="0"/>
          </a:p>
        </p:txBody>
      </p:sp>
      <p:sp>
        <p:nvSpPr>
          <p:cNvPr id="38" name="!!mk1_2"/>
          <p:cNvSpPr/>
          <p:nvPr/>
        </p:nvSpPr>
        <p:spPr>
          <a:xfrm>
            <a:off x="9851746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9" name="!!mki1_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6434" y="2310689"/>
            <a:ext cx="49378" cy="49378"/>
          </a:xfrm>
          <a:prstGeom prst="rect">
            <a:avLst/>
          </a:prstGeom>
        </p:spPr>
      </p:pic>
      <p:sp>
        <p:nvSpPr>
          <p:cNvPr id="40" name="!!spine2"/>
          <p:cNvSpPr/>
          <p:nvPr/>
        </p:nvSpPr>
        <p:spPr>
          <a:xfrm>
            <a:off x="10447020" y="1435608"/>
            <a:ext cx="0" cy="8229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41" name="!!br2"/>
          <p:cNvSpPr/>
          <p:nvPr/>
        </p:nvSpPr>
        <p:spPr>
          <a:xfrm>
            <a:off x="10062972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/>
          </a:solidFill>
          <a:ln/>
        </p:spPr>
      </p:sp>
      <p:pic>
        <p:nvPicPr>
          <p:cNvPr id="42" name="!!bri2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4120" y="1559052"/>
            <a:ext cx="170078" cy="170078"/>
          </a:xfrm>
          <a:prstGeom prst="rect">
            <a:avLst/>
          </a:prstGeom>
        </p:spPr>
      </p:pic>
      <p:sp>
        <p:nvSpPr>
          <p:cNvPr id="43" name="!!brt2"/>
          <p:cNvSpPr txBox="1"/>
          <p:nvPr/>
        </p:nvSpPr>
        <p:spPr>
          <a:xfrm>
            <a:off x="10296144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</a:t>
            </a:r>
            <a:endParaRPr lang="en-US" sz="410" dirty="0"/>
          </a:p>
        </p:txBody>
      </p:sp>
      <p:sp>
        <p:nvSpPr>
          <p:cNvPr id="44" name="!!spine3"/>
          <p:cNvSpPr/>
          <p:nvPr/>
        </p:nvSpPr>
        <p:spPr>
          <a:xfrm>
            <a:off x="11311128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45" name="!!br3"/>
          <p:cNvSpPr/>
          <p:nvPr/>
        </p:nvSpPr>
        <p:spPr>
          <a:xfrm>
            <a:off x="10927080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>
              <a:alpha val="35000"/>
            </a:srgbClr>
          </a:solidFill>
          <a:ln/>
        </p:spPr>
      </p:sp>
      <p:pic>
        <p:nvPicPr>
          <p:cNvPr id="46" name="!!bri3" descr="preencoded.png">    </p:cNvPr>
          <p:cNvPicPr>
            <a:picLocks noChangeAspect="1"/>
          </p:cNvPicPr>
          <p:nvPr/>
        </p:nvPicPr>
        <p:blipFill>
          <a:blip r:embed="rId11">
            <a:alphaModFix amt="40000"/>
          </a:blip>
          <a:stretch>
            <a:fillRect/>
          </a:stretch>
        </p:blipFill>
        <p:spPr>
          <a:xfrm>
            <a:off x="10968228" y="1559052"/>
            <a:ext cx="170078" cy="170078"/>
          </a:xfrm>
          <a:prstGeom prst="rect">
            <a:avLst/>
          </a:prstGeom>
        </p:spPr>
      </p:pic>
      <p:sp>
        <p:nvSpPr>
          <p:cNvPr id="47" name="!!brt3"/>
          <p:cNvSpPr txBox="1"/>
          <p:nvPr/>
        </p:nvSpPr>
        <p:spPr>
          <a:xfrm>
            <a:off x="11160252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PETROCHEMICALS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 &amp; polymers</a:t>
            </a:r>
            <a:endParaRPr lang="en-US" sz="410" dirty="0"/>
          </a:p>
        </p:txBody>
      </p:sp>
      <p:sp>
        <p:nvSpPr>
          <p:cNvPr id="48" name="!!lf3_0"/>
          <p:cNvSpPr/>
          <p:nvPr/>
        </p:nvSpPr>
        <p:spPr>
          <a:xfrm>
            <a:off x="10927080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49" name="!!lft3_0"/>
          <p:cNvSpPr txBox="1"/>
          <p:nvPr/>
        </p:nvSpPr>
        <p:spPr>
          <a:xfrm>
            <a:off x="10981944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Aromatics (BTX)</a:t>
            </a:r>
            <a:endParaRPr lang="en-US" sz="380" dirty="0"/>
          </a:p>
        </p:txBody>
      </p:sp>
      <p:sp>
        <p:nvSpPr>
          <p:cNvPr id="50" name="!!mk3_0"/>
          <p:cNvSpPr/>
          <p:nvPr/>
        </p:nvSpPr>
        <p:spPr>
          <a:xfrm>
            <a:off x="11579962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1" name="!!mki3_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04650" y="1915668"/>
            <a:ext cx="49378" cy="49378"/>
          </a:xfrm>
          <a:prstGeom prst="rect">
            <a:avLst/>
          </a:prstGeom>
        </p:spPr>
      </p:pic>
      <p:sp>
        <p:nvSpPr>
          <p:cNvPr id="52" name="!!lf3_1"/>
          <p:cNvSpPr/>
          <p:nvPr/>
        </p:nvSpPr>
        <p:spPr>
          <a:xfrm>
            <a:off x="10927080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53" name="!!lft3_1"/>
          <p:cNvSpPr txBox="1"/>
          <p:nvPr/>
        </p:nvSpPr>
        <p:spPr>
          <a:xfrm>
            <a:off x="10981944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Olefins &amp; polymers</a:t>
            </a:r>
            <a:endParaRPr lang="en-US" sz="380" dirty="0"/>
          </a:p>
        </p:txBody>
      </p:sp>
      <p:sp>
        <p:nvSpPr>
          <p:cNvPr id="54" name="!!mk3_1"/>
          <p:cNvSpPr/>
          <p:nvPr/>
        </p:nvSpPr>
        <p:spPr>
          <a:xfrm>
            <a:off x="11579962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5" name="!!mki3_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04650" y="2113178"/>
            <a:ext cx="49378" cy="49378"/>
          </a:xfrm>
          <a:prstGeom prst="rect">
            <a:avLst/>
          </a:prstGeom>
        </p:spPr>
      </p:pic>
      <p:sp>
        <p:nvSpPr>
          <p:cNvPr id="56" name="!!lf3_2"/>
          <p:cNvSpPr/>
          <p:nvPr/>
        </p:nvSpPr>
        <p:spPr>
          <a:xfrm>
            <a:off x="10927080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57" name="!!lft3_2"/>
          <p:cNvSpPr txBox="1"/>
          <p:nvPr/>
        </p:nvSpPr>
        <p:spPr>
          <a:xfrm>
            <a:off x="10981944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&amp; fertilisers</a:t>
            </a:r>
            <a:endParaRPr lang="en-US" sz="380" dirty="0"/>
          </a:p>
        </p:txBody>
      </p:sp>
      <p:sp>
        <p:nvSpPr>
          <p:cNvPr id="58" name="!!mk3_2"/>
          <p:cNvSpPr/>
          <p:nvPr/>
        </p:nvSpPr>
        <p:spPr>
          <a:xfrm>
            <a:off x="11579962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9" name="!!mki3_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04650" y="2310689"/>
            <a:ext cx="49378" cy="49378"/>
          </a:xfrm>
          <a:prstGeom prst="rect">
            <a:avLst/>
          </a:prstGeom>
        </p:spPr>
      </p:pic>
      <p:sp>
        <p:nvSpPr>
          <p:cNvPr id="60" name="!!lf2_0"/>
          <p:cNvSpPr/>
          <p:nvPr/>
        </p:nvSpPr>
        <p:spPr>
          <a:xfrm>
            <a:off x="548640" y="141732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61" name="!!lft2_0"/>
          <p:cNvSpPr txBox="1"/>
          <p:nvPr/>
        </p:nvSpPr>
        <p:spPr>
          <a:xfrm>
            <a:off x="777240" y="14173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&amp; vacuum units</a:t>
            </a:r>
            <a:endParaRPr lang="en-US" sz="1600" dirty="0"/>
          </a:p>
        </p:txBody>
      </p:sp>
      <p:sp>
        <p:nvSpPr>
          <p:cNvPr id="62" name="!!mk2_0"/>
          <p:cNvSpPr/>
          <p:nvPr/>
        </p:nvSpPr>
        <p:spPr>
          <a:xfrm>
            <a:off x="3337560" y="157276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3" name="!!mki2_0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47288" y="1682496"/>
            <a:ext cx="201168" cy="201168"/>
          </a:xfrm>
          <a:prstGeom prst="rect">
            <a:avLst/>
          </a:prstGeom>
        </p:spPr>
      </p:pic>
      <p:sp>
        <p:nvSpPr>
          <p:cNvPr id="64" name="t3"/>
          <p:cNvSpPr txBox="1"/>
          <p:nvPr/>
        </p:nvSpPr>
        <p:spPr>
          <a:xfrm>
            <a:off x="4114800" y="1143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CDU, VDU, desalter, pre-heat trains</a:t>
            </a:r>
            <a:endParaRPr lang="en-US" sz="1400" dirty="0"/>
          </a:p>
        </p:txBody>
      </p:sp>
      <p:sp>
        <p:nvSpPr>
          <p:cNvPr id="65" name="s4"/>
          <p:cNvSpPr/>
          <p:nvPr/>
        </p:nvSpPr>
        <p:spPr>
          <a:xfrm>
            <a:off x="4114800" y="187452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6" name="t5"/>
          <p:cNvSpPr txBox="1"/>
          <p:nvPr/>
        </p:nvSpPr>
        <p:spPr>
          <a:xfrm>
            <a:off x="4114800" y="187452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67" name="s6"/>
          <p:cNvSpPr/>
          <p:nvPr/>
        </p:nvSpPr>
        <p:spPr>
          <a:xfrm>
            <a:off x="4777740" y="187452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68" name="t7"/>
          <p:cNvSpPr txBox="1"/>
          <p:nvPr/>
        </p:nvSpPr>
        <p:spPr>
          <a:xfrm>
            <a:off x="4777740" y="187452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69" name="s8"/>
          <p:cNvSpPr/>
          <p:nvPr/>
        </p:nvSpPr>
        <p:spPr>
          <a:xfrm>
            <a:off x="5751576" y="187452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70" name="t9"/>
          <p:cNvSpPr txBox="1"/>
          <p:nvPr/>
        </p:nvSpPr>
        <p:spPr>
          <a:xfrm>
            <a:off x="5751576" y="187452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71" name="s10"/>
          <p:cNvSpPr/>
          <p:nvPr/>
        </p:nvSpPr>
        <p:spPr>
          <a:xfrm>
            <a:off x="6414516" y="1874520"/>
            <a:ext cx="1019556" cy="329184"/>
          </a:xfrm>
          <a:prstGeom prst="roundRect">
            <a:avLst>
              <a:gd name="adj" fmla="val 50000"/>
            </a:avLst>
          </a:prstGeom>
          <a:solidFill>
            <a:srgbClr val="9C7A55"/>
          </a:solidFill>
          <a:ln/>
        </p:spPr>
      </p:sp>
      <p:sp>
        <p:nvSpPr>
          <p:cNvPr id="72" name="t11"/>
          <p:cNvSpPr txBox="1"/>
          <p:nvPr/>
        </p:nvSpPr>
        <p:spPr>
          <a:xfrm>
            <a:off x="6414516" y="1874520"/>
            <a:ext cx="10195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oil</a:t>
            </a:r>
            <a:endParaRPr lang="en-US" sz="1200" dirty="0"/>
          </a:p>
        </p:txBody>
      </p:sp>
      <p:sp>
        <p:nvSpPr>
          <p:cNvPr id="73" name="!!lf2_1"/>
          <p:cNvSpPr/>
          <p:nvPr/>
        </p:nvSpPr>
        <p:spPr>
          <a:xfrm>
            <a:off x="548640" y="283464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74" name="!!lft2_1"/>
          <p:cNvSpPr txBox="1"/>
          <p:nvPr/>
        </p:nvSpPr>
        <p:spPr>
          <a:xfrm>
            <a:off x="777240" y="2834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Hydroprocessing &amp; conversion</a:t>
            </a:r>
            <a:endParaRPr lang="en-US" sz="1600" dirty="0"/>
          </a:p>
        </p:txBody>
      </p:sp>
      <p:sp>
        <p:nvSpPr>
          <p:cNvPr id="75" name="!!mk2_1"/>
          <p:cNvSpPr/>
          <p:nvPr/>
        </p:nvSpPr>
        <p:spPr>
          <a:xfrm>
            <a:off x="3337560" y="299008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6" name="!!mki2_1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47288" y="3099816"/>
            <a:ext cx="201168" cy="201168"/>
          </a:xfrm>
          <a:prstGeom prst="rect">
            <a:avLst/>
          </a:prstGeom>
        </p:spPr>
      </p:pic>
      <p:sp>
        <p:nvSpPr>
          <p:cNvPr id="77" name="t12"/>
          <p:cNvSpPr txBox="1"/>
          <p:nvPr/>
        </p:nvSpPr>
        <p:spPr>
          <a:xfrm>
            <a:off x="4114800" y="2560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Hydrotreaters, hydrocracker, FCC, coker</a:t>
            </a:r>
            <a:endParaRPr lang="en-US" sz="1400" dirty="0"/>
          </a:p>
        </p:txBody>
      </p:sp>
      <p:sp>
        <p:nvSpPr>
          <p:cNvPr id="78" name="s13"/>
          <p:cNvSpPr/>
          <p:nvPr/>
        </p:nvSpPr>
        <p:spPr>
          <a:xfrm>
            <a:off x="4114800" y="32918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9" name="t14"/>
          <p:cNvSpPr txBox="1"/>
          <p:nvPr/>
        </p:nvSpPr>
        <p:spPr>
          <a:xfrm>
            <a:off x="4114800" y="32918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80" name="s15"/>
          <p:cNvSpPr/>
          <p:nvPr/>
        </p:nvSpPr>
        <p:spPr>
          <a:xfrm>
            <a:off x="4777740" y="3291840"/>
            <a:ext cx="1408176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81" name="t16"/>
          <p:cNvSpPr txBox="1"/>
          <p:nvPr/>
        </p:nvSpPr>
        <p:spPr>
          <a:xfrm>
            <a:off x="4777740" y="3291840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82" name="s17"/>
          <p:cNvSpPr/>
          <p:nvPr/>
        </p:nvSpPr>
        <p:spPr>
          <a:xfrm>
            <a:off x="6295644" y="3291840"/>
            <a:ext cx="630936" cy="329184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/>
        </p:spPr>
      </p:sp>
      <p:sp>
        <p:nvSpPr>
          <p:cNvPr id="83" name="t18"/>
          <p:cNvSpPr txBox="1"/>
          <p:nvPr/>
        </p:nvSpPr>
        <p:spPr>
          <a:xfrm>
            <a:off x="6295644" y="3291840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Coke</a:t>
            </a:r>
            <a:endParaRPr lang="en-US" sz="1200" dirty="0"/>
          </a:p>
        </p:txBody>
      </p:sp>
      <p:sp>
        <p:nvSpPr>
          <p:cNvPr id="84" name="s19"/>
          <p:cNvSpPr/>
          <p:nvPr/>
        </p:nvSpPr>
        <p:spPr>
          <a:xfrm>
            <a:off x="7036308" y="32918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85" name="t20"/>
          <p:cNvSpPr txBox="1"/>
          <p:nvPr/>
        </p:nvSpPr>
        <p:spPr>
          <a:xfrm>
            <a:off x="7036308" y="32918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86" name="!!lf2_2"/>
          <p:cNvSpPr/>
          <p:nvPr/>
        </p:nvSpPr>
        <p:spPr>
          <a:xfrm>
            <a:off x="548640" y="425196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87" name="!!lft2_2"/>
          <p:cNvSpPr txBox="1"/>
          <p:nvPr/>
        </p:nvSpPr>
        <p:spPr>
          <a:xfrm>
            <a:off x="777240" y="42519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 water, amine &amp; sulphur</a:t>
            </a:r>
            <a:endParaRPr lang="en-US" sz="1600" dirty="0"/>
          </a:p>
        </p:txBody>
      </p:sp>
      <p:sp>
        <p:nvSpPr>
          <p:cNvPr id="88" name="!!mk2_2"/>
          <p:cNvSpPr/>
          <p:nvPr/>
        </p:nvSpPr>
        <p:spPr>
          <a:xfrm>
            <a:off x="3337560" y="440740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9" name="!!mki2_2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47288" y="4517136"/>
            <a:ext cx="201168" cy="201168"/>
          </a:xfrm>
          <a:prstGeom prst="rect">
            <a:avLst/>
          </a:prstGeom>
        </p:spPr>
      </p:pic>
      <p:sp>
        <p:nvSpPr>
          <p:cNvPr id="90" name="t21"/>
          <p:cNvSpPr txBox="1"/>
          <p:nvPr/>
        </p:nvSpPr>
        <p:spPr>
          <a:xfrm>
            <a:off x="4114800" y="3977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 water strippers, amine regenerators, SRU / TGT</a:t>
            </a:r>
            <a:endParaRPr lang="en-US" sz="1400" dirty="0"/>
          </a:p>
        </p:txBody>
      </p:sp>
      <p:sp>
        <p:nvSpPr>
          <p:cNvPr id="91" name="s22"/>
          <p:cNvSpPr/>
          <p:nvPr/>
        </p:nvSpPr>
        <p:spPr>
          <a:xfrm>
            <a:off x="4114800" y="470916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2" name="t23"/>
          <p:cNvSpPr txBox="1"/>
          <p:nvPr/>
        </p:nvSpPr>
        <p:spPr>
          <a:xfrm>
            <a:off x="4114800" y="470916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93" name="s24"/>
          <p:cNvSpPr/>
          <p:nvPr/>
        </p:nvSpPr>
        <p:spPr>
          <a:xfrm>
            <a:off x="4777740" y="470916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</p:sp>
      <p:sp>
        <p:nvSpPr>
          <p:cNvPr id="94" name="t25"/>
          <p:cNvSpPr txBox="1"/>
          <p:nvPr/>
        </p:nvSpPr>
        <p:spPr>
          <a:xfrm>
            <a:off x="4777740" y="470916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</a:t>
            </a:r>
            <a:endParaRPr lang="en-US" sz="1200" dirty="0"/>
          </a:p>
        </p:txBody>
      </p:sp>
      <p:sp>
        <p:nvSpPr>
          <p:cNvPr id="95" name="s26"/>
          <p:cNvSpPr/>
          <p:nvPr/>
        </p:nvSpPr>
        <p:spPr>
          <a:xfrm>
            <a:off x="5751576" y="4709160"/>
            <a:ext cx="1408176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96" name="t27"/>
          <p:cNvSpPr txBox="1"/>
          <p:nvPr/>
        </p:nvSpPr>
        <p:spPr>
          <a:xfrm>
            <a:off x="5751576" y="4709160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97" name="t28"/>
          <p:cNvSpPr txBox="1"/>
          <p:nvPr/>
        </p:nvSpPr>
        <p:spPr>
          <a:xfrm>
            <a:off x="548640" y="58064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4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vapour-phase decontamination clears these units.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6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6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decontamination – how it works</a:t>
            </a:r>
            <a:endParaRPr lang="en-US" sz="2800" dirty="0"/>
          </a:p>
        </p:txBody>
      </p:sp>
      <p:sp>
        <p:nvSpPr>
          <p:cNvPr id="4" name="s29"/>
          <p:cNvSpPr/>
          <p:nvPr/>
        </p:nvSpPr>
        <p:spPr>
          <a:xfrm flipV="1">
            <a:off x="6080760" y="1417320"/>
            <a:ext cx="0" cy="32004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5" name="s30"/>
          <p:cNvSpPr/>
          <p:nvPr/>
        </p:nvSpPr>
        <p:spPr>
          <a:xfrm>
            <a:off x="6080760" y="1417320"/>
            <a:ext cx="342900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" name="t31"/>
          <p:cNvSpPr txBox="1"/>
          <p:nvPr/>
        </p:nvSpPr>
        <p:spPr>
          <a:xfrm>
            <a:off x="960120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closed vent / flare</a:t>
            </a:r>
            <a:endParaRPr lang="en-US" sz="1200" dirty="0"/>
          </a:p>
        </p:txBody>
      </p:sp>
      <p:sp>
        <p:nvSpPr>
          <p:cNvPr id="7" name="s32"/>
          <p:cNvSpPr/>
          <p:nvPr/>
        </p:nvSpPr>
        <p:spPr>
          <a:xfrm>
            <a:off x="5486400" y="1737360"/>
            <a:ext cx="1188720" cy="3749040"/>
          </a:xfrm>
          <a:prstGeom prst="roundRect">
            <a:avLst>
              <a:gd name="adj" fmla="val 50000"/>
            </a:avLst>
          </a:prstGeom>
          <a:solidFill>
            <a:srgbClr val="DCEBF7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8" name="s33"/>
          <p:cNvSpPr/>
          <p:nvPr/>
        </p:nvSpPr>
        <p:spPr>
          <a:xfrm>
            <a:off x="5532120" y="215392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34"/>
          <p:cNvSpPr/>
          <p:nvPr/>
        </p:nvSpPr>
        <p:spPr>
          <a:xfrm>
            <a:off x="5532120" y="257048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35"/>
          <p:cNvSpPr/>
          <p:nvPr/>
        </p:nvSpPr>
        <p:spPr>
          <a:xfrm>
            <a:off x="5532120" y="298704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36"/>
          <p:cNvSpPr/>
          <p:nvPr/>
        </p:nvSpPr>
        <p:spPr>
          <a:xfrm>
            <a:off x="5532120" y="340360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37"/>
          <p:cNvSpPr/>
          <p:nvPr/>
        </p:nvSpPr>
        <p:spPr>
          <a:xfrm>
            <a:off x="5532120" y="382016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38"/>
          <p:cNvSpPr/>
          <p:nvPr/>
        </p:nvSpPr>
        <p:spPr>
          <a:xfrm>
            <a:off x="5532120" y="423672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s39"/>
          <p:cNvSpPr/>
          <p:nvPr/>
        </p:nvSpPr>
        <p:spPr>
          <a:xfrm>
            <a:off x="5532120" y="465328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40"/>
          <p:cNvSpPr/>
          <p:nvPr/>
        </p:nvSpPr>
        <p:spPr>
          <a:xfrm>
            <a:off x="5532120" y="506984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41"/>
          <p:cNvSpPr/>
          <p:nvPr/>
        </p:nvSpPr>
        <p:spPr>
          <a:xfrm>
            <a:off x="5486400" y="1737360"/>
            <a:ext cx="1188720" cy="3749040"/>
          </a:xfrm>
          <a:prstGeom prst="roundRect">
            <a:avLst>
              <a:gd name="adj" fmla="val 50000"/>
            </a:avLst>
          </a:prstGeom>
          <a:solidFill>
            <a:srgbClr val="9C7A55">
              <a:alpha val="70000"/>
            </a:srgbClr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17" name="t42"/>
          <p:cNvSpPr txBox="1"/>
          <p:nvPr/>
        </p:nvSpPr>
        <p:spPr>
          <a:xfrm>
            <a:off x="5486400" y="5532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18" name="cl_H₂S"/>
          <p:cNvSpPr/>
          <p:nvPr/>
        </p:nvSpPr>
        <p:spPr>
          <a:xfrm>
            <a:off x="5623560" y="2057400"/>
            <a:ext cx="914400" cy="347472"/>
          </a:xfrm>
          <a:prstGeom prst="roundRect">
            <a:avLst>
              <a:gd name="adj" fmla="val 47368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19" name="cl_Benzene"/>
          <p:cNvSpPr/>
          <p:nvPr/>
        </p:nvSpPr>
        <p:spPr>
          <a:xfrm>
            <a:off x="5623560" y="2788920"/>
            <a:ext cx="914400" cy="347472"/>
          </a:xfrm>
          <a:prstGeom prst="roundRect">
            <a:avLst>
              <a:gd name="adj" fmla="val 47368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20" name="cl_LEL"/>
          <p:cNvSpPr/>
          <p:nvPr/>
        </p:nvSpPr>
        <p:spPr>
          <a:xfrm>
            <a:off x="5623560" y="3520440"/>
            <a:ext cx="914400" cy="347472"/>
          </a:xfrm>
          <a:prstGeom prst="roundRect">
            <a:avLst>
              <a:gd name="adj" fmla="val 47368"/>
            </a:avLst>
          </a:prstGeom>
          <a:solidFill>
            <a:srgbClr val="D4A0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1" name="cl_FeS"/>
          <p:cNvSpPr/>
          <p:nvPr/>
        </p:nvSpPr>
        <p:spPr>
          <a:xfrm>
            <a:off x="5623560" y="4251960"/>
            <a:ext cx="914400" cy="347472"/>
          </a:xfrm>
          <a:prstGeom prst="roundRect">
            <a:avLst>
              <a:gd name="adj" fmla="val 47368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22" name="s43"/>
          <p:cNvSpPr/>
          <p:nvPr/>
        </p:nvSpPr>
        <p:spPr>
          <a:xfrm>
            <a:off x="8412480" y="2103120"/>
            <a:ext cx="3200400" cy="2514600"/>
          </a:xfrm>
          <a:prstGeom prst="roundRect">
            <a:avLst>
              <a:gd name="adj" fmla="val 436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23" name="t44"/>
          <p:cNvSpPr txBox="1"/>
          <p:nvPr/>
        </p:nvSpPr>
        <p:spPr>
          <a:xfrm>
            <a:off x="864108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 AT MANWAY</a:t>
            </a:r>
            <a:endParaRPr lang="en-US" sz="1300" dirty="0"/>
          </a:p>
        </p:txBody>
      </p:sp>
      <p:sp>
        <p:nvSpPr>
          <p:cNvPr id="24" name="t45"/>
          <p:cNvSpPr txBox="1"/>
          <p:nvPr/>
        </p:nvSpPr>
        <p:spPr>
          <a:xfrm>
            <a:off x="8641080" y="2743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500" dirty="0"/>
          </a:p>
        </p:txBody>
      </p:sp>
      <p:sp>
        <p:nvSpPr>
          <p:cNvPr id="25" name="bad0"/>
          <p:cNvSpPr txBox="1"/>
          <p:nvPr/>
        </p:nvSpPr>
        <p:spPr>
          <a:xfrm>
            <a:off x="982980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400" dirty="0"/>
          </a:p>
        </p:txBody>
      </p:sp>
      <p:sp>
        <p:nvSpPr>
          <p:cNvPr id="26" name="ok0"/>
          <p:cNvSpPr txBox="1"/>
          <p:nvPr/>
        </p:nvSpPr>
        <p:spPr>
          <a:xfrm>
            <a:off x="982980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400" dirty="0"/>
          </a:p>
        </p:txBody>
      </p:sp>
      <p:sp>
        <p:nvSpPr>
          <p:cNvPr id="27" name="t46"/>
          <p:cNvSpPr txBox="1"/>
          <p:nvPr/>
        </p:nvSpPr>
        <p:spPr>
          <a:xfrm>
            <a:off x="8641080" y="31821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500" dirty="0"/>
          </a:p>
        </p:txBody>
      </p:sp>
      <p:sp>
        <p:nvSpPr>
          <p:cNvPr id="28" name="bad1"/>
          <p:cNvSpPr txBox="1"/>
          <p:nvPr/>
        </p:nvSpPr>
        <p:spPr>
          <a:xfrm>
            <a:off x="9829800" y="31821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400" dirty="0"/>
          </a:p>
        </p:txBody>
      </p:sp>
      <p:sp>
        <p:nvSpPr>
          <p:cNvPr id="29" name="ok1"/>
          <p:cNvSpPr txBox="1"/>
          <p:nvPr/>
        </p:nvSpPr>
        <p:spPr>
          <a:xfrm>
            <a:off x="9829800" y="31821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400" dirty="0"/>
          </a:p>
        </p:txBody>
      </p:sp>
      <p:sp>
        <p:nvSpPr>
          <p:cNvPr id="30" name="t47"/>
          <p:cNvSpPr txBox="1"/>
          <p:nvPr/>
        </p:nvSpPr>
        <p:spPr>
          <a:xfrm>
            <a:off x="8641080" y="36210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500" dirty="0"/>
          </a:p>
        </p:txBody>
      </p:sp>
      <p:sp>
        <p:nvSpPr>
          <p:cNvPr id="31" name="bad2"/>
          <p:cNvSpPr txBox="1"/>
          <p:nvPr/>
        </p:nvSpPr>
        <p:spPr>
          <a:xfrm>
            <a:off x="9829800" y="36210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400" dirty="0"/>
          </a:p>
        </p:txBody>
      </p:sp>
      <p:sp>
        <p:nvSpPr>
          <p:cNvPr id="32" name="ok2"/>
          <p:cNvSpPr txBox="1"/>
          <p:nvPr/>
        </p:nvSpPr>
        <p:spPr>
          <a:xfrm>
            <a:off x="9829800" y="36210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400" dirty="0"/>
          </a:p>
        </p:txBody>
      </p:sp>
      <p:sp>
        <p:nvSpPr>
          <p:cNvPr id="33" name="t48"/>
          <p:cNvSpPr txBox="1"/>
          <p:nvPr/>
        </p:nvSpPr>
        <p:spPr>
          <a:xfrm>
            <a:off x="8641080" y="40599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</a:t>
            </a:r>
            <a:endParaRPr lang="en-US" sz="1500" dirty="0"/>
          </a:p>
        </p:txBody>
      </p:sp>
      <p:sp>
        <p:nvSpPr>
          <p:cNvPr id="34" name="bad3"/>
          <p:cNvSpPr txBox="1"/>
          <p:nvPr/>
        </p:nvSpPr>
        <p:spPr>
          <a:xfrm>
            <a:off x="9829800" y="40599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400" dirty="0"/>
          </a:p>
        </p:txBody>
      </p:sp>
      <p:sp>
        <p:nvSpPr>
          <p:cNvPr id="35" name="ok3"/>
          <p:cNvSpPr txBox="1"/>
          <p:nvPr/>
        </p:nvSpPr>
        <p:spPr>
          <a:xfrm>
            <a:off x="9829800" y="40599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400" dirty="0"/>
          </a:p>
        </p:txBody>
      </p:sp>
      <p:sp>
        <p:nvSpPr>
          <p:cNvPr id="36" name="t49"/>
          <p:cNvSpPr txBox="1"/>
          <p:nvPr/>
        </p:nvSpPr>
        <p:spPr>
          <a:xfrm>
            <a:off x="1463040" y="4983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37" name="steamL"/>
          <p:cNvSpPr/>
          <p:nvPr/>
        </p:nvSpPr>
        <p:spPr>
          <a:xfrm>
            <a:off x="2194560" y="5120640"/>
            <a:ext cx="3291840" cy="0"/>
          </a:xfrm>
          <a:prstGeom prst="line">
            <a:avLst/>
          </a:prstGeom>
          <a:noFill/>
          <a:ln w="635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38" name="chemLbl"/>
          <p:cNvSpPr txBox="1"/>
          <p:nvPr/>
        </p:nvSpPr>
        <p:spPr>
          <a:xfrm>
            <a:off x="23774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200" dirty="0"/>
          </a:p>
        </p:txBody>
      </p:sp>
      <p:sp>
        <p:nvSpPr>
          <p:cNvPr id="39" name="chemL"/>
          <p:cNvSpPr/>
          <p:nvPr/>
        </p:nvSpPr>
        <p:spPr>
          <a:xfrm>
            <a:off x="3291840" y="3886200"/>
            <a:ext cx="0" cy="1234440"/>
          </a:xfrm>
          <a:prstGeom prst="line">
            <a:avLst/>
          </a:prstGeom>
          <a:noFill/>
          <a:ln w="635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40" name="sp0"/>
          <p:cNvSpPr/>
          <p:nvPr/>
        </p:nvSpPr>
        <p:spPr>
          <a:xfrm>
            <a:off x="2103120" y="5029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41" name="sp1"/>
          <p:cNvSpPr/>
          <p:nvPr/>
        </p:nvSpPr>
        <p:spPr>
          <a:xfrm>
            <a:off x="2103120" y="5029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42" name="sp2"/>
          <p:cNvSpPr/>
          <p:nvPr/>
        </p:nvSpPr>
        <p:spPr>
          <a:xfrm>
            <a:off x="2103120" y="5029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43" name="sp3"/>
          <p:cNvSpPr/>
          <p:nvPr/>
        </p:nvSpPr>
        <p:spPr>
          <a:xfrm>
            <a:off x="2103120" y="5029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44" name="sp4"/>
          <p:cNvSpPr/>
          <p:nvPr/>
        </p:nvSpPr>
        <p:spPr>
          <a:xfrm>
            <a:off x="2103120" y="5029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45" name="sp5"/>
          <p:cNvSpPr/>
          <p:nvPr/>
        </p:nvSpPr>
        <p:spPr>
          <a:xfrm>
            <a:off x="2103120" y="5029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46" name="sp6"/>
          <p:cNvSpPr/>
          <p:nvPr/>
        </p:nvSpPr>
        <p:spPr>
          <a:xfrm>
            <a:off x="2103120" y="5029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47" name="cp0"/>
          <p:cNvSpPr/>
          <p:nvPr/>
        </p:nvSpPr>
        <p:spPr>
          <a:xfrm>
            <a:off x="3200400" y="3794760"/>
            <a:ext cx="182880" cy="18288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48" name="cp1"/>
          <p:cNvSpPr/>
          <p:nvPr/>
        </p:nvSpPr>
        <p:spPr>
          <a:xfrm>
            <a:off x="3200400" y="3794760"/>
            <a:ext cx="182880" cy="18288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49" name="cp2"/>
          <p:cNvSpPr/>
          <p:nvPr/>
        </p:nvSpPr>
        <p:spPr>
          <a:xfrm>
            <a:off x="3200400" y="3794760"/>
            <a:ext cx="182880" cy="18288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50" name="cp3"/>
          <p:cNvSpPr/>
          <p:nvPr/>
        </p:nvSpPr>
        <p:spPr>
          <a:xfrm>
            <a:off x="3200400" y="3794760"/>
            <a:ext cx="182880" cy="18288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51" name="cp4"/>
          <p:cNvSpPr/>
          <p:nvPr/>
        </p:nvSpPr>
        <p:spPr>
          <a:xfrm>
            <a:off x="3200400" y="3794760"/>
            <a:ext cx="182880" cy="18288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52" name="cp5"/>
          <p:cNvSpPr/>
          <p:nvPr/>
        </p:nvSpPr>
        <p:spPr>
          <a:xfrm>
            <a:off x="3200400" y="3794760"/>
            <a:ext cx="182880" cy="18288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53" name="s50"/>
          <p:cNvSpPr/>
          <p:nvPr/>
        </p:nvSpPr>
        <p:spPr>
          <a:xfrm>
            <a:off x="548640" y="5806440"/>
            <a:ext cx="11064240" cy="530352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/>
        </p:spPr>
      </p:sp>
      <p:sp>
        <p:nvSpPr>
          <p:cNvPr id="54" name="cap0"/>
          <p:cNvSpPr txBox="1"/>
          <p:nvPr/>
        </p:nvSpPr>
        <p:spPr>
          <a:xfrm>
            <a:off x="777240" y="5806440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The unit is shut down, drained and isolated – but the column still holds toxic and flammable residues.</a:t>
            </a:r>
            <a:endParaRPr lang="en-US" sz="1500" dirty="0"/>
          </a:p>
        </p:txBody>
      </p:sp>
      <p:sp>
        <p:nvSpPr>
          <p:cNvPr id="55" name="cap1"/>
          <p:cNvSpPr txBox="1"/>
          <p:nvPr/>
        </p:nvSpPr>
        <p:spPr>
          <a:xfrm>
            <a:off x="777240" y="5806440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Steam is introduced through the existing steam-out lines and heats the whole column.</a:t>
            </a:r>
            <a:endParaRPr lang="en-US" sz="1500" dirty="0"/>
          </a:p>
        </p:txBody>
      </p:sp>
      <p:sp>
        <p:nvSpPr>
          <p:cNvPr id="56" name="cap2"/>
          <p:cNvSpPr txBox="1"/>
          <p:nvPr/>
        </p:nvSpPr>
        <p:spPr>
          <a:xfrm>
            <a:off x="777240" y="5806440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Decon chemistry is injected into the steam and travels to every surface the steam reaches.</a:t>
            </a:r>
            <a:endParaRPr lang="en-US" sz="1500" dirty="0"/>
          </a:p>
        </p:txBody>
      </p:sp>
      <p:sp>
        <p:nvSpPr>
          <p:cNvPr id="57" name="cap3"/>
          <p:cNvSpPr txBox="1"/>
          <p:nvPr/>
        </p:nvSpPr>
        <p:spPr>
          <a:xfrm>
            <a:off x="777240" y="5806440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H₂S, benzene and LEL gases are released and swept to the closed vent / flare; FeS is oxidised.</a:t>
            </a:r>
            <a:endParaRPr lang="en-US" sz="1500" dirty="0"/>
          </a:p>
        </p:txBody>
      </p:sp>
      <p:sp>
        <p:nvSpPr>
          <p:cNvPr id="58" name="cap4"/>
          <p:cNvSpPr txBox="1"/>
          <p:nvPr/>
        </p:nvSpPr>
        <p:spPr>
          <a:xfrm>
            <a:off x="777240" y="5806440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Deposits soften and drain – the column is clean.</a:t>
            </a:r>
            <a:endParaRPr lang="en-US" sz="1500" dirty="0"/>
          </a:p>
        </p:txBody>
      </p:sp>
      <p:sp>
        <p:nvSpPr>
          <p:cNvPr id="59" name="cap5"/>
          <p:cNvSpPr txBox="1"/>
          <p:nvPr/>
        </p:nvSpPr>
        <p:spPr>
          <a:xfrm>
            <a:off x="777240" y="5806440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Gas tests confirm the entry criteria – the column is handed over for safe entry.</a:t>
            </a:r>
            <a:endParaRPr lang="en-US" sz="1500" dirty="0"/>
          </a:p>
        </p:txBody>
      </p:sp>
      <p:sp>
        <p:nvSpPr>
          <p:cNvPr id="60" name="s51"/>
          <p:cNvSpPr/>
          <p:nvPr/>
        </p:nvSpPr>
        <p:spPr>
          <a:xfrm>
            <a:off x="8412480" y="4800600"/>
            <a:ext cx="3200400" cy="685800"/>
          </a:xfrm>
          <a:prstGeom prst="roundRect">
            <a:avLst>
              <a:gd name="adj" fmla="val 49333"/>
            </a:avLst>
          </a:prstGeom>
          <a:solidFill>
            <a:srgbClr val="3AB54A"/>
          </a:solidFill>
          <a:ln/>
        </p:spPr>
      </p:sp>
      <p:sp>
        <p:nvSpPr>
          <p:cNvPr id="61" name="t52"/>
          <p:cNvSpPr txBox="1"/>
          <p:nvPr/>
        </p:nvSpPr>
        <p:spPr>
          <a:xfrm>
            <a:off x="8412480" y="4800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READY FOR SAFE ENTRY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2888 0.0000 L 0.2888 -0.4533 E" pathEditMode="relative" ptsTypes="AAA">
                                      <p:cBhvr>
                                        <p:cTn id="24" dur="2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0" presetClass="path" presetSubtype="0" fill="hold" grpId="3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 0 L 0.2888 0.0000 L 0.2888 -0.4533 E" pathEditMode="relative" ptsTypes="AAA">
                                      <p:cBhvr>
                                        <p:cTn id="30" dur="2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0" presetClass="pat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2888 0.0000 L 0.2888 -0.4533 E" pathEditMode="relative" ptsTypes="AAA">
                                      <p:cBhvr>
                                        <p:cTn id="36" dur="22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3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 0 L 0.2888 0.0000 L 0.2888 -0.4533 E" pathEditMode="relative" ptsTypes="AAA">
                                      <p:cBhvr>
                                        <p:cTn id="42" dur="22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39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grpId="3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2888 0.0000 L 0.2888 -0.4533 E" pathEditMode="relative" ptsTypes="AAA">
                                      <p:cBhvr>
                                        <p:cTn id="48" dur="22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fill="hold" grpId="3" nodeType="withEffect">
                                  <p:stCondLst>
                                    <p:cond delay="2450"/>
                                  </p:stCondLst>
                                  <p:childTnLst>
                                    <p:animMotion origin="layout" path="M 0 0 L 0.2888 0.0000 L 0.2888 -0.4533 E" pathEditMode="relative" ptsTypes="AAA">
                                      <p:cBhvr>
                                        <p:cTn id="54" dur="2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0" presetClass="path" presetSubtype="0" fill="hold" grpId="3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 0 L 0.2888 0.0000 L 0.2888 -0.4533 E" pathEditMode="relative" ptsTypes="AAA">
                                      <p:cBhvr>
                                        <p:cTn id="60" dur="2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0.1800 L 0.1988 0.1800 L 0.1988 -0.3067 E" pathEditMode="relative" ptsTypes="AAAA">
                                      <p:cBhvr>
                                        <p:cTn id="79" dur="2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0" presetClass="path" presetSubtype="0" fill="hold" grpId="3" nodeType="withEffect">
                                  <p:stCondLst>
                                    <p:cond delay="980"/>
                                  </p:stCondLst>
                                  <p:childTnLst>
                                    <p:animMotion origin="layout" path="M 0 0 L 0.0000 0.1800 L 0.1988 0.1800 L 0.1988 -0.3067 E" pathEditMode="relative" ptsTypes="AAAA">
                                      <p:cBhvr>
                                        <p:cTn id="85" dur="2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0" presetClass="path" presetSubtype="0" fill="hold" grpId="3" nodeType="withEffect">
                                  <p:stCondLst>
                                    <p:cond delay="1360"/>
                                  </p:stCondLst>
                                  <p:childTnLst>
                                    <p:animMotion origin="layout" path="M 0 0 L 0.0000 0.1800 L 0.1988 0.1800 L 0.1988 -0.3067 E" pathEditMode="relative" ptsTypes="AAAA">
                                      <p:cBhvr>
                                        <p:cTn id="91" dur="2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37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0" presetClass="path" presetSubtype="0" fill="hold" grpId="3" nodeType="withEffect">
                                  <p:stCondLst>
                                    <p:cond delay="1740"/>
                                  </p:stCondLst>
                                  <p:childTnLst>
                                    <p:animMotion origin="layout" path="M 0 0 L 0.0000 0.1800 L 0.1988 0.1800 L 0.1988 -0.3067 E" pathEditMode="relative" ptsTypes="AAAA">
                                      <p:cBhvr>
                                        <p:cTn id="97" dur="2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41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0" presetClass="path" presetSubtype="0" fill="hold" grpId="3" nodeType="withEffect">
                                  <p:stCondLst>
                                    <p:cond delay="2120"/>
                                  </p:stCondLst>
                                  <p:childTnLst>
                                    <p:animMotion origin="layout" path="M 0 0 L 0.0000 0.1800 L 0.1988 0.1800 L 0.1988 -0.3067 E" pathEditMode="relative" ptsTypes="AAAA">
                                      <p:cBhvr>
                                        <p:cTn id="103" dur="2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1" nodeType="withEffect">
                                  <p:stCondLst>
                                    <p:cond delay="45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0" presetClass="path" presetSubtype="0" fill="hold" grpId="3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0.0000 0.1800 L 0.1988 0.1800 L 0.1988 -0.3067 E" pathEditMode="relative" ptsTypes="AAAA">
                                      <p:cBhvr>
                                        <p:cTn id="109" dur="2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1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187 L 0.2813 -0.1187 E" pathEditMode="relative" ptsTypes="AAA">
                                      <p:cBhvr>
                                        <p:cTn id="120" dur="1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0" presetClass="path" presetSubtype="0" fill="hold" grpId="3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2253 L 0.2813 -0.2253 E" pathEditMode="relative" ptsTypes="AAA">
                                      <p:cBhvr>
                                        <p:cTn id="125" dur="1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3320 L 0.2813 -0.3320 E" pathEditMode="relative" ptsTypes="AAA">
                                      <p:cBhvr>
                                        <p:cTn id="130" dur="1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0" presetClass="path" presetSubtype="0" fill="hold" grpId="3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0000 -0.4387 L 0.2813 -0.4387 E" pathEditMode="relative" ptsTypes="AAA">
                                      <p:cBhvr>
                                        <p:cTn id="135" dur="1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1" nodeType="withEffect">
                                  <p:stCondLst>
                                    <p:cond delay="3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2000"/>
                            </p:stCondLst>
                            <p:childTnLst>
                              <p:par>
                                <p:cTn id="1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2500"/>
                            </p:stCondLst>
                            <p:childTnLst>
                              <p:par>
                                <p:cTn id="189" presetID="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0" dur="40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91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2" dur="40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4" grpId="1" animBg="1"/>
      <p:bldP spid="55" grpId="0" animBg="1"/>
      <p:bldP spid="37" grpId="0" animBg="1"/>
      <p:bldP spid="40" grpId="0" animBg="1"/>
      <p:bldP spid="40" grpId="3" animBg="1"/>
      <p:bldP spid="40" grpId="1" animBg="1"/>
      <p:bldP spid="41" grpId="0" animBg="1"/>
      <p:bldP spid="41" grpId="3" animBg="1"/>
      <p:bldP spid="41" grpId="1" animBg="1"/>
      <p:bldP spid="42" grpId="0" animBg="1"/>
      <p:bldP spid="42" grpId="3" animBg="1"/>
      <p:bldP spid="42" grpId="1" animBg="1"/>
      <p:bldP spid="43" grpId="0" animBg="1"/>
      <p:bldP spid="43" grpId="3" animBg="1"/>
      <p:bldP spid="43" grpId="1" animBg="1"/>
      <p:bldP spid="44" grpId="0" animBg="1"/>
      <p:bldP spid="44" grpId="3" animBg="1"/>
      <p:bldP spid="44" grpId="1" animBg="1"/>
      <p:bldP spid="45" grpId="0" animBg="1"/>
      <p:bldP spid="45" grpId="3" animBg="1"/>
      <p:bldP spid="45" grpId="1" animBg="1"/>
      <p:bldP spid="46" grpId="0" animBg="1"/>
      <p:bldP spid="46" grpId="3" animBg="1"/>
      <p:bldP spid="46" grpId="1" animBg="1"/>
      <p:bldP spid="55" grpId="1" animBg="1"/>
      <p:bldP spid="56" grpId="0" animBg="1"/>
      <p:bldP spid="38" grpId="0" animBg="1"/>
      <p:bldP spid="39" grpId="0" animBg="1"/>
      <p:bldP spid="47" grpId="0" animBg="1"/>
      <p:bldP spid="47" grpId="3" animBg="1"/>
      <p:bldP spid="47" grpId="1" animBg="1"/>
      <p:bldP spid="48" grpId="0" animBg="1"/>
      <p:bldP spid="48" grpId="3" animBg="1"/>
      <p:bldP spid="48" grpId="1" animBg="1"/>
      <p:bldP spid="49" grpId="0" animBg="1"/>
      <p:bldP spid="49" grpId="3" animBg="1"/>
      <p:bldP spid="49" grpId="1" animBg="1"/>
      <p:bldP spid="50" grpId="0" animBg="1"/>
      <p:bldP spid="50" grpId="3" animBg="1"/>
      <p:bldP spid="50" grpId="1" animBg="1"/>
      <p:bldP spid="51" grpId="0" animBg="1"/>
      <p:bldP spid="51" grpId="3" animBg="1"/>
      <p:bldP spid="51" grpId="1" animBg="1"/>
      <p:bldP spid="52" grpId="0" animBg="1"/>
      <p:bldP spid="52" grpId="3" animBg="1"/>
      <p:bldP spid="52" grpId="1" animBg="1"/>
      <p:bldP spid="56" grpId="1" animBg="1"/>
      <p:bldP spid="57" grpId="0" animBg="1"/>
      <p:bldP spid="18" grpId="3" animBg="1"/>
      <p:bldP spid="18" grpId="1" animBg="1"/>
      <p:bldP spid="19" grpId="3" animBg="1"/>
      <p:bldP spid="19" grpId="1" animBg="1"/>
      <p:bldP spid="20" grpId="3" animBg="1"/>
      <p:bldP spid="20" grpId="1" animBg="1"/>
      <p:bldP spid="21" grpId="3" animBg="1"/>
      <p:bldP spid="21" grpId="1" animBg="1"/>
      <p:bldP spid="57" grpId="1" animBg="1"/>
      <p:bldP spid="58" grpId="0" animBg="1"/>
      <p:bldP spid="16" grpId="1" animBg="1"/>
      <p:bldP spid="58" grpId="1" animBg="1"/>
      <p:bldP spid="59" grpId="0" animBg="1"/>
      <p:bldP spid="25" grpId="1" animBg="1"/>
      <p:bldP spid="26" grpId="0" animBg="1"/>
      <p:bldP spid="28" grpId="1" animBg="1"/>
      <p:bldP spid="29" grpId="0" animBg="1"/>
      <p:bldP spid="31" grpId="1" animBg="1"/>
      <p:bldP spid="32" grpId="0" animBg="1"/>
      <p:bldP spid="60" grpId="0" animBg="1"/>
      <p:bldP spid="61" grpId="0" animBg="1"/>
      <p:bldP spid="60" grpId="2" animBg="1"/>
      <p:bldP spid="61" grpId="2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2026-10-06T05:20:27Z</dcterms:created>
  <dcterms:modified xsi:type="dcterms:W3CDTF">2026-10-06T05:20:27Z</dcterms:modified>
</cp:coreProperties>
</file>