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notesMasterIdLst>
    <p:notesMasterId r:id="rId2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notesMaster" Target="notesMasters/notesMaster1.xml"/><Relationship Id="rId30" Type="http://schemas.openxmlformats.org/officeDocument/2006/relationships/presProps" Target="presProps.xml"/><Relationship Id="rId31" Type="http://schemas.openxmlformats.org/officeDocument/2006/relationships/viewProps" Target="viewProps.xml"/><Relationship Id="rId32" Type="http://schemas.openxmlformats.org/officeDocument/2006/relationships/theme" Target="theme/theme1.xml"/><Relationship Id="rId3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Delight decontamination: where it is needed in oil &amp; gas, how we do it, and what happens to every contaminant.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Build the value chain branch by branch. The green ticks mark where Delight decontaminates. The next four slides zoom into each branch.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Morph zooms into upstream: the tree shrinks to the corner and the branch's facilities fly out. Click to show where we work and what is removed.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Morph zooms into midstream: the tree shrinks to the corner and the branch's facilities fly out. Click to show where we work and what is removed.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Morph zooms into downstream: the tree shrinks to the corner and the branch's facilities fly out. Click to show where we work and what is removed.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Morph zooms into petrochemicals: the tree shrinks to the corner and the branch's facilities fly out. Click to show where we work and what is removed.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Fill in this slide for each client meeting (type into the grey boxes).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hazards that must be removed before entry – the colours are used for these contaminants throughout the deck.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method is chosen per piece of equipment; most units combine two methods.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Eight clicks. H₂S and FeS are converted in place and leave with the condensate; only the vapours go to the flare. The column cleans in stages from oily brown to Delight blue.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Chemistry goes in with the steam through the bottom risers. The vessel cleans in stages from oily brown to Delight blue.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returning-oil sample is how the end point is judged on site. Loaded oil goes to slop / rerun, then vapour-phase gas-frees the circuit.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Used where steam is not allowed: tanks and lined / coated / low-design-temperature vessels.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Pre-treatment and post-treatment use the same circulation/spray route. Pre-treatment coats the packing geometry so the vapour-phase works deeper; post-treatment is the oxidation wash for pyrophoric FeS before opening.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Tanks are atmospheric: no flare. Vapours are vented through a carbon filter. Bulk sludge is vacuumed to a waste tank for licensed disposal (no oil recovery), then gamma-jetting and circulation run for 8–12 hours; spent wash goes to the effluent tank.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Click 1: vapours to the flare. Click 2: H₂S, FeS, ammonia, mercaptans and sludge are converted / emulsified and drained. Click 3: heavy oil is recovered.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OFT">
    <p:bg>
      <p:bgPr>
        <a:solidFill>
          <a:srgbClr val="E9F2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WHIT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274552" y="274320"/>
            <a:ext cx="502920" cy="658368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708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708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image" Target="../media/image-3-7.png"/><Relationship Id="rId8" Type="http://schemas.openxmlformats.org/officeDocument/2006/relationships/image" Target="../media/image-3-8.png"/><Relationship Id="rId9" Type="http://schemas.openxmlformats.org/officeDocument/2006/relationships/image" Target="../media/image-3-9.png"/><Relationship Id="rId10" Type="http://schemas.openxmlformats.org/officeDocument/2006/relationships/image" Target="../media/image-3-10.png"/><Relationship Id="rId11" Type="http://schemas.openxmlformats.org/officeDocument/2006/relationships/image" Target="../media/image-3-11.png"/><Relationship Id="rId12" Type="http://schemas.openxmlformats.org/officeDocument/2006/relationships/image" Target="../media/image-3-12.png"/><Relationship Id="rId13" Type="http://schemas.openxmlformats.org/officeDocument/2006/relationships/image" Target="../media/image-3-13.png"/><Relationship Id="rId14" Type="http://schemas.openxmlformats.org/officeDocument/2006/relationships/image" Target="../media/image-3-14.png"/><Relationship Id="rId15" Type="http://schemas.openxmlformats.org/officeDocument/2006/relationships/image" Target="../media/image-3-15.png"/><Relationship Id="rId16" Type="http://schemas.openxmlformats.org/officeDocument/2006/relationships/image" Target="../media/image-3-16.png"/><Relationship Id="rId17" Type="http://schemas.openxmlformats.org/officeDocument/2006/relationships/slideLayout" Target="../slideLayouts/slideLayout3.xml"/><Relationship Id="rId18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image" Target="../media/image-4-7.png"/><Relationship Id="rId8" Type="http://schemas.openxmlformats.org/officeDocument/2006/relationships/image" Target="../media/image-4-8.png"/><Relationship Id="rId9" Type="http://schemas.openxmlformats.org/officeDocument/2006/relationships/image" Target="../media/image-4-9.png"/><Relationship Id="rId10" Type="http://schemas.openxmlformats.org/officeDocument/2006/relationships/image" Target="../media/image-4-10.png"/><Relationship Id="rId11" Type="http://schemas.openxmlformats.org/officeDocument/2006/relationships/image" Target="../media/image-4-11.png"/><Relationship Id="rId12" Type="http://schemas.openxmlformats.org/officeDocument/2006/relationships/image" Target="../media/image-4-12.png"/><Relationship Id="rId13" Type="http://schemas.openxmlformats.org/officeDocument/2006/relationships/image" Target="../media/image-4-13.png"/><Relationship Id="rId14" Type="http://schemas.openxmlformats.org/officeDocument/2006/relationships/image" Target="../media/image-4-14.png"/><Relationship Id="rId15" Type="http://schemas.openxmlformats.org/officeDocument/2006/relationships/image" Target="../media/image-4-15.png"/><Relationship Id="rId16" Type="http://schemas.openxmlformats.org/officeDocument/2006/relationships/image" Target="../media/image-4-16.png"/><Relationship Id="rId17" Type="http://schemas.openxmlformats.org/officeDocument/2006/relationships/slideLayout" Target="../slideLayouts/slideLayout3.xml"/><Relationship Id="rId18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image" Target="../media/image-5-6.png"/><Relationship Id="rId7" Type="http://schemas.openxmlformats.org/officeDocument/2006/relationships/image" Target="../media/image-5-7.png"/><Relationship Id="rId8" Type="http://schemas.openxmlformats.org/officeDocument/2006/relationships/image" Target="../media/image-5-8.png"/><Relationship Id="rId9" Type="http://schemas.openxmlformats.org/officeDocument/2006/relationships/image" Target="../media/image-5-9.png"/><Relationship Id="rId10" Type="http://schemas.openxmlformats.org/officeDocument/2006/relationships/image" Target="../media/image-5-10.png"/><Relationship Id="rId11" Type="http://schemas.openxmlformats.org/officeDocument/2006/relationships/image" Target="../media/image-5-11.png"/><Relationship Id="rId12" Type="http://schemas.openxmlformats.org/officeDocument/2006/relationships/image" Target="../media/image-5-12.png"/><Relationship Id="rId13" Type="http://schemas.openxmlformats.org/officeDocument/2006/relationships/image" Target="../media/image-5-13.png"/><Relationship Id="rId14" Type="http://schemas.openxmlformats.org/officeDocument/2006/relationships/image" Target="../media/image-5-14.png"/><Relationship Id="rId15" Type="http://schemas.openxmlformats.org/officeDocument/2006/relationships/image" Target="../media/image-5-15.png"/><Relationship Id="rId16" Type="http://schemas.openxmlformats.org/officeDocument/2006/relationships/image" Target="../media/image-5-16.png"/><Relationship Id="rId17" Type="http://schemas.openxmlformats.org/officeDocument/2006/relationships/slideLayout" Target="../slideLayouts/slideLayout3.xml"/><Relationship Id="rId18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image" Target="../media/image-6-7.png"/><Relationship Id="rId8" Type="http://schemas.openxmlformats.org/officeDocument/2006/relationships/image" Target="../media/image-6-8.png"/><Relationship Id="rId9" Type="http://schemas.openxmlformats.org/officeDocument/2006/relationships/image" Target="../media/image-6-9.png"/><Relationship Id="rId10" Type="http://schemas.openxmlformats.org/officeDocument/2006/relationships/image" Target="../media/image-6-10.png"/><Relationship Id="rId11" Type="http://schemas.openxmlformats.org/officeDocument/2006/relationships/image" Target="../media/image-6-11.png"/><Relationship Id="rId12" Type="http://schemas.openxmlformats.org/officeDocument/2006/relationships/image" Target="../media/image-6-12.png"/><Relationship Id="rId13" Type="http://schemas.openxmlformats.org/officeDocument/2006/relationships/image" Target="../media/image-6-13.png"/><Relationship Id="rId14" Type="http://schemas.openxmlformats.org/officeDocument/2006/relationships/image" Target="../media/image-6-14.png"/><Relationship Id="rId15" Type="http://schemas.openxmlformats.org/officeDocument/2006/relationships/image" Target="../media/image-6-15.png"/><Relationship Id="rId16" Type="http://schemas.openxmlformats.org/officeDocument/2006/relationships/image" Target="../media/image-6-16.png"/><Relationship Id="rId17" Type="http://schemas.openxmlformats.org/officeDocument/2006/relationships/slideLayout" Target="../slideLayouts/slideLayout3.xml"/><Relationship Id="rId18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image" Target="../media/image-7-6.png"/><Relationship Id="rId7" Type="http://schemas.openxmlformats.org/officeDocument/2006/relationships/image" Target="../media/image-7-7.png"/><Relationship Id="rId8" Type="http://schemas.openxmlformats.org/officeDocument/2006/relationships/image" Target="../media/image-7-8.png"/><Relationship Id="rId9" Type="http://schemas.openxmlformats.org/officeDocument/2006/relationships/image" Target="../media/image-7-9.png"/><Relationship Id="rId10" Type="http://schemas.openxmlformats.org/officeDocument/2006/relationships/image" Target="../media/image-7-10.png"/><Relationship Id="rId11" Type="http://schemas.openxmlformats.org/officeDocument/2006/relationships/image" Target="../media/image-7-11.png"/><Relationship Id="rId12" Type="http://schemas.openxmlformats.org/officeDocument/2006/relationships/image" Target="../media/image-7-12.png"/><Relationship Id="rId13" Type="http://schemas.openxmlformats.org/officeDocument/2006/relationships/image" Target="../media/image-7-13.png"/><Relationship Id="rId14" Type="http://schemas.openxmlformats.org/officeDocument/2006/relationships/image" Target="../media/image-7-14.png"/><Relationship Id="rId15" Type="http://schemas.openxmlformats.org/officeDocument/2006/relationships/image" Target="../media/image-7-15.png"/><Relationship Id="rId16" Type="http://schemas.openxmlformats.org/officeDocument/2006/relationships/image" Target="../media/image-7-16.png"/><Relationship Id="rId17" Type="http://schemas.openxmlformats.org/officeDocument/2006/relationships/slideLayout" Target="../slideLayouts/slideLayout3.xml"/><Relationship Id="rId18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image" Target="../media/image-19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image" Target="../media/image-20-3.png"/><Relationship Id="rId4" Type="http://schemas.openxmlformats.org/officeDocument/2006/relationships/image" Target="../media/image-20-4.png"/><Relationship Id="rId5" Type="http://schemas.openxmlformats.org/officeDocument/2006/relationships/image" Target="../media/image-20-5.png"/><Relationship Id="rId6" Type="http://schemas.openxmlformats.org/officeDocument/2006/relationships/image" Target="../media/image-20-6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image" Target="../media/image-22-3.png"/><Relationship Id="rId4" Type="http://schemas.openxmlformats.org/officeDocument/2006/relationships/image" Target="../media/image-22-4.png"/><Relationship Id="rId5" Type="http://schemas.openxmlformats.org/officeDocument/2006/relationships/image" Target="../media/image-22-5.png"/><Relationship Id="rId6" Type="http://schemas.openxmlformats.org/officeDocument/2006/relationships/image" Target="../media/image-22-6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image" Target="../media/image-24-3.png"/><Relationship Id="rId4" Type="http://schemas.openxmlformats.org/officeDocument/2006/relationships/image" Target="../media/image-24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image" Target="../media/image-25-3.png"/><Relationship Id="rId4" Type="http://schemas.openxmlformats.org/officeDocument/2006/relationships/image" Target="../media/image-25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26-2.png"/><Relationship Id="rId3" Type="http://schemas.openxmlformats.org/officeDocument/2006/relationships/image" Target="../media/image-26-3.png"/><Relationship Id="rId4" Type="http://schemas.openxmlformats.org/officeDocument/2006/relationships/image" Target="../media/image-26-4.png"/><Relationship Id="rId5" Type="http://schemas.openxmlformats.org/officeDocument/2006/relationships/image" Target="../media/image-26-5.png"/><Relationship Id="rId6" Type="http://schemas.openxmlformats.org/officeDocument/2006/relationships/image" Target="../media/image-26-6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1"/>
          <p:cNvSpPr/>
          <p:nvPr/>
        </p:nvSpPr>
        <p:spPr>
          <a:xfrm>
            <a:off x="8229600" y="-1280160"/>
            <a:ext cx="5303520" cy="5303520"/>
          </a:xfrm>
          <a:prstGeom prst="ellipse">
            <a:avLst/>
          </a:prstGeom>
          <a:solidFill>
            <a:srgbClr val="D3E6F4"/>
          </a:solidFill>
          <a:ln/>
        </p:spPr>
      </p:sp>
      <p:sp>
        <p:nvSpPr>
          <p:cNvPr id="3" name="s2"/>
          <p:cNvSpPr/>
          <p:nvPr/>
        </p:nvSpPr>
        <p:spPr>
          <a:xfrm>
            <a:off x="9692640" y="3931920"/>
            <a:ext cx="3474720" cy="3474720"/>
          </a:xfrm>
          <a:prstGeom prst="ellipse">
            <a:avLst/>
          </a:prstGeom>
          <a:solidFill>
            <a:srgbClr val="D9EFDC"/>
          </a:solidFill>
          <a:ln/>
        </p:spPr>
      </p:sp>
      <p:pic>
        <p:nvPicPr>
          <p:cNvPr id="4" name="i3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548640"/>
            <a:ext cx="914400" cy="1197864"/>
          </a:xfrm>
          <a:prstGeom prst="rect">
            <a:avLst/>
          </a:prstGeom>
        </p:spPr>
      </p:pic>
      <p:sp>
        <p:nvSpPr>
          <p:cNvPr id="5" name="t4"/>
          <p:cNvSpPr txBox="1"/>
          <p:nvPr/>
        </p:nvSpPr>
        <p:spPr>
          <a:xfrm>
            <a:off x="685800" y="2331720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400" kern="0" dirty="0">
                <a:solidFill>
                  <a:srgbClr val="2E8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DECONTAMINATION SERVICES</a:t>
            </a:r>
            <a:endParaRPr lang="en-US" sz="1600" dirty="0"/>
          </a:p>
        </p:txBody>
      </p:sp>
      <p:sp>
        <p:nvSpPr>
          <p:cNvPr id="6" name="t5"/>
          <p:cNvSpPr txBox="1"/>
          <p:nvPr/>
        </p:nvSpPr>
        <p:spPr>
          <a:xfrm>
            <a:off x="685800" y="2743200"/>
            <a:ext cx="80467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1F3A5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Safe, fast entry – across the oil &amp; gas value chain</a:t>
            </a:r>
            <a:endParaRPr lang="en-US" sz="4000" dirty="0"/>
          </a:p>
        </p:txBody>
      </p:sp>
      <p:sp>
        <p:nvSpPr>
          <p:cNvPr id="7" name="t6"/>
          <p:cNvSpPr txBox="1"/>
          <p:nvPr/>
        </p:nvSpPr>
        <p:spPr>
          <a:xfrm>
            <a:off x="685800" y="59893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Delight International  ·  Maintenance Simplified</a:t>
            </a:r>
            <a:endParaRPr lang="en-US" sz="1400" dirty="0"/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47472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5F8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Delight International at a glance</a:t>
            </a:r>
            <a:endParaRPr lang="en-US" sz="2800" dirty="0"/>
          </a:p>
        </p:txBody>
      </p:sp>
      <p:sp>
        <p:nvSpPr>
          <p:cNvPr id="3" name="s7"/>
          <p:cNvSpPr/>
          <p:nvPr/>
        </p:nvSpPr>
        <p:spPr>
          <a:xfrm>
            <a:off x="548640" y="1463040"/>
            <a:ext cx="2606040" cy="3291840"/>
          </a:xfrm>
          <a:prstGeom prst="roundRect">
            <a:avLst>
              <a:gd name="adj" fmla="val 3509"/>
            </a:avLst>
          </a:prstGeom>
          <a:solidFill>
            <a:srgbClr val="F3F7FA"/>
          </a:solidFill>
          <a:ln w="12700">
            <a:solidFill>
              <a:srgbClr val="E1E8EF"/>
            </a:solidFill>
            <a:prstDash val="solid"/>
          </a:ln>
          <a:effectLst>
            <a:outerShdw sx="100000" sy="100000" kx="0" ky="0" algn="bl" rotWithShape="0" blurRad="76200" dist="25400" dir="5400000">
              <a:srgbClr val="9AA9B8">
                <a:alpha val="22000"/>
              </a:srgbClr>
            </a:outerShdw>
          </a:effectLst>
        </p:spPr>
      </p:sp>
      <p:sp>
        <p:nvSpPr>
          <p:cNvPr id="4" name="s8"/>
          <p:cNvSpPr/>
          <p:nvPr/>
        </p:nvSpPr>
        <p:spPr>
          <a:xfrm>
            <a:off x="1371600" y="1783080"/>
            <a:ext cx="960120" cy="960120"/>
          </a:xfrm>
          <a:prstGeom prst="ellipse">
            <a:avLst/>
          </a:prstGeom>
          <a:solidFill>
            <a:srgbClr val="0C74BC"/>
          </a:solidFill>
          <a:ln/>
        </p:spPr>
      </p:sp>
      <p:pic>
        <p:nvPicPr>
          <p:cNvPr id="5" name="i9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02029" y="2013509"/>
            <a:ext cx="499262" cy="499262"/>
          </a:xfrm>
          <a:prstGeom prst="rect">
            <a:avLst/>
          </a:prstGeom>
        </p:spPr>
      </p:pic>
      <p:sp>
        <p:nvSpPr>
          <p:cNvPr id="6" name="t10"/>
          <p:cNvSpPr txBox="1"/>
          <p:nvPr/>
        </p:nvSpPr>
        <p:spPr>
          <a:xfrm>
            <a:off x="685800" y="288036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F5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Regional presence</a:t>
            </a:r>
            <a:endParaRPr lang="en-US" sz="1700" dirty="0"/>
          </a:p>
        </p:txBody>
      </p:sp>
      <p:sp>
        <p:nvSpPr>
          <p:cNvPr id="7" name="t11"/>
          <p:cNvSpPr txBox="1"/>
          <p:nvPr/>
        </p:nvSpPr>
        <p:spPr>
          <a:xfrm>
            <a:off x="731520" y="3383280"/>
            <a:ext cx="22402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UAE, Saudi Arabia, Oman, Qatar and India</a:t>
            </a:r>
            <a:endParaRPr lang="en-US" sz="1400" dirty="0"/>
          </a:p>
        </p:txBody>
      </p:sp>
      <p:sp>
        <p:nvSpPr>
          <p:cNvPr id="8" name="s12"/>
          <p:cNvSpPr/>
          <p:nvPr/>
        </p:nvSpPr>
        <p:spPr>
          <a:xfrm>
            <a:off x="3364992" y="1463040"/>
            <a:ext cx="2606040" cy="3291840"/>
          </a:xfrm>
          <a:prstGeom prst="roundRect">
            <a:avLst>
              <a:gd name="adj" fmla="val 3509"/>
            </a:avLst>
          </a:prstGeom>
          <a:solidFill>
            <a:srgbClr val="F3F7FA"/>
          </a:solidFill>
          <a:ln w="12700">
            <a:solidFill>
              <a:srgbClr val="E1E8EF"/>
            </a:solidFill>
            <a:prstDash val="solid"/>
          </a:ln>
          <a:effectLst>
            <a:outerShdw sx="100000" sy="100000" kx="0" ky="0" algn="bl" rotWithShape="0" blurRad="76200" dist="25400" dir="5400000">
              <a:srgbClr val="9AA9B8">
                <a:alpha val="22000"/>
              </a:srgbClr>
            </a:outerShdw>
          </a:effectLst>
        </p:spPr>
      </p:sp>
      <p:sp>
        <p:nvSpPr>
          <p:cNvPr id="9" name="s13"/>
          <p:cNvSpPr/>
          <p:nvPr/>
        </p:nvSpPr>
        <p:spPr>
          <a:xfrm>
            <a:off x="4187952" y="1783080"/>
            <a:ext cx="960120" cy="960120"/>
          </a:xfrm>
          <a:prstGeom prst="ellipse">
            <a:avLst/>
          </a:prstGeom>
          <a:solidFill>
            <a:srgbClr val="3AB54A"/>
          </a:solidFill>
          <a:ln/>
        </p:spPr>
      </p:sp>
      <p:pic>
        <p:nvPicPr>
          <p:cNvPr id="10" name="i14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18381" y="2013509"/>
            <a:ext cx="499262" cy="499262"/>
          </a:xfrm>
          <a:prstGeom prst="rect">
            <a:avLst/>
          </a:prstGeom>
        </p:spPr>
      </p:pic>
      <p:sp>
        <p:nvSpPr>
          <p:cNvPr id="11" name="t15"/>
          <p:cNvSpPr txBox="1"/>
          <p:nvPr/>
        </p:nvSpPr>
        <p:spPr>
          <a:xfrm>
            <a:off x="3502152" y="288036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F5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Certified QHSE</a:t>
            </a:r>
            <a:endParaRPr lang="en-US" sz="1700" dirty="0"/>
          </a:p>
        </p:txBody>
      </p:sp>
      <p:sp>
        <p:nvSpPr>
          <p:cNvPr id="12" name="t16"/>
          <p:cNvSpPr txBox="1"/>
          <p:nvPr/>
        </p:nvSpPr>
        <p:spPr>
          <a:xfrm>
            <a:off x="3547872" y="3383280"/>
            <a:ext cx="22402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 9001, ISO 14001 and ISO 45001</a:t>
            </a:r>
            <a:endParaRPr lang="en-US" sz="1400" dirty="0"/>
          </a:p>
        </p:txBody>
      </p:sp>
      <p:sp>
        <p:nvSpPr>
          <p:cNvPr id="13" name="s17"/>
          <p:cNvSpPr/>
          <p:nvPr/>
        </p:nvSpPr>
        <p:spPr>
          <a:xfrm>
            <a:off x="6181344" y="1463040"/>
            <a:ext cx="2606040" cy="3291840"/>
          </a:xfrm>
          <a:prstGeom prst="roundRect">
            <a:avLst>
              <a:gd name="adj" fmla="val 3509"/>
            </a:avLst>
          </a:prstGeom>
          <a:solidFill>
            <a:srgbClr val="F3F7FA"/>
          </a:solidFill>
          <a:ln w="12700">
            <a:solidFill>
              <a:srgbClr val="E1E8EF"/>
            </a:solidFill>
            <a:prstDash val="solid"/>
          </a:ln>
          <a:effectLst>
            <a:outerShdw sx="100000" sy="100000" kx="0" ky="0" algn="bl" rotWithShape="0" blurRad="76200" dist="25400" dir="5400000">
              <a:srgbClr val="9AA9B8">
                <a:alpha val="22000"/>
              </a:srgbClr>
            </a:outerShdw>
          </a:effectLst>
        </p:spPr>
      </p:sp>
      <p:sp>
        <p:nvSpPr>
          <p:cNvPr id="14" name="s18"/>
          <p:cNvSpPr/>
          <p:nvPr/>
        </p:nvSpPr>
        <p:spPr>
          <a:xfrm>
            <a:off x="7004304" y="1783080"/>
            <a:ext cx="960120" cy="960120"/>
          </a:xfrm>
          <a:prstGeom prst="ellipse">
            <a:avLst/>
          </a:prstGeom>
          <a:solidFill>
            <a:srgbClr val="0C74BC"/>
          </a:solidFill>
          <a:ln/>
        </p:spPr>
      </p:sp>
      <p:pic>
        <p:nvPicPr>
          <p:cNvPr id="15" name="i19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34733" y="2013509"/>
            <a:ext cx="499262" cy="499262"/>
          </a:xfrm>
          <a:prstGeom prst="rect">
            <a:avLst/>
          </a:prstGeom>
        </p:spPr>
      </p:pic>
      <p:sp>
        <p:nvSpPr>
          <p:cNvPr id="16" name="t20"/>
          <p:cNvSpPr txBox="1"/>
          <p:nvPr/>
        </p:nvSpPr>
        <p:spPr>
          <a:xfrm>
            <a:off x="6318504" y="288036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F5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Sectors we serve</a:t>
            </a:r>
            <a:endParaRPr lang="en-US" sz="1700" dirty="0"/>
          </a:p>
        </p:txBody>
      </p:sp>
      <p:sp>
        <p:nvSpPr>
          <p:cNvPr id="17" name="t21"/>
          <p:cNvSpPr txBox="1"/>
          <p:nvPr/>
        </p:nvSpPr>
        <p:spPr>
          <a:xfrm>
            <a:off x="6364224" y="3383280"/>
            <a:ext cx="22402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Onshore, offshore, marine, power and oil &amp; gas</a:t>
            </a:r>
            <a:endParaRPr lang="en-US" sz="1400" dirty="0"/>
          </a:p>
        </p:txBody>
      </p:sp>
      <p:sp>
        <p:nvSpPr>
          <p:cNvPr id="18" name="s22"/>
          <p:cNvSpPr/>
          <p:nvPr/>
        </p:nvSpPr>
        <p:spPr>
          <a:xfrm>
            <a:off x="8997696" y="1463040"/>
            <a:ext cx="2606040" cy="3291840"/>
          </a:xfrm>
          <a:prstGeom prst="roundRect">
            <a:avLst>
              <a:gd name="adj" fmla="val 3509"/>
            </a:avLst>
          </a:prstGeom>
          <a:solidFill>
            <a:srgbClr val="F3F7FA"/>
          </a:solidFill>
          <a:ln w="12700">
            <a:solidFill>
              <a:srgbClr val="E1E8EF"/>
            </a:solidFill>
            <a:prstDash val="solid"/>
          </a:ln>
          <a:effectLst>
            <a:outerShdw sx="100000" sy="100000" kx="0" ky="0" algn="bl" rotWithShape="0" blurRad="76200" dist="25400" dir="5400000">
              <a:srgbClr val="9AA9B8">
                <a:alpha val="22000"/>
              </a:srgbClr>
            </a:outerShdw>
          </a:effectLst>
        </p:spPr>
      </p:sp>
      <p:sp>
        <p:nvSpPr>
          <p:cNvPr id="19" name="s23"/>
          <p:cNvSpPr/>
          <p:nvPr/>
        </p:nvSpPr>
        <p:spPr>
          <a:xfrm>
            <a:off x="9820656" y="1783080"/>
            <a:ext cx="960120" cy="960120"/>
          </a:xfrm>
          <a:prstGeom prst="ellipse">
            <a:avLst/>
          </a:prstGeom>
          <a:solidFill>
            <a:srgbClr val="3AB54A"/>
          </a:solidFill>
          <a:ln/>
        </p:spPr>
      </p:sp>
      <p:pic>
        <p:nvPicPr>
          <p:cNvPr id="20" name="i24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51085" y="2013509"/>
            <a:ext cx="499262" cy="499262"/>
          </a:xfrm>
          <a:prstGeom prst="rect">
            <a:avLst/>
          </a:prstGeom>
        </p:spPr>
      </p:pic>
      <p:sp>
        <p:nvSpPr>
          <p:cNvPr id="21" name="t25"/>
          <p:cNvSpPr txBox="1"/>
          <p:nvPr/>
        </p:nvSpPr>
        <p:spPr>
          <a:xfrm>
            <a:off x="9134856" y="288036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F5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Integrated services</a:t>
            </a:r>
            <a:endParaRPr lang="en-US" sz="1700" dirty="0"/>
          </a:p>
        </p:txBody>
      </p:sp>
      <p:sp>
        <p:nvSpPr>
          <p:cNvPr id="22" name="t26"/>
          <p:cNvSpPr txBox="1"/>
          <p:nvPr/>
        </p:nvSpPr>
        <p:spPr>
          <a:xfrm>
            <a:off x="9180576" y="3383280"/>
            <a:ext cx="22402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Plant maintenance, specialised services, flange management, pipeline, marine and tank cleaning</a:t>
            </a:r>
            <a:endParaRPr lang="en-US" sz="1400" dirty="0"/>
          </a:p>
        </p:txBody>
      </p:sp>
      <p:sp>
        <p:nvSpPr>
          <p:cNvPr id="23" name="s27"/>
          <p:cNvSpPr/>
          <p:nvPr/>
        </p:nvSpPr>
        <p:spPr>
          <a:xfrm>
            <a:off x="548640" y="5120640"/>
            <a:ext cx="11064240" cy="822960"/>
          </a:xfrm>
          <a:prstGeom prst="roundRect">
            <a:avLst>
              <a:gd name="adj" fmla="val 11111"/>
            </a:avLst>
          </a:prstGeom>
          <a:solidFill>
            <a:srgbClr val="EAF6EC"/>
          </a:solidFill>
          <a:ln/>
        </p:spPr>
      </p:sp>
      <p:sp>
        <p:nvSpPr>
          <p:cNvPr id="24" name="t28"/>
          <p:cNvSpPr txBox="1"/>
          <p:nvPr/>
        </p:nvSpPr>
        <p:spPr>
          <a:xfrm>
            <a:off x="777240" y="512064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8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Decontamination at Delight:  </a:t>
            </a:r>
            <a:pPr indent="0" marL="0">
              <a:buNone/>
            </a:pPr>
            <a:r>
              <a:rPr lang="en-US" sz="1500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vapour-phase, boil-out, viscosity flush, chemical circulation, packing pre- &amp; post-treatment and tank gamma-jet – planned, executed and validated by one team.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708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6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6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6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6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6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6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6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6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6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6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6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6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" dur="6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6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600"/>
                            </p:stCondLst>
                            <p:childTnLst>
                              <p:par>
                                <p:cTn id="31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6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4" dur="6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5" dur="6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6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6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9" dur="6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0" dur="6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1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6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4" dur="6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5" dur="6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6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6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9" dur="6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0" dur="6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1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6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4" dur="6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5" dur="6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6" fill="hold">
                            <p:stCondLst>
                              <p:cond delay="1200"/>
                            </p:stCondLst>
                            <p:childTnLst>
                              <p:par>
                                <p:cTn id="57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6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0" dur="6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1" dur="6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2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6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5" dur="6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6" dur="6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7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6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0" dur="6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1" dur="6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2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6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5" dur="6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6" dur="6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6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0" dur="6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1" dur="6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2" fill="hold">
                            <p:stCondLst>
                              <p:cond delay="1800"/>
                            </p:stCondLst>
                            <p:childTnLst>
                              <p:par>
                                <p:cTn id="83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6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6" dur="6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7" dur="6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6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1" dur="6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2" dur="6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3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5" dur="6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6" dur="6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7" dur="6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0" dur="6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1" dur="6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2" dur="6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5" dur="6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6" dur="6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7" dur="6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8" fill="hold">
                      <p:stCondLst>
                        <p:cond delay="indefinite"/>
                      </p:stCondLst>
                      <p:childTnLst>
                        <p:par>
                          <p:cTn id="109" fill="hold">
                            <p:stCondLst>
                              <p:cond delay="0"/>
                            </p:stCondLst>
                            <p:childTnLst>
                              <p:par>
                                <p:cTn id="1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5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6" grpId="0" animBg="1"/>
      <p:bldP spid="7" grpId="0" animBg="1"/>
      <p:bldP spid="8" grpId="0" animBg="1"/>
      <p:bldP spid="9" grpId="0" animBg="1"/>
      <p:bldP spid="11" grpId="0" animBg="1"/>
      <p:bldP spid="12" grpId="0" animBg="1"/>
      <p:bldP spid="13" grpId="0" animBg="1"/>
      <p:bldP spid="14" grpId="0" animBg="1"/>
      <p:bldP spid="16" grpId="0" animBg="1"/>
      <p:bldP spid="17" grpId="0" animBg="1"/>
      <p:bldP spid="18" grpId="0" animBg="1"/>
      <p:bldP spid="19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47472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5F8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decontamination fits in oil &amp; gas</a:t>
            </a:r>
            <a:endParaRPr lang="en-US" sz="2800" dirty="0"/>
          </a:p>
        </p:txBody>
      </p:sp>
      <p:sp>
        <p:nvSpPr>
          <p:cNvPr id="3" name="!!root"/>
          <p:cNvSpPr/>
          <p:nvPr/>
        </p:nvSpPr>
        <p:spPr>
          <a:xfrm>
            <a:off x="4178808" y="1280160"/>
            <a:ext cx="3840480" cy="658368"/>
          </a:xfrm>
          <a:prstGeom prst="roundRect">
            <a:avLst>
              <a:gd name="adj" fmla="val 50000"/>
            </a:avLst>
          </a:prstGeom>
          <a:solidFill>
            <a:srgbClr val="1F3A52"/>
          </a:solidFill>
          <a:ln/>
        </p:spPr>
      </p:sp>
      <p:sp>
        <p:nvSpPr>
          <p:cNvPr id="4" name="!!root_t"/>
          <p:cNvSpPr txBox="1"/>
          <p:nvPr/>
        </p:nvSpPr>
        <p:spPr>
          <a:xfrm>
            <a:off x="4178808" y="1280160"/>
            <a:ext cx="3840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OIL &amp; GAS VALUE CHAIN</a:t>
            </a:r>
            <a:endParaRPr lang="en-US" sz="1600" dirty="0"/>
          </a:p>
        </p:txBody>
      </p:sp>
      <p:sp>
        <p:nvSpPr>
          <p:cNvPr id="5" name="!!bar_v"/>
          <p:cNvSpPr/>
          <p:nvPr/>
        </p:nvSpPr>
        <p:spPr>
          <a:xfrm>
            <a:off x="6099048" y="1938528"/>
            <a:ext cx="0" cy="256032"/>
          </a:xfrm>
          <a:prstGeom prst="line">
            <a:avLst/>
          </a:prstGeom>
          <a:noFill/>
          <a:ln w="31750">
            <a:solidFill>
              <a:srgbClr val="C6D3E0"/>
            </a:solidFill>
            <a:prstDash val="solid"/>
          </a:ln>
        </p:spPr>
      </p:sp>
      <p:sp>
        <p:nvSpPr>
          <p:cNvPr id="6" name="!!bar_h"/>
          <p:cNvSpPr/>
          <p:nvPr/>
        </p:nvSpPr>
        <p:spPr>
          <a:xfrm>
            <a:off x="1783080" y="2194560"/>
            <a:ext cx="8641080" cy="0"/>
          </a:xfrm>
          <a:prstGeom prst="line">
            <a:avLst/>
          </a:prstGeom>
          <a:noFill/>
          <a:ln w="31750">
            <a:solidFill>
              <a:srgbClr val="C6D3E0"/>
            </a:solidFill>
            <a:prstDash val="solid"/>
          </a:ln>
        </p:spPr>
      </p:sp>
      <p:sp>
        <p:nvSpPr>
          <p:cNvPr id="7" name="!!spine0"/>
          <p:cNvSpPr/>
          <p:nvPr/>
        </p:nvSpPr>
        <p:spPr>
          <a:xfrm>
            <a:off x="1783080" y="2194560"/>
            <a:ext cx="0" cy="3246120"/>
          </a:xfrm>
          <a:prstGeom prst="line">
            <a:avLst/>
          </a:prstGeom>
          <a:noFill/>
          <a:ln w="31750">
            <a:solidFill>
              <a:srgbClr val="C6D3E0"/>
            </a:solidFill>
            <a:prstDash val="solid"/>
          </a:ln>
        </p:spPr>
      </p:sp>
      <p:sp>
        <p:nvSpPr>
          <p:cNvPr id="8" name="!!br0"/>
          <p:cNvSpPr/>
          <p:nvPr/>
        </p:nvSpPr>
        <p:spPr>
          <a:xfrm>
            <a:off x="502920" y="2468880"/>
            <a:ext cx="2560320" cy="868680"/>
          </a:xfrm>
          <a:prstGeom prst="roundRect">
            <a:avLst>
              <a:gd name="adj" fmla="val 12632"/>
            </a:avLst>
          </a:prstGeom>
          <a:solidFill>
            <a:srgbClr val="0C74BC"/>
          </a:solidFill>
          <a:ln/>
        </p:spPr>
      </p:sp>
      <p:pic>
        <p:nvPicPr>
          <p:cNvPr id="9" name="!!bri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2606040"/>
            <a:ext cx="566928" cy="566928"/>
          </a:xfrm>
          <a:prstGeom prst="rect">
            <a:avLst/>
          </a:prstGeom>
        </p:spPr>
      </p:pic>
      <p:sp>
        <p:nvSpPr>
          <p:cNvPr id="10" name="!!brt0"/>
          <p:cNvSpPr txBox="1"/>
          <p:nvPr/>
        </p:nvSpPr>
        <p:spPr>
          <a:xfrm>
            <a:off x="1280160" y="2468880"/>
            <a:ext cx="175564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UPSTREAM</a:t>
            </a:r>
            <a:endParaRPr lang="en-US" sz="135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 &amp; gas processing</a:t>
            </a:r>
            <a:endParaRPr lang="en-US" sz="1350" dirty="0"/>
          </a:p>
        </p:txBody>
      </p:sp>
      <p:sp>
        <p:nvSpPr>
          <p:cNvPr id="11" name="!!lf0_0"/>
          <p:cNvSpPr/>
          <p:nvPr/>
        </p:nvSpPr>
        <p:spPr>
          <a:xfrm>
            <a:off x="502920" y="3611880"/>
            <a:ext cx="2560320" cy="53035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0C74BC"/>
            </a:solidFill>
            <a:prstDash val="solid"/>
          </a:ln>
        </p:spPr>
      </p:sp>
      <p:sp>
        <p:nvSpPr>
          <p:cNvPr id="12" name="!!lft0_0"/>
          <p:cNvSpPr txBox="1"/>
          <p:nvPr/>
        </p:nvSpPr>
        <p:spPr>
          <a:xfrm>
            <a:off x="685800" y="3611880"/>
            <a:ext cx="19659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Oil production stations</a:t>
            </a:r>
            <a:endParaRPr lang="en-US" sz="1250" dirty="0"/>
          </a:p>
        </p:txBody>
      </p:sp>
      <p:sp>
        <p:nvSpPr>
          <p:cNvPr id="13" name="!!mk0_0"/>
          <p:cNvSpPr/>
          <p:nvPr/>
        </p:nvSpPr>
        <p:spPr>
          <a:xfrm>
            <a:off x="2679192" y="3712464"/>
            <a:ext cx="329184" cy="329184"/>
          </a:xfrm>
          <a:prstGeom prst="ellipse">
            <a:avLst/>
          </a:prstGeom>
          <a:solidFill>
            <a:srgbClr val="3AB54A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4" name="!!mki0_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61488" y="3794760"/>
            <a:ext cx="164592" cy="164592"/>
          </a:xfrm>
          <a:prstGeom prst="rect">
            <a:avLst/>
          </a:prstGeom>
        </p:spPr>
      </p:pic>
      <p:sp>
        <p:nvSpPr>
          <p:cNvPr id="15" name="!!lf0_1"/>
          <p:cNvSpPr/>
          <p:nvPr/>
        </p:nvSpPr>
        <p:spPr>
          <a:xfrm>
            <a:off x="502920" y="4270248"/>
            <a:ext cx="2560320" cy="53035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0C74BC"/>
            </a:solidFill>
            <a:prstDash val="solid"/>
          </a:ln>
        </p:spPr>
      </p:sp>
      <p:sp>
        <p:nvSpPr>
          <p:cNvPr id="16" name="!!lft0_1"/>
          <p:cNvSpPr txBox="1"/>
          <p:nvPr/>
        </p:nvSpPr>
        <p:spPr>
          <a:xfrm>
            <a:off x="685800" y="4270248"/>
            <a:ext cx="19659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 processing plants</a:t>
            </a:r>
            <a:endParaRPr lang="en-US" sz="1250" dirty="0"/>
          </a:p>
        </p:txBody>
      </p:sp>
      <p:sp>
        <p:nvSpPr>
          <p:cNvPr id="17" name="!!mk0_1"/>
          <p:cNvSpPr/>
          <p:nvPr/>
        </p:nvSpPr>
        <p:spPr>
          <a:xfrm>
            <a:off x="2679192" y="4370832"/>
            <a:ext cx="329184" cy="329184"/>
          </a:xfrm>
          <a:prstGeom prst="ellipse">
            <a:avLst/>
          </a:prstGeom>
          <a:solidFill>
            <a:srgbClr val="3AB54A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8" name="!!mki0_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61488" y="4453128"/>
            <a:ext cx="164592" cy="164592"/>
          </a:xfrm>
          <a:prstGeom prst="rect">
            <a:avLst/>
          </a:prstGeom>
        </p:spPr>
      </p:pic>
      <p:sp>
        <p:nvSpPr>
          <p:cNvPr id="19" name="!!lf0_2"/>
          <p:cNvSpPr/>
          <p:nvPr/>
        </p:nvSpPr>
        <p:spPr>
          <a:xfrm>
            <a:off x="502920" y="4928616"/>
            <a:ext cx="2560320" cy="53035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0C74BC"/>
            </a:solidFill>
            <a:prstDash val="solid"/>
          </a:ln>
        </p:spPr>
      </p:sp>
      <p:sp>
        <p:nvSpPr>
          <p:cNvPr id="20" name="!!lft0_2"/>
          <p:cNvSpPr txBox="1"/>
          <p:nvPr/>
        </p:nvSpPr>
        <p:spPr>
          <a:xfrm>
            <a:off x="685800" y="4928616"/>
            <a:ext cx="19659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Produced water &amp; tank farms</a:t>
            </a:r>
            <a:endParaRPr lang="en-US" sz="1250" dirty="0"/>
          </a:p>
        </p:txBody>
      </p:sp>
      <p:sp>
        <p:nvSpPr>
          <p:cNvPr id="21" name="!!mk0_2"/>
          <p:cNvSpPr/>
          <p:nvPr/>
        </p:nvSpPr>
        <p:spPr>
          <a:xfrm>
            <a:off x="2679192" y="5029200"/>
            <a:ext cx="329184" cy="329184"/>
          </a:xfrm>
          <a:prstGeom prst="ellipse">
            <a:avLst/>
          </a:prstGeom>
          <a:solidFill>
            <a:srgbClr val="3AB54A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22" name="!!mki0_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61488" y="5111496"/>
            <a:ext cx="164592" cy="164592"/>
          </a:xfrm>
          <a:prstGeom prst="rect">
            <a:avLst/>
          </a:prstGeom>
        </p:spPr>
      </p:pic>
      <p:sp>
        <p:nvSpPr>
          <p:cNvPr id="23" name="!!spine1"/>
          <p:cNvSpPr/>
          <p:nvPr/>
        </p:nvSpPr>
        <p:spPr>
          <a:xfrm>
            <a:off x="4663440" y="2194560"/>
            <a:ext cx="0" cy="3246120"/>
          </a:xfrm>
          <a:prstGeom prst="line">
            <a:avLst/>
          </a:prstGeom>
          <a:noFill/>
          <a:ln w="31750">
            <a:solidFill>
              <a:srgbClr val="C6D3E0"/>
            </a:solidFill>
            <a:prstDash val="solid"/>
          </a:ln>
        </p:spPr>
      </p:sp>
      <p:sp>
        <p:nvSpPr>
          <p:cNvPr id="24" name="!!br1"/>
          <p:cNvSpPr/>
          <p:nvPr/>
        </p:nvSpPr>
        <p:spPr>
          <a:xfrm>
            <a:off x="3383280" y="2468880"/>
            <a:ext cx="2560320" cy="868680"/>
          </a:xfrm>
          <a:prstGeom prst="roundRect">
            <a:avLst>
              <a:gd name="adj" fmla="val 12632"/>
            </a:avLst>
          </a:prstGeom>
          <a:solidFill>
            <a:srgbClr val="3AB54A"/>
          </a:solidFill>
          <a:ln/>
        </p:spPr>
      </p:sp>
      <p:pic>
        <p:nvPicPr>
          <p:cNvPr id="25" name="!!bri1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20440" y="2606040"/>
            <a:ext cx="566928" cy="566928"/>
          </a:xfrm>
          <a:prstGeom prst="rect">
            <a:avLst/>
          </a:prstGeom>
        </p:spPr>
      </p:pic>
      <p:sp>
        <p:nvSpPr>
          <p:cNvPr id="26" name="!!brt1"/>
          <p:cNvSpPr txBox="1"/>
          <p:nvPr/>
        </p:nvSpPr>
        <p:spPr>
          <a:xfrm>
            <a:off x="4160520" y="2468880"/>
            <a:ext cx="175564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MIDSTREAM</a:t>
            </a:r>
            <a:endParaRPr lang="en-US" sz="135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Transport &amp; storage</a:t>
            </a:r>
            <a:endParaRPr lang="en-US" sz="1350" dirty="0"/>
          </a:p>
        </p:txBody>
      </p:sp>
      <p:sp>
        <p:nvSpPr>
          <p:cNvPr id="27" name="!!lf1_0"/>
          <p:cNvSpPr/>
          <p:nvPr/>
        </p:nvSpPr>
        <p:spPr>
          <a:xfrm>
            <a:off x="3383280" y="3611880"/>
            <a:ext cx="2560320" cy="53035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3AB54A"/>
            </a:solidFill>
            <a:prstDash val="solid"/>
          </a:ln>
        </p:spPr>
      </p:sp>
      <p:sp>
        <p:nvSpPr>
          <p:cNvPr id="28" name="!!lft1_0"/>
          <p:cNvSpPr txBox="1"/>
          <p:nvPr/>
        </p:nvSpPr>
        <p:spPr>
          <a:xfrm>
            <a:off x="3566160" y="3611880"/>
            <a:ext cx="19659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Pipelines &amp; pig receivers</a:t>
            </a:r>
            <a:endParaRPr lang="en-US" sz="1250" dirty="0"/>
          </a:p>
        </p:txBody>
      </p:sp>
      <p:sp>
        <p:nvSpPr>
          <p:cNvPr id="29" name="!!mk1_0"/>
          <p:cNvSpPr/>
          <p:nvPr/>
        </p:nvSpPr>
        <p:spPr>
          <a:xfrm>
            <a:off x="5559552" y="3712464"/>
            <a:ext cx="329184" cy="329184"/>
          </a:xfrm>
          <a:prstGeom prst="ellipse">
            <a:avLst/>
          </a:prstGeom>
          <a:solidFill>
            <a:srgbClr val="3AB54A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30" name="!!mki1_0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641848" y="3794760"/>
            <a:ext cx="164592" cy="164592"/>
          </a:xfrm>
          <a:prstGeom prst="rect">
            <a:avLst/>
          </a:prstGeom>
        </p:spPr>
      </p:pic>
      <p:sp>
        <p:nvSpPr>
          <p:cNvPr id="31" name="!!lf1_1"/>
          <p:cNvSpPr/>
          <p:nvPr/>
        </p:nvSpPr>
        <p:spPr>
          <a:xfrm>
            <a:off x="3383280" y="4270248"/>
            <a:ext cx="2560320" cy="53035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3AB54A"/>
            </a:solidFill>
            <a:prstDash val="solid"/>
          </a:ln>
        </p:spPr>
      </p:sp>
      <p:sp>
        <p:nvSpPr>
          <p:cNvPr id="32" name="!!lft1_1"/>
          <p:cNvSpPr txBox="1"/>
          <p:nvPr/>
        </p:nvSpPr>
        <p:spPr>
          <a:xfrm>
            <a:off x="3566160" y="4270248"/>
            <a:ext cx="19659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Crude terminals &amp; tank farms</a:t>
            </a:r>
            <a:endParaRPr lang="en-US" sz="1250" dirty="0"/>
          </a:p>
        </p:txBody>
      </p:sp>
      <p:sp>
        <p:nvSpPr>
          <p:cNvPr id="33" name="!!mk1_1"/>
          <p:cNvSpPr/>
          <p:nvPr/>
        </p:nvSpPr>
        <p:spPr>
          <a:xfrm>
            <a:off x="5559552" y="4370832"/>
            <a:ext cx="329184" cy="329184"/>
          </a:xfrm>
          <a:prstGeom prst="ellipse">
            <a:avLst/>
          </a:prstGeom>
          <a:solidFill>
            <a:srgbClr val="3AB54A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34" name="!!mki1_1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641848" y="4453128"/>
            <a:ext cx="164592" cy="164592"/>
          </a:xfrm>
          <a:prstGeom prst="rect">
            <a:avLst/>
          </a:prstGeom>
        </p:spPr>
      </p:pic>
      <p:sp>
        <p:nvSpPr>
          <p:cNvPr id="35" name="!!lf1_2"/>
          <p:cNvSpPr/>
          <p:nvPr/>
        </p:nvSpPr>
        <p:spPr>
          <a:xfrm>
            <a:off x="3383280" y="4928616"/>
            <a:ext cx="2560320" cy="53035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3AB54A"/>
            </a:solidFill>
            <a:prstDash val="solid"/>
          </a:ln>
        </p:spPr>
      </p:sp>
      <p:sp>
        <p:nvSpPr>
          <p:cNvPr id="36" name="!!lft1_2"/>
          <p:cNvSpPr txBox="1"/>
          <p:nvPr/>
        </p:nvSpPr>
        <p:spPr>
          <a:xfrm>
            <a:off x="3566160" y="4928616"/>
            <a:ext cx="19659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LPG / NGL plants &amp; spheres</a:t>
            </a:r>
            <a:endParaRPr lang="en-US" sz="1250" dirty="0"/>
          </a:p>
        </p:txBody>
      </p:sp>
      <p:sp>
        <p:nvSpPr>
          <p:cNvPr id="37" name="!!mk1_2"/>
          <p:cNvSpPr/>
          <p:nvPr/>
        </p:nvSpPr>
        <p:spPr>
          <a:xfrm>
            <a:off x="5559552" y="5029200"/>
            <a:ext cx="329184" cy="329184"/>
          </a:xfrm>
          <a:prstGeom prst="ellipse">
            <a:avLst/>
          </a:prstGeom>
          <a:solidFill>
            <a:srgbClr val="3AB54A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38" name="!!mki1_2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641848" y="5111496"/>
            <a:ext cx="164592" cy="164592"/>
          </a:xfrm>
          <a:prstGeom prst="rect">
            <a:avLst/>
          </a:prstGeom>
        </p:spPr>
      </p:pic>
      <p:sp>
        <p:nvSpPr>
          <p:cNvPr id="39" name="!!spine2"/>
          <p:cNvSpPr/>
          <p:nvPr/>
        </p:nvSpPr>
        <p:spPr>
          <a:xfrm>
            <a:off x="7543800" y="2194560"/>
            <a:ext cx="0" cy="3246120"/>
          </a:xfrm>
          <a:prstGeom prst="line">
            <a:avLst/>
          </a:prstGeom>
          <a:noFill/>
          <a:ln w="31750">
            <a:solidFill>
              <a:srgbClr val="C6D3E0"/>
            </a:solidFill>
            <a:prstDash val="solid"/>
          </a:ln>
        </p:spPr>
      </p:sp>
      <p:sp>
        <p:nvSpPr>
          <p:cNvPr id="40" name="!!br2"/>
          <p:cNvSpPr/>
          <p:nvPr/>
        </p:nvSpPr>
        <p:spPr>
          <a:xfrm>
            <a:off x="6263640" y="2468880"/>
            <a:ext cx="2560320" cy="868680"/>
          </a:xfrm>
          <a:prstGeom prst="roundRect">
            <a:avLst>
              <a:gd name="adj" fmla="val 12632"/>
            </a:avLst>
          </a:prstGeom>
          <a:solidFill>
            <a:srgbClr val="0C74BC"/>
          </a:solidFill>
          <a:ln/>
        </p:spPr>
      </p:sp>
      <p:pic>
        <p:nvPicPr>
          <p:cNvPr id="41" name="!!bri2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400800" y="2606040"/>
            <a:ext cx="566928" cy="566928"/>
          </a:xfrm>
          <a:prstGeom prst="rect">
            <a:avLst/>
          </a:prstGeom>
        </p:spPr>
      </p:pic>
      <p:sp>
        <p:nvSpPr>
          <p:cNvPr id="42" name="!!brt2"/>
          <p:cNvSpPr txBox="1"/>
          <p:nvPr/>
        </p:nvSpPr>
        <p:spPr>
          <a:xfrm>
            <a:off x="7040880" y="2468880"/>
            <a:ext cx="175564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DOWNSTREAM</a:t>
            </a:r>
            <a:endParaRPr lang="en-US" sz="135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Refining</a:t>
            </a:r>
            <a:endParaRPr lang="en-US" sz="1350" dirty="0"/>
          </a:p>
        </p:txBody>
      </p:sp>
      <p:sp>
        <p:nvSpPr>
          <p:cNvPr id="43" name="!!lf2_0"/>
          <p:cNvSpPr/>
          <p:nvPr/>
        </p:nvSpPr>
        <p:spPr>
          <a:xfrm>
            <a:off x="6263640" y="3611880"/>
            <a:ext cx="2560320" cy="53035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0C74BC"/>
            </a:solidFill>
            <a:prstDash val="solid"/>
          </a:ln>
        </p:spPr>
      </p:sp>
      <p:sp>
        <p:nvSpPr>
          <p:cNvPr id="44" name="!!lft2_0"/>
          <p:cNvSpPr txBox="1"/>
          <p:nvPr/>
        </p:nvSpPr>
        <p:spPr>
          <a:xfrm>
            <a:off x="6446520" y="3611880"/>
            <a:ext cx="19659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Crude &amp; vacuum units</a:t>
            </a:r>
            <a:endParaRPr lang="en-US" sz="1250" dirty="0"/>
          </a:p>
        </p:txBody>
      </p:sp>
      <p:sp>
        <p:nvSpPr>
          <p:cNvPr id="45" name="!!mk2_0"/>
          <p:cNvSpPr/>
          <p:nvPr/>
        </p:nvSpPr>
        <p:spPr>
          <a:xfrm>
            <a:off x="8439912" y="3712464"/>
            <a:ext cx="329184" cy="329184"/>
          </a:xfrm>
          <a:prstGeom prst="ellipse">
            <a:avLst/>
          </a:prstGeom>
          <a:solidFill>
            <a:srgbClr val="3AB54A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46" name="!!mki2_0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522208" y="3794760"/>
            <a:ext cx="164592" cy="164592"/>
          </a:xfrm>
          <a:prstGeom prst="rect">
            <a:avLst/>
          </a:prstGeom>
        </p:spPr>
      </p:pic>
      <p:sp>
        <p:nvSpPr>
          <p:cNvPr id="47" name="!!lf2_1"/>
          <p:cNvSpPr/>
          <p:nvPr/>
        </p:nvSpPr>
        <p:spPr>
          <a:xfrm>
            <a:off x="6263640" y="4270248"/>
            <a:ext cx="2560320" cy="53035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0C74BC"/>
            </a:solidFill>
            <a:prstDash val="solid"/>
          </a:ln>
        </p:spPr>
      </p:sp>
      <p:sp>
        <p:nvSpPr>
          <p:cNvPr id="48" name="!!lft2_1"/>
          <p:cNvSpPr txBox="1"/>
          <p:nvPr/>
        </p:nvSpPr>
        <p:spPr>
          <a:xfrm>
            <a:off x="6446520" y="4270248"/>
            <a:ext cx="19659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Hydroprocessing &amp; conversion</a:t>
            </a:r>
            <a:endParaRPr lang="en-US" sz="1250" dirty="0"/>
          </a:p>
        </p:txBody>
      </p:sp>
      <p:sp>
        <p:nvSpPr>
          <p:cNvPr id="49" name="!!mk2_1"/>
          <p:cNvSpPr/>
          <p:nvPr/>
        </p:nvSpPr>
        <p:spPr>
          <a:xfrm>
            <a:off x="8439912" y="4370832"/>
            <a:ext cx="329184" cy="329184"/>
          </a:xfrm>
          <a:prstGeom prst="ellipse">
            <a:avLst/>
          </a:prstGeom>
          <a:solidFill>
            <a:srgbClr val="3AB54A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50" name="!!mki2_1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522208" y="4453128"/>
            <a:ext cx="164592" cy="164592"/>
          </a:xfrm>
          <a:prstGeom prst="rect">
            <a:avLst/>
          </a:prstGeom>
        </p:spPr>
      </p:pic>
      <p:sp>
        <p:nvSpPr>
          <p:cNvPr id="51" name="!!lf2_2"/>
          <p:cNvSpPr/>
          <p:nvPr/>
        </p:nvSpPr>
        <p:spPr>
          <a:xfrm>
            <a:off x="6263640" y="4928616"/>
            <a:ext cx="2560320" cy="53035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0C74BC"/>
            </a:solidFill>
            <a:prstDash val="solid"/>
          </a:ln>
        </p:spPr>
      </p:sp>
      <p:sp>
        <p:nvSpPr>
          <p:cNvPr id="52" name="!!lft2_2"/>
          <p:cNvSpPr txBox="1"/>
          <p:nvPr/>
        </p:nvSpPr>
        <p:spPr>
          <a:xfrm>
            <a:off x="6446520" y="4928616"/>
            <a:ext cx="19659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 water, amine &amp; sulphur</a:t>
            </a:r>
            <a:endParaRPr lang="en-US" sz="1250" dirty="0"/>
          </a:p>
        </p:txBody>
      </p:sp>
      <p:sp>
        <p:nvSpPr>
          <p:cNvPr id="53" name="!!mk2_2"/>
          <p:cNvSpPr/>
          <p:nvPr/>
        </p:nvSpPr>
        <p:spPr>
          <a:xfrm>
            <a:off x="8439912" y="5029200"/>
            <a:ext cx="329184" cy="329184"/>
          </a:xfrm>
          <a:prstGeom prst="ellipse">
            <a:avLst/>
          </a:prstGeom>
          <a:solidFill>
            <a:srgbClr val="3AB54A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54" name="!!mki2_2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8522208" y="5111496"/>
            <a:ext cx="164592" cy="164592"/>
          </a:xfrm>
          <a:prstGeom prst="rect">
            <a:avLst/>
          </a:prstGeom>
        </p:spPr>
      </p:pic>
      <p:sp>
        <p:nvSpPr>
          <p:cNvPr id="55" name="!!spine3"/>
          <p:cNvSpPr/>
          <p:nvPr/>
        </p:nvSpPr>
        <p:spPr>
          <a:xfrm>
            <a:off x="10424160" y="2194560"/>
            <a:ext cx="0" cy="3246120"/>
          </a:xfrm>
          <a:prstGeom prst="line">
            <a:avLst/>
          </a:prstGeom>
          <a:noFill/>
          <a:ln w="31750">
            <a:solidFill>
              <a:srgbClr val="C6D3E0"/>
            </a:solidFill>
            <a:prstDash val="solid"/>
          </a:ln>
        </p:spPr>
      </p:sp>
      <p:sp>
        <p:nvSpPr>
          <p:cNvPr id="56" name="!!br3"/>
          <p:cNvSpPr/>
          <p:nvPr/>
        </p:nvSpPr>
        <p:spPr>
          <a:xfrm>
            <a:off x="9144000" y="2468880"/>
            <a:ext cx="2560320" cy="868680"/>
          </a:xfrm>
          <a:prstGeom prst="roundRect">
            <a:avLst>
              <a:gd name="adj" fmla="val 12632"/>
            </a:avLst>
          </a:prstGeom>
          <a:solidFill>
            <a:srgbClr val="3AB54A"/>
          </a:solidFill>
          <a:ln/>
        </p:spPr>
      </p:sp>
      <p:pic>
        <p:nvPicPr>
          <p:cNvPr id="57" name="!!bri3" descr="preencode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9281160" y="2606040"/>
            <a:ext cx="566928" cy="566928"/>
          </a:xfrm>
          <a:prstGeom prst="rect">
            <a:avLst/>
          </a:prstGeom>
        </p:spPr>
      </p:pic>
      <p:sp>
        <p:nvSpPr>
          <p:cNvPr id="58" name="!!brt3"/>
          <p:cNvSpPr txBox="1"/>
          <p:nvPr/>
        </p:nvSpPr>
        <p:spPr>
          <a:xfrm>
            <a:off x="9921240" y="2468880"/>
            <a:ext cx="175564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PETROCHEMICALS</a:t>
            </a:r>
            <a:endParaRPr lang="en-US" sz="135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Chemicals &amp; polymers</a:t>
            </a:r>
            <a:endParaRPr lang="en-US" sz="1350" dirty="0"/>
          </a:p>
        </p:txBody>
      </p:sp>
      <p:sp>
        <p:nvSpPr>
          <p:cNvPr id="59" name="!!lf3_0"/>
          <p:cNvSpPr/>
          <p:nvPr/>
        </p:nvSpPr>
        <p:spPr>
          <a:xfrm>
            <a:off x="9144000" y="3611880"/>
            <a:ext cx="2560320" cy="53035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3AB54A"/>
            </a:solidFill>
            <a:prstDash val="solid"/>
          </a:ln>
        </p:spPr>
      </p:sp>
      <p:sp>
        <p:nvSpPr>
          <p:cNvPr id="60" name="!!lft3_0"/>
          <p:cNvSpPr txBox="1"/>
          <p:nvPr/>
        </p:nvSpPr>
        <p:spPr>
          <a:xfrm>
            <a:off x="9326880" y="3611880"/>
            <a:ext cx="19659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Aromatics (BTX)</a:t>
            </a:r>
            <a:endParaRPr lang="en-US" sz="1250" dirty="0"/>
          </a:p>
        </p:txBody>
      </p:sp>
      <p:sp>
        <p:nvSpPr>
          <p:cNvPr id="61" name="!!mk3_0"/>
          <p:cNvSpPr/>
          <p:nvPr/>
        </p:nvSpPr>
        <p:spPr>
          <a:xfrm>
            <a:off x="11320272" y="3712464"/>
            <a:ext cx="329184" cy="329184"/>
          </a:xfrm>
          <a:prstGeom prst="ellipse">
            <a:avLst/>
          </a:prstGeom>
          <a:solidFill>
            <a:srgbClr val="3AB54A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62" name="!!mki3_0" descr="preencoded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1402568" y="3794760"/>
            <a:ext cx="164592" cy="164592"/>
          </a:xfrm>
          <a:prstGeom prst="rect">
            <a:avLst/>
          </a:prstGeom>
        </p:spPr>
      </p:pic>
      <p:sp>
        <p:nvSpPr>
          <p:cNvPr id="63" name="!!lf3_1"/>
          <p:cNvSpPr/>
          <p:nvPr/>
        </p:nvSpPr>
        <p:spPr>
          <a:xfrm>
            <a:off x="9144000" y="4270248"/>
            <a:ext cx="2560320" cy="53035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3AB54A"/>
            </a:solidFill>
            <a:prstDash val="solid"/>
          </a:ln>
        </p:spPr>
      </p:sp>
      <p:sp>
        <p:nvSpPr>
          <p:cNvPr id="64" name="!!lft3_1"/>
          <p:cNvSpPr txBox="1"/>
          <p:nvPr/>
        </p:nvSpPr>
        <p:spPr>
          <a:xfrm>
            <a:off x="9326880" y="4270248"/>
            <a:ext cx="19659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Olefins &amp; polymers</a:t>
            </a:r>
            <a:endParaRPr lang="en-US" sz="1250" dirty="0"/>
          </a:p>
        </p:txBody>
      </p:sp>
      <p:sp>
        <p:nvSpPr>
          <p:cNvPr id="65" name="!!mk3_1"/>
          <p:cNvSpPr/>
          <p:nvPr/>
        </p:nvSpPr>
        <p:spPr>
          <a:xfrm>
            <a:off x="11320272" y="4370832"/>
            <a:ext cx="329184" cy="329184"/>
          </a:xfrm>
          <a:prstGeom prst="ellipse">
            <a:avLst/>
          </a:prstGeom>
          <a:solidFill>
            <a:srgbClr val="3AB54A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66" name="!!mki3_1" descr="preencoded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11402568" y="4453128"/>
            <a:ext cx="164592" cy="164592"/>
          </a:xfrm>
          <a:prstGeom prst="rect">
            <a:avLst/>
          </a:prstGeom>
        </p:spPr>
      </p:pic>
      <p:sp>
        <p:nvSpPr>
          <p:cNvPr id="67" name="!!lf3_2"/>
          <p:cNvSpPr/>
          <p:nvPr/>
        </p:nvSpPr>
        <p:spPr>
          <a:xfrm>
            <a:off x="9144000" y="4928616"/>
            <a:ext cx="2560320" cy="53035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3AB54A"/>
            </a:solidFill>
            <a:prstDash val="solid"/>
          </a:ln>
        </p:spPr>
      </p:sp>
      <p:sp>
        <p:nvSpPr>
          <p:cNvPr id="68" name="!!lft3_2"/>
          <p:cNvSpPr txBox="1"/>
          <p:nvPr/>
        </p:nvSpPr>
        <p:spPr>
          <a:xfrm>
            <a:off x="9326880" y="4928616"/>
            <a:ext cx="19659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Methanol &amp; fertilisers</a:t>
            </a:r>
            <a:endParaRPr lang="en-US" sz="1250" dirty="0"/>
          </a:p>
        </p:txBody>
      </p:sp>
      <p:sp>
        <p:nvSpPr>
          <p:cNvPr id="69" name="!!mk3_2"/>
          <p:cNvSpPr/>
          <p:nvPr/>
        </p:nvSpPr>
        <p:spPr>
          <a:xfrm>
            <a:off x="11320272" y="5029200"/>
            <a:ext cx="329184" cy="329184"/>
          </a:xfrm>
          <a:prstGeom prst="ellipse">
            <a:avLst/>
          </a:prstGeom>
          <a:solidFill>
            <a:srgbClr val="3AB54A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70" name="!!mki3_2" descr="preencoded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11402568" y="5111496"/>
            <a:ext cx="164592" cy="164592"/>
          </a:xfrm>
          <a:prstGeom prst="rect">
            <a:avLst/>
          </a:prstGeom>
        </p:spPr>
      </p:pic>
      <p:sp>
        <p:nvSpPr>
          <p:cNvPr id="71" name="s29"/>
          <p:cNvSpPr/>
          <p:nvPr/>
        </p:nvSpPr>
        <p:spPr>
          <a:xfrm>
            <a:off x="548640" y="5669280"/>
            <a:ext cx="11064240" cy="548640"/>
          </a:xfrm>
          <a:prstGeom prst="roundRect">
            <a:avLst>
              <a:gd name="adj" fmla="val 50000"/>
            </a:avLst>
          </a:prstGeom>
          <a:solidFill>
            <a:srgbClr val="EAF6EC"/>
          </a:solidFill>
          <a:ln/>
        </p:spPr>
      </p:sp>
      <p:sp>
        <p:nvSpPr>
          <p:cNvPr id="72" name="t30"/>
          <p:cNvSpPr txBox="1"/>
          <p:nvPr/>
        </p:nvSpPr>
        <p:spPr>
          <a:xfrm>
            <a:off x="777240" y="566928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8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</a:t>
            </a:r>
            <a:pPr indent="0" marL="0">
              <a:buNone/>
            </a:pPr>
            <a:r>
              <a:rPr lang="en-US" sz="1500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stage holds hydrocarbons, H₂S or pyrophoric scale – and needs decontamination before entry.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708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6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6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6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2" dur="6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6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4" dur="6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600"/>
                            </p:stCondLst>
                            <p:childTnLst>
                              <p:par>
                                <p:cTn id="16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8" dur="3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900"/>
                            </p:stCondLst>
                            <p:childTnLst>
                              <p:par>
                                <p:cTn id="2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7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600"/>
                            </p:stCondLst>
                            <p:childTnLst>
                              <p:par>
                                <p:cTn id="24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7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7" dur="7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7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9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7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2" dur="7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3" dur="7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4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7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7" dur="7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8" dur="7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9" presetID="42" presetClass="entr" presetSubtype="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7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2" dur="7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3" dur="7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4" presetID="42" presetClass="entr" presetSubtype="0" fill="hold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7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7" dur="7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8" dur="7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9" presetID="42" presetClass="entr" presetSubtype="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7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2" dur="7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3" dur="7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4" presetID="42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7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7" dur="70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8" dur="70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9" presetID="42" presetClass="entr" presetSubtype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7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2" dur="70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3" dur="70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4" presetID="42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7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7" dur="70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8" dur="70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9" presetID="42" presetClass="entr" presetSubtype="0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7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2" dur="700" fill="hold"/>
                                        <p:tgtEl>
                                          <p:spTgt spid="5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3" dur="700" fill="hold"/>
                                        <p:tgtEl>
                                          <p:spTgt spid="5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4" presetID="42" presetClass="entr" presetSubtype="0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7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7" dur="700" fill="hold"/>
                                        <p:tgtEl>
                                          <p:spTgt spid="5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8" dur="700" fill="hold"/>
                                        <p:tgtEl>
                                          <p:spTgt spid="5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9" presetID="42" presetClass="entr" presetSubtype="0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7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2" dur="700" fill="hold"/>
                                        <p:tgtEl>
                                          <p:spTgt spid="5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3" dur="700" fill="hold"/>
                                        <p:tgtEl>
                                          <p:spTgt spid="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4" fill="hold">
                      <p:stCondLst>
                        <p:cond delay="indefinite"/>
                      </p:stCondLst>
                      <p:childTnLst>
                        <p:par>
                          <p:cTn id="85" fill="hold">
                            <p:stCondLst>
                              <p:cond delay="0"/>
                            </p:stCondLst>
                            <p:childTnLst>
                              <p:par>
                                <p:cTn id="86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88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9" fill="hold">
                            <p:stCondLst>
                              <p:cond delay="500"/>
                            </p:stCondLst>
                            <p:childTnLst>
                              <p:par>
                                <p:cTn id="90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3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4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8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9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0" presetID="42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3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4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5" presetID="42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8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9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0" presetID="42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3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4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5" presetID="42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7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8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9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0" fill="hold">
                      <p:stCondLst>
                        <p:cond delay="indefinite"/>
                      </p:stCondLst>
                      <p:childTnLst>
                        <p:par>
                          <p:cTn id="121" fill="hold">
                            <p:stCondLst>
                              <p:cond delay="0"/>
                            </p:stCondLst>
                            <p:childTnLst>
                              <p:par>
                                <p:cTn id="122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4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5" fill="hold">
                            <p:stCondLst>
                              <p:cond delay="500"/>
                            </p:stCondLst>
                            <p:childTnLst>
                              <p:par>
                                <p:cTn id="126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8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9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0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1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3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4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5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6" presetID="42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8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9" dur="5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0" dur="5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1" presetID="42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3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4" dur="5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5" dur="5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6" presetID="42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8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9" dur="5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0" dur="5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1" presetID="42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3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4" dur="5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5" dur="5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6" fill="hold">
                      <p:stCondLst>
                        <p:cond delay="indefinite"/>
                      </p:stCondLst>
                      <p:childTnLst>
                        <p:par>
                          <p:cTn id="157" fill="hold">
                            <p:stCondLst>
                              <p:cond delay="0"/>
                            </p:stCondLst>
                            <p:childTnLst>
                              <p:par>
                                <p:cTn id="158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60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1" fill="hold">
                            <p:stCondLst>
                              <p:cond delay="500"/>
                            </p:stCondLst>
                            <p:childTnLst>
                              <p:par>
                                <p:cTn id="162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4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65" dur="500" fill="hold"/>
                                        <p:tgtEl>
                                          <p:spTgt spid="4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6" dur="500" fill="hold"/>
                                        <p:tgtEl>
                                          <p:spTgt spid="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9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70" dur="500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1" dur="500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2" presetID="42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4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75" dur="500" fill="hold"/>
                                        <p:tgtEl>
                                          <p:spTgt spid="4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6" dur="500" fill="hold"/>
                                        <p:tgtEl>
                                          <p:spTgt spid="4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7" presetID="42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9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0" dur="500" fill="hold"/>
                                        <p:tgtEl>
                                          <p:spTgt spid="4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1" dur="500" fill="hold"/>
                                        <p:tgtEl>
                                          <p:spTgt spid="4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2" presetID="42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4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5" dur="500" fill="hold"/>
                                        <p:tgtEl>
                                          <p:spTgt spid="5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6" dur="500" fill="hold"/>
                                        <p:tgtEl>
                                          <p:spTgt spid="5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7" presetID="42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9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0" dur="500" fill="hold"/>
                                        <p:tgtEl>
                                          <p:spTgt spid="5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1" dur="500" fill="hold"/>
                                        <p:tgtEl>
                                          <p:spTgt spid="5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2" fill="hold">
                      <p:stCondLst>
                        <p:cond delay="indefinite"/>
                      </p:stCondLst>
                      <p:childTnLst>
                        <p:par>
                          <p:cTn id="193" fill="hold">
                            <p:stCondLst>
                              <p:cond delay="0"/>
                            </p:stCondLst>
                            <p:childTnLst>
                              <p:par>
                                <p:cTn id="194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96" dur="5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7" fill="hold">
                            <p:stCondLst>
                              <p:cond delay="500"/>
                            </p:stCondLst>
                            <p:childTnLst>
                              <p:par>
                                <p:cTn id="198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0" dur="5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01" dur="500" fill="hold"/>
                                        <p:tgtEl>
                                          <p:spTgt spid="5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2" dur="500" fill="hold"/>
                                        <p:tgtEl>
                                          <p:spTgt spid="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5" dur="5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06" dur="500" fill="hold"/>
                                        <p:tgtEl>
                                          <p:spTgt spid="6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7" dur="500" fill="hold"/>
                                        <p:tgtEl>
                                          <p:spTgt spid="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8" presetID="42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2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0" dur="5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11" dur="500" fill="hold"/>
                                        <p:tgtEl>
                                          <p:spTgt spid="6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2" dur="500" fill="hold"/>
                                        <p:tgtEl>
                                          <p:spTgt spid="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3" presetID="42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2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5" dur="50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16" dur="500" fill="hold"/>
                                        <p:tgtEl>
                                          <p:spTgt spid="6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7" dur="500" fill="hold"/>
                                        <p:tgtEl>
                                          <p:spTgt spid="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8" presetID="42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2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0" dur="500"/>
                                        <p:tgtEl>
                                          <p:spTgt spid="6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1" dur="500" fill="hold"/>
                                        <p:tgtEl>
                                          <p:spTgt spid="6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2" dur="500" fill="hold"/>
                                        <p:tgtEl>
                                          <p:spTgt spid="6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23" presetID="42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2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5" dur="500"/>
                                        <p:tgtEl>
                                          <p:spTgt spid="6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6" dur="500" fill="hold"/>
                                        <p:tgtEl>
                                          <p:spTgt spid="6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7" dur="500" fill="hold"/>
                                        <p:tgtEl>
                                          <p:spTgt spid="6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8" fill="hold">
                      <p:stCondLst>
                        <p:cond delay="indefinite"/>
                      </p:stCondLst>
                      <p:childTnLst>
                        <p:par>
                          <p:cTn id="229" fill="hold">
                            <p:stCondLst>
                              <p:cond delay="0"/>
                            </p:stCondLst>
                            <p:childTnLst>
                              <p:par>
                                <p:cTn id="230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32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3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34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5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37" dur="4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8" dur="4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39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0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42" dur="4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3" dur="4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44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5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47" dur="4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8" dur="4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49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0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52" dur="4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53" dur="4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54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5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57" dur="4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58" dur="4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59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0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62" dur="4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3" dur="4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64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5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67" dur="4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8" dur="4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69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0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72" dur="4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3" dur="4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74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5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77" dur="4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8" dur="4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79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0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82" dur="4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3" dur="4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84" dur="4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5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87" dur="4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8" dur="4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89" dur="4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0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92" dur="40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3" dur="40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94" dur="4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5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97" dur="400" fill="hold"/>
                                        <p:tgtEl>
                                          <p:spTgt spid="4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8" dur="400" fill="hold"/>
                                        <p:tgtEl>
                                          <p:spTgt spid="4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99" dur="4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0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02" dur="400" fill="hold"/>
                                        <p:tgtEl>
                                          <p:spTgt spid="4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3" dur="400" fill="hold"/>
                                        <p:tgtEl>
                                          <p:spTgt spid="4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04" dur="4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5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07" dur="400" fill="hold"/>
                                        <p:tgtEl>
                                          <p:spTgt spid="5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8" dur="400" fill="hold"/>
                                        <p:tgtEl>
                                          <p:spTgt spid="5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09" dur="4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0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12" dur="400" fill="hold"/>
                                        <p:tgtEl>
                                          <p:spTgt spid="5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13" dur="400" fill="hold"/>
                                        <p:tgtEl>
                                          <p:spTgt spid="5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14" dur="4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5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17" dur="400" fill="hold"/>
                                        <p:tgtEl>
                                          <p:spTgt spid="5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18" dur="400" fill="hold"/>
                                        <p:tgtEl>
                                          <p:spTgt spid="5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19" dur="4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0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22" dur="400" fill="hold"/>
                                        <p:tgtEl>
                                          <p:spTgt spid="6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23" dur="400" fill="hold"/>
                                        <p:tgtEl>
                                          <p:spTgt spid="6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24" dur="4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5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27" dur="400" fill="hold"/>
                                        <p:tgtEl>
                                          <p:spTgt spid="6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28" dur="400" fill="hold"/>
                                        <p:tgtEl>
                                          <p:spTgt spid="6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29" dur="4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0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32" dur="400" fill="hold"/>
                                        <p:tgtEl>
                                          <p:spTgt spid="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33" dur="400" fill="hold"/>
                                        <p:tgtEl>
                                          <p:spTgt spid="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34" dur="40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5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37" dur="400" fill="hold"/>
                                        <p:tgtEl>
                                          <p:spTgt spid="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38" dur="400" fill="hold"/>
                                        <p:tgtEl>
                                          <p:spTgt spid="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39" dur="40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0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42" dur="400" fill="hold"/>
                                        <p:tgtEl>
                                          <p:spTgt spid="6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3" dur="400" fill="hold"/>
                                        <p:tgtEl>
                                          <p:spTgt spid="6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44" dur="400"/>
                                        <p:tgtEl>
                                          <p:spTgt spid="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5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47" dur="400" fill="hold"/>
                                        <p:tgtEl>
                                          <p:spTgt spid="7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8" dur="400" fill="hold"/>
                                        <p:tgtEl>
                                          <p:spTgt spid="7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49" dur="400"/>
                                        <p:tgtEl>
                                          <p:spTgt spid="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0" fill="hold">
                            <p:stCondLst>
                              <p:cond delay="400"/>
                            </p:stCondLst>
                            <p:childTnLst>
                              <p:par>
                                <p:cTn id="351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3" dur="700"/>
                                        <p:tgtEl>
                                          <p:spTgt spid="7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54" dur="700" fill="hold"/>
                                        <p:tgtEl>
                                          <p:spTgt spid="7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55" dur="700" fill="hold"/>
                                        <p:tgtEl>
                                          <p:spTgt spid="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56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8" dur="700"/>
                                        <p:tgtEl>
                                          <p:spTgt spid="7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59" dur="700" fill="hold"/>
                                        <p:tgtEl>
                                          <p:spTgt spid="7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60" dur="700" fill="hold"/>
                                        <p:tgtEl>
                                          <p:spTgt spid="7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1" fill="hold">
                            <p:stCondLst>
                              <p:cond delay="1100"/>
                            </p:stCondLst>
                            <p:childTnLst>
                              <p:par>
                                <p:cTn id="362" presetID="6" presetClass="emph" presetSubtype="0" fill="hold" grpId="2" nodeType="after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363" dur="400" autoRev="1" fill="hold"/>
                                        <p:tgtEl>
                                          <p:spTgt spid="13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364" presetID="6" presetClass="emph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365" dur="400" autoRev="1" fill="hold"/>
                                        <p:tgtEl>
                                          <p:spTgt spid="17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366" presetID="6" presetClass="emph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367" dur="400" autoRev="1" fill="hold"/>
                                        <p:tgtEl>
                                          <p:spTgt spid="21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368" presetID="6" presetClass="emph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369" dur="400" autoRev="1" fill="hold"/>
                                        <p:tgtEl>
                                          <p:spTgt spid="29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370" presetID="6" presetClass="emph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371" dur="400" autoRev="1" fill="hold"/>
                                        <p:tgtEl>
                                          <p:spTgt spid="33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372" presetID="6" presetClass="emph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373" dur="400" autoRev="1" fill="hold"/>
                                        <p:tgtEl>
                                          <p:spTgt spid="37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374" presetID="6" presetClass="emph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375" dur="400" autoRev="1" fill="hold"/>
                                        <p:tgtEl>
                                          <p:spTgt spid="45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376" presetID="6" presetClass="emph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377" dur="400" autoRev="1" fill="hold"/>
                                        <p:tgtEl>
                                          <p:spTgt spid="49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378" presetID="6" presetClass="emph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379" dur="400" autoRev="1" fill="hold"/>
                                        <p:tgtEl>
                                          <p:spTgt spid="53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380" presetID="6" presetClass="emph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381" dur="400" autoRev="1" fill="hold"/>
                                        <p:tgtEl>
                                          <p:spTgt spid="61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382" presetID="6" presetClass="emph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383" dur="400" autoRev="1" fill="hold"/>
                                        <p:tgtEl>
                                          <p:spTgt spid="65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384" presetID="6" presetClass="emph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385" dur="400" autoRev="1" fill="hold"/>
                                        <p:tgtEl>
                                          <p:spTgt spid="69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5" grpId="0" animBg="1"/>
      <p:bldP spid="6" grpId="0" animBg="1"/>
      <p:bldP spid="8" grpId="0" animBg="1"/>
      <p:bldP spid="10" grpId="0" animBg="1"/>
      <p:bldP spid="24" grpId="0" animBg="1"/>
      <p:bldP spid="26" grpId="0" animBg="1"/>
      <p:bldP spid="40" grpId="0" animBg="1"/>
      <p:bldP spid="42" grpId="0" animBg="1"/>
      <p:bldP spid="56" grpId="0" animBg="1"/>
      <p:bldP spid="58" grpId="0" animBg="1"/>
      <p:bldP spid="7" grpId="0" animBg="1"/>
      <p:bldP spid="11" grpId="0" animBg="1"/>
      <p:bldP spid="12" grpId="0" animBg="1"/>
      <p:bldP spid="15" grpId="0" animBg="1"/>
      <p:bldP spid="16" grpId="0" animBg="1"/>
      <p:bldP spid="19" grpId="0" animBg="1"/>
      <p:bldP spid="20" grpId="0" animBg="1"/>
      <p:bldP spid="23" grpId="0" animBg="1"/>
      <p:bldP spid="27" grpId="0" animBg="1"/>
      <p:bldP spid="28" grpId="0" animBg="1"/>
      <p:bldP spid="31" grpId="0" animBg="1"/>
      <p:bldP spid="32" grpId="0" animBg="1"/>
      <p:bldP spid="35" grpId="0" animBg="1"/>
      <p:bldP spid="36" grpId="0" animBg="1"/>
      <p:bldP spid="39" grpId="0" animBg="1"/>
      <p:bldP spid="43" grpId="0" animBg="1"/>
      <p:bldP spid="44" grpId="0" animBg="1"/>
      <p:bldP spid="47" grpId="0" animBg="1"/>
      <p:bldP spid="48" grpId="0" animBg="1"/>
      <p:bldP spid="51" grpId="0" animBg="1"/>
      <p:bldP spid="52" grpId="0" animBg="1"/>
      <p:bldP spid="55" grpId="0" animBg="1"/>
      <p:bldP spid="59" grpId="0" animBg="1"/>
      <p:bldP spid="60" grpId="0" animBg="1"/>
      <p:bldP spid="63" grpId="0" animBg="1"/>
      <p:bldP spid="64" grpId="0" animBg="1"/>
      <p:bldP spid="67" grpId="0" animBg="1"/>
      <p:bldP spid="68" grpId="0" animBg="1"/>
      <p:bldP spid="13" grpId="0" animBg="1"/>
      <p:bldP spid="17" grpId="0" animBg="1"/>
      <p:bldP spid="21" grpId="0" animBg="1"/>
      <p:bldP spid="29" grpId="0" animBg="1"/>
      <p:bldP spid="33" grpId="0" animBg="1"/>
      <p:bldP spid="37" grpId="0" animBg="1"/>
      <p:bldP spid="45" grpId="0" animBg="1"/>
      <p:bldP spid="49" grpId="0" animBg="1"/>
      <p:bldP spid="53" grpId="0" animBg="1"/>
      <p:bldP spid="61" grpId="0" animBg="1"/>
      <p:bldP spid="65" grpId="0" animBg="1"/>
      <p:bldP spid="69" grpId="0" animBg="1"/>
      <p:bldP spid="71" grpId="0" animBg="1"/>
      <p:bldP spid="72" grpId="0" animBg="1"/>
      <p:bldP spid="13" grpId="2" animBg="1"/>
      <p:bldP spid="17" grpId="2" animBg="1"/>
      <p:bldP spid="21" grpId="2" animBg="1"/>
      <p:bldP spid="29" grpId="2" animBg="1"/>
      <p:bldP spid="33" grpId="2" animBg="1"/>
      <p:bldP spid="37" grpId="2" animBg="1"/>
      <p:bldP spid="45" grpId="2" animBg="1"/>
      <p:bldP spid="49" grpId="2" animBg="1"/>
      <p:bldP spid="53" grpId="2" animBg="1"/>
      <p:bldP spid="61" grpId="2" animBg="1"/>
      <p:bldP spid="65" grpId="2" animBg="1"/>
      <p:bldP spid="69" grpId="2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47472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5F8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Upstream – production &amp; gas processing</a:t>
            </a:r>
            <a:endParaRPr lang="en-US" sz="2800" dirty="0"/>
          </a:p>
        </p:txBody>
      </p:sp>
      <p:sp>
        <p:nvSpPr>
          <p:cNvPr id="3" name="!!root"/>
          <p:cNvSpPr/>
          <p:nvPr/>
        </p:nvSpPr>
        <p:spPr>
          <a:xfrm>
            <a:off x="9437522" y="1161288"/>
            <a:ext cx="1152144" cy="197510"/>
          </a:xfrm>
          <a:prstGeom prst="roundRect">
            <a:avLst>
              <a:gd name="adj" fmla="val 50000"/>
            </a:avLst>
          </a:prstGeom>
          <a:solidFill>
            <a:srgbClr val="1F3A52"/>
          </a:solidFill>
          <a:ln/>
        </p:spPr>
      </p:sp>
      <p:sp>
        <p:nvSpPr>
          <p:cNvPr id="4" name="!!root_t"/>
          <p:cNvSpPr txBox="1"/>
          <p:nvPr/>
        </p:nvSpPr>
        <p:spPr>
          <a:xfrm>
            <a:off x="9437522" y="1161288"/>
            <a:ext cx="1152144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OIL &amp; GAS VALUE CHAIN</a:t>
            </a:r>
            <a:endParaRPr lang="en-US" sz="480" dirty="0"/>
          </a:p>
        </p:txBody>
      </p:sp>
      <p:sp>
        <p:nvSpPr>
          <p:cNvPr id="5" name="!!bar_v"/>
          <p:cNvSpPr/>
          <p:nvPr/>
        </p:nvSpPr>
        <p:spPr>
          <a:xfrm>
            <a:off x="10013594" y="1358798"/>
            <a:ext cx="0" cy="76810"/>
          </a:xfrm>
          <a:prstGeom prst="line">
            <a:avLst/>
          </a:prstGeom>
          <a:noFill/>
          <a:ln w="9525">
            <a:solidFill>
              <a:srgbClr val="C6D3E0"/>
            </a:solidFill>
            <a:prstDash val="solid"/>
          </a:ln>
        </p:spPr>
      </p:sp>
      <p:sp>
        <p:nvSpPr>
          <p:cNvPr id="6" name="!!bar_h"/>
          <p:cNvSpPr/>
          <p:nvPr/>
        </p:nvSpPr>
        <p:spPr>
          <a:xfrm>
            <a:off x="8718804" y="1435608"/>
            <a:ext cx="2592324" cy="0"/>
          </a:xfrm>
          <a:prstGeom prst="line">
            <a:avLst/>
          </a:prstGeom>
          <a:noFill/>
          <a:ln w="9525">
            <a:solidFill>
              <a:srgbClr val="C6D3E0"/>
            </a:solidFill>
            <a:prstDash val="solid"/>
          </a:ln>
        </p:spPr>
      </p:sp>
      <p:sp>
        <p:nvSpPr>
          <p:cNvPr id="7" name="!!spine0"/>
          <p:cNvSpPr/>
          <p:nvPr/>
        </p:nvSpPr>
        <p:spPr>
          <a:xfrm>
            <a:off x="8718804" y="1435608"/>
            <a:ext cx="0" cy="82296"/>
          </a:xfrm>
          <a:prstGeom prst="line">
            <a:avLst/>
          </a:prstGeom>
          <a:noFill/>
          <a:ln w="9525">
            <a:solidFill>
              <a:srgbClr val="C6D3E0"/>
            </a:solidFill>
            <a:prstDash val="solid"/>
          </a:ln>
        </p:spPr>
      </p:sp>
      <p:sp>
        <p:nvSpPr>
          <p:cNvPr id="8" name="!!br0"/>
          <p:cNvSpPr/>
          <p:nvPr/>
        </p:nvSpPr>
        <p:spPr>
          <a:xfrm>
            <a:off x="8334756" y="1517904"/>
            <a:ext cx="768096" cy="260604"/>
          </a:xfrm>
          <a:prstGeom prst="roundRect">
            <a:avLst>
              <a:gd name="adj" fmla="val 12632"/>
            </a:avLst>
          </a:prstGeom>
          <a:solidFill>
            <a:srgbClr val="0C74BC"/>
          </a:solidFill>
          <a:ln/>
        </p:spPr>
      </p:sp>
      <p:pic>
        <p:nvPicPr>
          <p:cNvPr id="9" name="!!bri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75904" y="1559052"/>
            <a:ext cx="170078" cy="170078"/>
          </a:xfrm>
          <a:prstGeom prst="rect">
            <a:avLst/>
          </a:prstGeom>
        </p:spPr>
      </p:pic>
      <p:sp>
        <p:nvSpPr>
          <p:cNvPr id="10" name="!!brt0"/>
          <p:cNvSpPr txBox="1"/>
          <p:nvPr/>
        </p:nvSpPr>
        <p:spPr>
          <a:xfrm>
            <a:off x="8567928" y="1517904"/>
            <a:ext cx="526694" cy="2606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1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UPSTREAM</a:t>
            </a:r>
            <a:endParaRPr lang="en-US" sz="410" dirty="0"/>
          </a:p>
          <a:p>
            <a:pPr indent="0" marL="0">
              <a:buNone/>
            </a:pPr>
            <a:r>
              <a:rPr lang="en-US" sz="33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 &amp; gas processing</a:t>
            </a:r>
            <a:endParaRPr lang="en-US" sz="410" dirty="0"/>
          </a:p>
        </p:txBody>
      </p:sp>
      <p:sp>
        <p:nvSpPr>
          <p:cNvPr id="11" name="!!spine1"/>
          <p:cNvSpPr/>
          <p:nvPr/>
        </p:nvSpPr>
        <p:spPr>
          <a:xfrm>
            <a:off x="9582912" y="1435608"/>
            <a:ext cx="0" cy="973836"/>
          </a:xfrm>
          <a:prstGeom prst="line">
            <a:avLst/>
          </a:prstGeom>
          <a:noFill/>
          <a:ln w="9525">
            <a:solidFill>
              <a:srgbClr val="C6D3E0"/>
            </a:solidFill>
            <a:prstDash val="solid"/>
          </a:ln>
        </p:spPr>
      </p:sp>
      <p:sp>
        <p:nvSpPr>
          <p:cNvPr id="12" name="!!br1"/>
          <p:cNvSpPr/>
          <p:nvPr/>
        </p:nvSpPr>
        <p:spPr>
          <a:xfrm>
            <a:off x="9198864" y="1517904"/>
            <a:ext cx="768096" cy="260604"/>
          </a:xfrm>
          <a:prstGeom prst="roundRect">
            <a:avLst>
              <a:gd name="adj" fmla="val 12632"/>
            </a:avLst>
          </a:prstGeom>
          <a:solidFill>
            <a:srgbClr val="3AB54A">
              <a:alpha val="35000"/>
            </a:srgbClr>
          </a:solidFill>
          <a:ln/>
        </p:spPr>
      </p:sp>
      <p:pic>
        <p:nvPicPr>
          <p:cNvPr id="13" name="!!bri1" descr="preencoded.png">    </p:cNvPr>
          <p:cNvPicPr>
            <a:picLocks noChangeAspect="1"/>
          </p:cNvPicPr>
          <p:nvPr/>
        </p:nvPicPr>
        <p:blipFill>
          <a:blip r:embed="rId2">
            <a:alphaModFix amt="40000"/>
          </a:blip>
          <a:stretch>
            <a:fillRect/>
          </a:stretch>
        </p:blipFill>
        <p:spPr>
          <a:xfrm>
            <a:off x="9240012" y="1559052"/>
            <a:ext cx="170078" cy="170078"/>
          </a:xfrm>
          <a:prstGeom prst="rect">
            <a:avLst/>
          </a:prstGeom>
        </p:spPr>
      </p:pic>
      <p:sp>
        <p:nvSpPr>
          <p:cNvPr id="14" name="!!brt1"/>
          <p:cNvSpPr txBox="1"/>
          <p:nvPr/>
        </p:nvSpPr>
        <p:spPr>
          <a:xfrm>
            <a:off x="9432036" y="1517904"/>
            <a:ext cx="526694" cy="2606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10" b="1" dirty="0">
                <a:solidFill>
                  <a:srgbClr val="FFFFFF">
                    <a:alpha val="5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MIDSTREAM</a:t>
            </a:r>
            <a:endParaRPr lang="en-US" sz="410" dirty="0"/>
          </a:p>
          <a:p>
            <a:pPr indent="0" marL="0">
              <a:buNone/>
            </a:pPr>
            <a:r>
              <a:rPr lang="en-US" sz="330" dirty="0">
                <a:solidFill>
                  <a:srgbClr val="FFFFFF">
                    <a:alpha val="5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Transport &amp; storage</a:t>
            </a:r>
            <a:endParaRPr lang="en-US" sz="410" dirty="0"/>
          </a:p>
        </p:txBody>
      </p:sp>
      <p:sp>
        <p:nvSpPr>
          <p:cNvPr id="15" name="!!lf1_0"/>
          <p:cNvSpPr/>
          <p:nvPr/>
        </p:nvSpPr>
        <p:spPr>
          <a:xfrm>
            <a:off x="9198864" y="1860804"/>
            <a:ext cx="768096" cy="159106"/>
          </a:xfrm>
          <a:prstGeom prst="roundRect">
            <a:avLst>
              <a:gd name="adj" fmla="val 50000"/>
            </a:avLst>
          </a:prstGeom>
          <a:solidFill>
            <a:srgbClr val="FFFFFF">
              <a:alpha val="60000"/>
            </a:srgbClr>
          </a:solidFill>
          <a:ln w="4763">
            <a:solidFill>
              <a:srgbClr val="3AB54A">
                <a:alpha val="40000"/>
              </a:srgbClr>
            </a:solidFill>
            <a:prstDash val="solid"/>
          </a:ln>
        </p:spPr>
      </p:sp>
      <p:sp>
        <p:nvSpPr>
          <p:cNvPr id="16" name="!!lft1_0"/>
          <p:cNvSpPr txBox="1"/>
          <p:nvPr/>
        </p:nvSpPr>
        <p:spPr>
          <a:xfrm>
            <a:off x="9253728" y="1860804"/>
            <a:ext cx="589788" cy="1591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" b="1" dirty="0">
                <a:solidFill>
                  <a:srgbClr val="9AA9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Pipelines &amp; pig receivers</a:t>
            </a:r>
            <a:endParaRPr lang="en-US" sz="380" dirty="0"/>
          </a:p>
        </p:txBody>
      </p:sp>
      <p:sp>
        <p:nvSpPr>
          <p:cNvPr id="17" name="!!mk1_0"/>
          <p:cNvSpPr/>
          <p:nvPr/>
        </p:nvSpPr>
        <p:spPr>
          <a:xfrm>
            <a:off x="9851746" y="1890979"/>
            <a:ext cx="98755" cy="98755"/>
          </a:xfrm>
          <a:prstGeom prst="ellipse">
            <a:avLst/>
          </a:prstGeom>
          <a:solidFill>
            <a:srgbClr val="3AB54A">
              <a:alpha val="40000"/>
            </a:srgbClr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8" name="!!mki1_0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76434" y="1915668"/>
            <a:ext cx="49378" cy="49378"/>
          </a:xfrm>
          <a:prstGeom prst="rect">
            <a:avLst/>
          </a:prstGeom>
        </p:spPr>
      </p:pic>
      <p:sp>
        <p:nvSpPr>
          <p:cNvPr id="19" name="!!lf1_1"/>
          <p:cNvSpPr/>
          <p:nvPr/>
        </p:nvSpPr>
        <p:spPr>
          <a:xfrm>
            <a:off x="9198864" y="2058314"/>
            <a:ext cx="768096" cy="159106"/>
          </a:xfrm>
          <a:prstGeom prst="roundRect">
            <a:avLst>
              <a:gd name="adj" fmla="val 50000"/>
            </a:avLst>
          </a:prstGeom>
          <a:solidFill>
            <a:srgbClr val="FFFFFF">
              <a:alpha val="60000"/>
            </a:srgbClr>
          </a:solidFill>
          <a:ln w="4763">
            <a:solidFill>
              <a:srgbClr val="3AB54A">
                <a:alpha val="40000"/>
              </a:srgbClr>
            </a:solidFill>
            <a:prstDash val="solid"/>
          </a:ln>
        </p:spPr>
      </p:sp>
      <p:sp>
        <p:nvSpPr>
          <p:cNvPr id="20" name="!!lft1_1"/>
          <p:cNvSpPr txBox="1"/>
          <p:nvPr/>
        </p:nvSpPr>
        <p:spPr>
          <a:xfrm>
            <a:off x="9253728" y="2058314"/>
            <a:ext cx="589788" cy="1591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" b="1" dirty="0">
                <a:solidFill>
                  <a:srgbClr val="9AA9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Crude terminals &amp; tank farms</a:t>
            </a:r>
            <a:endParaRPr lang="en-US" sz="380" dirty="0"/>
          </a:p>
        </p:txBody>
      </p:sp>
      <p:sp>
        <p:nvSpPr>
          <p:cNvPr id="21" name="!!mk1_1"/>
          <p:cNvSpPr/>
          <p:nvPr/>
        </p:nvSpPr>
        <p:spPr>
          <a:xfrm>
            <a:off x="9851746" y="2088490"/>
            <a:ext cx="98755" cy="98755"/>
          </a:xfrm>
          <a:prstGeom prst="ellipse">
            <a:avLst/>
          </a:prstGeom>
          <a:solidFill>
            <a:srgbClr val="3AB54A">
              <a:alpha val="40000"/>
            </a:srgbClr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22" name="!!mki1_1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76434" y="2113178"/>
            <a:ext cx="49378" cy="49378"/>
          </a:xfrm>
          <a:prstGeom prst="rect">
            <a:avLst/>
          </a:prstGeom>
        </p:spPr>
      </p:pic>
      <p:sp>
        <p:nvSpPr>
          <p:cNvPr id="23" name="!!lf1_2"/>
          <p:cNvSpPr/>
          <p:nvPr/>
        </p:nvSpPr>
        <p:spPr>
          <a:xfrm>
            <a:off x="9198864" y="2255825"/>
            <a:ext cx="768096" cy="159106"/>
          </a:xfrm>
          <a:prstGeom prst="roundRect">
            <a:avLst>
              <a:gd name="adj" fmla="val 50000"/>
            </a:avLst>
          </a:prstGeom>
          <a:solidFill>
            <a:srgbClr val="FFFFFF">
              <a:alpha val="60000"/>
            </a:srgbClr>
          </a:solidFill>
          <a:ln w="4763">
            <a:solidFill>
              <a:srgbClr val="3AB54A">
                <a:alpha val="40000"/>
              </a:srgbClr>
            </a:solidFill>
            <a:prstDash val="solid"/>
          </a:ln>
        </p:spPr>
      </p:sp>
      <p:sp>
        <p:nvSpPr>
          <p:cNvPr id="24" name="!!lft1_2"/>
          <p:cNvSpPr txBox="1"/>
          <p:nvPr/>
        </p:nvSpPr>
        <p:spPr>
          <a:xfrm>
            <a:off x="9253728" y="2255825"/>
            <a:ext cx="589788" cy="1591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" b="1" dirty="0">
                <a:solidFill>
                  <a:srgbClr val="9AA9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LPG / NGL plants &amp; spheres</a:t>
            </a:r>
            <a:endParaRPr lang="en-US" sz="380" dirty="0"/>
          </a:p>
        </p:txBody>
      </p:sp>
      <p:sp>
        <p:nvSpPr>
          <p:cNvPr id="25" name="!!mk1_2"/>
          <p:cNvSpPr/>
          <p:nvPr/>
        </p:nvSpPr>
        <p:spPr>
          <a:xfrm>
            <a:off x="9851746" y="2286000"/>
            <a:ext cx="98755" cy="98755"/>
          </a:xfrm>
          <a:prstGeom prst="ellipse">
            <a:avLst/>
          </a:prstGeom>
          <a:solidFill>
            <a:srgbClr val="3AB54A">
              <a:alpha val="40000"/>
            </a:srgbClr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26" name="!!mki1_2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876434" y="2310689"/>
            <a:ext cx="49378" cy="49378"/>
          </a:xfrm>
          <a:prstGeom prst="rect">
            <a:avLst/>
          </a:prstGeom>
        </p:spPr>
      </p:pic>
      <p:sp>
        <p:nvSpPr>
          <p:cNvPr id="27" name="!!spine2"/>
          <p:cNvSpPr/>
          <p:nvPr/>
        </p:nvSpPr>
        <p:spPr>
          <a:xfrm>
            <a:off x="10447020" y="1435608"/>
            <a:ext cx="0" cy="973836"/>
          </a:xfrm>
          <a:prstGeom prst="line">
            <a:avLst/>
          </a:prstGeom>
          <a:noFill/>
          <a:ln w="9525">
            <a:solidFill>
              <a:srgbClr val="C6D3E0"/>
            </a:solidFill>
            <a:prstDash val="solid"/>
          </a:ln>
        </p:spPr>
      </p:sp>
      <p:sp>
        <p:nvSpPr>
          <p:cNvPr id="28" name="!!br2"/>
          <p:cNvSpPr/>
          <p:nvPr/>
        </p:nvSpPr>
        <p:spPr>
          <a:xfrm>
            <a:off x="10062972" y="1517904"/>
            <a:ext cx="768096" cy="260604"/>
          </a:xfrm>
          <a:prstGeom prst="roundRect">
            <a:avLst>
              <a:gd name="adj" fmla="val 12632"/>
            </a:avLst>
          </a:prstGeom>
          <a:solidFill>
            <a:srgbClr val="0C74BC">
              <a:alpha val="35000"/>
            </a:srgbClr>
          </a:solidFill>
          <a:ln/>
        </p:spPr>
      </p:sp>
      <p:pic>
        <p:nvPicPr>
          <p:cNvPr id="29" name="!!bri2" descr="preencoded.png">    </p:cNvPr>
          <p:cNvPicPr>
            <a:picLocks noChangeAspect="1"/>
          </p:cNvPicPr>
          <p:nvPr/>
        </p:nvPicPr>
        <p:blipFill>
          <a:blip r:embed="rId6">
            <a:alphaModFix amt="40000"/>
          </a:blip>
          <a:stretch>
            <a:fillRect/>
          </a:stretch>
        </p:blipFill>
        <p:spPr>
          <a:xfrm>
            <a:off x="10104120" y="1559052"/>
            <a:ext cx="170078" cy="170078"/>
          </a:xfrm>
          <a:prstGeom prst="rect">
            <a:avLst/>
          </a:prstGeom>
        </p:spPr>
      </p:pic>
      <p:sp>
        <p:nvSpPr>
          <p:cNvPr id="30" name="!!brt2"/>
          <p:cNvSpPr txBox="1"/>
          <p:nvPr/>
        </p:nvSpPr>
        <p:spPr>
          <a:xfrm>
            <a:off x="10296144" y="1517904"/>
            <a:ext cx="526694" cy="2606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10" b="1" dirty="0">
                <a:solidFill>
                  <a:srgbClr val="FFFFFF">
                    <a:alpha val="5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DOWNSTREAM</a:t>
            </a:r>
            <a:endParaRPr lang="en-US" sz="410" dirty="0"/>
          </a:p>
          <a:p>
            <a:pPr indent="0" marL="0">
              <a:buNone/>
            </a:pPr>
            <a:r>
              <a:rPr lang="en-US" sz="330" dirty="0">
                <a:solidFill>
                  <a:srgbClr val="FFFFFF">
                    <a:alpha val="5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Refining</a:t>
            </a:r>
            <a:endParaRPr lang="en-US" sz="410" dirty="0"/>
          </a:p>
        </p:txBody>
      </p:sp>
      <p:sp>
        <p:nvSpPr>
          <p:cNvPr id="31" name="!!lf2_0"/>
          <p:cNvSpPr/>
          <p:nvPr/>
        </p:nvSpPr>
        <p:spPr>
          <a:xfrm>
            <a:off x="10062972" y="1860804"/>
            <a:ext cx="768096" cy="159106"/>
          </a:xfrm>
          <a:prstGeom prst="roundRect">
            <a:avLst>
              <a:gd name="adj" fmla="val 50000"/>
            </a:avLst>
          </a:prstGeom>
          <a:solidFill>
            <a:srgbClr val="FFFFFF">
              <a:alpha val="60000"/>
            </a:srgbClr>
          </a:solidFill>
          <a:ln w="4763">
            <a:solidFill>
              <a:srgbClr val="0C74BC">
                <a:alpha val="40000"/>
              </a:srgbClr>
            </a:solidFill>
            <a:prstDash val="solid"/>
          </a:ln>
        </p:spPr>
      </p:sp>
      <p:sp>
        <p:nvSpPr>
          <p:cNvPr id="32" name="!!lft2_0"/>
          <p:cNvSpPr txBox="1"/>
          <p:nvPr/>
        </p:nvSpPr>
        <p:spPr>
          <a:xfrm>
            <a:off x="10117836" y="1860804"/>
            <a:ext cx="589788" cy="1591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" b="1" dirty="0">
                <a:solidFill>
                  <a:srgbClr val="9AA9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Crude &amp; vacuum units</a:t>
            </a:r>
            <a:endParaRPr lang="en-US" sz="380" dirty="0"/>
          </a:p>
        </p:txBody>
      </p:sp>
      <p:sp>
        <p:nvSpPr>
          <p:cNvPr id="33" name="!!mk2_0"/>
          <p:cNvSpPr/>
          <p:nvPr/>
        </p:nvSpPr>
        <p:spPr>
          <a:xfrm>
            <a:off x="10715854" y="1890979"/>
            <a:ext cx="98755" cy="98755"/>
          </a:xfrm>
          <a:prstGeom prst="ellipse">
            <a:avLst/>
          </a:prstGeom>
          <a:solidFill>
            <a:srgbClr val="3AB54A">
              <a:alpha val="40000"/>
            </a:srgbClr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34" name="!!mki2_0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740542" y="1915668"/>
            <a:ext cx="49378" cy="49378"/>
          </a:xfrm>
          <a:prstGeom prst="rect">
            <a:avLst/>
          </a:prstGeom>
        </p:spPr>
      </p:pic>
      <p:sp>
        <p:nvSpPr>
          <p:cNvPr id="35" name="!!lf2_1"/>
          <p:cNvSpPr/>
          <p:nvPr/>
        </p:nvSpPr>
        <p:spPr>
          <a:xfrm>
            <a:off x="10062972" y="2058314"/>
            <a:ext cx="768096" cy="159106"/>
          </a:xfrm>
          <a:prstGeom prst="roundRect">
            <a:avLst>
              <a:gd name="adj" fmla="val 50000"/>
            </a:avLst>
          </a:prstGeom>
          <a:solidFill>
            <a:srgbClr val="FFFFFF">
              <a:alpha val="60000"/>
            </a:srgbClr>
          </a:solidFill>
          <a:ln w="4763">
            <a:solidFill>
              <a:srgbClr val="0C74BC">
                <a:alpha val="40000"/>
              </a:srgbClr>
            </a:solidFill>
            <a:prstDash val="solid"/>
          </a:ln>
        </p:spPr>
      </p:sp>
      <p:sp>
        <p:nvSpPr>
          <p:cNvPr id="36" name="!!lft2_1"/>
          <p:cNvSpPr txBox="1"/>
          <p:nvPr/>
        </p:nvSpPr>
        <p:spPr>
          <a:xfrm>
            <a:off x="10117836" y="2058314"/>
            <a:ext cx="589788" cy="1591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" b="1" dirty="0">
                <a:solidFill>
                  <a:srgbClr val="9AA9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Hydroprocessing &amp; conversion</a:t>
            </a:r>
            <a:endParaRPr lang="en-US" sz="380" dirty="0"/>
          </a:p>
        </p:txBody>
      </p:sp>
      <p:sp>
        <p:nvSpPr>
          <p:cNvPr id="37" name="!!mk2_1"/>
          <p:cNvSpPr/>
          <p:nvPr/>
        </p:nvSpPr>
        <p:spPr>
          <a:xfrm>
            <a:off x="10715854" y="2088490"/>
            <a:ext cx="98755" cy="98755"/>
          </a:xfrm>
          <a:prstGeom prst="ellipse">
            <a:avLst/>
          </a:prstGeom>
          <a:solidFill>
            <a:srgbClr val="3AB54A">
              <a:alpha val="40000"/>
            </a:srgbClr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38" name="!!mki2_1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740542" y="2113178"/>
            <a:ext cx="49378" cy="49378"/>
          </a:xfrm>
          <a:prstGeom prst="rect">
            <a:avLst/>
          </a:prstGeom>
        </p:spPr>
      </p:pic>
      <p:sp>
        <p:nvSpPr>
          <p:cNvPr id="39" name="!!lf2_2"/>
          <p:cNvSpPr/>
          <p:nvPr/>
        </p:nvSpPr>
        <p:spPr>
          <a:xfrm>
            <a:off x="10062972" y="2255825"/>
            <a:ext cx="768096" cy="159106"/>
          </a:xfrm>
          <a:prstGeom prst="roundRect">
            <a:avLst>
              <a:gd name="adj" fmla="val 50000"/>
            </a:avLst>
          </a:prstGeom>
          <a:solidFill>
            <a:srgbClr val="FFFFFF">
              <a:alpha val="60000"/>
            </a:srgbClr>
          </a:solidFill>
          <a:ln w="4763">
            <a:solidFill>
              <a:srgbClr val="0C74BC">
                <a:alpha val="40000"/>
              </a:srgbClr>
            </a:solidFill>
            <a:prstDash val="solid"/>
          </a:ln>
        </p:spPr>
      </p:sp>
      <p:sp>
        <p:nvSpPr>
          <p:cNvPr id="40" name="!!lft2_2"/>
          <p:cNvSpPr txBox="1"/>
          <p:nvPr/>
        </p:nvSpPr>
        <p:spPr>
          <a:xfrm>
            <a:off x="10117836" y="2255825"/>
            <a:ext cx="589788" cy="1591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" b="1" dirty="0">
                <a:solidFill>
                  <a:srgbClr val="9AA9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 water, amine &amp; sulphur</a:t>
            </a:r>
            <a:endParaRPr lang="en-US" sz="380" dirty="0"/>
          </a:p>
        </p:txBody>
      </p:sp>
      <p:sp>
        <p:nvSpPr>
          <p:cNvPr id="41" name="!!mk2_2"/>
          <p:cNvSpPr/>
          <p:nvPr/>
        </p:nvSpPr>
        <p:spPr>
          <a:xfrm>
            <a:off x="10715854" y="2286000"/>
            <a:ext cx="98755" cy="98755"/>
          </a:xfrm>
          <a:prstGeom prst="ellipse">
            <a:avLst/>
          </a:prstGeom>
          <a:solidFill>
            <a:srgbClr val="3AB54A">
              <a:alpha val="40000"/>
            </a:srgbClr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42" name="!!mki2_2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740542" y="2310689"/>
            <a:ext cx="49378" cy="49378"/>
          </a:xfrm>
          <a:prstGeom prst="rect">
            <a:avLst/>
          </a:prstGeom>
        </p:spPr>
      </p:pic>
      <p:sp>
        <p:nvSpPr>
          <p:cNvPr id="43" name="!!spine3"/>
          <p:cNvSpPr/>
          <p:nvPr/>
        </p:nvSpPr>
        <p:spPr>
          <a:xfrm>
            <a:off x="11311128" y="1435608"/>
            <a:ext cx="0" cy="973836"/>
          </a:xfrm>
          <a:prstGeom prst="line">
            <a:avLst/>
          </a:prstGeom>
          <a:noFill/>
          <a:ln w="9525">
            <a:solidFill>
              <a:srgbClr val="C6D3E0"/>
            </a:solidFill>
            <a:prstDash val="solid"/>
          </a:ln>
        </p:spPr>
      </p:sp>
      <p:sp>
        <p:nvSpPr>
          <p:cNvPr id="44" name="!!br3"/>
          <p:cNvSpPr/>
          <p:nvPr/>
        </p:nvSpPr>
        <p:spPr>
          <a:xfrm>
            <a:off x="10927080" y="1517904"/>
            <a:ext cx="768096" cy="260604"/>
          </a:xfrm>
          <a:prstGeom prst="roundRect">
            <a:avLst>
              <a:gd name="adj" fmla="val 12632"/>
            </a:avLst>
          </a:prstGeom>
          <a:solidFill>
            <a:srgbClr val="3AB54A">
              <a:alpha val="35000"/>
            </a:srgbClr>
          </a:solidFill>
          <a:ln/>
        </p:spPr>
      </p:sp>
      <p:pic>
        <p:nvPicPr>
          <p:cNvPr id="45" name="!!bri3" descr="preencoded.png">    </p:cNvPr>
          <p:cNvPicPr>
            <a:picLocks noChangeAspect="1"/>
          </p:cNvPicPr>
          <p:nvPr/>
        </p:nvPicPr>
        <p:blipFill>
          <a:blip r:embed="rId10">
            <a:alphaModFix amt="40000"/>
          </a:blip>
          <a:stretch>
            <a:fillRect/>
          </a:stretch>
        </p:blipFill>
        <p:spPr>
          <a:xfrm>
            <a:off x="10968228" y="1559052"/>
            <a:ext cx="170078" cy="170078"/>
          </a:xfrm>
          <a:prstGeom prst="rect">
            <a:avLst/>
          </a:prstGeom>
        </p:spPr>
      </p:pic>
      <p:sp>
        <p:nvSpPr>
          <p:cNvPr id="46" name="!!brt3"/>
          <p:cNvSpPr txBox="1"/>
          <p:nvPr/>
        </p:nvSpPr>
        <p:spPr>
          <a:xfrm>
            <a:off x="11160252" y="1517904"/>
            <a:ext cx="526694" cy="2606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10" b="1" dirty="0">
                <a:solidFill>
                  <a:srgbClr val="FFFFFF">
                    <a:alpha val="5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PETROCHEMICALS</a:t>
            </a:r>
            <a:endParaRPr lang="en-US" sz="410" dirty="0"/>
          </a:p>
          <a:p>
            <a:pPr indent="0" marL="0">
              <a:buNone/>
            </a:pPr>
            <a:r>
              <a:rPr lang="en-US" sz="330" dirty="0">
                <a:solidFill>
                  <a:srgbClr val="FFFFFF">
                    <a:alpha val="5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Chemicals &amp; polymers</a:t>
            </a:r>
            <a:endParaRPr lang="en-US" sz="410" dirty="0"/>
          </a:p>
        </p:txBody>
      </p:sp>
      <p:sp>
        <p:nvSpPr>
          <p:cNvPr id="47" name="!!lf3_0"/>
          <p:cNvSpPr/>
          <p:nvPr/>
        </p:nvSpPr>
        <p:spPr>
          <a:xfrm>
            <a:off x="10927080" y="1860804"/>
            <a:ext cx="768096" cy="159106"/>
          </a:xfrm>
          <a:prstGeom prst="roundRect">
            <a:avLst>
              <a:gd name="adj" fmla="val 50000"/>
            </a:avLst>
          </a:prstGeom>
          <a:solidFill>
            <a:srgbClr val="FFFFFF">
              <a:alpha val="60000"/>
            </a:srgbClr>
          </a:solidFill>
          <a:ln w="4763">
            <a:solidFill>
              <a:srgbClr val="3AB54A">
                <a:alpha val="40000"/>
              </a:srgbClr>
            </a:solidFill>
            <a:prstDash val="solid"/>
          </a:ln>
        </p:spPr>
      </p:sp>
      <p:sp>
        <p:nvSpPr>
          <p:cNvPr id="48" name="!!lft3_0"/>
          <p:cNvSpPr txBox="1"/>
          <p:nvPr/>
        </p:nvSpPr>
        <p:spPr>
          <a:xfrm>
            <a:off x="10981944" y="1860804"/>
            <a:ext cx="589788" cy="1591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" b="1" dirty="0">
                <a:solidFill>
                  <a:srgbClr val="9AA9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Aromatics (BTX)</a:t>
            </a:r>
            <a:endParaRPr lang="en-US" sz="380" dirty="0"/>
          </a:p>
        </p:txBody>
      </p:sp>
      <p:sp>
        <p:nvSpPr>
          <p:cNvPr id="49" name="!!mk3_0"/>
          <p:cNvSpPr/>
          <p:nvPr/>
        </p:nvSpPr>
        <p:spPr>
          <a:xfrm>
            <a:off x="11579962" y="1890979"/>
            <a:ext cx="98755" cy="98755"/>
          </a:xfrm>
          <a:prstGeom prst="ellipse">
            <a:avLst/>
          </a:prstGeom>
          <a:solidFill>
            <a:srgbClr val="3AB54A">
              <a:alpha val="40000"/>
            </a:srgbClr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50" name="!!mki3_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1604650" y="1915668"/>
            <a:ext cx="49378" cy="49378"/>
          </a:xfrm>
          <a:prstGeom prst="rect">
            <a:avLst/>
          </a:prstGeom>
        </p:spPr>
      </p:pic>
      <p:sp>
        <p:nvSpPr>
          <p:cNvPr id="51" name="!!lf3_1"/>
          <p:cNvSpPr/>
          <p:nvPr/>
        </p:nvSpPr>
        <p:spPr>
          <a:xfrm>
            <a:off x="10927080" y="2058314"/>
            <a:ext cx="768096" cy="159106"/>
          </a:xfrm>
          <a:prstGeom prst="roundRect">
            <a:avLst>
              <a:gd name="adj" fmla="val 50000"/>
            </a:avLst>
          </a:prstGeom>
          <a:solidFill>
            <a:srgbClr val="FFFFFF">
              <a:alpha val="60000"/>
            </a:srgbClr>
          </a:solidFill>
          <a:ln w="4763">
            <a:solidFill>
              <a:srgbClr val="3AB54A">
                <a:alpha val="40000"/>
              </a:srgbClr>
            </a:solidFill>
            <a:prstDash val="solid"/>
          </a:ln>
        </p:spPr>
      </p:sp>
      <p:sp>
        <p:nvSpPr>
          <p:cNvPr id="52" name="!!lft3_1"/>
          <p:cNvSpPr txBox="1"/>
          <p:nvPr/>
        </p:nvSpPr>
        <p:spPr>
          <a:xfrm>
            <a:off x="10981944" y="2058314"/>
            <a:ext cx="589788" cy="1591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" b="1" dirty="0">
                <a:solidFill>
                  <a:srgbClr val="9AA9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Olefins &amp; polymers</a:t>
            </a:r>
            <a:endParaRPr lang="en-US" sz="380" dirty="0"/>
          </a:p>
        </p:txBody>
      </p:sp>
      <p:sp>
        <p:nvSpPr>
          <p:cNvPr id="53" name="!!mk3_1"/>
          <p:cNvSpPr/>
          <p:nvPr/>
        </p:nvSpPr>
        <p:spPr>
          <a:xfrm>
            <a:off x="11579962" y="2088490"/>
            <a:ext cx="98755" cy="98755"/>
          </a:xfrm>
          <a:prstGeom prst="ellipse">
            <a:avLst/>
          </a:prstGeom>
          <a:solidFill>
            <a:srgbClr val="3AB54A">
              <a:alpha val="40000"/>
            </a:srgbClr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54" name="!!mki3_1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1604650" y="2113178"/>
            <a:ext cx="49378" cy="49378"/>
          </a:xfrm>
          <a:prstGeom prst="rect">
            <a:avLst/>
          </a:prstGeom>
        </p:spPr>
      </p:pic>
      <p:sp>
        <p:nvSpPr>
          <p:cNvPr id="55" name="!!lf3_2"/>
          <p:cNvSpPr/>
          <p:nvPr/>
        </p:nvSpPr>
        <p:spPr>
          <a:xfrm>
            <a:off x="10927080" y="2255825"/>
            <a:ext cx="768096" cy="159106"/>
          </a:xfrm>
          <a:prstGeom prst="roundRect">
            <a:avLst>
              <a:gd name="adj" fmla="val 50000"/>
            </a:avLst>
          </a:prstGeom>
          <a:solidFill>
            <a:srgbClr val="FFFFFF">
              <a:alpha val="60000"/>
            </a:srgbClr>
          </a:solidFill>
          <a:ln w="4763">
            <a:solidFill>
              <a:srgbClr val="3AB54A">
                <a:alpha val="40000"/>
              </a:srgbClr>
            </a:solidFill>
            <a:prstDash val="solid"/>
          </a:ln>
        </p:spPr>
      </p:sp>
      <p:sp>
        <p:nvSpPr>
          <p:cNvPr id="56" name="!!lft3_2"/>
          <p:cNvSpPr txBox="1"/>
          <p:nvPr/>
        </p:nvSpPr>
        <p:spPr>
          <a:xfrm>
            <a:off x="10981944" y="2255825"/>
            <a:ext cx="589788" cy="1591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" b="1" dirty="0">
                <a:solidFill>
                  <a:srgbClr val="9AA9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Methanol &amp; fertilisers</a:t>
            </a:r>
            <a:endParaRPr lang="en-US" sz="380" dirty="0"/>
          </a:p>
        </p:txBody>
      </p:sp>
      <p:sp>
        <p:nvSpPr>
          <p:cNvPr id="57" name="!!mk3_2"/>
          <p:cNvSpPr/>
          <p:nvPr/>
        </p:nvSpPr>
        <p:spPr>
          <a:xfrm>
            <a:off x="11579962" y="2286000"/>
            <a:ext cx="98755" cy="98755"/>
          </a:xfrm>
          <a:prstGeom prst="ellipse">
            <a:avLst/>
          </a:prstGeom>
          <a:solidFill>
            <a:srgbClr val="3AB54A">
              <a:alpha val="40000"/>
            </a:srgbClr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58" name="!!mki3_2" descr="preencode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1604650" y="2310689"/>
            <a:ext cx="49378" cy="49378"/>
          </a:xfrm>
          <a:prstGeom prst="rect">
            <a:avLst/>
          </a:prstGeom>
        </p:spPr>
      </p:pic>
      <p:sp>
        <p:nvSpPr>
          <p:cNvPr id="59" name="!!lf0_0"/>
          <p:cNvSpPr/>
          <p:nvPr/>
        </p:nvSpPr>
        <p:spPr>
          <a:xfrm>
            <a:off x="548640" y="1463040"/>
            <a:ext cx="3291840" cy="7315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0C74BC"/>
            </a:solidFill>
            <a:prstDash val="solid"/>
          </a:ln>
        </p:spPr>
      </p:sp>
      <p:sp>
        <p:nvSpPr>
          <p:cNvPr id="60" name="!!lft0_0"/>
          <p:cNvSpPr txBox="1"/>
          <p:nvPr/>
        </p:nvSpPr>
        <p:spPr>
          <a:xfrm>
            <a:off x="777240" y="1463040"/>
            <a:ext cx="2514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Oil production stations</a:t>
            </a:r>
            <a:endParaRPr lang="en-US" sz="1600" dirty="0"/>
          </a:p>
        </p:txBody>
      </p:sp>
      <p:sp>
        <p:nvSpPr>
          <p:cNvPr id="61" name="!!mk0_0"/>
          <p:cNvSpPr/>
          <p:nvPr/>
        </p:nvSpPr>
        <p:spPr>
          <a:xfrm>
            <a:off x="3337560" y="1618488"/>
            <a:ext cx="420624" cy="420624"/>
          </a:xfrm>
          <a:prstGeom prst="ellipse">
            <a:avLst/>
          </a:prstGeom>
          <a:solidFill>
            <a:srgbClr val="3AB54A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62" name="!!mki0_0" descr="preencoded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3447288" y="1728216"/>
            <a:ext cx="201168" cy="201168"/>
          </a:xfrm>
          <a:prstGeom prst="rect">
            <a:avLst/>
          </a:prstGeom>
        </p:spPr>
      </p:pic>
      <p:sp>
        <p:nvSpPr>
          <p:cNvPr id="63" name="t31"/>
          <p:cNvSpPr txBox="1"/>
          <p:nvPr/>
        </p:nvSpPr>
        <p:spPr>
          <a:xfrm>
            <a:off x="4114800" y="1188720"/>
            <a:ext cx="3840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1F5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Where: </a:t>
            </a:r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Separators, heater-treaters, desalters</a:t>
            </a:r>
            <a:endParaRPr lang="en-US" sz="1400" dirty="0"/>
          </a:p>
        </p:txBody>
      </p:sp>
      <p:sp>
        <p:nvSpPr>
          <p:cNvPr id="64" name="s32"/>
          <p:cNvSpPr/>
          <p:nvPr/>
        </p:nvSpPr>
        <p:spPr>
          <a:xfrm>
            <a:off x="4114800" y="1920240"/>
            <a:ext cx="553212" cy="329184"/>
          </a:xfrm>
          <a:prstGeom prst="roundRect">
            <a:avLst>
              <a:gd name="adj" fmla="val 50000"/>
            </a:avLst>
          </a:prstGeom>
          <a:solidFill>
            <a:srgbClr val="C0392B"/>
          </a:solidFill>
          <a:ln/>
        </p:spPr>
      </p:sp>
      <p:sp>
        <p:nvSpPr>
          <p:cNvPr id="65" name="t33"/>
          <p:cNvSpPr txBox="1"/>
          <p:nvPr/>
        </p:nvSpPr>
        <p:spPr>
          <a:xfrm>
            <a:off x="4114800" y="1920240"/>
            <a:ext cx="5532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H₂S</a:t>
            </a:r>
            <a:endParaRPr lang="en-US" sz="1200" dirty="0"/>
          </a:p>
        </p:txBody>
      </p:sp>
      <p:sp>
        <p:nvSpPr>
          <p:cNvPr id="66" name="s34"/>
          <p:cNvSpPr/>
          <p:nvPr/>
        </p:nvSpPr>
        <p:spPr>
          <a:xfrm>
            <a:off x="4777740" y="1920240"/>
            <a:ext cx="553212" cy="329184"/>
          </a:xfrm>
          <a:prstGeom prst="roundRect">
            <a:avLst>
              <a:gd name="adj" fmla="val 50000"/>
            </a:avLst>
          </a:prstGeom>
          <a:solidFill>
            <a:srgbClr val="D4A017"/>
          </a:solidFill>
          <a:ln/>
        </p:spPr>
      </p:sp>
      <p:sp>
        <p:nvSpPr>
          <p:cNvPr id="67" name="t35"/>
          <p:cNvSpPr txBox="1"/>
          <p:nvPr/>
        </p:nvSpPr>
        <p:spPr>
          <a:xfrm>
            <a:off x="4777740" y="1920240"/>
            <a:ext cx="5532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LEL</a:t>
            </a:r>
            <a:endParaRPr lang="en-US" sz="1200" dirty="0"/>
          </a:p>
        </p:txBody>
      </p:sp>
      <p:sp>
        <p:nvSpPr>
          <p:cNvPr id="68" name="s36"/>
          <p:cNvSpPr/>
          <p:nvPr/>
        </p:nvSpPr>
        <p:spPr>
          <a:xfrm>
            <a:off x="5440680" y="1920240"/>
            <a:ext cx="786384" cy="329184"/>
          </a:xfrm>
          <a:prstGeom prst="roundRect">
            <a:avLst>
              <a:gd name="adj" fmla="val 50000"/>
            </a:avLst>
          </a:prstGeom>
          <a:solidFill>
            <a:srgbClr val="7A5C3E"/>
          </a:solidFill>
          <a:ln/>
        </p:spPr>
      </p:sp>
      <p:sp>
        <p:nvSpPr>
          <p:cNvPr id="69" name="t37"/>
          <p:cNvSpPr txBox="1"/>
          <p:nvPr/>
        </p:nvSpPr>
        <p:spPr>
          <a:xfrm>
            <a:off x="5440680" y="1920240"/>
            <a:ext cx="7863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Sludge</a:t>
            </a:r>
            <a:endParaRPr lang="en-US" sz="1200" dirty="0"/>
          </a:p>
        </p:txBody>
      </p:sp>
      <p:sp>
        <p:nvSpPr>
          <p:cNvPr id="70" name="s38"/>
          <p:cNvSpPr/>
          <p:nvPr/>
        </p:nvSpPr>
        <p:spPr>
          <a:xfrm>
            <a:off x="6336792" y="1920240"/>
            <a:ext cx="553212" cy="329184"/>
          </a:xfrm>
          <a:prstGeom prst="roundRect">
            <a:avLst>
              <a:gd name="adj" fmla="val 50000"/>
            </a:avLst>
          </a:prstGeom>
          <a:solidFill>
            <a:srgbClr val="6B7280"/>
          </a:solidFill>
          <a:ln/>
        </p:spPr>
      </p:sp>
      <p:sp>
        <p:nvSpPr>
          <p:cNvPr id="71" name="t39"/>
          <p:cNvSpPr txBox="1"/>
          <p:nvPr/>
        </p:nvSpPr>
        <p:spPr>
          <a:xfrm>
            <a:off x="6336792" y="1920240"/>
            <a:ext cx="5532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FeS</a:t>
            </a:r>
            <a:endParaRPr lang="en-US" sz="1200" dirty="0"/>
          </a:p>
        </p:txBody>
      </p:sp>
      <p:sp>
        <p:nvSpPr>
          <p:cNvPr id="72" name="!!lf0_1"/>
          <p:cNvSpPr/>
          <p:nvPr/>
        </p:nvSpPr>
        <p:spPr>
          <a:xfrm>
            <a:off x="548640" y="2880360"/>
            <a:ext cx="3291840" cy="7315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0C74BC"/>
            </a:solidFill>
            <a:prstDash val="solid"/>
          </a:ln>
        </p:spPr>
      </p:sp>
      <p:sp>
        <p:nvSpPr>
          <p:cNvPr id="73" name="!!lft0_1"/>
          <p:cNvSpPr txBox="1"/>
          <p:nvPr/>
        </p:nvSpPr>
        <p:spPr>
          <a:xfrm>
            <a:off x="777240" y="2880360"/>
            <a:ext cx="2514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 processing plants</a:t>
            </a:r>
            <a:endParaRPr lang="en-US" sz="1600" dirty="0"/>
          </a:p>
        </p:txBody>
      </p:sp>
      <p:sp>
        <p:nvSpPr>
          <p:cNvPr id="74" name="!!mk0_1"/>
          <p:cNvSpPr/>
          <p:nvPr/>
        </p:nvSpPr>
        <p:spPr>
          <a:xfrm>
            <a:off x="3337560" y="3035808"/>
            <a:ext cx="420624" cy="420624"/>
          </a:xfrm>
          <a:prstGeom prst="ellipse">
            <a:avLst/>
          </a:prstGeom>
          <a:solidFill>
            <a:srgbClr val="3AB54A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75" name="!!mki0_1" descr="preencoded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3447288" y="3145536"/>
            <a:ext cx="201168" cy="201168"/>
          </a:xfrm>
          <a:prstGeom prst="rect">
            <a:avLst/>
          </a:prstGeom>
        </p:spPr>
      </p:pic>
      <p:sp>
        <p:nvSpPr>
          <p:cNvPr id="76" name="t40"/>
          <p:cNvSpPr txBox="1"/>
          <p:nvPr/>
        </p:nvSpPr>
        <p:spPr>
          <a:xfrm>
            <a:off x="4114800" y="2606040"/>
            <a:ext cx="3840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1F5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Where: </a:t>
            </a:r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Slug catchers, amine, glycol, condensate stabilisers</a:t>
            </a:r>
            <a:endParaRPr lang="en-US" sz="1400" dirty="0"/>
          </a:p>
        </p:txBody>
      </p:sp>
      <p:sp>
        <p:nvSpPr>
          <p:cNvPr id="77" name="s41"/>
          <p:cNvSpPr/>
          <p:nvPr/>
        </p:nvSpPr>
        <p:spPr>
          <a:xfrm>
            <a:off x="4114800" y="3337560"/>
            <a:ext cx="553212" cy="329184"/>
          </a:xfrm>
          <a:prstGeom prst="roundRect">
            <a:avLst>
              <a:gd name="adj" fmla="val 50000"/>
            </a:avLst>
          </a:prstGeom>
          <a:solidFill>
            <a:srgbClr val="C0392B"/>
          </a:solidFill>
          <a:ln/>
        </p:spPr>
      </p:sp>
      <p:sp>
        <p:nvSpPr>
          <p:cNvPr id="78" name="t42"/>
          <p:cNvSpPr txBox="1"/>
          <p:nvPr/>
        </p:nvSpPr>
        <p:spPr>
          <a:xfrm>
            <a:off x="4114800" y="3337560"/>
            <a:ext cx="5532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H₂S</a:t>
            </a:r>
            <a:endParaRPr lang="en-US" sz="1200" dirty="0"/>
          </a:p>
        </p:txBody>
      </p:sp>
      <p:sp>
        <p:nvSpPr>
          <p:cNvPr id="79" name="s43"/>
          <p:cNvSpPr/>
          <p:nvPr/>
        </p:nvSpPr>
        <p:spPr>
          <a:xfrm>
            <a:off x="4777740" y="3337560"/>
            <a:ext cx="1097280" cy="329184"/>
          </a:xfrm>
          <a:prstGeom prst="roundRect">
            <a:avLst>
              <a:gd name="adj" fmla="val 50000"/>
            </a:avLst>
          </a:prstGeom>
          <a:solidFill>
            <a:srgbClr val="8E9AAF"/>
          </a:solidFill>
          <a:ln/>
        </p:spPr>
      </p:sp>
      <p:sp>
        <p:nvSpPr>
          <p:cNvPr id="80" name="t44"/>
          <p:cNvSpPr txBox="1"/>
          <p:nvPr/>
        </p:nvSpPr>
        <p:spPr>
          <a:xfrm>
            <a:off x="4777740" y="3337560"/>
            <a:ext cx="1097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Mercaptans</a:t>
            </a:r>
            <a:endParaRPr lang="en-US" sz="1200" dirty="0"/>
          </a:p>
        </p:txBody>
      </p:sp>
      <p:sp>
        <p:nvSpPr>
          <p:cNvPr id="81" name="s45"/>
          <p:cNvSpPr/>
          <p:nvPr/>
        </p:nvSpPr>
        <p:spPr>
          <a:xfrm>
            <a:off x="5984748" y="3337560"/>
            <a:ext cx="553212" cy="329184"/>
          </a:xfrm>
          <a:prstGeom prst="roundRect">
            <a:avLst>
              <a:gd name="adj" fmla="val 50000"/>
            </a:avLst>
          </a:prstGeom>
          <a:solidFill>
            <a:srgbClr val="6B7280"/>
          </a:solidFill>
          <a:ln/>
        </p:spPr>
      </p:sp>
      <p:sp>
        <p:nvSpPr>
          <p:cNvPr id="82" name="t46"/>
          <p:cNvSpPr txBox="1"/>
          <p:nvPr/>
        </p:nvSpPr>
        <p:spPr>
          <a:xfrm>
            <a:off x="5984748" y="3337560"/>
            <a:ext cx="5532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FeS</a:t>
            </a:r>
            <a:endParaRPr lang="en-US" sz="1200" dirty="0"/>
          </a:p>
        </p:txBody>
      </p:sp>
      <p:sp>
        <p:nvSpPr>
          <p:cNvPr id="83" name="s47"/>
          <p:cNvSpPr/>
          <p:nvPr/>
        </p:nvSpPr>
        <p:spPr>
          <a:xfrm>
            <a:off x="6647688" y="3337560"/>
            <a:ext cx="864108" cy="329184"/>
          </a:xfrm>
          <a:prstGeom prst="roundRect">
            <a:avLst>
              <a:gd name="adj" fmla="val 50000"/>
            </a:avLst>
          </a:prstGeom>
          <a:solidFill>
            <a:srgbClr val="E67E22"/>
          </a:solidFill>
          <a:ln/>
        </p:spPr>
      </p:sp>
      <p:sp>
        <p:nvSpPr>
          <p:cNvPr id="84" name="t48"/>
          <p:cNvSpPr txBox="1"/>
          <p:nvPr/>
        </p:nvSpPr>
        <p:spPr>
          <a:xfrm>
            <a:off x="6647688" y="3337560"/>
            <a:ext cx="8641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Benzene</a:t>
            </a:r>
            <a:endParaRPr lang="en-US" sz="1200" dirty="0"/>
          </a:p>
        </p:txBody>
      </p:sp>
      <p:sp>
        <p:nvSpPr>
          <p:cNvPr id="85" name="!!lf0_2"/>
          <p:cNvSpPr/>
          <p:nvPr/>
        </p:nvSpPr>
        <p:spPr>
          <a:xfrm>
            <a:off x="548640" y="4297680"/>
            <a:ext cx="3291840" cy="7315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0C74BC"/>
            </a:solidFill>
            <a:prstDash val="solid"/>
          </a:ln>
        </p:spPr>
      </p:sp>
      <p:sp>
        <p:nvSpPr>
          <p:cNvPr id="86" name="!!lft0_2"/>
          <p:cNvSpPr txBox="1"/>
          <p:nvPr/>
        </p:nvSpPr>
        <p:spPr>
          <a:xfrm>
            <a:off x="777240" y="4297680"/>
            <a:ext cx="2514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Produced water &amp; tank farms</a:t>
            </a:r>
            <a:endParaRPr lang="en-US" sz="1600" dirty="0"/>
          </a:p>
        </p:txBody>
      </p:sp>
      <p:sp>
        <p:nvSpPr>
          <p:cNvPr id="87" name="!!mk0_2"/>
          <p:cNvSpPr/>
          <p:nvPr/>
        </p:nvSpPr>
        <p:spPr>
          <a:xfrm>
            <a:off x="3337560" y="4453128"/>
            <a:ext cx="420624" cy="420624"/>
          </a:xfrm>
          <a:prstGeom prst="ellipse">
            <a:avLst/>
          </a:prstGeom>
          <a:solidFill>
            <a:srgbClr val="3AB54A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88" name="!!mki0_2" descr="preencoded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3447288" y="4562856"/>
            <a:ext cx="201168" cy="201168"/>
          </a:xfrm>
          <a:prstGeom prst="rect">
            <a:avLst/>
          </a:prstGeom>
        </p:spPr>
      </p:pic>
      <p:sp>
        <p:nvSpPr>
          <p:cNvPr id="89" name="t49"/>
          <p:cNvSpPr txBox="1"/>
          <p:nvPr/>
        </p:nvSpPr>
        <p:spPr>
          <a:xfrm>
            <a:off x="4114800" y="4023360"/>
            <a:ext cx="3840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1F5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Where: </a:t>
            </a:r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Produced-water and condensate tanks</a:t>
            </a:r>
            <a:endParaRPr lang="en-US" sz="1400" dirty="0"/>
          </a:p>
        </p:txBody>
      </p:sp>
      <p:sp>
        <p:nvSpPr>
          <p:cNvPr id="90" name="s50"/>
          <p:cNvSpPr/>
          <p:nvPr/>
        </p:nvSpPr>
        <p:spPr>
          <a:xfrm>
            <a:off x="4114800" y="4754880"/>
            <a:ext cx="786384" cy="329184"/>
          </a:xfrm>
          <a:prstGeom prst="roundRect">
            <a:avLst>
              <a:gd name="adj" fmla="val 50000"/>
            </a:avLst>
          </a:prstGeom>
          <a:solidFill>
            <a:srgbClr val="7A5C3E"/>
          </a:solidFill>
          <a:ln/>
        </p:spPr>
      </p:sp>
      <p:sp>
        <p:nvSpPr>
          <p:cNvPr id="91" name="t51"/>
          <p:cNvSpPr txBox="1"/>
          <p:nvPr/>
        </p:nvSpPr>
        <p:spPr>
          <a:xfrm>
            <a:off x="4114800" y="4754880"/>
            <a:ext cx="7863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Sludge</a:t>
            </a:r>
            <a:endParaRPr lang="en-US" sz="1200" dirty="0"/>
          </a:p>
        </p:txBody>
      </p:sp>
      <p:sp>
        <p:nvSpPr>
          <p:cNvPr id="92" name="s52"/>
          <p:cNvSpPr/>
          <p:nvPr/>
        </p:nvSpPr>
        <p:spPr>
          <a:xfrm>
            <a:off x="5010912" y="4754880"/>
            <a:ext cx="553212" cy="329184"/>
          </a:xfrm>
          <a:prstGeom prst="roundRect">
            <a:avLst>
              <a:gd name="adj" fmla="val 50000"/>
            </a:avLst>
          </a:prstGeom>
          <a:solidFill>
            <a:srgbClr val="C0392B"/>
          </a:solidFill>
          <a:ln/>
        </p:spPr>
      </p:sp>
      <p:sp>
        <p:nvSpPr>
          <p:cNvPr id="93" name="t53"/>
          <p:cNvSpPr txBox="1"/>
          <p:nvPr/>
        </p:nvSpPr>
        <p:spPr>
          <a:xfrm>
            <a:off x="5010912" y="4754880"/>
            <a:ext cx="5532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H₂S</a:t>
            </a:r>
            <a:endParaRPr lang="en-US" sz="1200" dirty="0"/>
          </a:p>
        </p:txBody>
      </p:sp>
      <p:sp>
        <p:nvSpPr>
          <p:cNvPr id="94" name="s54"/>
          <p:cNvSpPr/>
          <p:nvPr/>
        </p:nvSpPr>
        <p:spPr>
          <a:xfrm>
            <a:off x="5673852" y="4754880"/>
            <a:ext cx="553212" cy="329184"/>
          </a:xfrm>
          <a:prstGeom prst="roundRect">
            <a:avLst>
              <a:gd name="adj" fmla="val 50000"/>
            </a:avLst>
          </a:prstGeom>
          <a:solidFill>
            <a:srgbClr val="D4A017"/>
          </a:solidFill>
          <a:ln/>
        </p:spPr>
      </p:sp>
      <p:sp>
        <p:nvSpPr>
          <p:cNvPr id="95" name="t55"/>
          <p:cNvSpPr txBox="1"/>
          <p:nvPr/>
        </p:nvSpPr>
        <p:spPr>
          <a:xfrm>
            <a:off x="5673852" y="4754880"/>
            <a:ext cx="5532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LEL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708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slow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600" fill="hold"/>
                                        <p:tgtEl>
                                          <p:spTgt spid="6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600" fill="hold"/>
                                        <p:tgtEl>
                                          <p:spTgt spid="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60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600" fill="hold"/>
                                        <p:tgtEl>
                                          <p:spTgt spid="6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600" fill="hold"/>
                                        <p:tgtEl>
                                          <p:spTgt spid="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60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600" fill="hold"/>
                                        <p:tgtEl>
                                          <p:spTgt spid="6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600" fill="hold"/>
                                        <p:tgtEl>
                                          <p:spTgt spid="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60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600" fill="hold"/>
                                        <p:tgtEl>
                                          <p:spTgt spid="6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600" fill="hold"/>
                                        <p:tgtEl>
                                          <p:spTgt spid="6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600"/>
                                        <p:tgtEl>
                                          <p:spTgt spid="6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" dur="600" fill="hold"/>
                                        <p:tgtEl>
                                          <p:spTgt spid="6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600" fill="hold"/>
                                        <p:tgtEl>
                                          <p:spTgt spid="6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600"/>
                                        <p:tgtEl>
                                          <p:spTgt spid="6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600" fill="hold"/>
                                        <p:tgtEl>
                                          <p:spTgt spid="6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600" fill="hold"/>
                                        <p:tgtEl>
                                          <p:spTgt spid="6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600"/>
                                        <p:tgtEl>
                                          <p:spTgt spid="6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8" dur="600" fill="hold"/>
                                        <p:tgtEl>
                                          <p:spTgt spid="6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" dur="600" fill="hold"/>
                                        <p:tgtEl>
                                          <p:spTgt spid="6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600"/>
                                        <p:tgtEl>
                                          <p:spTgt spid="7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3" dur="600" fill="hold"/>
                                        <p:tgtEl>
                                          <p:spTgt spid="7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600" fill="hold"/>
                                        <p:tgtEl>
                                          <p:spTgt spid="7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600"/>
                                        <p:tgtEl>
                                          <p:spTgt spid="7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8" dur="600" fill="hold"/>
                                        <p:tgtEl>
                                          <p:spTgt spid="7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9" dur="600" fill="hold"/>
                                        <p:tgtEl>
                                          <p:spTgt spid="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600"/>
                                        <p:tgtEl>
                                          <p:spTgt spid="7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5" dur="600" fill="hold"/>
                                        <p:tgtEl>
                                          <p:spTgt spid="7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6" dur="600" fill="hold"/>
                                        <p:tgtEl>
                                          <p:spTgt spid="7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600"/>
                                        <p:tgtEl>
                                          <p:spTgt spid="7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0" dur="600" fill="hold"/>
                                        <p:tgtEl>
                                          <p:spTgt spid="7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1" dur="600" fill="hold"/>
                                        <p:tgtEl>
                                          <p:spTgt spid="7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2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600"/>
                                        <p:tgtEl>
                                          <p:spTgt spid="7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5" dur="600" fill="hold"/>
                                        <p:tgtEl>
                                          <p:spTgt spid="7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6" dur="600" fill="hold"/>
                                        <p:tgtEl>
                                          <p:spTgt spid="7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600"/>
                                        <p:tgtEl>
                                          <p:spTgt spid="7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0" dur="600" fill="hold"/>
                                        <p:tgtEl>
                                          <p:spTgt spid="7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1" dur="600" fill="hold"/>
                                        <p:tgtEl>
                                          <p:spTgt spid="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2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600"/>
                                        <p:tgtEl>
                                          <p:spTgt spid="8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5" dur="600" fill="hold"/>
                                        <p:tgtEl>
                                          <p:spTgt spid="8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6" dur="600" fill="hold"/>
                                        <p:tgtEl>
                                          <p:spTgt spid="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600"/>
                                        <p:tgtEl>
                                          <p:spTgt spid="8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0" dur="600" fill="hold"/>
                                        <p:tgtEl>
                                          <p:spTgt spid="8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1" dur="600" fill="hold"/>
                                        <p:tgtEl>
                                          <p:spTgt spid="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2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600"/>
                                        <p:tgtEl>
                                          <p:spTgt spid="8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5" dur="600" fill="hold"/>
                                        <p:tgtEl>
                                          <p:spTgt spid="8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6" dur="600" fill="hold"/>
                                        <p:tgtEl>
                                          <p:spTgt spid="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9" dur="600"/>
                                        <p:tgtEl>
                                          <p:spTgt spid="8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0" dur="600" fill="hold"/>
                                        <p:tgtEl>
                                          <p:spTgt spid="8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1" dur="600" fill="hold"/>
                                        <p:tgtEl>
                                          <p:spTgt spid="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2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600"/>
                                        <p:tgtEl>
                                          <p:spTgt spid="8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5" dur="600" fill="hold"/>
                                        <p:tgtEl>
                                          <p:spTgt spid="8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6" dur="600" fill="hold"/>
                                        <p:tgtEl>
                                          <p:spTgt spid="8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7" fill="hold">
                      <p:stCondLst>
                        <p:cond delay="indefinite"/>
                      </p:stCondLst>
                      <p:childTnLst>
                        <p:par>
                          <p:cTn id="98" fill="hold">
                            <p:stCondLst>
                              <p:cond delay="0"/>
                            </p:stCondLst>
                            <p:childTnLst>
                              <p:par>
                                <p:cTn id="99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1" dur="600"/>
                                        <p:tgtEl>
                                          <p:spTgt spid="8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2" dur="600" fill="hold"/>
                                        <p:tgtEl>
                                          <p:spTgt spid="8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3" dur="600" fill="hold"/>
                                        <p:tgtEl>
                                          <p:spTgt spid="8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4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600"/>
                                        <p:tgtEl>
                                          <p:spTgt spid="9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7" dur="600" fill="hold"/>
                                        <p:tgtEl>
                                          <p:spTgt spid="9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8" dur="600" fill="hold"/>
                                        <p:tgtEl>
                                          <p:spTgt spid="9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9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1" dur="600"/>
                                        <p:tgtEl>
                                          <p:spTgt spid="9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2" dur="600" fill="hold"/>
                                        <p:tgtEl>
                                          <p:spTgt spid="9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3" dur="600" fill="hold"/>
                                        <p:tgtEl>
                                          <p:spTgt spid="9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4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6" dur="600"/>
                                        <p:tgtEl>
                                          <p:spTgt spid="9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7" dur="600" fill="hold"/>
                                        <p:tgtEl>
                                          <p:spTgt spid="9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8" dur="600" fill="hold"/>
                                        <p:tgtEl>
                                          <p:spTgt spid="9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9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1" dur="600"/>
                                        <p:tgtEl>
                                          <p:spTgt spid="9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2" dur="600" fill="hold"/>
                                        <p:tgtEl>
                                          <p:spTgt spid="9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3" dur="600" fill="hold"/>
                                        <p:tgtEl>
                                          <p:spTgt spid="9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4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6" dur="600"/>
                                        <p:tgtEl>
                                          <p:spTgt spid="9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7" dur="600" fill="hold"/>
                                        <p:tgtEl>
                                          <p:spTgt spid="9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8" dur="600" fill="hold"/>
                                        <p:tgtEl>
                                          <p:spTgt spid="9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9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1" dur="600"/>
                                        <p:tgtEl>
                                          <p:spTgt spid="9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2" dur="600" fill="hold"/>
                                        <p:tgtEl>
                                          <p:spTgt spid="9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3" dur="600" fill="hold"/>
                                        <p:tgtEl>
                                          <p:spTgt spid="9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3" grpId="0" animBg="1"/>
      <p:bldP spid="64" grpId="0" animBg="1"/>
      <p:bldP spid="65" grpId="0" animBg="1"/>
      <p:bldP spid="66" grpId="0" animBg="1"/>
      <p:bldP spid="67" grpId="0" animBg="1"/>
      <p:bldP spid="68" grpId="0" animBg="1"/>
      <p:bldP spid="69" grpId="0" animBg="1"/>
      <p:bldP spid="70" grpId="0" animBg="1"/>
      <p:bldP spid="71" grpId="0" animBg="1"/>
      <p:bldP spid="76" grpId="0" animBg="1"/>
      <p:bldP spid="77" grpId="0" animBg="1"/>
      <p:bldP spid="78" grpId="0" animBg="1"/>
      <p:bldP spid="79" grpId="0" animBg="1"/>
      <p:bldP spid="80" grpId="0" animBg="1"/>
      <p:bldP spid="81" grpId="0" animBg="1"/>
      <p:bldP spid="82" grpId="0" animBg="1"/>
      <p:bldP spid="83" grpId="0" animBg="1"/>
      <p:bldP spid="84" grpId="0" animBg="1"/>
      <p:bldP spid="89" grpId="0" animBg="1"/>
      <p:bldP spid="90" grpId="0" animBg="1"/>
      <p:bldP spid="91" grpId="0" animBg="1"/>
      <p:bldP spid="92" grpId="0" animBg="1"/>
      <p:bldP spid="93" grpId="0" animBg="1"/>
      <p:bldP spid="94" grpId="0" animBg="1"/>
      <p:bldP spid="95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47472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5F8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Midstream – transport &amp; storage</a:t>
            </a:r>
            <a:endParaRPr lang="en-US" sz="2800" dirty="0"/>
          </a:p>
        </p:txBody>
      </p:sp>
      <p:sp>
        <p:nvSpPr>
          <p:cNvPr id="3" name="!!root"/>
          <p:cNvSpPr/>
          <p:nvPr/>
        </p:nvSpPr>
        <p:spPr>
          <a:xfrm>
            <a:off x="9437522" y="1161288"/>
            <a:ext cx="1152144" cy="197510"/>
          </a:xfrm>
          <a:prstGeom prst="roundRect">
            <a:avLst>
              <a:gd name="adj" fmla="val 50000"/>
            </a:avLst>
          </a:prstGeom>
          <a:solidFill>
            <a:srgbClr val="1F3A52"/>
          </a:solidFill>
          <a:ln/>
        </p:spPr>
      </p:sp>
      <p:sp>
        <p:nvSpPr>
          <p:cNvPr id="4" name="!!root_t"/>
          <p:cNvSpPr txBox="1"/>
          <p:nvPr/>
        </p:nvSpPr>
        <p:spPr>
          <a:xfrm>
            <a:off x="9437522" y="1161288"/>
            <a:ext cx="1152144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OIL &amp; GAS VALUE CHAIN</a:t>
            </a:r>
            <a:endParaRPr lang="en-US" sz="480" dirty="0"/>
          </a:p>
        </p:txBody>
      </p:sp>
      <p:sp>
        <p:nvSpPr>
          <p:cNvPr id="5" name="!!bar_v"/>
          <p:cNvSpPr/>
          <p:nvPr/>
        </p:nvSpPr>
        <p:spPr>
          <a:xfrm>
            <a:off x="10013594" y="1358798"/>
            <a:ext cx="0" cy="76810"/>
          </a:xfrm>
          <a:prstGeom prst="line">
            <a:avLst/>
          </a:prstGeom>
          <a:noFill/>
          <a:ln w="9525">
            <a:solidFill>
              <a:srgbClr val="C6D3E0"/>
            </a:solidFill>
            <a:prstDash val="solid"/>
          </a:ln>
        </p:spPr>
      </p:sp>
      <p:sp>
        <p:nvSpPr>
          <p:cNvPr id="6" name="!!bar_h"/>
          <p:cNvSpPr/>
          <p:nvPr/>
        </p:nvSpPr>
        <p:spPr>
          <a:xfrm>
            <a:off x="8718804" y="1435608"/>
            <a:ext cx="2592324" cy="0"/>
          </a:xfrm>
          <a:prstGeom prst="line">
            <a:avLst/>
          </a:prstGeom>
          <a:noFill/>
          <a:ln w="9525">
            <a:solidFill>
              <a:srgbClr val="C6D3E0"/>
            </a:solidFill>
            <a:prstDash val="solid"/>
          </a:ln>
        </p:spPr>
      </p:sp>
      <p:sp>
        <p:nvSpPr>
          <p:cNvPr id="7" name="!!spine0"/>
          <p:cNvSpPr/>
          <p:nvPr/>
        </p:nvSpPr>
        <p:spPr>
          <a:xfrm>
            <a:off x="8718804" y="1435608"/>
            <a:ext cx="0" cy="973836"/>
          </a:xfrm>
          <a:prstGeom prst="line">
            <a:avLst/>
          </a:prstGeom>
          <a:noFill/>
          <a:ln w="9525">
            <a:solidFill>
              <a:srgbClr val="C6D3E0"/>
            </a:solidFill>
            <a:prstDash val="solid"/>
          </a:ln>
        </p:spPr>
      </p:sp>
      <p:sp>
        <p:nvSpPr>
          <p:cNvPr id="8" name="!!br0"/>
          <p:cNvSpPr/>
          <p:nvPr/>
        </p:nvSpPr>
        <p:spPr>
          <a:xfrm>
            <a:off x="8334756" y="1517904"/>
            <a:ext cx="768096" cy="260604"/>
          </a:xfrm>
          <a:prstGeom prst="roundRect">
            <a:avLst>
              <a:gd name="adj" fmla="val 12632"/>
            </a:avLst>
          </a:prstGeom>
          <a:solidFill>
            <a:srgbClr val="0C74BC">
              <a:alpha val="35000"/>
            </a:srgbClr>
          </a:solidFill>
          <a:ln/>
        </p:spPr>
      </p:sp>
      <p:pic>
        <p:nvPicPr>
          <p:cNvPr id="9" name="!!bri0" descr="preencoded.png">    </p:cNvPr>
          <p:cNvPicPr>
            <a:picLocks noChangeAspect="1"/>
          </p:cNvPicPr>
          <p:nvPr/>
        </p:nvPicPr>
        <p:blipFill>
          <a:blip r:embed="rId1">
            <a:alphaModFix amt="40000"/>
          </a:blip>
          <a:stretch>
            <a:fillRect/>
          </a:stretch>
        </p:blipFill>
        <p:spPr>
          <a:xfrm>
            <a:off x="8375904" y="1559052"/>
            <a:ext cx="170078" cy="170078"/>
          </a:xfrm>
          <a:prstGeom prst="rect">
            <a:avLst/>
          </a:prstGeom>
        </p:spPr>
      </p:pic>
      <p:sp>
        <p:nvSpPr>
          <p:cNvPr id="10" name="!!brt0"/>
          <p:cNvSpPr txBox="1"/>
          <p:nvPr/>
        </p:nvSpPr>
        <p:spPr>
          <a:xfrm>
            <a:off x="8567928" y="1517904"/>
            <a:ext cx="526694" cy="2606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10" b="1" dirty="0">
                <a:solidFill>
                  <a:srgbClr val="FFFFFF">
                    <a:alpha val="5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UPSTREAM</a:t>
            </a:r>
            <a:endParaRPr lang="en-US" sz="410" dirty="0"/>
          </a:p>
          <a:p>
            <a:pPr indent="0" marL="0">
              <a:buNone/>
            </a:pPr>
            <a:r>
              <a:rPr lang="en-US" sz="330" dirty="0">
                <a:solidFill>
                  <a:srgbClr val="FFFFFF">
                    <a:alpha val="5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 &amp; gas processing</a:t>
            </a:r>
            <a:endParaRPr lang="en-US" sz="410" dirty="0"/>
          </a:p>
        </p:txBody>
      </p:sp>
      <p:sp>
        <p:nvSpPr>
          <p:cNvPr id="11" name="!!lf0_0"/>
          <p:cNvSpPr/>
          <p:nvPr/>
        </p:nvSpPr>
        <p:spPr>
          <a:xfrm>
            <a:off x="8334756" y="1860804"/>
            <a:ext cx="768096" cy="159106"/>
          </a:xfrm>
          <a:prstGeom prst="roundRect">
            <a:avLst>
              <a:gd name="adj" fmla="val 50000"/>
            </a:avLst>
          </a:prstGeom>
          <a:solidFill>
            <a:srgbClr val="FFFFFF">
              <a:alpha val="60000"/>
            </a:srgbClr>
          </a:solidFill>
          <a:ln w="4763">
            <a:solidFill>
              <a:srgbClr val="0C74BC">
                <a:alpha val="40000"/>
              </a:srgbClr>
            </a:solidFill>
            <a:prstDash val="solid"/>
          </a:ln>
        </p:spPr>
      </p:sp>
      <p:sp>
        <p:nvSpPr>
          <p:cNvPr id="12" name="!!lft0_0"/>
          <p:cNvSpPr txBox="1"/>
          <p:nvPr/>
        </p:nvSpPr>
        <p:spPr>
          <a:xfrm>
            <a:off x="8389620" y="1860804"/>
            <a:ext cx="589788" cy="1591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" b="1" dirty="0">
                <a:solidFill>
                  <a:srgbClr val="9AA9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Oil production stations</a:t>
            </a:r>
            <a:endParaRPr lang="en-US" sz="380" dirty="0"/>
          </a:p>
        </p:txBody>
      </p:sp>
      <p:sp>
        <p:nvSpPr>
          <p:cNvPr id="13" name="!!mk0_0"/>
          <p:cNvSpPr/>
          <p:nvPr/>
        </p:nvSpPr>
        <p:spPr>
          <a:xfrm>
            <a:off x="8987638" y="1890979"/>
            <a:ext cx="98755" cy="98755"/>
          </a:xfrm>
          <a:prstGeom prst="ellipse">
            <a:avLst/>
          </a:prstGeom>
          <a:solidFill>
            <a:srgbClr val="3AB54A">
              <a:alpha val="40000"/>
            </a:srgbClr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4" name="!!mki0_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12326" y="1915668"/>
            <a:ext cx="49378" cy="49378"/>
          </a:xfrm>
          <a:prstGeom prst="rect">
            <a:avLst/>
          </a:prstGeom>
        </p:spPr>
      </p:pic>
      <p:sp>
        <p:nvSpPr>
          <p:cNvPr id="15" name="!!lf0_1"/>
          <p:cNvSpPr/>
          <p:nvPr/>
        </p:nvSpPr>
        <p:spPr>
          <a:xfrm>
            <a:off x="8334756" y="2058314"/>
            <a:ext cx="768096" cy="159106"/>
          </a:xfrm>
          <a:prstGeom prst="roundRect">
            <a:avLst>
              <a:gd name="adj" fmla="val 50000"/>
            </a:avLst>
          </a:prstGeom>
          <a:solidFill>
            <a:srgbClr val="FFFFFF">
              <a:alpha val="60000"/>
            </a:srgbClr>
          </a:solidFill>
          <a:ln w="4763">
            <a:solidFill>
              <a:srgbClr val="0C74BC">
                <a:alpha val="40000"/>
              </a:srgbClr>
            </a:solidFill>
            <a:prstDash val="solid"/>
          </a:ln>
        </p:spPr>
      </p:sp>
      <p:sp>
        <p:nvSpPr>
          <p:cNvPr id="16" name="!!lft0_1"/>
          <p:cNvSpPr txBox="1"/>
          <p:nvPr/>
        </p:nvSpPr>
        <p:spPr>
          <a:xfrm>
            <a:off x="8389620" y="2058314"/>
            <a:ext cx="589788" cy="1591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" b="1" dirty="0">
                <a:solidFill>
                  <a:srgbClr val="9AA9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 processing plants</a:t>
            </a:r>
            <a:endParaRPr lang="en-US" sz="380" dirty="0"/>
          </a:p>
        </p:txBody>
      </p:sp>
      <p:sp>
        <p:nvSpPr>
          <p:cNvPr id="17" name="!!mk0_1"/>
          <p:cNvSpPr/>
          <p:nvPr/>
        </p:nvSpPr>
        <p:spPr>
          <a:xfrm>
            <a:off x="8987638" y="2088490"/>
            <a:ext cx="98755" cy="98755"/>
          </a:xfrm>
          <a:prstGeom prst="ellipse">
            <a:avLst/>
          </a:prstGeom>
          <a:solidFill>
            <a:srgbClr val="3AB54A">
              <a:alpha val="40000"/>
            </a:srgbClr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8" name="!!mki0_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12326" y="2113178"/>
            <a:ext cx="49378" cy="49378"/>
          </a:xfrm>
          <a:prstGeom prst="rect">
            <a:avLst/>
          </a:prstGeom>
        </p:spPr>
      </p:pic>
      <p:sp>
        <p:nvSpPr>
          <p:cNvPr id="19" name="!!lf0_2"/>
          <p:cNvSpPr/>
          <p:nvPr/>
        </p:nvSpPr>
        <p:spPr>
          <a:xfrm>
            <a:off x="8334756" y="2255825"/>
            <a:ext cx="768096" cy="159106"/>
          </a:xfrm>
          <a:prstGeom prst="roundRect">
            <a:avLst>
              <a:gd name="adj" fmla="val 50000"/>
            </a:avLst>
          </a:prstGeom>
          <a:solidFill>
            <a:srgbClr val="FFFFFF">
              <a:alpha val="60000"/>
            </a:srgbClr>
          </a:solidFill>
          <a:ln w="4763">
            <a:solidFill>
              <a:srgbClr val="0C74BC">
                <a:alpha val="40000"/>
              </a:srgbClr>
            </a:solidFill>
            <a:prstDash val="solid"/>
          </a:ln>
        </p:spPr>
      </p:sp>
      <p:sp>
        <p:nvSpPr>
          <p:cNvPr id="20" name="!!lft0_2"/>
          <p:cNvSpPr txBox="1"/>
          <p:nvPr/>
        </p:nvSpPr>
        <p:spPr>
          <a:xfrm>
            <a:off x="8389620" y="2255825"/>
            <a:ext cx="589788" cy="1591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" b="1" dirty="0">
                <a:solidFill>
                  <a:srgbClr val="9AA9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Produced water &amp; tank farms</a:t>
            </a:r>
            <a:endParaRPr lang="en-US" sz="380" dirty="0"/>
          </a:p>
        </p:txBody>
      </p:sp>
      <p:sp>
        <p:nvSpPr>
          <p:cNvPr id="21" name="!!mk0_2"/>
          <p:cNvSpPr/>
          <p:nvPr/>
        </p:nvSpPr>
        <p:spPr>
          <a:xfrm>
            <a:off x="8987638" y="2286000"/>
            <a:ext cx="98755" cy="98755"/>
          </a:xfrm>
          <a:prstGeom prst="ellipse">
            <a:avLst/>
          </a:prstGeom>
          <a:solidFill>
            <a:srgbClr val="3AB54A">
              <a:alpha val="40000"/>
            </a:srgbClr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22" name="!!mki0_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12326" y="2310689"/>
            <a:ext cx="49378" cy="49378"/>
          </a:xfrm>
          <a:prstGeom prst="rect">
            <a:avLst/>
          </a:prstGeom>
        </p:spPr>
      </p:pic>
      <p:sp>
        <p:nvSpPr>
          <p:cNvPr id="23" name="!!spine1"/>
          <p:cNvSpPr/>
          <p:nvPr/>
        </p:nvSpPr>
        <p:spPr>
          <a:xfrm>
            <a:off x="9582912" y="1435608"/>
            <a:ext cx="0" cy="82296"/>
          </a:xfrm>
          <a:prstGeom prst="line">
            <a:avLst/>
          </a:prstGeom>
          <a:noFill/>
          <a:ln w="9525">
            <a:solidFill>
              <a:srgbClr val="C6D3E0"/>
            </a:solidFill>
            <a:prstDash val="solid"/>
          </a:ln>
        </p:spPr>
      </p:sp>
      <p:sp>
        <p:nvSpPr>
          <p:cNvPr id="24" name="!!br1"/>
          <p:cNvSpPr/>
          <p:nvPr/>
        </p:nvSpPr>
        <p:spPr>
          <a:xfrm>
            <a:off x="9198864" y="1517904"/>
            <a:ext cx="768096" cy="260604"/>
          </a:xfrm>
          <a:prstGeom prst="roundRect">
            <a:avLst>
              <a:gd name="adj" fmla="val 12632"/>
            </a:avLst>
          </a:prstGeom>
          <a:solidFill>
            <a:srgbClr val="3AB54A"/>
          </a:solidFill>
          <a:ln/>
        </p:spPr>
      </p:sp>
      <p:pic>
        <p:nvPicPr>
          <p:cNvPr id="25" name="!!bri1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40012" y="1559052"/>
            <a:ext cx="170078" cy="170078"/>
          </a:xfrm>
          <a:prstGeom prst="rect">
            <a:avLst/>
          </a:prstGeom>
        </p:spPr>
      </p:pic>
      <p:sp>
        <p:nvSpPr>
          <p:cNvPr id="26" name="!!brt1"/>
          <p:cNvSpPr txBox="1"/>
          <p:nvPr/>
        </p:nvSpPr>
        <p:spPr>
          <a:xfrm>
            <a:off x="9432036" y="1517904"/>
            <a:ext cx="526694" cy="2606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1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MIDSTREAM</a:t>
            </a:r>
            <a:endParaRPr lang="en-US" sz="410" dirty="0"/>
          </a:p>
          <a:p>
            <a:pPr indent="0" marL="0">
              <a:buNone/>
            </a:pPr>
            <a:r>
              <a:rPr lang="en-US" sz="33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Transport &amp; storage</a:t>
            </a:r>
            <a:endParaRPr lang="en-US" sz="410" dirty="0"/>
          </a:p>
        </p:txBody>
      </p:sp>
      <p:sp>
        <p:nvSpPr>
          <p:cNvPr id="27" name="!!spine2"/>
          <p:cNvSpPr/>
          <p:nvPr/>
        </p:nvSpPr>
        <p:spPr>
          <a:xfrm>
            <a:off x="10447020" y="1435608"/>
            <a:ext cx="0" cy="973836"/>
          </a:xfrm>
          <a:prstGeom prst="line">
            <a:avLst/>
          </a:prstGeom>
          <a:noFill/>
          <a:ln w="9525">
            <a:solidFill>
              <a:srgbClr val="C6D3E0"/>
            </a:solidFill>
            <a:prstDash val="solid"/>
          </a:ln>
        </p:spPr>
      </p:sp>
      <p:sp>
        <p:nvSpPr>
          <p:cNvPr id="28" name="!!br2"/>
          <p:cNvSpPr/>
          <p:nvPr/>
        </p:nvSpPr>
        <p:spPr>
          <a:xfrm>
            <a:off x="10062972" y="1517904"/>
            <a:ext cx="768096" cy="260604"/>
          </a:xfrm>
          <a:prstGeom prst="roundRect">
            <a:avLst>
              <a:gd name="adj" fmla="val 12632"/>
            </a:avLst>
          </a:prstGeom>
          <a:solidFill>
            <a:srgbClr val="0C74BC">
              <a:alpha val="35000"/>
            </a:srgbClr>
          </a:solidFill>
          <a:ln/>
        </p:spPr>
      </p:sp>
      <p:pic>
        <p:nvPicPr>
          <p:cNvPr id="29" name="!!bri2" descr="preencoded.png">    </p:cNvPr>
          <p:cNvPicPr>
            <a:picLocks noChangeAspect="1"/>
          </p:cNvPicPr>
          <p:nvPr/>
        </p:nvPicPr>
        <p:blipFill>
          <a:blip r:embed="rId6">
            <a:alphaModFix amt="40000"/>
          </a:blip>
          <a:stretch>
            <a:fillRect/>
          </a:stretch>
        </p:blipFill>
        <p:spPr>
          <a:xfrm>
            <a:off x="10104120" y="1559052"/>
            <a:ext cx="170078" cy="170078"/>
          </a:xfrm>
          <a:prstGeom prst="rect">
            <a:avLst/>
          </a:prstGeom>
        </p:spPr>
      </p:pic>
      <p:sp>
        <p:nvSpPr>
          <p:cNvPr id="30" name="!!brt2"/>
          <p:cNvSpPr txBox="1"/>
          <p:nvPr/>
        </p:nvSpPr>
        <p:spPr>
          <a:xfrm>
            <a:off x="10296144" y="1517904"/>
            <a:ext cx="526694" cy="2606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10" b="1" dirty="0">
                <a:solidFill>
                  <a:srgbClr val="FFFFFF">
                    <a:alpha val="5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DOWNSTREAM</a:t>
            </a:r>
            <a:endParaRPr lang="en-US" sz="410" dirty="0"/>
          </a:p>
          <a:p>
            <a:pPr indent="0" marL="0">
              <a:buNone/>
            </a:pPr>
            <a:r>
              <a:rPr lang="en-US" sz="330" dirty="0">
                <a:solidFill>
                  <a:srgbClr val="FFFFFF">
                    <a:alpha val="5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Refining</a:t>
            </a:r>
            <a:endParaRPr lang="en-US" sz="410" dirty="0"/>
          </a:p>
        </p:txBody>
      </p:sp>
      <p:sp>
        <p:nvSpPr>
          <p:cNvPr id="31" name="!!lf2_0"/>
          <p:cNvSpPr/>
          <p:nvPr/>
        </p:nvSpPr>
        <p:spPr>
          <a:xfrm>
            <a:off x="10062972" y="1860804"/>
            <a:ext cx="768096" cy="159106"/>
          </a:xfrm>
          <a:prstGeom prst="roundRect">
            <a:avLst>
              <a:gd name="adj" fmla="val 50000"/>
            </a:avLst>
          </a:prstGeom>
          <a:solidFill>
            <a:srgbClr val="FFFFFF">
              <a:alpha val="60000"/>
            </a:srgbClr>
          </a:solidFill>
          <a:ln w="4763">
            <a:solidFill>
              <a:srgbClr val="0C74BC">
                <a:alpha val="40000"/>
              </a:srgbClr>
            </a:solidFill>
            <a:prstDash val="solid"/>
          </a:ln>
        </p:spPr>
      </p:sp>
      <p:sp>
        <p:nvSpPr>
          <p:cNvPr id="32" name="!!lft2_0"/>
          <p:cNvSpPr txBox="1"/>
          <p:nvPr/>
        </p:nvSpPr>
        <p:spPr>
          <a:xfrm>
            <a:off x="10117836" y="1860804"/>
            <a:ext cx="589788" cy="1591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" b="1" dirty="0">
                <a:solidFill>
                  <a:srgbClr val="9AA9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Crude &amp; vacuum units</a:t>
            </a:r>
            <a:endParaRPr lang="en-US" sz="380" dirty="0"/>
          </a:p>
        </p:txBody>
      </p:sp>
      <p:sp>
        <p:nvSpPr>
          <p:cNvPr id="33" name="!!mk2_0"/>
          <p:cNvSpPr/>
          <p:nvPr/>
        </p:nvSpPr>
        <p:spPr>
          <a:xfrm>
            <a:off x="10715854" y="1890979"/>
            <a:ext cx="98755" cy="98755"/>
          </a:xfrm>
          <a:prstGeom prst="ellipse">
            <a:avLst/>
          </a:prstGeom>
          <a:solidFill>
            <a:srgbClr val="3AB54A">
              <a:alpha val="40000"/>
            </a:srgbClr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34" name="!!mki2_0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740542" y="1915668"/>
            <a:ext cx="49378" cy="49378"/>
          </a:xfrm>
          <a:prstGeom prst="rect">
            <a:avLst/>
          </a:prstGeom>
        </p:spPr>
      </p:pic>
      <p:sp>
        <p:nvSpPr>
          <p:cNvPr id="35" name="!!lf2_1"/>
          <p:cNvSpPr/>
          <p:nvPr/>
        </p:nvSpPr>
        <p:spPr>
          <a:xfrm>
            <a:off x="10062972" y="2058314"/>
            <a:ext cx="768096" cy="159106"/>
          </a:xfrm>
          <a:prstGeom prst="roundRect">
            <a:avLst>
              <a:gd name="adj" fmla="val 50000"/>
            </a:avLst>
          </a:prstGeom>
          <a:solidFill>
            <a:srgbClr val="FFFFFF">
              <a:alpha val="60000"/>
            </a:srgbClr>
          </a:solidFill>
          <a:ln w="4763">
            <a:solidFill>
              <a:srgbClr val="0C74BC">
                <a:alpha val="40000"/>
              </a:srgbClr>
            </a:solidFill>
            <a:prstDash val="solid"/>
          </a:ln>
        </p:spPr>
      </p:sp>
      <p:sp>
        <p:nvSpPr>
          <p:cNvPr id="36" name="!!lft2_1"/>
          <p:cNvSpPr txBox="1"/>
          <p:nvPr/>
        </p:nvSpPr>
        <p:spPr>
          <a:xfrm>
            <a:off x="10117836" y="2058314"/>
            <a:ext cx="589788" cy="1591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" b="1" dirty="0">
                <a:solidFill>
                  <a:srgbClr val="9AA9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Hydroprocessing &amp; conversion</a:t>
            </a:r>
            <a:endParaRPr lang="en-US" sz="380" dirty="0"/>
          </a:p>
        </p:txBody>
      </p:sp>
      <p:sp>
        <p:nvSpPr>
          <p:cNvPr id="37" name="!!mk2_1"/>
          <p:cNvSpPr/>
          <p:nvPr/>
        </p:nvSpPr>
        <p:spPr>
          <a:xfrm>
            <a:off x="10715854" y="2088490"/>
            <a:ext cx="98755" cy="98755"/>
          </a:xfrm>
          <a:prstGeom prst="ellipse">
            <a:avLst/>
          </a:prstGeom>
          <a:solidFill>
            <a:srgbClr val="3AB54A">
              <a:alpha val="40000"/>
            </a:srgbClr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38" name="!!mki2_1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740542" y="2113178"/>
            <a:ext cx="49378" cy="49378"/>
          </a:xfrm>
          <a:prstGeom prst="rect">
            <a:avLst/>
          </a:prstGeom>
        </p:spPr>
      </p:pic>
      <p:sp>
        <p:nvSpPr>
          <p:cNvPr id="39" name="!!lf2_2"/>
          <p:cNvSpPr/>
          <p:nvPr/>
        </p:nvSpPr>
        <p:spPr>
          <a:xfrm>
            <a:off x="10062972" y="2255825"/>
            <a:ext cx="768096" cy="159106"/>
          </a:xfrm>
          <a:prstGeom prst="roundRect">
            <a:avLst>
              <a:gd name="adj" fmla="val 50000"/>
            </a:avLst>
          </a:prstGeom>
          <a:solidFill>
            <a:srgbClr val="FFFFFF">
              <a:alpha val="60000"/>
            </a:srgbClr>
          </a:solidFill>
          <a:ln w="4763">
            <a:solidFill>
              <a:srgbClr val="0C74BC">
                <a:alpha val="40000"/>
              </a:srgbClr>
            </a:solidFill>
            <a:prstDash val="solid"/>
          </a:ln>
        </p:spPr>
      </p:sp>
      <p:sp>
        <p:nvSpPr>
          <p:cNvPr id="40" name="!!lft2_2"/>
          <p:cNvSpPr txBox="1"/>
          <p:nvPr/>
        </p:nvSpPr>
        <p:spPr>
          <a:xfrm>
            <a:off x="10117836" y="2255825"/>
            <a:ext cx="589788" cy="1591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" b="1" dirty="0">
                <a:solidFill>
                  <a:srgbClr val="9AA9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 water, amine &amp; sulphur</a:t>
            </a:r>
            <a:endParaRPr lang="en-US" sz="380" dirty="0"/>
          </a:p>
        </p:txBody>
      </p:sp>
      <p:sp>
        <p:nvSpPr>
          <p:cNvPr id="41" name="!!mk2_2"/>
          <p:cNvSpPr/>
          <p:nvPr/>
        </p:nvSpPr>
        <p:spPr>
          <a:xfrm>
            <a:off x="10715854" y="2286000"/>
            <a:ext cx="98755" cy="98755"/>
          </a:xfrm>
          <a:prstGeom prst="ellipse">
            <a:avLst/>
          </a:prstGeom>
          <a:solidFill>
            <a:srgbClr val="3AB54A">
              <a:alpha val="40000"/>
            </a:srgbClr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42" name="!!mki2_2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740542" y="2310689"/>
            <a:ext cx="49378" cy="49378"/>
          </a:xfrm>
          <a:prstGeom prst="rect">
            <a:avLst/>
          </a:prstGeom>
        </p:spPr>
      </p:pic>
      <p:sp>
        <p:nvSpPr>
          <p:cNvPr id="43" name="!!spine3"/>
          <p:cNvSpPr/>
          <p:nvPr/>
        </p:nvSpPr>
        <p:spPr>
          <a:xfrm>
            <a:off x="11311128" y="1435608"/>
            <a:ext cx="0" cy="973836"/>
          </a:xfrm>
          <a:prstGeom prst="line">
            <a:avLst/>
          </a:prstGeom>
          <a:noFill/>
          <a:ln w="9525">
            <a:solidFill>
              <a:srgbClr val="C6D3E0"/>
            </a:solidFill>
            <a:prstDash val="solid"/>
          </a:ln>
        </p:spPr>
      </p:sp>
      <p:sp>
        <p:nvSpPr>
          <p:cNvPr id="44" name="!!br3"/>
          <p:cNvSpPr/>
          <p:nvPr/>
        </p:nvSpPr>
        <p:spPr>
          <a:xfrm>
            <a:off x="10927080" y="1517904"/>
            <a:ext cx="768096" cy="260604"/>
          </a:xfrm>
          <a:prstGeom prst="roundRect">
            <a:avLst>
              <a:gd name="adj" fmla="val 12632"/>
            </a:avLst>
          </a:prstGeom>
          <a:solidFill>
            <a:srgbClr val="3AB54A">
              <a:alpha val="35000"/>
            </a:srgbClr>
          </a:solidFill>
          <a:ln/>
        </p:spPr>
      </p:sp>
      <p:pic>
        <p:nvPicPr>
          <p:cNvPr id="45" name="!!bri3" descr="preencoded.png">    </p:cNvPr>
          <p:cNvPicPr>
            <a:picLocks noChangeAspect="1"/>
          </p:cNvPicPr>
          <p:nvPr/>
        </p:nvPicPr>
        <p:blipFill>
          <a:blip r:embed="rId10">
            <a:alphaModFix amt="40000"/>
          </a:blip>
          <a:stretch>
            <a:fillRect/>
          </a:stretch>
        </p:blipFill>
        <p:spPr>
          <a:xfrm>
            <a:off x="10968228" y="1559052"/>
            <a:ext cx="170078" cy="170078"/>
          </a:xfrm>
          <a:prstGeom prst="rect">
            <a:avLst/>
          </a:prstGeom>
        </p:spPr>
      </p:pic>
      <p:sp>
        <p:nvSpPr>
          <p:cNvPr id="46" name="!!brt3"/>
          <p:cNvSpPr txBox="1"/>
          <p:nvPr/>
        </p:nvSpPr>
        <p:spPr>
          <a:xfrm>
            <a:off x="11160252" y="1517904"/>
            <a:ext cx="526694" cy="2606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10" b="1" dirty="0">
                <a:solidFill>
                  <a:srgbClr val="FFFFFF">
                    <a:alpha val="5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PETROCHEMICALS</a:t>
            </a:r>
            <a:endParaRPr lang="en-US" sz="410" dirty="0"/>
          </a:p>
          <a:p>
            <a:pPr indent="0" marL="0">
              <a:buNone/>
            </a:pPr>
            <a:r>
              <a:rPr lang="en-US" sz="330" dirty="0">
                <a:solidFill>
                  <a:srgbClr val="FFFFFF">
                    <a:alpha val="5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Chemicals &amp; polymers</a:t>
            </a:r>
            <a:endParaRPr lang="en-US" sz="410" dirty="0"/>
          </a:p>
        </p:txBody>
      </p:sp>
      <p:sp>
        <p:nvSpPr>
          <p:cNvPr id="47" name="!!lf3_0"/>
          <p:cNvSpPr/>
          <p:nvPr/>
        </p:nvSpPr>
        <p:spPr>
          <a:xfrm>
            <a:off x="10927080" y="1860804"/>
            <a:ext cx="768096" cy="159106"/>
          </a:xfrm>
          <a:prstGeom prst="roundRect">
            <a:avLst>
              <a:gd name="adj" fmla="val 50000"/>
            </a:avLst>
          </a:prstGeom>
          <a:solidFill>
            <a:srgbClr val="FFFFFF">
              <a:alpha val="60000"/>
            </a:srgbClr>
          </a:solidFill>
          <a:ln w="4763">
            <a:solidFill>
              <a:srgbClr val="3AB54A">
                <a:alpha val="40000"/>
              </a:srgbClr>
            </a:solidFill>
            <a:prstDash val="solid"/>
          </a:ln>
        </p:spPr>
      </p:sp>
      <p:sp>
        <p:nvSpPr>
          <p:cNvPr id="48" name="!!lft3_0"/>
          <p:cNvSpPr txBox="1"/>
          <p:nvPr/>
        </p:nvSpPr>
        <p:spPr>
          <a:xfrm>
            <a:off x="10981944" y="1860804"/>
            <a:ext cx="589788" cy="1591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" b="1" dirty="0">
                <a:solidFill>
                  <a:srgbClr val="9AA9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Aromatics (BTX)</a:t>
            </a:r>
            <a:endParaRPr lang="en-US" sz="380" dirty="0"/>
          </a:p>
        </p:txBody>
      </p:sp>
      <p:sp>
        <p:nvSpPr>
          <p:cNvPr id="49" name="!!mk3_0"/>
          <p:cNvSpPr/>
          <p:nvPr/>
        </p:nvSpPr>
        <p:spPr>
          <a:xfrm>
            <a:off x="11579962" y="1890979"/>
            <a:ext cx="98755" cy="98755"/>
          </a:xfrm>
          <a:prstGeom prst="ellipse">
            <a:avLst/>
          </a:prstGeom>
          <a:solidFill>
            <a:srgbClr val="3AB54A">
              <a:alpha val="40000"/>
            </a:srgbClr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50" name="!!mki3_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1604650" y="1915668"/>
            <a:ext cx="49378" cy="49378"/>
          </a:xfrm>
          <a:prstGeom prst="rect">
            <a:avLst/>
          </a:prstGeom>
        </p:spPr>
      </p:pic>
      <p:sp>
        <p:nvSpPr>
          <p:cNvPr id="51" name="!!lf3_1"/>
          <p:cNvSpPr/>
          <p:nvPr/>
        </p:nvSpPr>
        <p:spPr>
          <a:xfrm>
            <a:off x="10927080" y="2058314"/>
            <a:ext cx="768096" cy="159106"/>
          </a:xfrm>
          <a:prstGeom prst="roundRect">
            <a:avLst>
              <a:gd name="adj" fmla="val 50000"/>
            </a:avLst>
          </a:prstGeom>
          <a:solidFill>
            <a:srgbClr val="FFFFFF">
              <a:alpha val="60000"/>
            </a:srgbClr>
          </a:solidFill>
          <a:ln w="4763">
            <a:solidFill>
              <a:srgbClr val="3AB54A">
                <a:alpha val="40000"/>
              </a:srgbClr>
            </a:solidFill>
            <a:prstDash val="solid"/>
          </a:ln>
        </p:spPr>
      </p:sp>
      <p:sp>
        <p:nvSpPr>
          <p:cNvPr id="52" name="!!lft3_1"/>
          <p:cNvSpPr txBox="1"/>
          <p:nvPr/>
        </p:nvSpPr>
        <p:spPr>
          <a:xfrm>
            <a:off x="10981944" y="2058314"/>
            <a:ext cx="589788" cy="1591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" b="1" dirty="0">
                <a:solidFill>
                  <a:srgbClr val="9AA9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Olefins &amp; polymers</a:t>
            </a:r>
            <a:endParaRPr lang="en-US" sz="380" dirty="0"/>
          </a:p>
        </p:txBody>
      </p:sp>
      <p:sp>
        <p:nvSpPr>
          <p:cNvPr id="53" name="!!mk3_1"/>
          <p:cNvSpPr/>
          <p:nvPr/>
        </p:nvSpPr>
        <p:spPr>
          <a:xfrm>
            <a:off x="11579962" y="2088490"/>
            <a:ext cx="98755" cy="98755"/>
          </a:xfrm>
          <a:prstGeom prst="ellipse">
            <a:avLst/>
          </a:prstGeom>
          <a:solidFill>
            <a:srgbClr val="3AB54A">
              <a:alpha val="40000"/>
            </a:srgbClr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54" name="!!mki3_1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1604650" y="2113178"/>
            <a:ext cx="49378" cy="49378"/>
          </a:xfrm>
          <a:prstGeom prst="rect">
            <a:avLst/>
          </a:prstGeom>
        </p:spPr>
      </p:pic>
      <p:sp>
        <p:nvSpPr>
          <p:cNvPr id="55" name="!!lf3_2"/>
          <p:cNvSpPr/>
          <p:nvPr/>
        </p:nvSpPr>
        <p:spPr>
          <a:xfrm>
            <a:off x="10927080" y="2255825"/>
            <a:ext cx="768096" cy="159106"/>
          </a:xfrm>
          <a:prstGeom prst="roundRect">
            <a:avLst>
              <a:gd name="adj" fmla="val 50000"/>
            </a:avLst>
          </a:prstGeom>
          <a:solidFill>
            <a:srgbClr val="FFFFFF">
              <a:alpha val="60000"/>
            </a:srgbClr>
          </a:solidFill>
          <a:ln w="4763">
            <a:solidFill>
              <a:srgbClr val="3AB54A">
                <a:alpha val="40000"/>
              </a:srgbClr>
            </a:solidFill>
            <a:prstDash val="solid"/>
          </a:ln>
        </p:spPr>
      </p:sp>
      <p:sp>
        <p:nvSpPr>
          <p:cNvPr id="56" name="!!lft3_2"/>
          <p:cNvSpPr txBox="1"/>
          <p:nvPr/>
        </p:nvSpPr>
        <p:spPr>
          <a:xfrm>
            <a:off x="10981944" y="2255825"/>
            <a:ext cx="589788" cy="1591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" b="1" dirty="0">
                <a:solidFill>
                  <a:srgbClr val="9AA9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Methanol &amp; fertilisers</a:t>
            </a:r>
            <a:endParaRPr lang="en-US" sz="380" dirty="0"/>
          </a:p>
        </p:txBody>
      </p:sp>
      <p:sp>
        <p:nvSpPr>
          <p:cNvPr id="57" name="!!mk3_2"/>
          <p:cNvSpPr/>
          <p:nvPr/>
        </p:nvSpPr>
        <p:spPr>
          <a:xfrm>
            <a:off x="11579962" y="2286000"/>
            <a:ext cx="98755" cy="98755"/>
          </a:xfrm>
          <a:prstGeom prst="ellipse">
            <a:avLst/>
          </a:prstGeom>
          <a:solidFill>
            <a:srgbClr val="3AB54A">
              <a:alpha val="40000"/>
            </a:srgbClr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58" name="!!mki3_2" descr="preencode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1604650" y="2310689"/>
            <a:ext cx="49378" cy="49378"/>
          </a:xfrm>
          <a:prstGeom prst="rect">
            <a:avLst/>
          </a:prstGeom>
        </p:spPr>
      </p:pic>
      <p:sp>
        <p:nvSpPr>
          <p:cNvPr id="59" name="!!lf1_0"/>
          <p:cNvSpPr/>
          <p:nvPr/>
        </p:nvSpPr>
        <p:spPr>
          <a:xfrm>
            <a:off x="548640" y="1463040"/>
            <a:ext cx="3291840" cy="7315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3AB54A"/>
            </a:solidFill>
            <a:prstDash val="solid"/>
          </a:ln>
        </p:spPr>
      </p:sp>
      <p:sp>
        <p:nvSpPr>
          <p:cNvPr id="60" name="!!lft1_0"/>
          <p:cNvSpPr txBox="1"/>
          <p:nvPr/>
        </p:nvSpPr>
        <p:spPr>
          <a:xfrm>
            <a:off x="777240" y="1463040"/>
            <a:ext cx="2514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Pipelines &amp; pig receivers</a:t>
            </a:r>
            <a:endParaRPr lang="en-US" sz="1600" dirty="0"/>
          </a:p>
        </p:txBody>
      </p:sp>
      <p:sp>
        <p:nvSpPr>
          <p:cNvPr id="61" name="!!mk1_0"/>
          <p:cNvSpPr/>
          <p:nvPr/>
        </p:nvSpPr>
        <p:spPr>
          <a:xfrm>
            <a:off x="3337560" y="1618488"/>
            <a:ext cx="420624" cy="420624"/>
          </a:xfrm>
          <a:prstGeom prst="ellipse">
            <a:avLst/>
          </a:prstGeom>
          <a:solidFill>
            <a:srgbClr val="3AB54A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62" name="!!mki1_0" descr="preencoded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3447288" y="1728216"/>
            <a:ext cx="201168" cy="201168"/>
          </a:xfrm>
          <a:prstGeom prst="rect">
            <a:avLst/>
          </a:prstGeom>
        </p:spPr>
      </p:pic>
      <p:sp>
        <p:nvSpPr>
          <p:cNvPr id="63" name="t56"/>
          <p:cNvSpPr txBox="1"/>
          <p:nvPr/>
        </p:nvSpPr>
        <p:spPr>
          <a:xfrm>
            <a:off x="4114800" y="1188720"/>
            <a:ext cx="3840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1F5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Where: </a:t>
            </a:r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Pig traps, receivers and slug catchers</a:t>
            </a:r>
            <a:endParaRPr lang="en-US" sz="1400" dirty="0"/>
          </a:p>
        </p:txBody>
      </p:sp>
      <p:sp>
        <p:nvSpPr>
          <p:cNvPr id="64" name="s57"/>
          <p:cNvSpPr/>
          <p:nvPr/>
        </p:nvSpPr>
        <p:spPr>
          <a:xfrm>
            <a:off x="4114800" y="1920240"/>
            <a:ext cx="553212" cy="329184"/>
          </a:xfrm>
          <a:prstGeom prst="roundRect">
            <a:avLst>
              <a:gd name="adj" fmla="val 50000"/>
            </a:avLst>
          </a:prstGeom>
          <a:solidFill>
            <a:srgbClr val="6B7280"/>
          </a:solidFill>
          <a:ln/>
        </p:spPr>
      </p:sp>
      <p:sp>
        <p:nvSpPr>
          <p:cNvPr id="65" name="t58"/>
          <p:cNvSpPr txBox="1"/>
          <p:nvPr/>
        </p:nvSpPr>
        <p:spPr>
          <a:xfrm>
            <a:off x="4114800" y="1920240"/>
            <a:ext cx="5532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FeS</a:t>
            </a:r>
            <a:endParaRPr lang="en-US" sz="1200" dirty="0"/>
          </a:p>
        </p:txBody>
      </p:sp>
      <p:sp>
        <p:nvSpPr>
          <p:cNvPr id="66" name="s59"/>
          <p:cNvSpPr/>
          <p:nvPr/>
        </p:nvSpPr>
        <p:spPr>
          <a:xfrm>
            <a:off x="4777740" y="1920240"/>
            <a:ext cx="1408176" cy="329184"/>
          </a:xfrm>
          <a:prstGeom prst="roundRect">
            <a:avLst>
              <a:gd name="adj" fmla="val 50000"/>
            </a:avLst>
          </a:prstGeom>
          <a:solidFill>
            <a:srgbClr val="7A5C3E"/>
          </a:solidFill>
          <a:ln/>
        </p:spPr>
      </p:sp>
      <p:sp>
        <p:nvSpPr>
          <p:cNvPr id="67" name="t60"/>
          <p:cNvSpPr txBox="1"/>
          <p:nvPr/>
        </p:nvSpPr>
        <p:spPr>
          <a:xfrm>
            <a:off x="4777740" y="1920240"/>
            <a:ext cx="14081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Pigging debris</a:t>
            </a:r>
            <a:endParaRPr lang="en-US" sz="1200" dirty="0"/>
          </a:p>
        </p:txBody>
      </p:sp>
      <p:sp>
        <p:nvSpPr>
          <p:cNvPr id="68" name="s61"/>
          <p:cNvSpPr/>
          <p:nvPr/>
        </p:nvSpPr>
        <p:spPr>
          <a:xfrm>
            <a:off x="6295644" y="1920240"/>
            <a:ext cx="553212" cy="329184"/>
          </a:xfrm>
          <a:prstGeom prst="roundRect">
            <a:avLst>
              <a:gd name="adj" fmla="val 50000"/>
            </a:avLst>
          </a:prstGeom>
          <a:solidFill>
            <a:srgbClr val="D4A017"/>
          </a:solidFill>
          <a:ln/>
        </p:spPr>
      </p:sp>
      <p:sp>
        <p:nvSpPr>
          <p:cNvPr id="69" name="t62"/>
          <p:cNvSpPr txBox="1"/>
          <p:nvPr/>
        </p:nvSpPr>
        <p:spPr>
          <a:xfrm>
            <a:off x="6295644" y="1920240"/>
            <a:ext cx="5532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LEL</a:t>
            </a:r>
            <a:endParaRPr lang="en-US" sz="1200" dirty="0"/>
          </a:p>
        </p:txBody>
      </p:sp>
      <p:sp>
        <p:nvSpPr>
          <p:cNvPr id="70" name="!!lf1_1"/>
          <p:cNvSpPr/>
          <p:nvPr/>
        </p:nvSpPr>
        <p:spPr>
          <a:xfrm>
            <a:off x="548640" y="2880360"/>
            <a:ext cx="3291840" cy="7315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3AB54A"/>
            </a:solidFill>
            <a:prstDash val="solid"/>
          </a:ln>
        </p:spPr>
      </p:sp>
      <p:sp>
        <p:nvSpPr>
          <p:cNvPr id="71" name="!!lft1_1"/>
          <p:cNvSpPr txBox="1"/>
          <p:nvPr/>
        </p:nvSpPr>
        <p:spPr>
          <a:xfrm>
            <a:off x="777240" y="2880360"/>
            <a:ext cx="2514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Crude terminals &amp; tank farms</a:t>
            </a:r>
            <a:endParaRPr lang="en-US" sz="1600" dirty="0"/>
          </a:p>
        </p:txBody>
      </p:sp>
      <p:sp>
        <p:nvSpPr>
          <p:cNvPr id="72" name="!!mk1_1"/>
          <p:cNvSpPr/>
          <p:nvPr/>
        </p:nvSpPr>
        <p:spPr>
          <a:xfrm>
            <a:off x="3337560" y="3035808"/>
            <a:ext cx="420624" cy="420624"/>
          </a:xfrm>
          <a:prstGeom prst="ellipse">
            <a:avLst/>
          </a:prstGeom>
          <a:solidFill>
            <a:srgbClr val="3AB54A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73" name="!!mki1_1" descr="preencoded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3447288" y="3145536"/>
            <a:ext cx="201168" cy="201168"/>
          </a:xfrm>
          <a:prstGeom prst="rect">
            <a:avLst/>
          </a:prstGeom>
        </p:spPr>
      </p:pic>
      <p:sp>
        <p:nvSpPr>
          <p:cNvPr id="74" name="t63"/>
          <p:cNvSpPr txBox="1"/>
          <p:nvPr/>
        </p:nvSpPr>
        <p:spPr>
          <a:xfrm>
            <a:off x="4114800" y="2606040"/>
            <a:ext cx="3840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1F5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Where: </a:t>
            </a:r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Crude and product storage tanks</a:t>
            </a:r>
            <a:endParaRPr lang="en-US" sz="1400" dirty="0"/>
          </a:p>
        </p:txBody>
      </p:sp>
      <p:sp>
        <p:nvSpPr>
          <p:cNvPr id="75" name="s64"/>
          <p:cNvSpPr/>
          <p:nvPr/>
        </p:nvSpPr>
        <p:spPr>
          <a:xfrm>
            <a:off x="4114800" y="3337560"/>
            <a:ext cx="786384" cy="329184"/>
          </a:xfrm>
          <a:prstGeom prst="roundRect">
            <a:avLst>
              <a:gd name="adj" fmla="val 50000"/>
            </a:avLst>
          </a:prstGeom>
          <a:solidFill>
            <a:srgbClr val="7A5C3E"/>
          </a:solidFill>
          <a:ln/>
        </p:spPr>
      </p:sp>
      <p:sp>
        <p:nvSpPr>
          <p:cNvPr id="76" name="t65"/>
          <p:cNvSpPr txBox="1"/>
          <p:nvPr/>
        </p:nvSpPr>
        <p:spPr>
          <a:xfrm>
            <a:off x="4114800" y="3337560"/>
            <a:ext cx="7863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Sludge</a:t>
            </a:r>
            <a:endParaRPr lang="en-US" sz="1200" dirty="0"/>
          </a:p>
        </p:txBody>
      </p:sp>
      <p:sp>
        <p:nvSpPr>
          <p:cNvPr id="77" name="s66"/>
          <p:cNvSpPr/>
          <p:nvPr/>
        </p:nvSpPr>
        <p:spPr>
          <a:xfrm>
            <a:off x="5010912" y="3337560"/>
            <a:ext cx="864108" cy="329184"/>
          </a:xfrm>
          <a:prstGeom prst="roundRect">
            <a:avLst>
              <a:gd name="adj" fmla="val 50000"/>
            </a:avLst>
          </a:prstGeom>
          <a:solidFill>
            <a:srgbClr val="E67E22"/>
          </a:solidFill>
          <a:ln/>
        </p:spPr>
      </p:sp>
      <p:sp>
        <p:nvSpPr>
          <p:cNvPr id="78" name="t67"/>
          <p:cNvSpPr txBox="1"/>
          <p:nvPr/>
        </p:nvSpPr>
        <p:spPr>
          <a:xfrm>
            <a:off x="5010912" y="3337560"/>
            <a:ext cx="8641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Benzene</a:t>
            </a:r>
            <a:endParaRPr lang="en-US" sz="1200" dirty="0"/>
          </a:p>
        </p:txBody>
      </p:sp>
      <p:sp>
        <p:nvSpPr>
          <p:cNvPr id="79" name="s68"/>
          <p:cNvSpPr/>
          <p:nvPr/>
        </p:nvSpPr>
        <p:spPr>
          <a:xfrm>
            <a:off x="5984748" y="3337560"/>
            <a:ext cx="553212" cy="329184"/>
          </a:xfrm>
          <a:prstGeom prst="roundRect">
            <a:avLst>
              <a:gd name="adj" fmla="val 50000"/>
            </a:avLst>
          </a:prstGeom>
          <a:solidFill>
            <a:srgbClr val="D4A017"/>
          </a:solidFill>
          <a:ln/>
        </p:spPr>
      </p:sp>
      <p:sp>
        <p:nvSpPr>
          <p:cNvPr id="80" name="t69"/>
          <p:cNvSpPr txBox="1"/>
          <p:nvPr/>
        </p:nvSpPr>
        <p:spPr>
          <a:xfrm>
            <a:off x="5984748" y="3337560"/>
            <a:ext cx="5532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LEL</a:t>
            </a:r>
            <a:endParaRPr lang="en-US" sz="1200" dirty="0"/>
          </a:p>
        </p:txBody>
      </p:sp>
      <p:sp>
        <p:nvSpPr>
          <p:cNvPr id="81" name="s70"/>
          <p:cNvSpPr/>
          <p:nvPr/>
        </p:nvSpPr>
        <p:spPr>
          <a:xfrm>
            <a:off x="6647688" y="3337560"/>
            <a:ext cx="553212" cy="329184"/>
          </a:xfrm>
          <a:prstGeom prst="roundRect">
            <a:avLst>
              <a:gd name="adj" fmla="val 50000"/>
            </a:avLst>
          </a:prstGeom>
          <a:solidFill>
            <a:srgbClr val="C0392B"/>
          </a:solidFill>
          <a:ln/>
        </p:spPr>
      </p:sp>
      <p:sp>
        <p:nvSpPr>
          <p:cNvPr id="82" name="t71"/>
          <p:cNvSpPr txBox="1"/>
          <p:nvPr/>
        </p:nvSpPr>
        <p:spPr>
          <a:xfrm>
            <a:off x="6647688" y="3337560"/>
            <a:ext cx="5532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H₂S</a:t>
            </a:r>
            <a:endParaRPr lang="en-US" sz="1200" dirty="0"/>
          </a:p>
        </p:txBody>
      </p:sp>
      <p:sp>
        <p:nvSpPr>
          <p:cNvPr id="83" name="!!lf1_2"/>
          <p:cNvSpPr/>
          <p:nvPr/>
        </p:nvSpPr>
        <p:spPr>
          <a:xfrm>
            <a:off x="548640" y="4297680"/>
            <a:ext cx="3291840" cy="7315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3AB54A"/>
            </a:solidFill>
            <a:prstDash val="solid"/>
          </a:ln>
        </p:spPr>
      </p:sp>
      <p:sp>
        <p:nvSpPr>
          <p:cNvPr id="84" name="!!lft1_2"/>
          <p:cNvSpPr txBox="1"/>
          <p:nvPr/>
        </p:nvSpPr>
        <p:spPr>
          <a:xfrm>
            <a:off x="777240" y="4297680"/>
            <a:ext cx="2514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LPG / NGL plants &amp; spheres</a:t>
            </a:r>
            <a:endParaRPr lang="en-US" sz="1600" dirty="0"/>
          </a:p>
        </p:txBody>
      </p:sp>
      <p:sp>
        <p:nvSpPr>
          <p:cNvPr id="85" name="!!mk1_2"/>
          <p:cNvSpPr/>
          <p:nvPr/>
        </p:nvSpPr>
        <p:spPr>
          <a:xfrm>
            <a:off x="3337560" y="4453128"/>
            <a:ext cx="420624" cy="420624"/>
          </a:xfrm>
          <a:prstGeom prst="ellipse">
            <a:avLst/>
          </a:prstGeom>
          <a:solidFill>
            <a:srgbClr val="3AB54A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86" name="!!mki1_2" descr="preencoded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3447288" y="4562856"/>
            <a:ext cx="201168" cy="201168"/>
          </a:xfrm>
          <a:prstGeom prst="rect">
            <a:avLst/>
          </a:prstGeom>
        </p:spPr>
      </p:pic>
      <p:sp>
        <p:nvSpPr>
          <p:cNvPr id="87" name="t72"/>
          <p:cNvSpPr txBox="1"/>
          <p:nvPr/>
        </p:nvSpPr>
        <p:spPr>
          <a:xfrm>
            <a:off x="4114800" y="4023360"/>
            <a:ext cx="3840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1F5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Where: </a:t>
            </a:r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Fractionation columns, LPG spheres and bullets</a:t>
            </a:r>
            <a:endParaRPr lang="en-US" sz="1400" dirty="0"/>
          </a:p>
        </p:txBody>
      </p:sp>
      <p:sp>
        <p:nvSpPr>
          <p:cNvPr id="88" name="s73"/>
          <p:cNvSpPr/>
          <p:nvPr/>
        </p:nvSpPr>
        <p:spPr>
          <a:xfrm>
            <a:off x="4114800" y="4754880"/>
            <a:ext cx="553212" cy="329184"/>
          </a:xfrm>
          <a:prstGeom prst="roundRect">
            <a:avLst>
              <a:gd name="adj" fmla="val 50000"/>
            </a:avLst>
          </a:prstGeom>
          <a:solidFill>
            <a:srgbClr val="D4A017"/>
          </a:solidFill>
          <a:ln/>
        </p:spPr>
      </p:sp>
      <p:sp>
        <p:nvSpPr>
          <p:cNvPr id="89" name="t74"/>
          <p:cNvSpPr txBox="1"/>
          <p:nvPr/>
        </p:nvSpPr>
        <p:spPr>
          <a:xfrm>
            <a:off x="4114800" y="4754880"/>
            <a:ext cx="5532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LEL</a:t>
            </a:r>
            <a:endParaRPr lang="en-US" sz="1200" dirty="0"/>
          </a:p>
        </p:txBody>
      </p:sp>
      <p:sp>
        <p:nvSpPr>
          <p:cNvPr id="90" name="s75"/>
          <p:cNvSpPr/>
          <p:nvPr/>
        </p:nvSpPr>
        <p:spPr>
          <a:xfrm>
            <a:off x="4777740" y="4754880"/>
            <a:ext cx="1097280" cy="329184"/>
          </a:xfrm>
          <a:prstGeom prst="roundRect">
            <a:avLst>
              <a:gd name="adj" fmla="val 50000"/>
            </a:avLst>
          </a:prstGeom>
          <a:solidFill>
            <a:srgbClr val="8E9AAF"/>
          </a:solidFill>
          <a:ln/>
        </p:spPr>
      </p:sp>
      <p:sp>
        <p:nvSpPr>
          <p:cNvPr id="91" name="t76"/>
          <p:cNvSpPr txBox="1"/>
          <p:nvPr/>
        </p:nvSpPr>
        <p:spPr>
          <a:xfrm>
            <a:off x="4777740" y="4754880"/>
            <a:ext cx="1097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Mercaptans</a:t>
            </a:r>
            <a:endParaRPr lang="en-US" sz="1200" dirty="0"/>
          </a:p>
        </p:txBody>
      </p:sp>
      <p:sp>
        <p:nvSpPr>
          <p:cNvPr id="92" name="s77"/>
          <p:cNvSpPr/>
          <p:nvPr/>
        </p:nvSpPr>
        <p:spPr>
          <a:xfrm>
            <a:off x="5984748" y="4754880"/>
            <a:ext cx="553212" cy="329184"/>
          </a:xfrm>
          <a:prstGeom prst="roundRect">
            <a:avLst>
              <a:gd name="adj" fmla="val 50000"/>
            </a:avLst>
          </a:prstGeom>
          <a:solidFill>
            <a:srgbClr val="6B7280"/>
          </a:solidFill>
          <a:ln/>
        </p:spPr>
      </p:sp>
      <p:sp>
        <p:nvSpPr>
          <p:cNvPr id="93" name="t78"/>
          <p:cNvSpPr txBox="1"/>
          <p:nvPr/>
        </p:nvSpPr>
        <p:spPr>
          <a:xfrm>
            <a:off x="5984748" y="4754880"/>
            <a:ext cx="5532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FeS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708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slow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600" fill="hold"/>
                                        <p:tgtEl>
                                          <p:spTgt spid="6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600" fill="hold"/>
                                        <p:tgtEl>
                                          <p:spTgt spid="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60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600" fill="hold"/>
                                        <p:tgtEl>
                                          <p:spTgt spid="6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600" fill="hold"/>
                                        <p:tgtEl>
                                          <p:spTgt spid="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60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600" fill="hold"/>
                                        <p:tgtEl>
                                          <p:spTgt spid="6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600" fill="hold"/>
                                        <p:tgtEl>
                                          <p:spTgt spid="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60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600" fill="hold"/>
                                        <p:tgtEl>
                                          <p:spTgt spid="6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600" fill="hold"/>
                                        <p:tgtEl>
                                          <p:spTgt spid="6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600"/>
                                        <p:tgtEl>
                                          <p:spTgt spid="6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" dur="600" fill="hold"/>
                                        <p:tgtEl>
                                          <p:spTgt spid="6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600" fill="hold"/>
                                        <p:tgtEl>
                                          <p:spTgt spid="6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600"/>
                                        <p:tgtEl>
                                          <p:spTgt spid="6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600" fill="hold"/>
                                        <p:tgtEl>
                                          <p:spTgt spid="6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600" fill="hold"/>
                                        <p:tgtEl>
                                          <p:spTgt spid="6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600"/>
                                        <p:tgtEl>
                                          <p:spTgt spid="6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8" dur="600" fill="hold"/>
                                        <p:tgtEl>
                                          <p:spTgt spid="6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" dur="600" fill="hold"/>
                                        <p:tgtEl>
                                          <p:spTgt spid="6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600"/>
                                        <p:tgtEl>
                                          <p:spTgt spid="7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5" dur="600" fill="hold"/>
                                        <p:tgtEl>
                                          <p:spTgt spid="7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6" dur="600" fill="hold"/>
                                        <p:tgtEl>
                                          <p:spTgt spid="7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600"/>
                                        <p:tgtEl>
                                          <p:spTgt spid="7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0" dur="600" fill="hold"/>
                                        <p:tgtEl>
                                          <p:spTgt spid="7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1" dur="600" fill="hold"/>
                                        <p:tgtEl>
                                          <p:spTgt spid="7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2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600"/>
                                        <p:tgtEl>
                                          <p:spTgt spid="7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5" dur="600" fill="hold"/>
                                        <p:tgtEl>
                                          <p:spTgt spid="7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6" dur="600" fill="hold"/>
                                        <p:tgtEl>
                                          <p:spTgt spid="7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600"/>
                                        <p:tgtEl>
                                          <p:spTgt spid="7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0" dur="600" fill="hold"/>
                                        <p:tgtEl>
                                          <p:spTgt spid="7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1" dur="600" fill="hold"/>
                                        <p:tgtEl>
                                          <p:spTgt spid="7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2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600"/>
                                        <p:tgtEl>
                                          <p:spTgt spid="7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5" dur="600" fill="hold"/>
                                        <p:tgtEl>
                                          <p:spTgt spid="7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6" dur="600" fill="hold"/>
                                        <p:tgtEl>
                                          <p:spTgt spid="7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600"/>
                                        <p:tgtEl>
                                          <p:spTgt spid="7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0" dur="600" fill="hold"/>
                                        <p:tgtEl>
                                          <p:spTgt spid="7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1" dur="600" fill="hold"/>
                                        <p:tgtEl>
                                          <p:spTgt spid="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2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600"/>
                                        <p:tgtEl>
                                          <p:spTgt spid="8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5" dur="600" fill="hold"/>
                                        <p:tgtEl>
                                          <p:spTgt spid="8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6" dur="600" fill="hold"/>
                                        <p:tgtEl>
                                          <p:spTgt spid="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600"/>
                                        <p:tgtEl>
                                          <p:spTgt spid="8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0" dur="600" fill="hold"/>
                                        <p:tgtEl>
                                          <p:spTgt spid="8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1" dur="600" fill="hold"/>
                                        <p:tgtEl>
                                          <p:spTgt spid="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2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600"/>
                                        <p:tgtEl>
                                          <p:spTgt spid="8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5" dur="600" fill="hold"/>
                                        <p:tgtEl>
                                          <p:spTgt spid="8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6" dur="600" fill="hold"/>
                                        <p:tgtEl>
                                          <p:spTgt spid="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7" fill="hold">
                      <p:stCondLst>
                        <p:cond delay="indefinite"/>
                      </p:stCondLst>
                      <p:childTnLst>
                        <p:par>
                          <p:cTn id="88" fill="hold">
                            <p:stCondLst>
                              <p:cond delay="0"/>
                            </p:stCondLst>
                            <p:childTnLst>
                              <p:par>
                                <p:cTn id="89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600"/>
                                        <p:tgtEl>
                                          <p:spTgt spid="8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2" dur="600" fill="hold"/>
                                        <p:tgtEl>
                                          <p:spTgt spid="8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3" dur="600" fill="hold"/>
                                        <p:tgtEl>
                                          <p:spTgt spid="8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4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600"/>
                                        <p:tgtEl>
                                          <p:spTgt spid="8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7" dur="600" fill="hold"/>
                                        <p:tgtEl>
                                          <p:spTgt spid="8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8" dur="600" fill="hold"/>
                                        <p:tgtEl>
                                          <p:spTgt spid="8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9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1" dur="600"/>
                                        <p:tgtEl>
                                          <p:spTgt spid="8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2" dur="600" fill="hold"/>
                                        <p:tgtEl>
                                          <p:spTgt spid="8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3" dur="600" fill="hold"/>
                                        <p:tgtEl>
                                          <p:spTgt spid="8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4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600"/>
                                        <p:tgtEl>
                                          <p:spTgt spid="9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7" dur="600" fill="hold"/>
                                        <p:tgtEl>
                                          <p:spTgt spid="9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8" dur="600" fill="hold"/>
                                        <p:tgtEl>
                                          <p:spTgt spid="9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9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1" dur="600"/>
                                        <p:tgtEl>
                                          <p:spTgt spid="9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2" dur="600" fill="hold"/>
                                        <p:tgtEl>
                                          <p:spTgt spid="9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3" dur="600" fill="hold"/>
                                        <p:tgtEl>
                                          <p:spTgt spid="9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4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6" dur="600"/>
                                        <p:tgtEl>
                                          <p:spTgt spid="9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7" dur="600" fill="hold"/>
                                        <p:tgtEl>
                                          <p:spTgt spid="9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8" dur="600" fill="hold"/>
                                        <p:tgtEl>
                                          <p:spTgt spid="9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9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1" dur="600"/>
                                        <p:tgtEl>
                                          <p:spTgt spid="9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2" dur="600" fill="hold"/>
                                        <p:tgtEl>
                                          <p:spTgt spid="9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3" dur="600" fill="hold"/>
                                        <p:tgtEl>
                                          <p:spTgt spid="9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3" grpId="0" animBg="1"/>
      <p:bldP spid="64" grpId="0" animBg="1"/>
      <p:bldP spid="65" grpId="0" animBg="1"/>
      <p:bldP spid="66" grpId="0" animBg="1"/>
      <p:bldP spid="67" grpId="0" animBg="1"/>
      <p:bldP spid="68" grpId="0" animBg="1"/>
      <p:bldP spid="69" grpId="0" animBg="1"/>
      <p:bldP spid="74" grpId="0" animBg="1"/>
      <p:bldP spid="75" grpId="0" animBg="1"/>
      <p:bldP spid="76" grpId="0" animBg="1"/>
      <p:bldP spid="77" grpId="0" animBg="1"/>
      <p:bldP spid="78" grpId="0" animBg="1"/>
      <p:bldP spid="79" grpId="0" animBg="1"/>
      <p:bldP spid="80" grpId="0" animBg="1"/>
      <p:bldP spid="81" grpId="0" animBg="1"/>
      <p:bldP spid="82" grpId="0" animBg="1"/>
      <p:bldP spid="87" grpId="0" animBg="1"/>
      <p:bldP spid="88" grpId="0" animBg="1"/>
      <p:bldP spid="89" grpId="0" animBg="1"/>
      <p:bldP spid="90" grpId="0" animBg="1"/>
      <p:bldP spid="91" grpId="0" animBg="1"/>
      <p:bldP spid="92" grpId="0" animBg="1"/>
      <p:bldP spid="93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47472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5F8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Downstream – refining</a:t>
            </a:r>
            <a:endParaRPr lang="en-US" sz="2800" dirty="0"/>
          </a:p>
        </p:txBody>
      </p:sp>
      <p:sp>
        <p:nvSpPr>
          <p:cNvPr id="3" name="!!root"/>
          <p:cNvSpPr/>
          <p:nvPr/>
        </p:nvSpPr>
        <p:spPr>
          <a:xfrm>
            <a:off x="9437522" y="1161288"/>
            <a:ext cx="1152144" cy="197510"/>
          </a:xfrm>
          <a:prstGeom prst="roundRect">
            <a:avLst>
              <a:gd name="adj" fmla="val 50000"/>
            </a:avLst>
          </a:prstGeom>
          <a:solidFill>
            <a:srgbClr val="1F3A52"/>
          </a:solidFill>
          <a:ln/>
        </p:spPr>
      </p:sp>
      <p:sp>
        <p:nvSpPr>
          <p:cNvPr id="4" name="!!root_t"/>
          <p:cNvSpPr txBox="1"/>
          <p:nvPr/>
        </p:nvSpPr>
        <p:spPr>
          <a:xfrm>
            <a:off x="9437522" y="1161288"/>
            <a:ext cx="1152144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OIL &amp; GAS VALUE CHAIN</a:t>
            </a:r>
            <a:endParaRPr lang="en-US" sz="480" dirty="0"/>
          </a:p>
        </p:txBody>
      </p:sp>
      <p:sp>
        <p:nvSpPr>
          <p:cNvPr id="5" name="!!bar_v"/>
          <p:cNvSpPr/>
          <p:nvPr/>
        </p:nvSpPr>
        <p:spPr>
          <a:xfrm>
            <a:off x="10013594" y="1358798"/>
            <a:ext cx="0" cy="76810"/>
          </a:xfrm>
          <a:prstGeom prst="line">
            <a:avLst/>
          </a:prstGeom>
          <a:noFill/>
          <a:ln w="9525">
            <a:solidFill>
              <a:srgbClr val="C6D3E0"/>
            </a:solidFill>
            <a:prstDash val="solid"/>
          </a:ln>
        </p:spPr>
      </p:sp>
      <p:sp>
        <p:nvSpPr>
          <p:cNvPr id="6" name="!!bar_h"/>
          <p:cNvSpPr/>
          <p:nvPr/>
        </p:nvSpPr>
        <p:spPr>
          <a:xfrm>
            <a:off x="8718804" y="1435608"/>
            <a:ext cx="2592324" cy="0"/>
          </a:xfrm>
          <a:prstGeom prst="line">
            <a:avLst/>
          </a:prstGeom>
          <a:noFill/>
          <a:ln w="9525">
            <a:solidFill>
              <a:srgbClr val="C6D3E0"/>
            </a:solidFill>
            <a:prstDash val="solid"/>
          </a:ln>
        </p:spPr>
      </p:sp>
      <p:sp>
        <p:nvSpPr>
          <p:cNvPr id="7" name="!!spine0"/>
          <p:cNvSpPr/>
          <p:nvPr/>
        </p:nvSpPr>
        <p:spPr>
          <a:xfrm>
            <a:off x="8718804" y="1435608"/>
            <a:ext cx="0" cy="973836"/>
          </a:xfrm>
          <a:prstGeom prst="line">
            <a:avLst/>
          </a:prstGeom>
          <a:noFill/>
          <a:ln w="9525">
            <a:solidFill>
              <a:srgbClr val="C6D3E0"/>
            </a:solidFill>
            <a:prstDash val="solid"/>
          </a:ln>
        </p:spPr>
      </p:sp>
      <p:sp>
        <p:nvSpPr>
          <p:cNvPr id="8" name="!!br0"/>
          <p:cNvSpPr/>
          <p:nvPr/>
        </p:nvSpPr>
        <p:spPr>
          <a:xfrm>
            <a:off x="8334756" y="1517904"/>
            <a:ext cx="768096" cy="260604"/>
          </a:xfrm>
          <a:prstGeom prst="roundRect">
            <a:avLst>
              <a:gd name="adj" fmla="val 12632"/>
            </a:avLst>
          </a:prstGeom>
          <a:solidFill>
            <a:srgbClr val="0C74BC">
              <a:alpha val="35000"/>
            </a:srgbClr>
          </a:solidFill>
          <a:ln/>
        </p:spPr>
      </p:sp>
      <p:pic>
        <p:nvPicPr>
          <p:cNvPr id="9" name="!!bri0" descr="preencoded.png">    </p:cNvPr>
          <p:cNvPicPr>
            <a:picLocks noChangeAspect="1"/>
          </p:cNvPicPr>
          <p:nvPr/>
        </p:nvPicPr>
        <p:blipFill>
          <a:blip r:embed="rId1">
            <a:alphaModFix amt="40000"/>
          </a:blip>
          <a:stretch>
            <a:fillRect/>
          </a:stretch>
        </p:blipFill>
        <p:spPr>
          <a:xfrm>
            <a:off x="8375904" y="1559052"/>
            <a:ext cx="170078" cy="170078"/>
          </a:xfrm>
          <a:prstGeom prst="rect">
            <a:avLst/>
          </a:prstGeom>
        </p:spPr>
      </p:pic>
      <p:sp>
        <p:nvSpPr>
          <p:cNvPr id="10" name="!!brt0"/>
          <p:cNvSpPr txBox="1"/>
          <p:nvPr/>
        </p:nvSpPr>
        <p:spPr>
          <a:xfrm>
            <a:off x="8567928" y="1517904"/>
            <a:ext cx="526694" cy="2606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10" b="1" dirty="0">
                <a:solidFill>
                  <a:srgbClr val="FFFFFF">
                    <a:alpha val="5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UPSTREAM</a:t>
            </a:r>
            <a:endParaRPr lang="en-US" sz="410" dirty="0"/>
          </a:p>
          <a:p>
            <a:pPr indent="0" marL="0">
              <a:buNone/>
            </a:pPr>
            <a:r>
              <a:rPr lang="en-US" sz="330" dirty="0">
                <a:solidFill>
                  <a:srgbClr val="FFFFFF">
                    <a:alpha val="5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 &amp; gas processing</a:t>
            </a:r>
            <a:endParaRPr lang="en-US" sz="410" dirty="0"/>
          </a:p>
        </p:txBody>
      </p:sp>
      <p:sp>
        <p:nvSpPr>
          <p:cNvPr id="11" name="!!lf0_0"/>
          <p:cNvSpPr/>
          <p:nvPr/>
        </p:nvSpPr>
        <p:spPr>
          <a:xfrm>
            <a:off x="8334756" y="1860804"/>
            <a:ext cx="768096" cy="159106"/>
          </a:xfrm>
          <a:prstGeom prst="roundRect">
            <a:avLst>
              <a:gd name="adj" fmla="val 50000"/>
            </a:avLst>
          </a:prstGeom>
          <a:solidFill>
            <a:srgbClr val="FFFFFF">
              <a:alpha val="60000"/>
            </a:srgbClr>
          </a:solidFill>
          <a:ln w="4763">
            <a:solidFill>
              <a:srgbClr val="0C74BC">
                <a:alpha val="40000"/>
              </a:srgbClr>
            </a:solidFill>
            <a:prstDash val="solid"/>
          </a:ln>
        </p:spPr>
      </p:sp>
      <p:sp>
        <p:nvSpPr>
          <p:cNvPr id="12" name="!!lft0_0"/>
          <p:cNvSpPr txBox="1"/>
          <p:nvPr/>
        </p:nvSpPr>
        <p:spPr>
          <a:xfrm>
            <a:off x="8389620" y="1860804"/>
            <a:ext cx="589788" cy="1591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" b="1" dirty="0">
                <a:solidFill>
                  <a:srgbClr val="9AA9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Oil production stations</a:t>
            </a:r>
            <a:endParaRPr lang="en-US" sz="380" dirty="0"/>
          </a:p>
        </p:txBody>
      </p:sp>
      <p:sp>
        <p:nvSpPr>
          <p:cNvPr id="13" name="!!mk0_0"/>
          <p:cNvSpPr/>
          <p:nvPr/>
        </p:nvSpPr>
        <p:spPr>
          <a:xfrm>
            <a:off x="8987638" y="1890979"/>
            <a:ext cx="98755" cy="98755"/>
          </a:xfrm>
          <a:prstGeom prst="ellipse">
            <a:avLst/>
          </a:prstGeom>
          <a:solidFill>
            <a:srgbClr val="3AB54A">
              <a:alpha val="40000"/>
            </a:srgbClr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4" name="!!mki0_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12326" y="1915668"/>
            <a:ext cx="49378" cy="49378"/>
          </a:xfrm>
          <a:prstGeom prst="rect">
            <a:avLst/>
          </a:prstGeom>
        </p:spPr>
      </p:pic>
      <p:sp>
        <p:nvSpPr>
          <p:cNvPr id="15" name="!!lf0_1"/>
          <p:cNvSpPr/>
          <p:nvPr/>
        </p:nvSpPr>
        <p:spPr>
          <a:xfrm>
            <a:off x="8334756" y="2058314"/>
            <a:ext cx="768096" cy="159106"/>
          </a:xfrm>
          <a:prstGeom prst="roundRect">
            <a:avLst>
              <a:gd name="adj" fmla="val 50000"/>
            </a:avLst>
          </a:prstGeom>
          <a:solidFill>
            <a:srgbClr val="FFFFFF">
              <a:alpha val="60000"/>
            </a:srgbClr>
          </a:solidFill>
          <a:ln w="4763">
            <a:solidFill>
              <a:srgbClr val="0C74BC">
                <a:alpha val="40000"/>
              </a:srgbClr>
            </a:solidFill>
            <a:prstDash val="solid"/>
          </a:ln>
        </p:spPr>
      </p:sp>
      <p:sp>
        <p:nvSpPr>
          <p:cNvPr id="16" name="!!lft0_1"/>
          <p:cNvSpPr txBox="1"/>
          <p:nvPr/>
        </p:nvSpPr>
        <p:spPr>
          <a:xfrm>
            <a:off x="8389620" y="2058314"/>
            <a:ext cx="589788" cy="1591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" b="1" dirty="0">
                <a:solidFill>
                  <a:srgbClr val="9AA9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 processing plants</a:t>
            </a:r>
            <a:endParaRPr lang="en-US" sz="380" dirty="0"/>
          </a:p>
        </p:txBody>
      </p:sp>
      <p:sp>
        <p:nvSpPr>
          <p:cNvPr id="17" name="!!mk0_1"/>
          <p:cNvSpPr/>
          <p:nvPr/>
        </p:nvSpPr>
        <p:spPr>
          <a:xfrm>
            <a:off x="8987638" y="2088490"/>
            <a:ext cx="98755" cy="98755"/>
          </a:xfrm>
          <a:prstGeom prst="ellipse">
            <a:avLst/>
          </a:prstGeom>
          <a:solidFill>
            <a:srgbClr val="3AB54A">
              <a:alpha val="40000"/>
            </a:srgbClr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8" name="!!mki0_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12326" y="2113178"/>
            <a:ext cx="49378" cy="49378"/>
          </a:xfrm>
          <a:prstGeom prst="rect">
            <a:avLst/>
          </a:prstGeom>
        </p:spPr>
      </p:pic>
      <p:sp>
        <p:nvSpPr>
          <p:cNvPr id="19" name="!!lf0_2"/>
          <p:cNvSpPr/>
          <p:nvPr/>
        </p:nvSpPr>
        <p:spPr>
          <a:xfrm>
            <a:off x="8334756" y="2255825"/>
            <a:ext cx="768096" cy="159106"/>
          </a:xfrm>
          <a:prstGeom prst="roundRect">
            <a:avLst>
              <a:gd name="adj" fmla="val 50000"/>
            </a:avLst>
          </a:prstGeom>
          <a:solidFill>
            <a:srgbClr val="FFFFFF">
              <a:alpha val="60000"/>
            </a:srgbClr>
          </a:solidFill>
          <a:ln w="4763">
            <a:solidFill>
              <a:srgbClr val="0C74BC">
                <a:alpha val="40000"/>
              </a:srgbClr>
            </a:solidFill>
            <a:prstDash val="solid"/>
          </a:ln>
        </p:spPr>
      </p:sp>
      <p:sp>
        <p:nvSpPr>
          <p:cNvPr id="20" name="!!lft0_2"/>
          <p:cNvSpPr txBox="1"/>
          <p:nvPr/>
        </p:nvSpPr>
        <p:spPr>
          <a:xfrm>
            <a:off x="8389620" y="2255825"/>
            <a:ext cx="589788" cy="1591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" b="1" dirty="0">
                <a:solidFill>
                  <a:srgbClr val="9AA9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Produced water &amp; tank farms</a:t>
            </a:r>
            <a:endParaRPr lang="en-US" sz="380" dirty="0"/>
          </a:p>
        </p:txBody>
      </p:sp>
      <p:sp>
        <p:nvSpPr>
          <p:cNvPr id="21" name="!!mk0_2"/>
          <p:cNvSpPr/>
          <p:nvPr/>
        </p:nvSpPr>
        <p:spPr>
          <a:xfrm>
            <a:off x="8987638" y="2286000"/>
            <a:ext cx="98755" cy="98755"/>
          </a:xfrm>
          <a:prstGeom prst="ellipse">
            <a:avLst/>
          </a:prstGeom>
          <a:solidFill>
            <a:srgbClr val="3AB54A">
              <a:alpha val="40000"/>
            </a:srgbClr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22" name="!!mki0_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12326" y="2310689"/>
            <a:ext cx="49378" cy="49378"/>
          </a:xfrm>
          <a:prstGeom prst="rect">
            <a:avLst/>
          </a:prstGeom>
        </p:spPr>
      </p:pic>
      <p:sp>
        <p:nvSpPr>
          <p:cNvPr id="23" name="!!spine1"/>
          <p:cNvSpPr/>
          <p:nvPr/>
        </p:nvSpPr>
        <p:spPr>
          <a:xfrm>
            <a:off x="9582912" y="1435608"/>
            <a:ext cx="0" cy="973836"/>
          </a:xfrm>
          <a:prstGeom prst="line">
            <a:avLst/>
          </a:prstGeom>
          <a:noFill/>
          <a:ln w="9525">
            <a:solidFill>
              <a:srgbClr val="C6D3E0"/>
            </a:solidFill>
            <a:prstDash val="solid"/>
          </a:ln>
        </p:spPr>
      </p:sp>
      <p:sp>
        <p:nvSpPr>
          <p:cNvPr id="24" name="!!br1"/>
          <p:cNvSpPr/>
          <p:nvPr/>
        </p:nvSpPr>
        <p:spPr>
          <a:xfrm>
            <a:off x="9198864" y="1517904"/>
            <a:ext cx="768096" cy="260604"/>
          </a:xfrm>
          <a:prstGeom prst="roundRect">
            <a:avLst>
              <a:gd name="adj" fmla="val 12632"/>
            </a:avLst>
          </a:prstGeom>
          <a:solidFill>
            <a:srgbClr val="3AB54A">
              <a:alpha val="35000"/>
            </a:srgbClr>
          </a:solidFill>
          <a:ln/>
        </p:spPr>
      </p:sp>
      <p:pic>
        <p:nvPicPr>
          <p:cNvPr id="25" name="!!bri1" descr="preencoded.png">    </p:cNvPr>
          <p:cNvPicPr>
            <a:picLocks noChangeAspect="1"/>
          </p:cNvPicPr>
          <p:nvPr/>
        </p:nvPicPr>
        <p:blipFill>
          <a:blip r:embed="rId5">
            <a:alphaModFix amt="40000"/>
          </a:blip>
          <a:stretch>
            <a:fillRect/>
          </a:stretch>
        </p:blipFill>
        <p:spPr>
          <a:xfrm>
            <a:off x="9240012" y="1559052"/>
            <a:ext cx="170078" cy="170078"/>
          </a:xfrm>
          <a:prstGeom prst="rect">
            <a:avLst/>
          </a:prstGeom>
        </p:spPr>
      </p:pic>
      <p:sp>
        <p:nvSpPr>
          <p:cNvPr id="26" name="!!brt1"/>
          <p:cNvSpPr txBox="1"/>
          <p:nvPr/>
        </p:nvSpPr>
        <p:spPr>
          <a:xfrm>
            <a:off x="9432036" y="1517904"/>
            <a:ext cx="526694" cy="2606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10" b="1" dirty="0">
                <a:solidFill>
                  <a:srgbClr val="FFFFFF">
                    <a:alpha val="5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MIDSTREAM</a:t>
            </a:r>
            <a:endParaRPr lang="en-US" sz="410" dirty="0"/>
          </a:p>
          <a:p>
            <a:pPr indent="0" marL="0">
              <a:buNone/>
            </a:pPr>
            <a:r>
              <a:rPr lang="en-US" sz="330" dirty="0">
                <a:solidFill>
                  <a:srgbClr val="FFFFFF">
                    <a:alpha val="5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Transport &amp; storage</a:t>
            </a:r>
            <a:endParaRPr lang="en-US" sz="410" dirty="0"/>
          </a:p>
        </p:txBody>
      </p:sp>
      <p:sp>
        <p:nvSpPr>
          <p:cNvPr id="27" name="!!lf1_0"/>
          <p:cNvSpPr/>
          <p:nvPr/>
        </p:nvSpPr>
        <p:spPr>
          <a:xfrm>
            <a:off x="9198864" y="1860804"/>
            <a:ext cx="768096" cy="159106"/>
          </a:xfrm>
          <a:prstGeom prst="roundRect">
            <a:avLst>
              <a:gd name="adj" fmla="val 50000"/>
            </a:avLst>
          </a:prstGeom>
          <a:solidFill>
            <a:srgbClr val="FFFFFF">
              <a:alpha val="60000"/>
            </a:srgbClr>
          </a:solidFill>
          <a:ln w="4763">
            <a:solidFill>
              <a:srgbClr val="3AB54A">
                <a:alpha val="40000"/>
              </a:srgbClr>
            </a:solidFill>
            <a:prstDash val="solid"/>
          </a:ln>
        </p:spPr>
      </p:sp>
      <p:sp>
        <p:nvSpPr>
          <p:cNvPr id="28" name="!!lft1_0"/>
          <p:cNvSpPr txBox="1"/>
          <p:nvPr/>
        </p:nvSpPr>
        <p:spPr>
          <a:xfrm>
            <a:off x="9253728" y="1860804"/>
            <a:ext cx="589788" cy="1591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" b="1" dirty="0">
                <a:solidFill>
                  <a:srgbClr val="9AA9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Pipelines &amp; pig receivers</a:t>
            </a:r>
            <a:endParaRPr lang="en-US" sz="380" dirty="0"/>
          </a:p>
        </p:txBody>
      </p:sp>
      <p:sp>
        <p:nvSpPr>
          <p:cNvPr id="29" name="!!mk1_0"/>
          <p:cNvSpPr/>
          <p:nvPr/>
        </p:nvSpPr>
        <p:spPr>
          <a:xfrm>
            <a:off x="9851746" y="1890979"/>
            <a:ext cx="98755" cy="98755"/>
          </a:xfrm>
          <a:prstGeom prst="ellipse">
            <a:avLst/>
          </a:prstGeom>
          <a:solidFill>
            <a:srgbClr val="3AB54A">
              <a:alpha val="40000"/>
            </a:srgbClr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30" name="!!mki1_0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876434" y="1915668"/>
            <a:ext cx="49378" cy="49378"/>
          </a:xfrm>
          <a:prstGeom prst="rect">
            <a:avLst/>
          </a:prstGeom>
        </p:spPr>
      </p:pic>
      <p:sp>
        <p:nvSpPr>
          <p:cNvPr id="31" name="!!lf1_1"/>
          <p:cNvSpPr/>
          <p:nvPr/>
        </p:nvSpPr>
        <p:spPr>
          <a:xfrm>
            <a:off x="9198864" y="2058314"/>
            <a:ext cx="768096" cy="159106"/>
          </a:xfrm>
          <a:prstGeom prst="roundRect">
            <a:avLst>
              <a:gd name="adj" fmla="val 50000"/>
            </a:avLst>
          </a:prstGeom>
          <a:solidFill>
            <a:srgbClr val="FFFFFF">
              <a:alpha val="60000"/>
            </a:srgbClr>
          </a:solidFill>
          <a:ln w="4763">
            <a:solidFill>
              <a:srgbClr val="3AB54A">
                <a:alpha val="40000"/>
              </a:srgbClr>
            </a:solidFill>
            <a:prstDash val="solid"/>
          </a:ln>
        </p:spPr>
      </p:sp>
      <p:sp>
        <p:nvSpPr>
          <p:cNvPr id="32" name="!!lft1_1"/>
          <p:cNvSpPr txBox="1"/>
          <p:nvPr/>
        </p:nvSpPr>
        <p:spPr>
          <a:xfrm>
            <a:off x="9253728" y="2058314"/>
            <a:ext cx="589788" cy="1591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" b="1" dirty="0">
                <a:solidFill>
                  <a:srgbClr val="9AA9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Crude terminals &amp; tank farms</a:t>
            </a:r>
            <a:endParaRPr lang="en-US" sz="380" dirty="0"/>
          </a:p>
        </p:txBody>
      </p:sp>
      <p:sp>
        <p:nvSpPr>
          <p:cNvPr id="33" name="!!mk1_1"/>
          <p:cNvSpPr/>
          <p:nvPr/>
        </p:nvSpPr>
        <p:spPr>
          <a:xfrm>
            <a:off x="9851746" y="2088490"/>
            <a:ext cx="98755" cy="98755"/>
          </a:xfrm>
          <a:prstGeom prst="ellipse">
            <a:avLst/>
          </a:prstGeom>
          <a:solidFill>
            <a:srgbClr val="3AB54A">
              <a:alpha val="40000"/>
            </a:srgbClr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34" name="!!mki1_1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876434" y="2113178"/>
            <a:ext cx="49378" cy="49378"/>
          </a:xfrm>
          <a:prstGeom prst="rect">
            <a:avLst/>
          </a:prstGeom>
        </p:spPr>
      </p:pic>
      <p:sp>
        <p:nvSpPr>
          <p:cNvPr id="35" name="!!lf1_2"/>
          <p:cNvSpPr/>
          <p:nvPr/>
        </p:nvSpPr>
        <p:spPr>
          <a:xfrm>
            <a:off x="9198864" y="2255825"/>
            <a:ext cx="768096" cy="159106"/>
          </a:xfrm>
          <a:prstGeom prst="roundRect">
            <a:avLst>
              <a:gd name="adj" fmla="val 50000"/>
            </a:avLst>
          </a:prstGeom>
          <a:solidFill>
            <a:srgbClr val="FFFFFF">
              <a:alpha val="60000"/>
            </a:srgbClr>
          </a:solidFill>
          <a:ln w="4763">
            <a:solidFill>
              <a:srgbClr val="3AB54A">
                <a:alpha val="40000"/>
              </a:srgbClr>
            </a:solidFill>
            <a:prstDash val="solid"/>
          </a:ln>
        </p:spPr>
      </p:sp>
      <p:sp>
        <p:nvSpPr>
          <p:cNvPr id="36" name="!!lft1_2"/>
          <p:cNvSpPr txBox="1"/>
          <p:nvPr/>
        </p:nvSpPr>
        <p:spPr>
          <a:xfrm>
            <a:off x="9253728" y="2255825"/>
            <a:ext cx="589788" cy="1591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" b="1" dirty="0">
                <a:solidFill>
                  <a:srgbClr val="9AA9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LPG / NGL plants &amp; spheres</a:t>
            </a:r>
            <a:endParaRPr lang="en-US" sz="380" dirty="0"/>
          </a:p>
        </p:txBody>
      </p:sp>
      <p:sp>
        <p:nvSpPr>
          <p:cNvPr id="37" name="!!mk1_2"/>
          <p:cNvSpPr/>
          <p:nvPr/>
        </p:nvSpPr>
        <p:spPr>
          <a:xfrm>
            <a:off x="9851746" y="2286000"/>
            <a:ext cx="98755" cy="98755"/>
          </a:xfrm>
          <a:prstGeom prst="ellipse">
            <a:avLst/>
          </a:prstGeom>
          <a:solidFill>
            <a:srgbClr val="3AB54A">
              <a:alpha val="40000"/>
            </a:srgbClr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38" name="!!mki1_2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876434" y="2310689"/>
            <a:ext cx="49378" cy="49378"/>
          </a:xfrm>
          <a:prstGeom prst="rect">
            <a:avLst/>
          </a:prstGeom>
        </p:spPr>
      </p:pic>
      <p:sp>
        <p:nvSpPr>
          <p:cNvPr id="39" name="!!spine2"/>
          <p:cNvSpPr/>
          <p:nvPr/>
        </p:nvSpPr>
        <p:spPr>
          <a:xfrm>
            <a:off x="10447020" y="1435608"/>
            <a:ext cx="0" cy="82296"/>
          </a:xfrm>
          <a:prstGeom prst="line">
            <a:avLst/>
          </a:prstGeom>
          <a:noFill/>
          <a:ln w="9525">
            <a:solidFill>
              <a:srgbClr val="C6D3E0"/>
            </a:solidFill>
            <a:prstDash val="solid"/>
          </a:ln>
        </p:spPr>
      </p:sp>
      <p:sp>
        <p:nvSpPr>
          <p:cNvPr id="40" name="!!br2"/>
          <p:cNvSpPr/>
          <p:nvPr/>
        </p:nvSpPr>
        <p:spPr>
          <a:xfrm>
            <a:off x="10062972" y="1517904"/>
            <a:ext cx="768096" cy="260604"/>
          </a:xfrm>
          <a:prstGeom prst="roundRect">
            <a:avLst>
              <a:gd name="adj" fmla="val 12632"/>
            </a:avLst>
          </a:prstGeom>
          <a:solidFill>
            <a:srgbClr val="0C74BC"/>
          </a:solidFill>
          <a:ln/>
        </p:spPr>
      </p:sp>
      <p:pic>
        <p:nvPicPr>
          <p:cNvPr id="41" name="!!bri2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104120" y="1559052"/>
            <a:ext cx="170078" cy="170078"/>
          </a:xfrm>
          <a:prstGeom prst="rect">
            <a:avLst/>
          </a:prstGeom>
        </p:spPr>
      </p:pic>
      <p:sp>
        <p:nvSpPr>
          <p:cNvPr id="42" name="!!brt2"/>
          <p:cNvSpPr txBox="1"/>
          <p:nvPr/>
        </p:nvSpPr>
        <p:spPr>
          <a:xfrm>
            <a:off x="10296144" y="1517904"/>
            <a:ext cx="526694" cy="2606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1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DOWNSTREAM</a:t>
            </a:r>
            <a:endParaRPr lang="en-US" sz="410" dirty="0"/>
          </a:p>
          <a:p>
            <a:pPr indent="0" marL="0">
              <a:buNone/>
            </a:pPr>
            <a:r>
              <a:rPr lang="en-US" sz="33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Refining</a:t>
            </a:r>
            <a:endParaRPr lang="en-US" sz="410" dirty="0"/>
          </a:p>
        </p:txBody>
      </p:sp>
      <p:sp>
        <p:nvSpPr>
          <p:cNvPr id="43" name="!!spine3"/>
          <p:cNvSpPr/>
          <p:nvPr/>
        </p:nvSpPr>
        <p:spPr>
          <a:xfrm>
            <a:off x="11311128" y="1435608"/>
            <a:ext cx="0" cy="973836"/>
          </a:xfrm>
          <a:prstGeom prst="line">
            <a:avLst/>
          </a:prstGeom>
          <a:noFill/>
          <a:ln w="9525">
            <a:solidFill>
              <a:srgbClr val="C6D3E0"/>
            </a:solidFill>
            <a:prstDash val="solid"/>
          </a:ln>
        </p:spPr>
      </p:sp>
      <p:sp>
        <p:nvSpPr>
          <p:cNvPr id="44" name="!!br3"/>
          <p:cNvSpPr/>
          <p:nvPr/>
        </p:nvSpPr>
        <p:spPr>
          <a:xfrm>
            <a:off x="10927080" y="1517904"/>
            <a:ext cx="768096" cy="260604"/>
          </a:xfrm>
          <a:prstGeom prst="roundRect">
            <a:avLst>
              <a:gd name="adj" fmla="val 12632"/>
            </a:avLst>
          </a:prstGeom>
          <a:solidFill>
            <a:srgbClr val="3AB54A">
              <a:alpha val="35000"/>
            </a:srgbClr>
          </a:solidFill>
          <a:ln/>
        </p:spPr>
      </p:sp>
      <p:pic>
        <p:nvPicPr>
          <p:cNvPr id="45" name="!!bri3" descr="preencoded.png">    </p:cNvPr>
          <p:cNvPicPr>
            <a:picLocks noChangeAspect="1"/>
          </p:cNvPicPr>
          <p:nvPr/>
        </p:nvPicPr>
        <p:blipFill>
          <a:blip r:embed="rId10">
            <a:alphaModFix amt="40000"/>
          </a:blip>
          <a:stretch>
            <a:fillRect/>
          </a:stretch>
        </p:blipFill>
        <p:spPr>
          <a:xfrm>
            <a:off x="10968228" y="1559052"/>
            <a:ext cx="170078" cy="170078"/>
          </a:xfrm>
          <a:prstGeom prst="rect">
            <a:avLst/>
          </a:prstGeom>
        </p:spPr>
      </p:pic>
      <p:sp>
        <p:nvSpPr>
          <p:cNvPr id="46" name="!!brt3"/>
          <p:cNvSpPr txBox="1"/>
          <p:nvPr/>
        </p:nvSpPr>
        <p:spPr>
          <a:xfrm>
            <a:off x="11160252" y="1517904"/>
            <a:ext cx="526694" cy="2606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10" b="1" dirty="0">
                <a:solidFill>
                  <a:srgbClr val="FFFFFF">
                    <a:alpha val="5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PETROCHEMICALS</a:t>
            </a:r>
            <a:endParaRPr lang="en-US" sz="410" dirty="0"/>
          </a:p>
          <a:p>
            <a:pPr indent="0" marL="0">
              <a:buNone/>
            </a:pPr>
            <a:r>
              <a:rPr lang="en-US" sz="330" dirty="0">
                <a:solidFill>
                  <a:srgbClr val="FFFFFF">
                    <a:alpha val="5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Chemicals &amp; polymers</a:t>
            </a:r>
            <a:endParaRPr lang="en-US" sz="410" dirty="0"/>
          </a:p>
        </p:txBody>
      </p:sp>
      <p:sp>
        <p:nvSpPr>
          <p:cNvPr id="47" name="!!lf3_0"/>
          <p:cNvSpPr/>
          <p:nvPr/>
        </p:nvSpPr>
        <p:spPr>
          <a:xfrm>
            <a:off x="10927080" y="1860804"/>
            <a:ext cx="768096" cy="159106"/>
          </a:xfrm>
          <a:prstGeom prst="roundRect">
            <a:avLst>
              <a:gd name="adj" fmla="val 50000"/>
            </a:avLst>
          </a:prstGeom>
          <a:solidFill>
            <a:srgbClr val="FFFFFF">
              <a:alpha val="60000"/>
            </a:srgbClr>
          </a:solidFill>
          <a:ln w="4763">
            <a:solidFill>
              <a:srgbClr val="3AB54A">
                <a:alpha val="40000"/>
              </a:srgbClr>
            </a:solidFill>
            <a:prstDash val="solid"/>
          </a:ln>
        </p:spPr>
      </p:sp>
      <p:sp>
        <p:nvSpPr>
          <p:cNvPr id="48" name="!!lft3_0"/>
          <p:cNvSpPr txBox="1"/>
          <p:nvPr/>
        </p:nvSpPr>
        <p:spPr>
          <a:xfrm>
            <a:off x="10981944" y="1860804"/>
            <a:ext cx="589788" cy="1591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" b="1" dirty="0">
                <a:solidFill>
                  <a:srgbClr val="9AA9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Aromatics (BTX)</a:t>
            </a:r>
            <a:endParaRPr lang="en-US" sz="380" dirty="0"/>
          </a:p>
        </p:txBody>
      </p:sp>
      <p:sp>
        <p:nvSpPr>
          <p:cNvPr id="49" name="!!mk3_0"/>
          <p:cNvSpPr/>
          <p:nvPr/>
        </p:nvSpPr>
        <p:spPr>
          <a:xfrm>
            <a:off x="11579962" y="1890979"/>
            <a:ext cx="98755" cy="98755"/>
          </a:xfrm>
          <a:prstGeom prst="ellipse">
            <a:avLst/>
          </a:prstGeom>
          <a:solidFill>
            <a:srgbClr val="3AB54A">
              <a:alpha val="40000"/>
            </a:srgbClr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50" name="!!mki3_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1604650" y="1915668"/>
            <a:ext cx="49378" cy="49378"/>
          </a:xfrm>
          <a:prstGeom prst="rect">
            <a:avLst/>
          </a:prstGeom>
        </p:spPr>
      </p:pic>
      <p:sp>
        <p:nvSpPr>
          <p:cNvPr id="51" name="!!lf3_1"/>
          <p:cNvSpPr/>
          <p:nvPr/>
        </p:nvSpPr>
        <p:spPr>
          <a:xfrm>
            <a:off x="10927080" y="2058314"/>
            <a:ext cx="768096" cy="159106"/>
          </a:xfrm>
          <a:prstGeom prst="roundRect">
            <a:avLst>
              <a:gd name="adj" fmla="val 50000"/>
            </a:avLst>
          </a:prstGeom>
          <a:solidFill>
            <a:srgbClr val="FFFFFF">
              <a:alpha val="60000"/>
            </a:srgbClr>
          </a:solidFill>
          <a:ln w="4763">
            <a:solidFill>
              <a:srgbClr val="3AB54A">
                <a:alpha val="40000"/>
              </a:srgbClr>
            </a:solidFill>
            <a:prstDash val="solid"/>
          </a:ln>
        </p:spPr>
      </p:sp>
      <p:sp>
        <p:nvSpPr>
          <p:cNvPr id="52" name="!!lft3_1"/>
          <p:cNvSpPr txBox="1"/>
          <p:nvPr/>
        </p:nvSpPr>
        <p:spPr>
          <a:xfrm>
            <a:off x="10981944" y="2058314"/>
            <a:ext cx="589788" cy="1591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" b="1" dirty="0">
                <a:solidFill>
                  <a:srgbClr val="9AA9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Olefins &amp; polymers</a:t>
            </a:r>
            <a:endParaRPr lang="en-US" sz="380" dirty="0"/>
          </a:p>
        </p:txBody>
      </p:sp>
      <p:sp>
        <p:nvSpPr>
          <p:cNvPr id="53" name="!!mk3_1"/>
          <p:cNvSpPr/>
          <p:nvPr/>
        </p:nvSpPr>
        <p:spPr>
          <a:xfrm>
            <a:off x="11579962" y="2088490"/>
            <a:ext cx="98755" cy="98755"/>
          </a:xfrm>
          <a:prstGeom prst="ellipse">
            <a:avLst/>
          </a:prstGeom>
          <a:solidFill>
            <a:srgbClr val="3AB54A">
              <a:alpha val="40000"/>
            </a:srgbClr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54" name="!!mki3_1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1604650" y="2113178"/>
            <a:ext cx="49378" cy="49378"/>
          </a:xfrm>
          <a:prstGeom prst="rect">
            <a:avLst/>
          </a:prstGeom>
        </p:spPr>
      </p:pic>
      <p:sp>
        <p:nvSpPr>
          <p:cNvPr id="55" name="!!lf3_2"/>
          <p:cNvSpPr/>
          <p:nvPr/>
        </p:nvSpPr>
        <p:spPr>
          <a:xfrm>
            <a:off x="10927080" y="2255825"/>
            <a:ext cx="768096" cy="159106"/>
          </a:xfrm>
          <a:prstGeom prst="roundRect">
            <a:avLst>
              <a:gd name="adj" fmla="val 50000"/>
            </a:avLst>
          </a:prstGeom>
          <a:solidFill>
            <a:srgbClr val="FFFFFF">
              <a:alpha val="60000"/>
            </a:srgbClr>
          </a:solidFill>
          <a:ln w="4763">
            <a:solidFill>
              <a:srgbClr val="3AB54A">
                <a:alpha val="40000"/>
              </a:srgbClr>
            </a:solidFill>
            <a:prstDash val="solid"/>
          </a:ln>
        </p:spPr>
      </p:sp>
      <p:sp>
        <p:nvSpPr>
          <p:cNvPr id="56" name="!!lft3_2"/>
          <p:cNvSpPr txBox="1"/>
          <p:nvPr/>
        </p:nvSpPr>
        <p:spPr>
          <a:xfrm>
            <a:off x="10981944" y="2255825"/>
            <a:ext cx="589788" cy="1591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" b="1" dirty="0">
                <a:solidFill>
                  <a:srgbClr val="9AA9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Methanol &amp; fertilisers</a:t>
            </a:r>
            <a:endParaRPr lang="en-US" sz="380" dirty="0"/>
          </a:p>
        </p:txBody>
      </p:sp>
      <p:sp>
        <p:nvSpPr>
          <p:cNvPr id="57" name="!!mk3_2"/>
          <p:cNvSpPr/>
          <p:nvPr/>
        </p:nvSpPr>
        <p:spPr>
          <a:xfrm>
            <a:off x="11579962" y="2286000"/>
            <a:ext cx="98755" cy="98755"/>
          </a:xfrm>
          <a:prstGeom prst="ellipse">
            <a:avLst/>
          </a:prstGeom>
          <a:solidFill>
            <a:srgbClr val="3AB54A">
              <a:alpha val="40000"/>
            </a:srgbClr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58" name="!!mki3_2" descr="preencode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1604650" y="2310689"/>
            <a:ext cx="49378" cy="49378"/>
          </a:xfrm>
          <a:prstGeom prst="rect">
            <a:avLst/>
          </a:prstGeom>
        </p:spPr>
      </p:pic>
      <p:sp>
        <p:nvSpPr>
          <p:cNvPr id="59" name="!!lf2_0"/>
          <p:cNvSpPr/>
          <p:nvPr/>
        </p:nvSpPr>
        <p:spPr>
          <a:xfrm>
            <a:off x="548640" y="1463040"/>
            <a:ext cx="3291840" cy="7315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0C74BC"/>
            </a:solidFill>
            <a:prstDash val="solid"/>
          </a:ln>
        </p:spPr>
      </p:sp>
      <p:sp>
        <p:nvSpPr>
          <p:cNvPr id="60" name="!!lft2_0"/>
          <p:cNvSpPr txBox="1"/>
          <p:nvPr/>
        </p:nvSpPr>
        <p:spPr>
          <a:xfrm>
            <a:off x="777240" y="1463040"/>
            <a:ext cx="2514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Crude &amp; vacuum units</a:t>
            </a:r>
            <a:endParaRPr lang="en-US" sz="1600" dirty="0"/>
          </a:p>
        </p:txBody>
      </p:sp>
      <p:sp>
        <p:nvSpPr>
          <p:cNvPr id="61" name="!!mk2_0"/>
          <p:cNvSpPr/>
          <p:nvPr/>
        </p:nvSpPr>
        <p:spPr>
          <a:xfrm>
            <a:off x="3337560" y="1618488"/>
            <a:ext cx="420624" cy="420624"/>
          </a:xfrm>
          <a:prstGeom prst="ellipse">
            <a:avLst/>
          </a:prstGeom>
          <a:solidFill>
            <a:srgbClr val="3AB54A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62" name="!!mki2_0" descr="preencoded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3447288" y="1728216"/>
            <a:ext cx="201168" cy="201168"/>
          </a:xfrm>
          <a:prstGeom prst="rect">
            <a:avLst/>
          </a:prstGeom>
        </p:spPr>
      </p:pic>
      <p:sp>
        <p:nvSpPr>
          <p:cNvPr id="63" name="t79"/>
          <p:cNvSpPr txBox="1"/>
          <p:nvPr/>
        </p:nvSpPr>
        <p:spPr>
          <a:xfrm>
            <a:off x="4114800" y="1188720"/>
            <a:ext cx="3840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1F5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Where: </a:t>
            </a:r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CDU, VDU, desalter, pre-heat trains</a:t>
            </a:r>
            <a:endParaRPr lang="en-US" sz="1400" dirty="0"/>
          </a:p>
        </p:txBody>
      </p:sp>
      <p:sp>
        <p:nvSpPr>
          <p:cNvPr id="64" name="s80"/>
          <p:cNvSpPr/>
          <p:nvPr/>
        </p:nvSpPr>
        <p:spPr>
          <a:xfrm>
            <a:off x="4114800" y="1920240"/>
            <a:ext cx="553212" cy="329184"/>
          </a:xfrm>
          <a:prstGeom prst="roundRect">
            <a:avLst>
              <a:gd name="adj" fmla="val 50000"/>
            </a:avLst>
          </a:prstGeom>
          <a:solidFill>
            <a:srgbClr val="C0392B"/>
          </a:solidFill>
          <a:ln/>
        </p:spPr>
      </p:sp>
      <p:sp>
        <p:nvSpPr>
          <p:cNvPr id="65" name="t81"/>
          <p:cNvSpPr txBox="1"/>
          <p:nvPr/>
        </p:nvSpPr>
        <p:spPr>
          <a:xfrm>
            <a:off x="4114800" y="1920240"/>
            <a:ext cx="5532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H₂S</a:t>
            </a:r>
            <a:endParaRPr lang="en-US" sz="1200" dirty="0"/>
          </a:p>
        </p:txBody>
      </p:sp>
      <p:sp>
        <p:nvSpPr>
          <p:cNvPr id="66" name="s82"/>
          <p:cNvSpPr/>
          <p:nvPr/>
        </p:nvSpPr>
        <p:spPr>
          <a:xfrm>
            <a:off x="4777740" y="1920240"/>
            <a:ext cx="864108" cy="329184"/>
          </a:xfrm>
          <a:prstGeom prst="roundRect">
            <a:avLst>
              <a:gd name="adj" fmla="val 50000"/>
            </a:avLst>
          </a:prstGeom>
          <a:solidFill>
            <a:srgbClr val="E67E22"/>
          </a:solidFill>
          <a:ln/>
        </p:spPr>
      </p:sp>
      <p:sp>
        <p:nvSpPr>
          <p:cNvPr id="67" name="t83"/>
          <p:cNvSpPr txBox="1"/>
          <p:nvPr/>
        </p:nvSpPr>
        <p:spPr>
          <a:xfrm>
            <a:off x="4777740" y="1920240"/>
            <a:ext cx="8641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Benzene</a:t>
            </a:r>
            <a:endParaRPr lang="en-US" sz="1200" dirty="0"/>
          </a:p>
        </p:txBody>
      </p:sp>
      <p:sp>
        <p:nvSpPr>
          <p:cNvPr id="68" name="s84"/>
          <p:cNvSpPr/>
          <p:nvPr/>
        </p:nvSpPr>
        <p:spPr>
          <a:xfrm>
            <a:off x="5751576" y="1920240"/>
            <a:ext cx="553212" cy="329184"/>
          </a:xfrm>
          <a:prstGeom prst="roundRect">
            <a:avLst>
              <a:gd name="adj" fmla="val 50000"/>
            </a:avLst>
          </a:prstGeom>
          <a:solidFill>
            <a:srgbClr val="D4A017"/>
          </a:solidFill>
          <a:ln/>
        </p:spPr>
      </p:sp>
      <p:sp>
        <p:nvSpPr>
          <p:cNvPr id="69" name="t85"/>
          <p:cNvSpPr txBox="1"/>
          <p:nvPr/>
        </p:nvSpPr>
        <p:spPr>
          <a:xfrm>
            <a:off x="5751576" y="1920240"/>
            <a:ext cx="5532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LEL</a:t>
            </a:r>
            <a:endParaRPr lang="en-US" sz="1200" dirty="0"/>
          </a:p>
        </p:txBody>
      </p:sp>
      <p:sp>
        <p:nvSpPr>
          <p:cNvPr id="70" name="s86"/>
          <p:cNvSpPr/>
          <p:nvPr/>
        </p:nvSpPr>
        <p:spPr>
          <a:xfrm>
            <a:off x="6414516" y="1920240"/>
            <a:ext cx="1019556" cy="329184"/>
          </a:xfrm>
          <a:prstGeom prst="roundRect">
            <a:avLst>
              <a:gd name="adj" fmla="val 50000"/>
            </a:avLst>
          </a:prstGeom>
          <a:solidFill>
            <a:srgbClr val="7A5C3E"/>
          </a:solidFill>
          <a:ln/>
        </p:spPr>
      </p:sp>
      <p:sp>
        <p:nvSpPr>
          <p:cNvPr id="71" name="t87"/>
          <p:cNvSpPr txBox="1"/>
          <p:nvPr/>
        </p:nvSpPr>
        <p:spPr>
          <a:xfrm>
            <a:off x="6414516" y="1920240"/>
            <a:ext cx="10195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Heavy oil</a:t>
            </a:r>
            <a:endParaRPr lang="en-US" sz="1200" dirty="0"/>
          </a:p>
        </p:txBody>
      </p:sp>
      <p:sp>
        <p:nvSpPr>
          <p:cNvPr id="72" name="!!lf2_1"/>
          <p:cNvSpPr/>
          <p:nvPr/>
        </p:nvSpPr>
        <p:spPr>
          <a:xfrm>
            <a:off x="548640" y="2880360"/>
            <a:ext cx="3291840" cy="7315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0C74BC"/>
            </a:solidFill>
            <a:prstDash val="solid"/>
          </a:ln>
        </p:spPr>
      </p:sp>
      <p:sp>
        <p:nvSpPr>
          <p:cNvPr id="73" name="!!lft2_1"/>
          <p:cNvSpPr txBox="1"/>
          <p:nvPr/>
        </p:nvSpPr>
        <p:spPr>
          <a:xfrm>
            <a:off x="777240" y="2880360"/>
            <a:ext cx="2514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Hydroprocessing &amp; conversion</a:t>
            </a:r>
            <a:endParaRPr lang="en-US" sz="1600" dirty="0"/>
          </a:p>
        </p:txBody>
      </p:sp>
      <p:sp>
        <p:nvSpPr>
          <p:cNvPr id="74" name="!!mk2_1"/>
          <p:cNvSpPr/>
          <p:nvPr/>
        </p:nvSpPr>
        <p:spPr>
          <a:xfrm>
            <a:off x="3337560" y="3035808"/>
            <a:ext cx="420624" cy="420624"/>
          </a:xfrm>
          <a:prstGeom prst="ellipse">
            <a:avLst/>
          </a:prstGeom>
          <a:solidFill>
            <a:srgbClr val="3AB54A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75" name="!!mki2_1" descr="preencoded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3447288" y="3145536"/>
            <a:ext cx="201168" cy="201168"/>
          </a:xfrm>
          <a:prstGeom prst="rect">
            <a:avLst/>
          </a:prstGeom>
        </p:spPr>
      </p:pic>
      <p:sp>
        <p:nvSpPr>
          <p:cNvPr id="76" name="t88"/>
          <p:cNvSpPr txBox="1"/>
          <p:nvPr/>
        </p:nvSpPr>
        <p:spPr>
          <a:xfrm>
            <a:off x="4114800" y="2606040"/>
            <a:ext cx="3840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1F5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Where: </a:t>
            </a:r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Hydrotreaters, hydrocracker, FCC, coker</a:t>
            </a:r>
            <a:endParaRPr lang="en-US" sz="1400" dirty="0"/>
          </a:p>
        </p:txBody>
      </p:sp>
      <p:sp>
        <p:nvSpPr>
          <p:cNvPr id="77" name="s89"/>
          <p:cNvSpPr/>
          <p:nvPr/>
        </p:nvSpPr>
        <p:spPr>
          <a:xfrm>
            <a:off x="4114800" y="3337560"/>
            <a:ext cx="553212" cy="329184"/>
          </a:xfrm>
          <a:prstGeom prst="roundRect">
            <a:avLst>
              <a:gd name="adj" fmla="val 50000"/>
            </a:avLst>
          </a:prstGeom>
          <a:solidFill>
            <a:srgbClr val="C0392B"/>
          </a:solidFill>
          <a:ln/>
        </p:spPr>
      </p:sp>
      <p:sp>
        <p:nvSpPr>
          <p:cNvPr id="78" name="t90"/>
          <p:cNvSpPr txBox="1"/>
          <p:nvPr/>
        </p:nvSpPr>
        <p:spPr>
          <a:xfrm>
            <a:off x="4114800" y="3337560"/>
            <a:ext cx="5532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H₂S</a:t>
            </a:r>
            <a:endParaRPr lang="en-US" sz="1200" dirty="0"/>
          </a:p>
        </p:txBody>
      </p:sp>
      <p:sp>
        <p:nvSpPr>
          <p:cNvPr id="79" name="s91"/>
          <p:cNvSpPr/>
          <p:nvPr/>
        </p:nvSpPr>
        <p:spPr>
          <a:xfrm>
            <a:off x="4777740" y="3337560"/>
            <a:ext cx="553212" cy="329184"/>
          </a:xfrm>
          <a:prstGeom prst="roundRect">
            <a:avLst>
              <a:gd name="adj" fmla="val 50000"/>
            </a:avLst>
          </a:prstGeom>
          <a:solidFill>
            <a:srgbClr val="6B7280"/>
          </a:solidFill>
          <a:ln/>
        </p:spPr>
      </p:sp>
      <p:sp>
        <p:nvSpPr>
          <p:cNvPr id="80" name="t92"/>
          <p:cNvSpPr txBox="1"/>
          <p:nvPr/>
        </p:nvSpPr>
        <p:spPr>
          <a:xfrm>
            <a:off x="4777740" y="3337560"/>
            <a:ext cx="5532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FeS</a:t>
            </a:r>
            <a:endParaRPr lang="en-US" sz="1200" dirty="0"/>
          </a:p>
        </p:txBody>
      </p:sp>
      <p:sp>
        <p:nvSpPr>
          <p:cNvPr id="81" name="s93"/>
          <p:cNvSpPr/>
          <p:nvPr/>
        </p:nvSpPr>
        <p:spPr>
          <a:xfrm>
            <a:off x="5440680" y="3337560"/>
            <a:ext cx="630936" cy="329184"/>
          </a:xfrm>
          <a:prstGeom prst="roundRect">
            <a:avLst>
              <a:gd name="adj" fmla="val 50000"/>
            </a:avLst>
          </a:prstGeom>
          <a:solidFill>
            <a:srgbClr val="1F3A52"/>
          </a:solidFill>
          <a:ln/>
        </p:spPr>
      </p:sp>
      <p:sp>
        <p:nvSpPr>
          <p:cNvPr id="82" name="t94"/>
          <p:cNvSpPr txBox="1"/>
          <p:nvPr/>
        </p:nvSpPr>
        <p:spPr>
          <a:xfrm>
            <a:off x="5440680" y="3337560"/>
            <a:ext cx="6309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Coke</a:t>
            </a:r>
            <a:endParaRPr lang="en-US" sz="1200" dirty="0"/>
          </a:p>
        </p:txBody>
      </p:sp>
      <p:sp>
        <p:nvSpPr>
          <p:cNvPr id="83" name="s95"/>
          <p:cNvSpPr/>
          <p:nvPr/>
        </p:nvSpPr>
        <p:spPr>
          <a:xfrm>
            <a:off x="6181344" y="3337560"/>
            <a:ext cx="553212" cy="329184"/>
          </a:xfrm>
          <a:prstGeom prst="roundRect">
            <a:avLst>
              <a:gd name="adj" fmla="val 50000"/>
            </a:avLst>
          </a:prstGeom>
          <a:solidFill>
            <a:srgbClr val="D4A017"/>
          </a:solidFill>
          <a:ln/>
        </p:spPr>
      </p:sp>
      <p:sp>
        <p:nvSpPr>
          <p:cNvPr id="84" name="t96"/>
          <p:cNvSpPr txBox="1"/>
          <p:nvPr/>
        </p:nvSpPr>
        <p:spPr>
          <a:xfrm>
            <a:off x="6181344" y="3337560"/>
            <a:ext cx="5532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LEL</a:t>
            </a:r>
            <a:endParaRPr lang="en-US" sz="1200" dirty="0"/>
          </a:p>
        </p:txBody>
      </p:sp>
      <p:sp>
        <p:nvSpPr>
          <p:cNvPr id="85" name="!!lf2_2"/>
          <p:cNvSpPr/>
          <p:nvPr/>
        </p:nvSpPr>
        <p:spPr>
          <a:xfrm>
            <a:off x="548640" y="4297680"/>
            <a:ext cx="3291840" cy="7315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0C74BC"/>
            </a:solidFill>
            <a:prstDash val="solid"/>
          </a:ln>
        </p:spPr>
      </p:sp>
      <p:sp>
        <p:nvSpPr>
          <p:cNvPr id="86" name="!!lft2_2"/>
          <p:cNvSpPr txBox="1"/>
          <p:nvPr/>
        </p:nvSpPr>
        <p:spPr>
          <a:xfrm>
            <a:off x="777240" y="4297680"/>
            <a:ext cx="2514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 water, amine &amp; sulphur</a:t>
            </a:r>
            <a:endParaRPr lang="en-US" sz="1600" dirty="0"/>
          </a:p>
        </p:txBody>
      </p:sp>
      <p:sp>
        <p:nvSpPr>
          <p:cNvPr id="87" name="!!mk2_2"/>
          <p:cNvSpPr/>
          <p:nvPr/>
        </p:nvSpPr>
        <p:spPr>
          <a:xfrm>
            <a:off x="3337560" y="4453128"/>
            <a:ext cx="420624" cy="420624"/>
          </a:xfrm>
          <a:prstGeom prst="ellipse">
            <a:avLst/>
          </a:prstGeom>
          <a:solidFill>
            <a:srgbClr val="3AB54A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88" name="!!mki2_2" descr="preencoded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3447288" y="4562856"/>
            <a:ext cx="201168" cy="201168"/>
          </a:xfrm>
          <a:prstGeom prst="rect">
            <a:avLst/>
          </a:prstGeom>
        </p:spPr>
      </p:pic>
      <p:sp>
        <p:nvSpPr>
          <p:cNvPr id="89" name="t97"/>
          <p:cNvSpPr txBox="1"/>
          <p:nvPr/>
        </p:nvSpPr>
        <p:spPr>
          <a:xfrm>
            <a:off x="4114800" y="4023360"/>
            <a:ext cx="3840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1F5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Where: </a:t>
            </a:r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 water strippers, amine regenerators, SRU / TGT</a:t>
            </a:r>
            <a:endParaRPr lang="en-US" sz="1400" dirty="0"/>
          </a:p>
        </p:txBody>
      </p:sp>
      <p:sp>
        <p:nvSpPr>
          <p:cNvPr id="90" name="s98"/>
          <p:cNvSpPr/>
          <p:nvPr/>
        </p:nvSpPr>
        <p:spPr>
          <a:xfrm>
            <a:off x="4114800" y="4754880"/>
            <a:ext cx="553212" cy="329184"/>
          </a:xfrm>
          <a:prstGeom prst="roundRect">
            <a:avLst>
              <a:gd name="adj" fmla="val 50000"/>
            </a:avLst>
          </a:prstGeom>
          <a:solidFill>
            <a:srgbClr val="C0392B"/>
          </a:solidFill>
          <a:ln/>
        </p:spPr>
      </p:sp>
      <p:sp>
        <p:nvSpPr>
          <p:cNvPr id="91" name="t99"/>
          <p:cNvSpPr txBox="1"/>
          <p:nvPr/>
        </p:nvSpPr>
        <p:spPr>
          <a:xfrm>
            <a:off x="4114800" y="4754880"/>
            <a:ext cx="5532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H₂S</a:t>
            </a:r>
            <a:endParaRPr lang="en-US" sz="1200" dirty="0"/>
          </a:p>
        </p:txBody>
      </p:sp>
      <p:sp>
        <p:nvSpPr>
          <p:cNvPr id="92" name="s100"/>
          <p:cNvSpPr/>
          <p:nvPr/>
        </p:nvSpPr>
        <p:spPr>
          <a:xfrm>
            <a:off x="4777740" y="4754880"/>
            <a:ext cx="864108" cy="329184"/>
          </a:xfrm>
          <a:prstGeom prst="roundRect">
            <a:avLst>
              <a:gd name="adj" fmla="val 50000"/>
            </a:avLst>
          </a:prstGeom>
          <a:solidFill>
            <a:srgbClr val="0C74BC"/>
          </a:solidFill>
          <a:ln/>
        </p:spPr>
      </p:sp>
      <p:sp>
        <p:nvSpPr>
          <p:cNvPr id="93" name="t101"/>
          <p:cNvSpPr txBox="1"/>
          <p:nvPr/>
        </p:nvSpPr>
        <p:spPr>
          <a:xfrm>
            <a:off x="4777740" y="4754880"/>
            <a:ext cx="8641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Ammonia</a:t>
            </a:r>
            <a:endParaRPr lang="en-US" sz="1200" dirty="0"/>
          </a:p>
        </p:txBody>
      </p:sp>
      <p:sp>
        <p:nvSpPr>
          <p:cNvPr id="94" name="s102"/>
          <p:cNvSpPr/>
          <p:nvPr/>
        </p:nvSpPr>
        <p:spPr>
          <a:xfrm>
            <a:off x="5751576" y="4754880"/>
            <a:ext cx="553212" cy="329184"/>
          </a:xfrm>
          <a:prstGeom prst="roundRect">
            <a:avLst>
              <a:gd name="adj" fmla="val 50000"/>
            </a:avLst>
          </a:prstGeom>
          <a:solidFill>
            <a:srgbClr val="6B7280"/>
          </a:solidFill>
          <a:ln/>
        </p:spPr>
      </p:sp>
      <p:sp>
        <p:nvSpPr>
          <p:cNvPr id="95" name="t103"/>
          <p:cNvSpPr txBox="1"/>
          <p:nvPr/>
        </p:nvSpPr>
        <p:spPr>
          <a:xfrm>
            <a:off x="5751576" y="4754880"/>
            <a:ext cx="5532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FeS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708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slow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600" fill="hold"/>
                                        <p:tgtEl>
                                          <p:spTgt spid="6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600" fill="hold"/>
                                        <p:tgtEl>
                                          <p:spTgt spid="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60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600" fill="hold"/>
                                        <p:tgtEl>
                                          <p:spTgt spid="6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600" fill="hold"/>
                                        <p:tgtEl>
                                          <p:spTgt spid="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60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600" fill="hold"/>
                                        <p:tgtEl>
                                          <p:spTgt spid="6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600" fill="hold"/>
                                        <p:tgtEl>
                                          <p:spTgt spid="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60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600" fill="hold"/>
                                        <p:tgtEl>
                                          <p:spTgt spid="6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600" fill="hold"/>
                                        <p:tgtEl>
                                          <p:spTgt spid="6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600"/>
                                        <p:tgtEl>
                                          <p:spTgt spid="6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" dur="600" fill="hold"/>
                                        <p:tgtEl>
                                          <p:spTgt spid="6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600" fill="hold"/>
                                        <p:tgtEl>
                                          <p:spTgt spid="6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600"/>
                                        <p:tgtEl>
                                          <p:spTgt spid="6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600" fill="hold"/>
                                        <p:tgtEl>
                                          <p:spTgt spid="6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600" fill="hold"/>
                                        <p:tgtEl>
                                          <p:spTgt spid="6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600"/>
                                        <p:tgtEl>
                                          <p:spTgt spid="6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8" dur="600" fill="hold"/>
                                        <p:tgtEl>
                                          <p:spTgt spid="6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" dur="600" fill="hold"/>
                                        <p:tgtEl>
                                          <p:spTgt spid="6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600"/>
                                        <p:tgtEl>
                                          <p:spTgt spid="7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3" dur="600" fill="hold"/>
                                        <p:tgtEl>
                                          <p:spTgt spid="7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600" fill="hold"/>
                                        <p:tgtEl>
                                          <p:spTgt spid="7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600"/>
                                        <p:tgtEl>
                                          <p:spTgt spid="7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8" dur="600" fill="hold"/>
                                        <p:tgtEl>
                                          <p:spTgt spid="7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9" dur="600" fill="hold"/>
                                        <p:tgtEl>
                                          <p:spTgt spid="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600"/>
                                        <p:tgtEl>
                                          <p:spTgt spid="7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5" dur="600" fill="hold"/>
                                        <p:tgtEl>
                                          <p:spTgt spid="7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6" dur="600" fill="hold"/>
                                        <p:tgtEl>
                                          <p:spTgt spid="7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600"/>
                                        <p:tgtEl>
                                          <p:spTgt spid="7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0" dur="600" fill="hold"/>
                                        <p:tgtEl>
                                          <p:spTgt spid="7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1" dur="600" fill="hold"/>
                                        <p:tgtEl>
                                          <p:spTgt spid="7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2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600"/>
                                        <p:tgtEl>
                                          <p:spTgt spid="7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5" dur="600" fill="hold"/>
                                        <p:tgtEl>
                                          <p:spTgt spid="7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6" dur="600" fill="hold"/>
                                        <p:tgtEl>
                                          <p:spTgt spid="7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600"/>
                                        <p:tgtEl>
                                          <p:spTgt spid="7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0" dur="600" fill="hold"/>
                                        <p:tgtEl>
                                          <p:spTgt spid="7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1" dur="600" fill="hold"/>
                                        <p:tgtEl>
                                          <p:spTgt spid="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2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600"/>
                                        <p:tgtEl>
                                          <p:spTgt spid="8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5" dur="600" fill="hold"/>
                                        <p:tgtEl>
                                          <p:spTgt spid="8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6" dur="600" fill="hold"/>
                                        <p:tgtEl>
                                          <p:spTgt spid="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600"/>
                                        <p:tgtEl>
                                          <p:spTgt spid="8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0" dur="600" fill="hold"/>
                                        <p:tgtEl>
                                          <p:spTgt spid="8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1" dur="600" fill="hold"/>
                                        <p:tgtEl>
                                          <p:spTgt spid="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2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600"/>
                                        <p:tgtEl>
                                          <p:spTgt spid="8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5" dur="600" fill="hold"/>
                                        <p:tgtEl>
                                          <p:spTgt spid="8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6" dur="600" fill="hold"/>
                                        <p:tgtEl>
                                          <p:spTgt spid="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9" dur="600"/>
                                        <p:tgtEl>
                                          <p:spTgt spid="8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0" dur="600" fill="hold"/>
                                        <p:tgtEl>
                                          <p:spTgt spid="8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1" dur="600" fill="hold"/>
                                        <p:tgtEl>
                                          <p:spTgt spid="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2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600"/>
                                        <p:tgtEl>
                                          <p:spTgt spid="8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5" dur="600" fill="hold"/>
                                        <p:tgtEl>
                                          <p:spTgt spid="8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6" dur="600" fill="hold"/>
                                        <p:tgtEl>
                                          <p:spTgt spid="8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7" fill="hold">
                      <p:stCondLst>
                        <p:cond delay="indefinite"/>
                      </p:stCondLst>
                      <p:childTnLst>
                        <p:par>
                          <p:cTn id="98" fill="hold">
                            <p:stCondLst>
                              <p:cond delay="0"/>
                            </p:stCondLst>
                            <p:childTnLst>
                              <p:par>
                                <p:cTn id="99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1" dur="600"/>
                                        <p:tgtEl>
                                          <p:spTgt spid="8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2" dur="600" fill="hold"/>
                                        <p:tgtEl>
                                          <p:spTgt spid="8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3" dur="600" fill="hold"/>
                                        <p:tgtEl>
                                          <p:spTgt spid="8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4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600"/>
                                        <p:tgtEl>
                                          <p:spTgt spid="9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7" dur="600" fill="hold"/>
                                        <p:tgtEl>
                                          <p:spTgt spid="9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8" dur="600" fill="hold"/>
                                        <p:tgtEl>
                                          <p:spTgt spid="9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9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1" dur="600"/>
                                        <p:tgtEl>
                                          <p:spTgt spid="9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2" dur="600" fill="hold"/>
                                        <p:tgtEl>
                                          <p:spTgt spid="9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3" dur="600" fill="hold"/>
                                        <p:tgtEl>
                                          <p:spTgt spid="9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4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6" dur="600"/>
                                        <p:tgtEl>
                                          <p:spTgt spid="9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7" dur="600" fill="hold"/>
                                        <p:tgtEl>
                                          <p:spTgt spid="9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8" dur="600" fill="hold"/>
                                        <p:tgtEl>
                                          <p:spTgt spid="9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9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1" dur="600"/>
                                        <p:tgtEl>
                                          <p:spTgt spid="9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2" dur="600" fill="hold"/>
                                        <p:tgtEl>
                                          <p:spTgt spid="9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3" dur="600" fill="hold"/>
                                        <p:tgtEl>
                                          <p:spTgt spid="9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4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6" dur="600"/>
                                        <p:tgtEl>
                                          <p:spTgt spid="9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7" dur="600" fill="hold"/>
                                        <p:tgtEl>
                                          <p:spTgt spid="9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8" dur="600" fill="hold"/>
                                        <p:tgtEl>
                                          <p:spTgt spid="9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9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1" dur="600"/>
                                        <p:tgtEl>
                                          <p:spTgt spid="9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2" dur="600" fill="hold"/>
                                        <p:tgtEl>
                                          <p:spTgt spid="9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3" dur="600" fill="hold"/>
                                        <p:tgtEl>
                                          <p:spTgt spid="9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3" grpId="0" animBg="1"/>
      <p:bldP spid="64" grpId="0" animBg="1"/>
      <p:bldP spid="65" grpId="0" animBg="1"/>
      <p:bldP spid="66" grpId="0" animBg="1"/>
      <p:bldP spid="67" grpId="0" animBg="1"/>
      <p:bldP spid="68" grpId="0" animBg="1"/>
      <p:bldP spid="69" grpId="0" animBg="1"/>
      <p:bldP spid="70" grpId="0" animBg="1"/>
      <p:bldP spid="71" grpId="0" animBg="1"/>
      <p:bldP spid="76" grpId="0" animBg="1"/>
      <p:bldP spid="77" grpId="0" animBg="1"/>
      <p:bldP spid="78" grpId="0" animBg="1"/>
      <p:bldP spid="79" grpId="0" animBg="1"/>
      <p:bldP spid="80" grpId="0" animBg="1"/>
      <p:bldP spid="81" grpId="0" animBg="1"/>
      <p:bldP spid="82" grpId="0" animBg="1"/>
      <p:bldP spid="83" grpId="0" animBg="1"/>
      <p:bldP spid="84" grpId="0" animBg="1"/>
      <p:bldP spid="89" grpId="0" animBg="1"/>
      <p:bldP spid="90" grpId="0" animBg="1"/>
      <p:bldP spid="91" grpId="0" animBg="1"/>
      <p:bldP spid="92" grpId="0" animBg="1"/>
      <p:bldP spid="93" grpId="0" animBg="1"/>
      <p:bldP spid="94" grpId="0" animBg="1"/>
      <p:bldP spid="95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47472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5F8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Petrochemicals – chemicals &amp; polymers</a:t>
            </a:r>
            <a:endParaRPr lang="en-US" sz="2800" dirty="0"/>
          </a:p>
        </p:txBody>
      </p:sp>
      <p:sp>
        <p:nvSpPr>
          <p:cNvPr id="3" name="!!root"/>
          <p:cNvSpPr/>
          <p:nvPr/>
        </p:nvSpPr>
        <p:spPr>
          <a:xfrm>
            <a:off x="9437522" y="1161288"/>
            <a:ext cx="1152144" cy="197510"/>
          </a:xfrm>
          <a:prstGeom prst="roundRect">
            <a:avLst>
              <a:gd name="adj" fmla="val 50000"/>
            </a:avLst>
          </a:prstGeom>
          <a:solidFill>
            <a:srgbClr val="1F3A52"/>
          </a:solidFill>
          <a:ln/>
        </p:spPr>
      </p:sp>
      <p:sp>
        <p:nvSpPr>
          <p:cNvPr id="4" name="!!root_t"/>
          <p:cNvSpPr txBox="1"/>
          <p:nvPr/>
        </p:nvSpPr>
        <p:spPr>
          <a:xfrm>
            <a:off x="9437522" y="1161288"/>
            <a:ext cx="1152144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OIL &amp; GAS VALUE CHAIN</a:t>
            </a:r>
            <a:endParaRPr lang="en-US" sz="480" dirty="0"/>
          </a:p>
        </p:txBody>
      </p:sp>
      <p:sp>
        <p:nvSpPr>
          <p:cNvPr id="5" name="!!bar_v"/>
          <p:cNvSpPr/>
          <p:nvPr/>
        </p:nvSpPr>
        <p:spPr>
          <a:xfrm>
            <a:off x="10013594" y="1358798"/>
            <a:ext cx="0" cy="76810"/>
          </a:xfrm>
          <a:prstGeom prst="line">
            <a:avLst/>
          </a:prstGeom>
          <a:noFill/>
          <a:ln w="9525">
            <a:solidFill>
              <a:srgbClr val="C6D3E0"/>
            </a:solidFill>
            <a:prstDash val="solid"/>
          </a:ln>
        </p:spPr>
      </p:sp>
      <p:sp>
        <p:nvSpPr>
          <p:cNvPr id="6" name="!!bar_h"/>
          <p:cNvSpPr/>
          <p:nvPr/>
        </p:nvSpPr>
        <p:spPr>
          <a:xfrm>
            <a:off x="8718804" y="1435608"/>
            <a:ext cx="2592324" cy="0"/>
          </a:xfrm>
          <a:prstGeom prst="line">
            <a:avLst/>
          </a:prstGeom>
          <a:noFill/>
          <a:ln w="9525">
            <a:solidFill>
              <a:srgbClr val="C6D3E0"/>
            </a:solidFill>
            <a:prstDash val="solid"/>
          </a:ln>
        </p:spPr>
      </p:sp>
      <p:sp>
        <p:nvSpPr>
          <p:cNvPr id="7" name="!!spine0"/>
          <p:cNvSpPr/>
          <p:nvPr/>
        </p:nvSpPr>
        <p:spPr>
          <a:xfrm>
            <a:off x="8718804" y="1435608"/>
            <a:ext cx="0" cy="973836"/>
          </a:xfrm>
          <a:prstGeom prst="line">
            <a:avLst/>
          </a:prstGeom>
          <a:noFill/>
          <a:ln w="9525">
            <a:solidFill>
              <a:srgbClr val="C6D3E0"/>
            </a:solidFill>
            <a:prstDash val="solid"/>
          </a:ln>
        </p:spPr>
      </p:sp>
      <p:sp>
        <p:nvSpPr>
          <p:cNvPr id="8" name="!!br0"/>
          <p:cNvSpPr/>
          <p:nvPr/>
        </p:nvSpPr>
        <p:spPr>
          <a:xfrm>
            <a:off x="8334756" y="1517904"/>
            <a:ext cx="768096" cy="260604"/>
          </a:xfrm>
          <a:prstGeom prst="roundRect">
            <a:avLst>
              <a:gd name="adj" fmla="val 12632"/>
            </a:avLst>
          </a:prstGeom>
          <a:solidFill>
            <a:srgbClr val="0C74BC">
              <a:alpha val="35000"/>
            </a:srgbClr>
          </a:solidFill>
          <a:ln/>
        </p:spPr>
      </p:sp>
      <p:pic>
        <p:nvPicPr>
          <p:cNvPr id="9" name="!!bri0" descr="preencoded.png">    </p:cNvPr>
          <p:cNvPicPr>
            <a:picLocks noChangeAspect="1"/>
          </p:cNvPicPr>
          <p:nvPr/>
        </p:nvPicPr>
        <p:blipFill>
          <a:blip r:embed="rId1">
            <a:alphaModFix amt="40000"/>
          </a:blip>
          <a:stretch>
            <a:fillRect/>
          </a:stretch>
        </p:blipFill>
        <p:spPr>
          <a:xfrm>
            <a:off x="8375904" y="1559052"/>
            <a:ext cx="170078" cy="170078"/>
          </a:xfrm>
          <a:prstGeom prst="rect">
            <a:avLst/>
          </a:prstGeom>
        </p:spPr>
      </p:pic>
      <p:sp>
        <p:nvSpPr>
          <p:cNvPr id="10" name="!!brt0"/>
          <p:cNvSpPr txBox="1"/>
          <p:nvPr/>
        </p:nvSpPr>
        <p:spPr>
          <a:xfrm>
            <a:off x="8567928" y="1517904"/>
            <a:ext cx="526694" cy="2606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10" b="1" dirty="0">
                <a:solidFill>
                  <a:srgbClr val="FFFFFF">
                    <a:alpha val="5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UPSTREAM</a:t>
            </a:r>
            <a:endParaRPr lang="en-US" sz="410" dirty="0"/>
          </a:p>
          <a:p>
            <a:pPr indent="0" marL="0">
              <a:buNone/>
            </a:pPr>
            <a:r>
              <a:rPr lang="en-US" sz="330" dirty="0">
                <a:solidFill>
                  <a:srgbClr val="FFFFFF">
                    <a:alpha val="5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 &amp; gas processing</a:t>
            </a:r>
            <a:endParaRPr lang="en-US" sz="410" dirty="0"/>
          </a:p>
        </p:txBody>
      </p:sp>
      <p:sp>
        <p:nvSpPr>
          <p:cNvPr id="11" name="!!lf0_0"/>
          <p:cNvSpPr/>
          <p:nvPr/>
        </p:nvSpPr>
        <p:spPr>
          <a:xfrm>
            <a:off x="8334756" y="1860804"/>
            <a:ext cx="768096" cy="159106"/>
          </a:xfrm>
          <a:prstGeom prst="roundRect">
            <a:avLst>
              <a:gd name="adj" fmla="val 50000"/>
            </a:avLst>
          </a:prstGeom>
          <a:solidFill>
            <a:srgbClr val="FFFFFF">
              <a:alpha val="60000"/>
            </a:srgbClr>
          </a:solidFill>
          <a:ln w="4763">
            <a:solidFill>
              <a:srgbClr val="0C74BC">
                <a:alpha val="40000"/>
              </a:srgbClr>
            </a:solidFill>
            <a:prstDash val="solid"/>
          </a:ln>
        </p:spPr>
      </p:sp>
      <p:sp>
        <p:nvSpPr>
          <p:cNvPr id="12" name="!!lft0_0"/>
          <p:cNvSpPr txBox="1"/>
          <p:nvPr/>
        </p:nvSpPr>
        <p:spPr>
          <a:xfrm>
            <a:off x="8389620" y="1860804"/>
            <a:ext cx="589788" cy="1591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" b="1" dirty="0">
                <a:solidFill>
                  <a:srgbClr val="9AA9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Oil production stations</a:t>
            </a:r>
            <a:endParaRPr lang="en-US" sz="380" dirty="0"/>
          </a:p>
        </p:txBody>
      </p:sp>
      <p:sp>
        <p:nvSpPr>
          <p:cNvPr id="13" name="!!mk0_0"/>
          <p:cNvSpPr/>
          <p:nvPr/>
        </p:nvSpPr>
        <p:spPr>
          <a:xfrm>
            <a:off x="8987638" y="1890979"/>
            <a:ext cx="98755" cy="98755"/>
          </a:xfrm>
          <a:prstGeom prst="ellipse">
            <a:avLst/>
          </a:prstGeom>
          <a:solidFill>
            <a:srgbClr val="3AB54A">
              <a:alpha val="40000"/>
            </a:srgbClr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4" name="!!mki0_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12326" y="1915668"/>
            <a:ext cx="49378" cy="49378"/>
          </a:xfrm>
          <a:prstGeom prst="rect">
            <a:avLst/>
          </a:prstGeom>
        </p:spPr>
      </p:pic>
      <p:sp>
        <p:nvSpPr>
          <p:cNvPr id="15" name="!!lf0_1"/>
          <p:cNvSpPr/>
          <p:nvPr/>
        </p:nvSpPr>
        <p:spPr>
          <a:xfrm>
            <a:off x="8334756" y="2058314"/>
            <a:ext cx="768096" cy="159106"/>
          </a:xfrm>
          <a:prstGeom prst="roundRect">
            <a:avLst>
              <a:gd name="adj" fmla="val 50000"/>
            </a:avLst>
          </a:prstGeom>
          <a:solidFill>
            <a:srgbClr val="FFFFFF">
              <a:alpha val="60000"/>
            </a:srgbClr>
          </a:solidFill>
          <a:ln w="4763">
            <a:solidFill>
              <a:srgbClr val="0C74BC">
                <a:alpha val="40000"/>
              </a:srgbClr>
            </a:solidFill>
            <a:prstDash val="solid"/>
          </a:ln>
        </p:spPr>
      </p:sp>
      <p:sp>
        <p:nvSpPr>
          <p:cNvPr id="16" name="!!lft0_1"/>
          <p:cNvSpPr txBox="1"/>
          <p:nvPr/>
        </p:nvSpPr>
        <p:spPr>
          <a:xfrm>
            <a:off x="8389620" y="2058314"/>
            <a:ext cx="589788" cy="1591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" b="1" dirty="0">
                <a:solidFill>
                  <a:srgbClr val="9AA9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 processing plants</a:t>
            </a:r>
            <a:endParaRPr lang="en-US" sz="380" dirty="0"/>
          </a:p>
        </p:txBody>
      </p:sp>
      <p:sp>
        <p:nvSpPr>
          <p:cNvPr id="17" name="!!mk0_1"/>
          <p:cNvSpPr/>
          <p:nvPr/>
        </p:nvSpPr>
        <p:spPr>
          <a:xfrm>
            <a:off x="8987638" y="2088490"/>
            <a:ext cx="98755" cy="98755"/>
          </a:xfrm>
          <a:prstGeom prst="ellipse">
            <a:avLst/>
          </a:prstGeom>
          <a:solidFill>
            <a:srgbClr val="3AB54A">
              <a:alpha val="40000"/>
            </a:srgbClr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8" name="!!mki0_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12326" y="2113178"/>
            <a:ext cx="49378" cy="49378"/>
          </a:xfrm>
          <a:prstGeom prst="rect">
            <a:avLst/>
          </a:prstGeom>
        </p:spPr>
      </p:pic>
      <p:sp>
        <p:nvSpPr>
          <p:cNvPr id="19" name="!!lf0_2"/>
          <p:cNvSpPr/>
          <p:nvPr/>
        </p:nvSpPr>
        <p:spPr>
          <a:xfrm>
            <a:off x="8334756" y="2255825"/>
            <a:ext cx="768096" cy="159106"/>
          </a:xfrm>
          <a:prstGeom prst="roundRect">
            <a:avLst>
              <a:gd name="adj" fmla="val 50000"/>
            </a:avLst>
          </a:prstGeom>
          <a:solidFill>
            <a:srgbClr val="FFFFFF">
              <a:alpha val="60000"/>
            </a:srgbClr>
          </a:solidFill>
          <a:ln w="4763">
            <a:solidFill>
              <a:srgbClr val="0C74BC">
                <a:alpha val="40000"/>
              </a:srgbClr>
            </a:solidFill>
            <a:prstDash val="solid"/>
          </a:ln>
        </p:spPr>
      </p:sp>
      <p:sp>
        <p:nvSpPr>
          <p:cNvPr id="20" name="!!lft0_2"/>
          <p:cNvSpPr txBox="1"/>
          <p:nvPr/>
        </p:nvSpPr>
        <p:spPr>
          <a:xfrm>
            <a:off x="8389620" y="2255825"/>
            <a:ext cx="589788" cy="1591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" b="1" dirty="0">
                <a:solidFill>
                  <a:srgbClr val="9AA9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Produced water &amp; tank farms</a:t>
            </a:r>
            <a:endParaRPr lang="en-US" sz="380" dirty="0"/>
          </a:p>
        </p:txBody>
      </p:sp>
      <p:sp>
        <p:nvSpPr>
          <p:cNvPr id="21" name="!!mk0_2"/>
          <p:cNvSpPr/>
          <p:nvPr/>
        </p:nvSpPr>
        <p:spPr>
          <a:xfrm>
            <a:off x="8987638" y="2286000"/>
            <a:ext cx="98755" cy="98755"/>
          </a:xfrm>
          <a:prstGeom prst="ellipse">
            <a:avLst/>
          </a:prstGeom>
          <a:solidFill>
            <a:srgbClr val="3AB54A">
              <a:alpha val="40000"/>
            </a:srgbClr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22" name="!!mki0_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12326" y="2310689"/>
            <a:ext cx="49378" cy="49378"/>
          </a:xfrm>
          <a:prstGeom prst="rect">
            <a:avLst/>
          </a:prstGeom>
        </p:spPr>
      </p:pic>
      <p:sp>
        <p:nvSpPr>
          <p:cNvPr id="23" name="!!spine1"/>
          <p:cNvSpPr/>
          <p:nvPr/>
        </p:nvSpPr>
        <p:spPr>
          <a:xfrm>
            <a:off x="9582912" y="1435608"/>
            <a:ext cx="0" cy="973836"/>
          </a:xfrm>
          <a:prstGeom prst="line">
            <a:avLst/>
          </a:prstGeom>
          <a:noFill/>
          <a:ln w="9525">
            <a:solidFill>
              <a:srgbClr val="C6D3E0"/>
            </a:solidFill>
            <a:prstDash val="solid"/>
          </a:ln>
        </p:spPr>
      </p:sp>
      <p:sp>
        <p:nvSpPr>
          <p:cNvPr id="24" name="!!br1"/>
          <p:cNvSpPr/>
          <p:nvPr/>
        </p:nvSpPr>
        <p:spPr>
          <a:xfrm>
            <a:off x="9198864" y="1517904"/>
            <a:ext cx="768096" cy="260604"/>
          </a:xfrm>
          <a:prstGeom prst="roundRect">
            <a:avLst>
              <a:gd name="adj" fmla="val 12632"/>
            </a:avLst>
          </a:prstGeom>
          <a:solidFill>
            <a:srgbClr val="3AB54A">
              <a:alpha val="35000"/>
            </a:srgbClr>
          </a:solidFill>
          <a:ln/>
        </p:spPr>
      </p:sp>
      <p:pic>
        <p:nvPicPr>
          <p:cNvPr id="25" name="!!bri1" descr="preencoded.png">    </p:cNvPr>
          <p:cNvPicPr>
            <a:picLocks noChangeAspect="1"/>
          </p:cNvPicPr>
          <p:nvPr/>
        </p:nvPicPr>
        <p:blipFill>
          <a:blip r:embed="rId5">
            <a:alphaModFix amt="40000"/>
          </a:blip>
          <a:stretch>
            <a:fillRect/>
          </a:stretch>
        </p:blipFill>
        <p:spPr>
          <a:xfrm>
            <a:off x="9240012" y="1559052"/>
            <a:ext cx="170078" cy="170078"/>
          </a:xfrm>
          <a:prstGeom prst="rect">
            <a:avLst/>
          </a:prstGeom>
        </p:spPr>
      </p:pic>
      <p:sp>
        <p:nvSpPr>
          <p:cNvPr id="26" name="!!brt1"/>
          <p:cNvSpPr txBox="1"/>
          <p:nvPr/>
        </p:nvSpPr>
        <p:spPr>
          <a:xfrm>
            <a:off x="9432036" y="1517904"/>
            <a:ext cx="526694" cy="2606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10" b="1" dirty="0">
                <a:solidFill>
                  <a:srgbClr val="FFFFFF">
                    <a:alpha val="5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MIDSTREAM</a:t>
            </a:r>
            <a:endParaRPr lang="en-US" sz="410" dirty="0"/>
          </a:p>
          <a:p>
            <a:pPr indent="0" marL="0">
              <a:buNone/>
            </a:pPr>
            <a:r>
              <a:rPr lang="en-US" sz="330" dirty="0">
                <a:solidFill>
                  <a:srgbClr val="FFFFFF">
                    <a:alpha val="5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Transport &amp; storage</a:t>
            </a:r>
            <a:endParaRPr lang="en-US" sz="410" dirty="0"/>
          </a:p>
        </p:txBody>
      </p:sp>
      <p:sp>
        <p:nvSpPr>
          <p:cNvPr id="27" name="!!lf1_0"/>
          <p:cNvSpPr/>
          <p:nvPr/>
        </p:nvSpPr>
        <p:spPr>
          <a:xfrm>
            <a:off x="9198864" y="1860804"/>
            <a:ext cx="768096" cy="159106"/>
          </a:xfrm>
          <a:prstGeom prst="roundRect">
            <a:avLst>
              <a:gd name="adj" fmla="val 50000"/>
            </a:avLst>
          </a:prstGeom>
          <a:solidFill>
            <a:srgbClr val="FFFFFF">
              <a:alpha val="60000"/>
            </a:srgbClr>
          </a:solidFill>
          <a:ln w="4763">
            <a:solidFill>
              <a:srgbClr val="3AB54A">
                <a:alpha val="40000"/>
              </a:srgbClr>
            </a:solidFill>
            <a:prstDash val="solid"/>
          </a:ln>
        </p:spPr>
      </p:sp>
      <p:sp>
        <p:nvSpPr>
          <p:cNvPr id="28" name="!!lft1_0"/>
          <p:cNvSpPr txBox="1"/>
          <p:nvPr/>
        </p:nvSpPr>
        <p:spPr>
          <a:xfrm>
            <a:off x="9253728" y="1860804"/>
            <a:ext cx="589788" cy="1591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" b="1" dirty="0">
                <a:solidFill>
                  <a:srgbClr val="9AA9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Pipelines &amp; pig receivers</a:t>
            </a:r>
            <a:endParaRPr lang="en-US" sz="380" dirty="0"/>
          </a:p>
        </p:txBody>
      </p:sp>
      <p:sp>
        <p:nvSpPr>
          <p:cNvPr id="29" name="!!mk1_0"/>
          <p:cNvSpPr/>
          <p:nvPr/>
        </p:nvSpPr>
        <p:spPr>
          <a:xfrm>
            <a:off x="9851746" y="1890979"/>
            <a:ext cx="98755" cy="98755"/>
          </a:xfrm>
          <a:prstGeom prst="ellipse">
            <a:avLst/>
          </a:prstGeom>
          <a:solidFill>
            <a:srgbClr val="3AB54A">
              <a:alpha val="40000"/>
            </a:srgbClr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30" name="!!mki1_0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876434" y="1915668"/>
            <a:ext cx="49378" cy="49378"/>
          </a:xfrm>
          <a:prstGeom prst="rect">
            <a:avLst/>
          </a:prstGeom>
        </p:spPr>
      </p:pic>
      <p:sp>
        <p:nvSpPr>
          <p:cNvPr id="31" name="!!lf1_1"/>
          <p:cNvSpPr/>
          <p:nvPr/>
        </p:nvSpPr>
        <p:spPr>
          <a:xfrm>
            <a:off x="9198864" y="2058314"/>
            <a:ext cx="768096" cy="159106"/>
          </a:xfrm>
          <a:prstGeom prst="roundRect">
            <a:avLst>
              <a:gd name="adj" fmla="val 50000"/>
            </a:avLst>
          </a:prstGeom>
          <a:solidFill>
            <a:srgbClr val="FFFFFF">
              <a:alpha val="60000"/>
            </a:srgbClr>
          </a:solidFill>
          <a:ln w="4763">
            <a:solidFill>
              <a:srgbClr val="3AB54A">
                <a:alpha val="40000"/>
              </a:srgbClr>
            </a:solidFill>
            <a:prstDash val="solid"/>
          </a:ln>
        </p:spPr>
      </p:sp>
      <p:sp>
        <p:nvSpPr>
          <p:cNvPr id="32" name="!!lft1_1"/>
          <p:cNvSpPr txBox="1"/>
          <p:nvPr/>
        </p:nvSpPr>
        <p:spPr>
          <a:xfrm>
            <a:off x="9253728" y="2058314"/>
            <a:ext cx="589788" cy="1591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" b="1" dirty="0">
                <a:solidFill>
                  <a:srgbClr val="9AA9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Crude terminals &amp; tank farms</a:t>
            </a:r>
            <a:endParaRPr lang="en-US" sz="380" dirty="0"/>
          </a:p>
        </p:txBody>
      </p:sp>
      <p:sp>
        <p:nvSpPr>
          <p:cNvPr id="33" name="!!mk1_1"/>
          <p:cNvSpPr/>
          <p:nvPr/>
        </p:nvSpPr>
        <p:spPr>
          <a:xfrm>
            <a:off x="9851746" y="2088490"/>
            <a:ext cx="98755" cy="98755"/>
          </a:xfrm>
          <a:prstGeom prst="ellipse">
            <a:avLst/>
          </a:prstGeom>
          <a:solidFill>
            <a:srgbClr val="3AB54A">
              <a:alpha val="40000"/>
            </a:srgbClr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34" name="!!mki1_1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876434" y="2113178"/>
            <a:ext cx="49378" cy="49378"/>
          </a:xfrm>
          <a:prstGeom prst="rect">
            <a:avLst/>
          </a:prstGeom>
        </p:spPr>
      </p:pic>
      <p:sp>
        <p:nvSpPr>
          <p:cNvPr id="35" name="!!lf1_2"/>
          <p:cNvSpPr/>
          <p:nvPr/>
        </p:nvSpPr>
        <p:spPr>
          <a:xfrm>
            <a:off x="9198864" y="2255825"/>
            <a:ext cx="768096" cy="159106"/>
          </a:xfrm>
          <a:prstGeom prst="roundRect">
            <a:avLst>
              <a:gd name="adj" fmla="val 50000"/>
            </a:avLst>
          </a:prstGeom>
          <a:solidFill>
            <a:srgbClr val="FFFFFF">
              <a:alpha val="60000"/>
            </a:srgbClr>
          </a:solidFill>
          <a:ln w="4763">
            <a:solidFill>
              <a:srgbClr val="3AB54A">
                <a:alpha val="40000"/>
              </a:srgbClr>
            </a:solidFill>
            <a:prstDash val="solid"/>
          </a:ln>
        </p:spPr>
      </p:sp>
      <p:sp>
        <p:nvSpPr>
          <p:cNvPr id="36" name="!!lft1_2"/>
          <p:cNvSpPr txBox="1"/>
          <p:nvPr/>
        </p:nvSpPr>
        <p:spPr>
          <a:xfrm>
            <a:off x="9253728" y="2255825"/>
            <a:ext cx="589788" cy="1591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" b="1" dirty="0">
                <a:solidFill>
                  <a:srgbClr val="9AA9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LPG / NGL plants &amp; spheres</a:t>
            </a:r>
            <a:endParaRPr lang="en-US" sz="380" dirty="0"/>
          </a:p>
        </p:txBody>
      </p:sp>
      <p:sp>
        <p:nvSpPr>
          <p:cNvPr id="37" name="!!mk1_2"/>
          <p:cNvSpPr/>
          <p:nvPr/>
        </p:nvSpPr>
        <p:spPr>
          <a:xfrm>
            <a:off x="9851746" y="2286000"/>
            <a:ext cx="98755" cy="98755"/>
          </a:xfrm>
          <a:prstGeom prst="ellipse">
            <a:avLst/>
          </a:prstGeom>
          <a:solidFill>
            <a:srgbClr val="3AB54A">
              <a:alpha val="40000"/>
            </a:srgbClr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38" name="!!mki1_2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876434" y="2310689"/>
            <a:ext cx="49378" cy="49378"/>
          </a:xfrm>
          <a:prstGeom prst="rect">
            <a:avLst/>
          </a:prstGeom>
        </p:spPr>
      </p:pic>
      <p:sp>
        <p:nvSpPr>
          <p:cNvPr id="39" name="!!spine2"/>
          <p:cNvSpPr/>
          <p:nvPr/>
        </p:nvSpPr>
        <p:spPr>
          <a:xfrm>
            <a:off x="10447020" y="1435608"/>
            <a:ext cx="0" cy="973836"/>
          </a:xfrm>
          <a:prstGeom prst="line">
            <a:avLst/>
          </a:prstGeom>
          <a:noFill/>
          <a:ln w="9525">
            <a:solidFill>
              <a:srgbClr val="C6D3E0"/>
            </a:solidFill>
            <a:prstDash val="solid"/>
          </a:ln>
        </p:spPr>
      </p:sp>
      <p:sp>
        <p:nvSpPr>
          <p:cNvPr id="40" name="!!br2"/>
          <p:cNvSpPr/>
          <p:nvPr/>
        </p:nvSpPr>
        <p:spPr>
          <a:xfrm>
            <a:off x="10062972" y="1517904"/>
            <a:ext cx="768096" cy="260604"/>
          </a:xfrm>
          <a:prstGeom prst="roundRect">
            <a:avLst>
              <a:gd name="adj" fmla="val 12632"/>
            </a:avLst>
          </a:prstGeom>
          <a:solidFill>
            <a:srgbClr val="0C74BC">
              <a:alpha val="35000"/>
            </a:srgbClr>
          </a:solidFill>
          <a:ln/>
        </p:spPr>
      </p:sp>
      <p:pic>
        <p:nvPicPr>
          <p:cNvPr id="41" name="!!bri2" descr="preencoded.png">    </p:cNvPr>
          <p:cNvPicPr>
            <a:picLocks noChangeAspect="1"/>
          </p:cNvPicPr>
          <p:nvPr/>
        </p:nvPicPr>
        <p:blipFill>
          <a:blip r:embed="rId9">
            <a:alphaModFix amt="40000"/>
          </a:blip>
          <a:stretch>
            <a:fillRect/>
          </a:stretch>
        </p:blipFill>
        <p:spPr>
          <a:xfrm>
            <a:off x="10104120" y="1559052"/>
            <a:ext cx="170078" cy="170078"/>
          </a:xfrm>
          <a:prstGeom prst="rect">
            <a:avLst/>
          </a:prstGeom>
        </p:spPr>
      </p:pic>
      <p:sp>
        <p:nvSpPr>
          <p:cNvPr id="42" name="!!brt2"/>
          <p:cNvSpPr txBox="1"/>
          <p:nvPr/>
        </p:nvSpPr>
        <p:spPr>
          <a:xfrm>
            <a:off x="10296144" y="1517904"/>
            <a:ext cx="526694" cy="2606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10" b="1" dirty="0">
                <a:solidFill>
                  <a:srgbClr val="FFFFFF">
                    <a:alpha val="5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DOWNSTREAM</a:t>
            </a:r>
            <a:endParaRPr lang="en-US" sz="410" dirty="0"/>
          </a:p>
          <a:p>
            <a:pPr indent="0" marL="0">
              <a:buNone/>
            </a:pPr>
            <a:r>
              <a:rPr lang="en-US" sz="330" dirty="0">
                <a:solidFill>
                  <a:srgbClr val="FFFFFF">
                    <a:alpha val="5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Refining</a:t>
            </a:r>
            <a:endParaRPr lang="en-US" sz="410" dirty="0"/>
          </a:p>
        </p:txBody>
      </p:sp>
      <p:sp>
        <p:nvSpPr>
          <p:cNvPr id="43" name="!!lf2_0"/>
          <p:cNvSpPr/>
          <p:nvPr/>
        </p:nvSpPr>
        <p:spPr>
          <a:xfrm>
            <a:off x="10062972" y="1860804"/>
            <a:ext cx="768096" cy="159106"/>
          </a:xfrm>
          <a:prstGeom prst="roundRect">
            <a:avLst>
              <a:gd name="adj" fmla="val 50000"/>
            </a:avLst>
          </a:prstGeom>
          <a:solidFill>
            <a:srgbClr val="FFFFFF">
              <a:alpha val="60000"/>
            </a:srgbClr>
          </a:solidFill>
          <a:ln w="4763">
            <a:solidFill>
              <a:srgbClr val="0C74BC">
                <a:alpha val="40000"/>
              </a:srgbClr>
            </a:solidFill>
            <a:prstDash val="solid"/>
          </a:ln>
        </p:spPr>
      </p:sp>
      <p:sp>
        <p:nvSpPr>
          <p:cNvPr id="44" name="!!lft2_0"/>
          <p:cNvSpPr txBox="1"/>
          <p:nvPr/>
        </p:nvSpPr>
        <p:spPr>
          <a:xfrm>
            <a:off x="10117836" y="1860804"/>
            <a:ext cx="589788" cy="1591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" b="1" dirty="0">
                <a:solidFill>
                  <a:srgbClr val="9AA9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Crude &amp; vacuum units</a:t>
            </a:r>
            <a:endParaRPr lang="en-US" sz="380" dirty="0"/>
          </a:p>
        </p:txBody>
      </p:sp>
      <p:sp>
        <p:nvSpPr>
          <p:cNvPr id="45" name="!!mk2_0"/>
          <p:cNvSpPr/>
          <p:nvPr/>
        </p:nvSpPr>
        <p:spPr>
          <a:xfrm>
            <a:off x="10715854" y="1890979"/>
            <a:ext cx="98755" cy="98755"/>
          </a:xfrm>
          <a:prstGeom prst="ellipse">
            <a:avLst/>
          </a:prstGeom>
          <a:solidFill>
            <a:srgbClr val="3AB54A">
              <a:alpha val="40000"/>
            </a:srgbClr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46" name="!!mki2_0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740542" y="1915668"/>
            <a:ext cx="49378" cy="49378"/>
          </a:xfrm>
          <a:prstGeom prst="rect">
            <a:avLst/>
          </a:prstGeom>
        </p:spPr>
      </p:pic>
      <p:sp>
        <p:nvSpPr>
          <p:cNvPr id="47" name="!!lf2_1"/>
          <p:cNvSpPr/>
          <p:nvPr/>
        </p:nvSpPr>
        <p:spPr>
          <a:xfrm>
            <a:off x="10062972" y="2058314"/>
            <a:ext cx="768096" cy="159106"/>
          </a:xfrm>
          <a:prstGeom prst="roundRect">
            <a:avLst>
              <a:gd name="adj" fmla="val 50000"/>
            </a:avLst>
          </a:prstGeom>
          <a:solidFill>
            <a:srgbClr val="FFFFFF">
              <a:alpha val="60000"/>
            </a:srgbClr>
          </a:solidFill>
          <a:ln w="4763">
            <a:solidFill>
              <a:srgbClr val="0C74BC">
                <a:alpha val="40000"/>
              </a:srgbClr>
            </a:solidFill>
            <a:prstDash val="solid"/>
          </a:ln>
        </p:spPr>
      </p:sp>
      <p:sp>
        <p:nvSpPr>
          <p:cNvPr id="48" name="!!lft2_1"/>
          <p:cNvSpPr txBox="1"/>
          <p:nvPr/>
        </p:nvSpPr>
        <p:spPr>
          <a:xfrm>
            <a:off x="10117836" y="2058314"/>
            <a:ext cx="589788" cy="1591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" b="1" dirty="0">
                <a:solidFill>
                  <a:srgbClr val="9AA9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Hydroprocessing &amp; conversion</a:t>
            </a:r>
            <a:endParaRPr lang="en-US" sz="380" dirty="0"/>
          </a:p>
        </p:txBody>
      </p:sp>
      <p:sp>
        <p:nvSpPr>
          <p:cNvPr id="49" name="!!mk2_1"/>
          <p:cNvSpPr/>
          <p:nvPr/>
        </p:nvSpPr>
        <p:spPr>
          <a:xfrm>
            <a:off x="10715854" y="2088490"/>
            <a:ext cx="98755" cy="98755"/>
          </a:xfrm>
          <a:prstGeom prst="ellipse">
            <a:avLst/>
          </a:prstGeom>
          <a:solidFill>
            <a:srgbClr val="3AB54A">
              <a:alpha val="40000"/>
            </a:srgbClr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50" name="!!mki2_1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740542" y="2113178"/>
            <a:ext cx="49378" cy="49378"/>
          </a:xfrm>
          <a:prstGeom prst="rect">
            <a:avLst/>
          </a:prstGeom>
        </p:spPr>
      </p:pic>
      <p:sp>
        <p:nvSpPr>
          <p:cNvPr id="51" name="!!lf2_2"/>
          <p:cNvSpPr/>
          <p:nvPr/>
        </p:nvSpPr>
        <p:spPr>
          <a:xfrm>
            <a:off x="10062972" y="2255825"/>
            <a:ext cx="768096" cy="159106"/>
          </a:xfrm>
          <a:prstGeom prst="roundRect">
            <a:avLst>
              <a:gd name="adj" fmla="val 50000"/>
            </a:avLst>
          </a:prstGeom>
          <a:solidFill>
            <a:srgbClr val="FFFFFF">
              <a:alpha val="60000"/>
            </a:srgbClr>
          </a:solidFill>
          <a:ln w="4763">
            <a:solidFill>
              <a:srgbClr val="0C74BC">
                <a:alpha val="40000"/>
              </a:srgbClr>
            </a:solidFill>
            <a:prstDash val="solid"/>
          </a:ln>
        </p:spPr>
      </p:sp>
      <p:sp>
        <p:nvSpPr>
          <p:cNvPr id="52" name="!!lft2_2"/>
          <p:cNvSpPr txBox="1"/>
          <p:nvPr/>
        </p:nvSpPr>
        <p:spPr>
          <a:xfrm>
            <a:off x="10117836" y="2255825"/>
            <a:ext cx="589788" cy="1591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" b="1" dirty="0">
                <a:solidFill>
                  <a:srgbClr val="9AA9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 water, amine &amp; sulphur</a:t>
            </a:r>
            <a:endParaRPr lang="en-US" sz="380" dirty="0"/>
          </a:p>
        </p:txBody>
      </p:sp>
      <p:sp>
        <p:nvSpPr>
          <p:cNvPr id="53" name="!!mk2_2"/>
          <p:cNvSpPr/>
          <p:nvPr/>
        </p:nvSpPr>
        <p:spPr>
          <a:xfrm>
            <a:off x="10715854" y="2286000"/>
            <a:ext cx="98755" cy="98755"/>
          </a:xfrm>
          <a:prstGeom prst="ellipse">
            <a:avLst/>
          </a:prstGeom>
          <a:solidFill>
            <a:srgbClr val="3AB54A">
              <a:alpha val="40000"/>
            </a:srgbClr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54" name="!!mki2_2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0740542" y="2310689"/>
            <a:ext cx="49378" cy="49378"/>
          </a:xfrm>
          <a:prstGeom prst="rect">
            <a:avLst/>
          </a:prstGeom>
        </p:spPr>
      </p:pic>
      <p:sp>
        <p:nvSpPr>
          <p:cNvPr id="55" name="!!spine3"/>
          <p:cNvSpPr/>
          <p:nvPr/>
        </p:nvSpPr>
        <p:spPr>
          <a:xfrm>
            <a:off x="11311128" y="1435608"/>
            <a:ext cx="0" cy="82296"/>
          </a:xfrm>
          <a:prstGeom prst="line">
            <a:avLst/>
          </a:prstGeom>
          <a:noFill/>
          <a:ln w="9525">
            <a:solidFill>
              <a:srgbClr val="C6D3E0"/>
            </a:solidFill>
            <a:prstDash val="solid"/>
          </a:ln>
        </p:spPr>
      </p:sp>
      <p:sp>
        <p:nvSpPr>
          <p:cNvPr id="56" name="!!br3"/>
          <p:cNvSpPr/>
          <p:nvPr/>
        </p:nvSpPr>
        <p:spPr>
          <a:xfrm>
            <a:off x="10927080" y="1517904"/>
            <a:ext cx="768096" cy="260604"/>
          </a:xfrm>
          <a:prstGeom prst="roundRect">
            <a:avLst>
              <a:gd name="adj" fmla="val 12632"/>
            </a:avLst>
          </a:prstGeom>
          <a:solidFill>
            <a:srgbClr val="3AB54A"/>
          </a:solidFill>
          <a:ln/>
        </p:spPr>
      </p:sp>
      <p:pic>
        <p:nvPicPr>
          <p:cNvPr id="57" name="!!bri3" descr="preencode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0968228" y="1559052"/>
            <a:ext cx="170078" cy="170078"/>
          </a:xfrm>
          <a:prstGeom prst="rect">
            <a:avLst/>
          </a:prstGeom>
        </p:spPr>
      </p:pic>
      <p:sp>
        <p:nvSpPr>
          <p:cNvPr id="58" name="!!brt3"/>
          <p:cNvSpPr txBox="1"/>
          <p:nvPr/>
        </p:nvSpPr>
        <p:spPr>
          <a:xfrm>
            <a:off x="11160252" y="1517904"/>
            <a:ext cx="526694" cy="2606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1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PETROCHEMICALS</a:t>
            </a:r>
            <a:endParaRPr lang="en-US" sz="410" dirty="0"/>
          </a:p>
          <a:p>
            <a:pPr indent="0" marL="0">
              <a:buNone/>
            </a:pPr>
            <a:r>
              <a:rPr lang="en-US" sz="33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Chemicals &amp; polymers</a:t>
            </a:r>
            <a:endParaRPr lang="en-US" sz="410" dirty="0"/>
          </a:p>
        </p:txBody>
      </p:sp>
      <p:sp>
        <p:nvSpPr>
          <p:cNvPr id="59" name="!!lf3_0"/>
          <p:cNvSpPr/>
          <p:nvPr/>
        </p:nvSpPr>
        <p:spPr>
          <a:xfrm>
            <a:off x="548640" y="1463040"/>
            <a:ext cx="3291840" cy="7315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3AB54A"/>
            </a:solidFill>
            <a:prstDash val="solid"/>
          </a:ln>
        </p:spPr>
      </p:sp>
      <p:sp>
        <p:nvSpPr>
          <p:cNvPr id="60" name="!!lft3_0"/>
          <p:cNvSpPr txBox="1"/>
          <p:nvPr/>
        </p:nvSpPr>
        <p:spPr>
          <a:xfrm>
            <a:off x="777240" y="1463040"/>
            <a:ext cx="2514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Aromatics (BTX)</a:t>
            </a:r>
            <a:endParaRPr lang="en-US" sz="1600" dirty="0"/>
          </a:p>
        </p:txBody>
      </p:sp>
      <p:sp>
        <p:nvSpPr>
          <p:cNvPr id="61" name="!!mk3_0"/>
          <p:cNvSpPr/>
          <p:nvPr/>
        </p:nvSpPr>
        <p:spPr>
          <a:xfrm>
            <a:off x="3337560" y="1618488"/>
            <a:ext cx="420624" cy="420624"/>
          </a:xfrm>
          <a:prstGeom prst="ellipse">
            <a:avLst/>
          </a:prstGeom>
          <a:solidFill>
            <a:srgbClr val="3AB54A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62" name="!!mki3_0" descr="preencoded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3447288" y="1728216"/>
            <a:ext cx="201168" cy="201168"/>
          </a:xfrm>
          <a:prstGeom prst="rect">
            <a:avLst/>
          </a:prstGeom>
        </p:spPr>
      </p:pic>
      <p:sp>
        <p:nvSpPr>
          <p:cNvPr id="63" name="t104"/>
          <p:cNvSpPr txBox="1"/>
          <p:nvPr/>
        </p:nvSpPr>
        <p:spPr>
          <a:xfrm>
            <a:off x="4114800" y="1188720"/>
            <a:ext cx="3840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1F5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Where: </a:t>
            </a:r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Reformer, extraction and xylene columns, aromatics tanks</a:t>
            </a:r>
            <a:endParaRPr lang="en-US" sz="1400" dirty="0"/>
          </a:p>
        </p:txBody>
      </p:sp>
      <p:sp>
        <p:nvSpPr>
          <p:cNvPr id="64" name="s105"/>
          <p:cNvSpPr/>
          <p:nvPr/>
        </p:nvSpPr>
        <p:spPr>
          <a:xfrm>
            <a:off x="4114800" y="1920240"/>
            <a:ext cx="864108" cy="329184"/>
          </a:xfrm>
          <a:prstGeom prst="roundRect">
            <a:avLst>
              <a:gd name="adj" fmla="val 50000"/>
            </a:avLst>
          </a:prstGeom>
          <a:solidFill>
            <a:srgbClr val="E67E22"/>
          </a:solidFill>
          <a:ln/>
        </p:spPr>
      </p:sp>
      <p:sp>
        <p:nvSpPr>
          <p:cNvPr id="65" name="t106"/>
          <p:cNvSpPr txBox="1"/>
          <p:nvPr/>
        </p:nvSpPr>
        <p:spPr>
          <a:xfrm>
            <a:off x="4114800" y="1920240"/>
            <a:ext cx="8641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Benzene</a:t>
            </a:r>
            <a:endParaRPr lang="en-US" sz="1200" dirty="0"/>
          </a:p>
        </p:txBody>
      </p:sp>
      <p:sp>
        <p:nvSpPr>
          <p:cNvPr id="66" name="s107"/>
          <p:cNvSpPr/>
          <p:nvPr/>
        </p:nvSpPr>
        <p:spPr>
          <a:xfrm>
            <a:off x="5088636" y="1920240"/>
            <a:ext cx="553212" cy="329184"/>
          </a:xfrm>
          <a:prstGeom prst="roundRect">
            <a:avLst>
              <a:gd name="adj" fmla="val 50000"/>
            </a:avLst>
          </a:prstGeom>
          <a:solidFill>
            <a:srgbClr val="D4A017"/>
          </a:solidFill>
          <a:ln/>
        </p:spPr>
      </p:sp>
      <p:sp>
        <p:nvSpPr>
          <p:cNvPr id="67" name="t108"/>
          <p:cNvSpPr txBox="1"/>
          <p:nvPr/>
        </p:nvSpPr>
        <p:spPr>
          <a:xfrm>
            <a:off x="5088636" y="1920240"/>
            <a:ext cx="5532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LEL</a:t>
            </a:r>
            <a:endParaRPr lang="en-US" sz="1200" dirty="0"/>
          </a:p>
        </p:txBody>
      </p:sp>
      <p:sp>
        <p:nvSpPr>
          <p:cNvPr id="68" name="s109"/>
          <p:cNvSpPr/>
          <p:nvPr/>
        </p:nvSpPr>
        <p:spPr>
          <a:xfrm>
            <a:off x="5751576" y="1920240"/>
            <a:ext cx="1485900" cy="329184"/>
          </a:xfrm>
          <a:prstGeom prst="roundRect">
            <a:avLst>
              <a:gd name="adj" fmla="val 50000"/>
            </a:avLst>
          </a:prstGeom>
          <a:solidFill>
            <a:srgbClr val="7A5C3E"/>
          </a:solidFill>
          <a:ln/>
        </p:spPr>
      </p:sp>
      <p:sp>
        <p:nvSpPr>
          <p:cNvPr id="69" name="t110"/>
          <p:cNvSpPr txBox="1"/>
          <p:nvPr/>
        </p:nvSpPr>
        <p:spPr>
          <a:xfrm>
            <a:off x="5751576" y="1920240"/>
            <a:ext cx="14859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Heavy aromatics</a:t>
            </a:r>
            <a:endParaRPr lang="en-US" sz="1200" dirty="0"/>
          </a:p>
        </p:txBody>
      </p:sp>
      <p:sp>
        <p:nvSpPr>
          <p:cNvPr id="70" name="!!lf3_1"/>
          <p:cNvSpPr/>
          <p:nvPr/>
        </p:nvSpPr>
        <p:spPr>
          <a:xfrm>
            <a:off x="548640" y="2880360"/>
            <a:ext cx="3291840" cy="7315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3AB54A"/>
            </a:solidFill>
            <a:prstDash val="solid"/>
          </a:ln>
        </p:spPr>
      </p:sp>
      <p:sp>
        <p:nvSpPr>
          <p:cNvPr id="71" name="!!lft3_1"/>
          <p:cNvSpPr txBox="1"/>
          <p:nvPr/>
        </p:nvSpPr>
        <p:spPr>
          <a:xfrm>
            <a:off x="777240" y="2880360"/>
            <a:ext cx="2514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Olefins &amp; polymers</a:t>
            </a:r>
            <a:endParaRPr lang="en-US" sz="1600" dirty="0"/>
          </a:p>
        </p:txBody>
      </p:sp>
      <p:sp>
        <p:nvSpPr>
          <p:cNvPr id="72" name="!!mk3_1"/>
          <p:cNvSpPr/>
          <p:nvPr/>
        </p:nvSpPr>
        <p:spPr>
          <a:xfrm>
            <a:off x="3337560" y="3035808"/>
            <a:ext cx="420624" cy="420624"/>
          </a:xfrm>
          <a:prstGeom prst="ellipse">
            <a:avLst/>
          </a:prstGeom>
          <a:solidFill>
            <a:srgbClr val="3AB54A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73" name="!!mki3_1" descr="preencoded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3447288" y="3145536"/>
            <a:ext cx="201168" cy="201168"/>
          </a:xfrm>
          <a:prstGeom prst="rect">
            <a:avLst/>
          </a:prstGeom>
        </p:spPr>
      </p:pic>
      <p:sp>
        <p:nvSpPr>
          <p:cNvPr id="74" name="t111"/>
          <p:cNvSpPr txBox="1"/>
          <p:nvPr/>
        </p:nvSpPr>
        <p:spPr>
          <a:xfrm>
            <a:off x="4114800" y="2606040"/>
            <a:ext cx="3840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1F5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Where: </a:t>
            </a:r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Quench towers, caustic tower, compressor KO drums</a:t>
            </a:r>
            <a:endParaRPr lang="en-US" sz="1400" dirty="0"/>
          </a:p>
        </p:txBody>
      </p:sp>
      <p:sp>
        <p:nvSpPr>
          <p:cNvPr id="75" name="s112"/>
          <p:cNvSpPr/>
          <p:nvPr/>
        </p:nvSpPr>
        <p:spPr>
          <a:xfrm>
            <a:off x="4114800" y="3337560"/>
            <a:ext cx="1097280" cy="329184"/>
          </a:xfrm>
          <a:prstGeom prst="roundRect">
            <a:avLst>
              <a:gd name="adj" fmla="val 50000"/>
            </a:avLst>
          </a:prstGeom>
          <a:solidFill>
            <a:srgbClr val="1F3A52"/>
          </a:solidFill>
          <a:ln/>
        </p:spPr>
      </p:sp>
      <p:sp>
        <p:nvSpPr>
          <p:cNvPr id="76" name="t113"/>
          <p:cNvSpPr txBox="1"/>
          <p:nvPr/>
        </p:nvSpPr>
        <p:spPr>
          <a:xfrm>
            <a:off x="4114800" y="3337560"/>
            <a:ext cx="1097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 / coke</a:t>
            </a:r>
            <a:endParaRPr lang="en-US" sz="1200" dirty="0"/>
          </a:p>
        </p:txBody>
      </p:sp>
      <p:sp>
        <p:nvSpPr>
          <p:cNvPr id="77" name="s114"/>
          <p:cNvSpPr/>
          <p:nvPr/>
        </p:nvSpPr>
        <p:spPr>
          <a:xfrm>
            <a:off x="5321808" y="3337560"/>
            <a:ext cx="864108" cy="329184"/>
          </a:xfrm>
          <a:prstGeom prst="roundRect">
            <a:avLst>
              <a:gd name="adj" fmla="val 50000"/>
            </a:avLst>
          </a:prstGeom>
          <a:solidFill>
            <a:srgbClr val="8E9AAF"/>
          </a:solidFill>
          <a:ln/>
        </p:spPr>
      </p:sp>
      <p:sp>
        <p:nvSpPr>
          <p:cNvPr id="78" name="t115"/>
          <p:cNvSpPr txBox="1"/>
          <p:nvPr/>
        </p:nvSpPr>
        <p:spPr>
          <a:xfrm>
            <a:off x="5321808" y="3337560"/>
            <a:ext cx="8641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Polymer</a:t>
            </a:r>
            <a:endParaRPr lang="en-US" sz="1200" dirty="0"/>
          </a:p>
        </p:txBody>
      </p:sp>
      <p:sp>
        <p:nvSpPr>
          <p:cNvPr id="79" name="s116"/>
          <p:cNvSpPr/>
          <p:nvPr/>
        </p:nvSpPr>
        <p:spPr>
          <a:xfrm>
            <a:off x="6295644" y="3337560"/>
            <a:ext cx="864108" cy="329184"/>
          </a:xfrm>
          <a:prstGeom prst="roundRect">
            <a:avLst>
              <a:gd name="adj" fmla="val 50000"/>
            </a:avLst>
          </a:prstGeom>
          <a:solidFill>
            <a:srgbClr val="E67E22"/>
          </a:solidFill>
          <a:ln/>
        </p:spPr>
      </p:sp>
      <p:sp>
        <p:nvSpPr>
          <p:cNvPr id="80" name="t117"/>
          <p:cNvSpPr txBox="1"/>
          <p:nvPr/>
        </p:nvSpPr>
        <p:spPr>
          <a:xfrm>
            <a:off x="6295644" y="3337560"/>
            <a:ext cx="8641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Benzene</a:t>
            </a:r>
            <a:endParaRPr lang="en-US" sz="1200" dirty="0"/>
          </a:p>
        </p:txBody>
      </p:sp>
      <p:sp>
        <p:nvSpPr>
          <p:cNvPr id="81" name="!!lf3_2"/>
          <p:cNvSpPr/>
          <p:nvPr/>
        </p:nvSpPr>
        <p:spPr>
          <a:xfrm>
            <a:off x="548640" y="4297680"/>
            <a:ext cx="3291840" cy="7315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3AB54A"/>
            </a:solidFill>
            <a:prstDash val="solid"/>
          </a:ln>
        </p:spPr>
      </p:sp>
      <p:sp>
        <p:nvSpPr>
          <p:cNvPr id="82" name="!!lft3_2"/>
          <p:cNvSpPr txBox="1"/>
          <p:nvPr/>
        </p:nvSpPr>
        <p:spPr>
          <a:xfrm>
            <a:off x="777240" y="4297680"/>
            <a:ext cx="2514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Methanol &amp; fertilisers</a:t>
            </a:r>
            <a:endParaRPr lang="en-US" sz="1600" dirty="0"/>
          </a:p>
        </p:txBody>
      </p:sp>
      <p:sp>
        <p:nvSpPr>
          <p:cNvPr id="83" name="!!mk3_2"/>
          <p:cNvSpPr/>
          <p:nvPr/>
        </p:nvSpPr>
        <p:spPr>
          <a:xfrm>
            <a:off x="3337560" y="4453128"/>
            <a:ext cx="420624" cy="420624"/>
          </a:xfrm>
          <a:prstGeom prst="ellipse">
            <a:avLst/>
          </a:prstGeom>
          <a:solidFill>
            <a:srgbClr val="3AB54A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84" name="!!mki3_2" descr="preencoded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3447288" y="4562856"/>
            <a:ext cx="201168" cy="201168"/>
          </a:xfrm>
          <a:prstGeom prst="rect">
            <a:avLst/>
          </a:prstGeom>
        </p:spPr>
      </p:pic>
      <p:sp>
        <p:nvSpPr>
          <p:cNvPr id="85" name="t118"/>
          <p:cNvSpPr txBox="1"/>
          <p:nvPr/>
        </p:nvSpPr>
        <p:spPr>
          <a:xfrm>
            <a:off x="4114800" y="4023360"/>
            <a:ext cx="3840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1F5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Where: </a:t>
            </a:r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Desulphurisation, synthesis, distillation, ammonia sections</a:t>
            </a:r>
            <a:endParaRPr lang="en-US" sz="1400" dirty="0"/>
          </a:p>
        </p:txBody>
      </p:sp>
      <p:sp>
        <p:nvSpPr>
          <p:cNvPr id="86" name="s119"/>
          <p:cNvSpPr/>
          <p:nvPr/>
        </p:nvSpPr>
        <p:spPr>
          <a:xfrm>
            <a:off x="4114800" y="4754880"/>
            <a:ext cx="553212" cy="329184"/>
          </a:xfrm>
          <a:prstGeom prst="roundRect">
            <a:avLst>
              <a:gd name="adj" fmla="val 50000"/>
            </a:avLst>
          </a:prstGeom>
          <a:solidFill>
            <a:srgbClr val="D4A017"/>
          </a:solidFill>
          <a:ln/>
        </p:spPr>
      </p:sp>
      <p:sp>
        <p:nvSpPr>
          <p:cNvPr id="87" name="t120"/>
          <p:cNvSpPr txBox="1"/>
          <p:nvPr/>
        </p:nvSpPr>
        <p:spPr>
          <a:xfrm>
            <a:off x="4114800" y="4754880"/>
            <a:ext cx="5532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LEL</a:t>
            </a:r>
            <a:endParaRPr lang="en-US" sz="1200" dirty="0"/>
          </a:p>
        </p:txBody>
      </p:sp>
      <p:sp>
        <p:nvSpPr>
          <p:cNvPr id="88" name="s121"/>
          <p:cNvSpPr/>
          <p:nvPr/>
        </p:nvSpPr>
        <p:spPr>
          <a:xfrm>
            <a:off x="4777740" y="4754880"/>
            <a:ext cx="864108" cy="329184"/>
          </a:xfrm>
          <a:prstGeom prst="roundRect">
            <a:avLst>
              <a:gd name="adj" fmla="val 50000"/>
            </a:avLst>
          </a:prstGeom>
          <a:solidFill>
            <a:srgbClr val="0C74BC"/>
          </a:solidFill>
          <a:ln/>
        </p:spPr>
      </p:sp>
      <p:sp>
        <p:nvSpPr>
          <p:cNvPr id="89" name="t122"/>
          <p:cNvSpPr txBox="1"/>
          <p:nvPr/>
        </p:nvSpPr>
        <p:spPr>
          <a:xfrm>
            <a:off x="4777740" y="4754880"/>
            <a:ext cx="8641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Ammonia</a:t>
            </a:r>
            <a:endParaRPr lang="en-US" sz="1200" dirty="0"/>
          </a:p>
        </p:txBody>
      </p:sp>
      <p:sp>
        <p:nvSpPr>
          <p:cNvPr id="90" name="s123"/>
          <p:cNvSpPr/>
          <p:nvPr/>
        </p:nvSpPr>
        <p:spPr>
          <a:xfrm>
            <a:off x="5751576" y="4754880"/>
            <a:ext cx="553212" cy="329184"/>
          </a:xfrm>
          <a:prstGeom prst="roundRect">
            <a:avLst>
              <a:gd name="adj" fmla="val 50000"/>
            </a:avLst>
          </a:prstGeom>
          <a:solidFill>
            <a:srgbClr val="6B7280"/>
          </a:solidFill>
          <a:ln/>
        </p:spPr>
      </p:sp>
      <p:sp>
        <p:nvSpPr>
          <p:cNvPr id="91" name="t124"/>
          <p:cNvSpPr txBox="1"/>
          <p:nvPr/>
        </p:nvSpPr>
        <p:spPr>
          <a:xfrm>
            <a:off x="5751576" y="4754880"/>
            <a:ext cx="5532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FeS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708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slow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600" fill="hold"/>
                                        <p:tgtEl>
                                          <p:spTgt spid="6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600" fill="hold"/>
                                        <p:tgtEl>
                                          <p:spTgt spid="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60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600" fill="hold"/>
                                        <p:tgtEl>
                                          <p:spTgt spid="6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600" fill="hold"/>
                                        <p:tgtEl>
                                          <p:spTgt spid="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60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600" fill="hold"/>
                                        <p:tgtEl>
                                          <p:spTgt spid="6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600" fill="hold"/>
                                        <p:tgtEl>
                                          <p:spTgt spid="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60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600" fill="hold"/>
                                        <p:tgtEl>
                                          <p:spTgt spid="6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600" fill="hold"/>
                                        <p:tgtEl>
                                          <p:spTgt spid="6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600"/>
                                        <p:tgtEl>
                                          <p:spTgt spid="6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" dur="600" fill="hold"/>
                                        <p:tgtEl>
                                          <p:spTgt spid="6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600" fill="hold"/>
                                        <p:tgtEl>
                                          <p:spTgt spid="6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600"/>
                                        <p:tgtEl>
                                          <p:spTgt spid="6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600" fill="hold"/>
                                        <p:tgtEl>
                                          <p:spTgt spid="6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600" fill="hold"/>
                                        <p:tgtEl>
                                          <p:spTgt spid="6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600"/>
                                        <p:tgtEl>
                                          <p:spTgt spid="6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8" dur="600" fill="hold"/>
                                        <p:tgtEl>
                                          <p:spTgt spid="6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" dur="600" fill="hold"/>
                                        <p:tgtEl>
                                          <p:spTgt spid="6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600"/>
                                        <p:tgtEl>
                                          <p:spTgt spid="7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5" dur="600" fill="hold"/>
                                        <p:tgtEl>
                                          <p:spTgt spid="7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6" dur="600" fill="hold"/>
                                        <p:tgtEl>
                                          <p:spTgt spid="7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600"/>
                                        <p:tgtEl>
                                          <p:spTgt spid="7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0" dur="600" fill="hold"/>
                                        <p:tgtEl>
                                          <p:spTgt spid="7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1" dur="600" fill="hold"/>
                                        <p:tgtEl>
                                          <p:spTgt spid="7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2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600"/>
                                        <p:tgtEl>
                                          <p:spTgt spid="7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5" dur="600" fill="hold"/>
                                        <p:tgtEl>
                                          <p:spTgt spid="7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6" dur="600" fill="hold"/>
                                        <p:tgtEl>
                                          <p:spTgt spid="7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600"/>
                                        <p:tgtEl>
                                          <p:spTgt spid="7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0" dur="600" fill="hold"/>
                                        <p:tgtEl>
                                          <p:spTgt spid="7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1" dur="600" fill="hold"/>
                                        <p:tgtEl>
                                          <p:spTgt spid="7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2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600"/>
                                        <p:tgtEl>
                                          <p:spTgt spid="7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5" dur="600" fill="hold"/>
                                        <p:tgtEl>
                                          <p:spTgt spid="7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6" dur="600" fill="hold"/>
                                        <p:tgtEl>
                                          <p:spTgt spid="7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600"/>
                                        <p:tgtEl>
                                          <p:spTgt spid="7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0" dur="600" fill="hold"/>
                                        <p:tgtEl>
                                          <p:spTgt spid="7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1" dur="600" fill="hold"/>
                                        <p:tgtEl>
                                          <p:spTgt spid="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2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600"/>
                                        <p:tgtEl>
                                          <p:spTgt spid="8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5" dur="600" fill="hold"/>
                                        <p:tgtEl>
                                          <p:spTgt spid="8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6" dur="600" fill="hold"/>
                                        <p:tgtEl>
                                          <p:spTgt spid="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7" fill="hold">
                      <p:stCondLst>
                        <p:cond delay="indefinite"/>
                      </p:stCondLst>
                      <p:childTnLst>
                        <p:par>
                          <p:cTn id="78" fill="hold">
                            <p:stCondLst>
                              <p:cond delay="0"/>
                            </p:stCondLst>
                            <p:childTnLst>
                              <p:par>
                                <p:cTn id="79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600"/>
                                        <p:tgtEl>
                                          <p:spTgt spid="8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2" dur="600" fill="hold"/>
                                        <p:tgtEl>
                                          <p:spTgt spid="8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3" dur="600" fill="hold"/>
                                        <p:tgtEl>
                                          <p:spTgt spid="8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4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600"/>
                                        <p:tgtEl>
                                          <p:spTgt spid="8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7" dur="600" fill="hold"/>
                                        <p:tgtEl>
                                          <p:spTgt spid="8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8" dur="600" fill="hold"/>
                                        <p:tgtEl>
                                          <p:spTgt spid="8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9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600"/>
                                        <p:tgtEl>
                                          <p:spTgt spid="8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2" dur="600" fill="hold"/>
                                        <p:tgtEl>
                                          <p:spTgt spid="8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3" dur="600" fill="hold"/>
                                        <p:tgtEl>
                                          <p:spTgt spid="8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4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600"/>
                                        <p:tgtEl>
                                          <p:spTgt spid="8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7" dur="600" fill="hold"/>
                                        <p:tgtEl>
                                          <p:spTgt spid="8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8" dur="600" fill="hold"/>
                                        <p:tgtEl>
                                          <p:spTgt spid="8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9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1" dur="600"/>
                                        <p:tgtEl>
                                          <p:spTgt spid="8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2" dur="600" fill="hold"/>
                                        <p:tgtEl>
                                          <p:spTgt spid="8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3" dur="600" fill="hold"/>
                                        <p:tgtEl>
                                          <p:spTgt spid="8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4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600"/>
                                        <p:tgtEl>
                                          <p:spTgt spid="9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7" dur="600" fill="hold"/>
                                        <p:tgtEl>
                                          <p:spTgt spid="9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8" dur="600" fill="hold"/>
                                        <p:tgtEl>
                                          <p:spTgt spid="9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9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1" dur="600"/>
                                        <p:tgtEl>
                                          <p:spTgt spid="9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2" dur="600" fill="hold"/>
                                        <p:tgtEl>
                                          <p:spTgt spid="9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3" dur="600" fill="hold"/>
                                        <p:tgtEl>
                                          <p:spTgt spid="9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3" grpId="0" animBg="1"/>
      <p:bldP spid="64" grpId="0" animBg="1"/>
      <p:bldP spid="65" grpId="0" animBg="1"/>
      <p:bldP spid="66" grpId="0" animBg="1"/>
      <p:bldP spid="67" grpId="0" animBg="1"/>
      <p:bldP spid="68" grpId="0" animBg="1"/>
      <p:bldP spid="69" grpId="0" animBg="1"/>
      <p:bldP spid="74" grpId="0" animBg="1"/>
      <p:bldP spid="75" grpId="0" animBg="1"/>
      <p:bldP spid="76" grpId="0" animBg="1"/>
      <p:bldP spid="77" grpId="0" animBg="1"/>
      <p:bldP spid="78" grpId="0" animBg="1"/>
      <p:bldP spid="79" grpId="0" animBg="1"/>
      <p:bldP spid="80" grpId="0" animBg="1"/>
      <p:bldP spid="85" grpId="0" animBg="1"/>
      <p:bldP spid="86" grpId="0" animBg="1"/>
      <p:bldP spid="87" grpId="0" animBg="1"/>
      <p:bldP spid="88" grpId="0" animBg="1"/>
      <p:bldP spid="89" grpId="0" animBg="1"/>
      <p:bldP spid="90" grpId="0" animBg="1"/>
      <p:bldP spid="91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47472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5F8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Your facility</a:t>
            </a:r>
            <a:endParaRPr lang="en-US" sz="2800" dirty="0"/>
          </a:p>
        </p:txBody>
      </p:sp>
      <p:sp>
        <p:nvSpPr>
          <p:cNvPr id="3" name="t125"/>
          <p:cNvSpPr txBox="1"/>
          <p:nvPr/>
        </p:nvSpPr>
        <p:spPr>
          <a:xfrm>
            <a:off x="548640" y="1417320"/>
            <a:ext cx="5394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2E8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FACILITY / CLIENT</a:t>
            </a:r>
            <a:endParaRPr lang="en-US" sz="1200" dirty="0"/>
          </a:p>
        </p:txBody>
      </p:sp>
      <p:sp>
        <p:nvSpPr>
          <p:cNvPr id="4" name="s126"/>
          <p:cNvSpPr/>
          <p:nvPr/>
        </p:nvSpPr>
        <p:spPr>
          <a:xfrm>
            <a:off x="548640" y="1783080"/>
            <a:ext cx="5394960" cy="822960"/>
          </a:xfrm>
          <a:prstGeom prst="roundRect">
            <a:avLst>
              <a:gd name="adj" fmla="val 8889"/>
            </a:avLst>
          </a:prstGeom>
          <a:solidFill>
            <a:srgbClr val="F3F7FA"/>
          </a:solidFill>
          <a:ln w="12700">
            <a:solidFill>
              <a:srgbClr val="E1E8EF"/>
            </a:solidFill>
            <a:prstDash val="solid"/>
          </a:ln>
        </p:spPr>
      </p:sp>
      <p:sp>
        <p:nvSpPr>
          <p:cNvPr id="5" name="t127"/>
          <p:cNvSpPr txBox="1"/>
          <p:nvPr/>
        </p:nvSpPr>
        <p:spPr>
          <a:xfrm>
            <a:off x="6172200" y="1417320"/>
            <a:ext cx="5394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2E8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UNITS IN SCOPE</a:t>
            </a:r>
            <a:endParaRPr lang="en-US" sz="1200" dirty="0"/>
          </a:p>
        </p:txBody>
      </p:sp>
      <p:sp>
        <p:nvSpPr>
          <p:cNvPr id="6" name="s128"/>
          <p:cNvSpPr/>
          <p:nvPr/>
        </p:nvSpPr>
        <p:spPr>
          <a:xfrm>
            <a:off x="6172200" y="1783080"/>
            <a:ext cx="5394960" cy="822960"/>
          </a:xfrm>
          <a:prstGeom prst="roundRect">
            <a:avLst>
              <a:gd name="adj" fmla="val 8889"/>
            </a:avLst>
          </a:prstGeom>
          <a:solidFill>
            <a:srgbClr val="F3F7FA"/>
          </a:solidFill>
          <a:ln w="12700">
            <a:solidFill>
              <a:srgbClr val="E1E8EF"/>
            </a:solidFill>
            <a:prstDash val="solid"/>
          </a:ln>
        </p:spPr>
      </p:sp>
      <p:sp>
        <p:nvSpPr>
          <p:cNvPr id="7" name="t129"/>
          <p:cNvSpPr txBox="1"/>
          <p:nvPr/>
        </p:nvSpPr>
        <p:spPr>
          <a:xfrm>
            <a:off x="548640" y="2880360"/>
            <a:ext cx="5394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2E8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CONTAMINANTS</a:t>
            </a:r>
            <a:endParaRPr lang="en-US" sz="1200" dirty="0"/>
          </a:p>
        </p:txBody>
      </p:sp>
      <p:sp>
        <p:nvSpPr>
          <p:cNvPr id="8" name="s130"/>
          <p:cNvSpPr/>
          <p:nvPr/>
        </p:nvSpPr>
        <p:spPr>
          <a:xfrm>
            <a:off x="548640" y="3246120"/>
            <a:ext cx="5394960" cy="822960"/>
          </a:xfrm>
          <a:prstGeom prst="roundRect">
            <a:avLst>
              <a:gd name="adj" fmla="val 8889"/>
            </a:avLst>
          </a:prstGeom>
          <a:solidFill>
            <a:srgbClr val="F3F7FA"/>
          </a:solidFill>
          <a:ln w="12700">
            <a:solidFill>
              <a:srgbClr val="E1E8EF"/>
            </a:solidFill>
            <a:prstDash val="solid"/>
          </a:ln>
        </p:spPr>
      </p:sp>
      <p:sp>
        <p:nvSpPr>
          <p:cNvPr id="9" name="t131"/>
          <p:cNvSpPr txBox="1"/>
          <p:nvPr/>
        </p:nvSpPr>
        <p:spPr>
          <a:xfrm>
            <a:off x="6172200" y="2880360"/>
            <a:ext cx="5394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2E8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SHUTDOWN WINDOW</a:t>
            </a:r>
            <a:endParaRPr lang="en-US" sz="1200" dirty="0"/>
          </a:p>
        </p:txBody>
      </p:sp>
      <p:sp>
        <p:nvSpPr>
          <p:cNvPr id="10" name="s132"/>
          <p:cNvSpPr/>
          <p:nvPr/>
        </p:nvSpPr>
        <p:spPr>
          <a:xfrm>
            <a:off x="6172200" y="3246120"/>
            <a:ext cx="5394960" cy="822960"/>
          </a:xfrm>
          <a:prstGeom prst="roundRect">
            <a:avLst>
              <a:gd name="adj" fmla="val 8889"/>
            </a:avLst>
          </a:prstGeom>
          <a:solidFill>
            <a:srgbClr val="F3F7FA"/>
          </a:solidFill>
          <a:ln w="12700">
            <a:solidFill>
              <a:srgbClr val="E1E8EF"/>
            </a:solidFill>
            <a:prstDash val="solid"/>
          </a:ln>
        </p:spPr>
      </p:sp>
      <p:sp>
        <p:nvSpPr>
          <p:cNvPr id="11" name="t133"/>
          <p:cNvSpPr txBox="1"/>
          <p:nvPr/>
        </p:nvSpPr>
        <p:spPr>
          <a:xfrm>
            <a:off x="548640" y="4343400"/>
            <a:ext cx="5394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2E8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UTILITIES AVAILABLE (STEAM, N₂, WATER)</a:t>
            </a:r>
            <a:endParaRPr lang="en-US" sz="1200" dirty="0"/>
          </a:p>
        </p:txBody>
      </p:sp>
      <p:sp>
        <p:nvSpPr>
          <p:cNvPr id="12" name="s134"/>
          <p:cNvSpPr/>
          <p:nvPr/>
        </p:nvSpPr>
        <p:spPr>
          <a:xfrm>
            <a:off x="548640" y="4709160"/>
            <a:ext cx="5394960" cy="822960"/>
          </a:xfrm>
          <a:prstGeom prst="roundRect">
            <a:avLst>
              <a:gd name="adj" fmla="val 8889"/>
            </a:avLst>
          </a:prstGeom>
          <a:solidFill>
            <a:srgbClr val="F3F7FA"/>
          </a:solidFill>
          <a:ln w="12700">
            <a:solidFill>
              <a:srgbClr val="E1E8EF"/>
            </a:solidFill>
            <a:prstDash val="solid"/>
          </a:ln>
        </p:spPr>
      </p:sp>
      <p:sp>
        <p:nvSpPr>
          <p:cNvPr id="13" name="t135"/>
          <p:cNvSpPr txBox="1"/>
          <p:nvPr/>
        </p:nvSpPr>
        <p:spPr>
          <a:xfrm>
            <a:off x="6172200" y="4343400"/>
            <a:ext cx="5394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2E8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ENTRY CRITERIA / PERMIT REQUIREMENTS</a:t>
            </a:r>
            <a:endParaRPr lang="en-US" sz="1200" dirty="0"/>
          </a:p>
        </p:txBody>
      </p:sp>
      <p:sp>
        <p:nvSpPr>
          <p:cNvPr id="14" name="s136"/>
          <p:cNvSpPr/>
          <p:nvPr/>
        </p:nvSpPr>
        <p:spPr>
          <a:xfrm>
            <a:off x="6172200" y="4709160"/>
            <a:ext cx="5394960" cy="822960"/>
          </a:xfrm>
          <a:prstGeom prst="roundRect">
            <a:avLst>
              <a:gd name="adj" fmla="val 8889"/>
            </a:avLst>
          </a:prstGeom>
          <a:solidFill>
            <a:srgbClr val="F3F7FA"/>
          </a:solidFill>
          <a:ln w="12700">
            <a:solidFill>
              <a:srgbClr val="E1E8EF"/>
            </a:solidFill>
            <a:prstDash val="solid"/>
          </a:ln>
        </p:spPr>
      </p:sp>
      <p:sp>
        <p:nvSpPr>
          <p:cNvPr id="15" name="t137"/>
          <p:cNvSpPr txBox="1"/>
          <p:nvPr/>
        </p:nvSpPr>
        <p:spPr>
          <a:xfrm>
            <a:off x="548640" y="589788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B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Filled in with the client before the meeting – their position on the value chain and what we will remove.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708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4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4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4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4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400"/>
                            </p:stCondLst>
                            <p:childTnLst>
                              <p:par>
                                <p:cTn id="16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4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4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4" dur="4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5" dur="4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800"/>
                            </p:stCondLst>
                            <p:childTnLst>
                              <p:par>
                                <p:cTn id="27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0" dur="4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1" dur="4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2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5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6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200"/>
                            </p:stCondLst>
                            <p:childTnLst>
                              <p:par>
                                <p:cTn id="38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1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2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6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7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8" fill="hold">
                            <p:stCondLst>
                              <p:cond delay="1600"/>
                            </p:stCondLst>
                            <p:childTnLst>
                              <p:par>
                                <p:cTn id="49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2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3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4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7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8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9" fill="hold">
                            <p:stCondLst>
                              <p:cond delay="2000"/>
                            </p:stCondLst>
                            <p:childTnLst>
                              <p:par>
                                <p:cTn id="60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3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4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8" dur="4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9" dur="4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47472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5F8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has to be removed – and why</a:t>
            </a:r>
            <a:endParaRPr lang="en-US" sz="2800" dirty="0"/>
          </a:p>
        </p:txBody>
      </p:sp>
      <p:sp>
        <p:nvSpPr>
          <p:cNvPr id="3" name="s138"/>
          <p:cNvSpPr/>
          <p:nvPr/>
        </p:nvSpPr>
        <p:spPr>
          <a:xfrm>
            <a:off x="548640" y="1417320"/>
            <a:ext cx="3520440" cy="1965960"/>
          </a:xfrm>
          <a:prstGeom prst="roundRect">
            <a:avLst>
              <a:gd name="adj" fmla="val 4651"/>
            </a:avLst>
          </a:prstGeom>
          <a:solidFill>
            <a:srgbClr val="F3F7FA"/>
          </a:solidFill>
          <a:ln w="12700">
            <a:solidFill>
              <a:srgbClr val="E1E8EF"/>
            </a:solidFill>
            <a:prstDash val="solid"/>
          </a:ln>
          <a:effectLst>
            <a:outerShdw sx="100000" sy="100000" kx="0" ky="0" algn="bl" rotWithShape="0" blurRad="76200" dist="25400" dir="5400000">
              <a:srgbClr val="9AA9B8">
                <a:alpha val="22000"/>
              </a:srgbClr>
            </a:outerShdw>
          </a:effectLst>
        </p:spPr>
      </p:sp>
      <p:sp>
        <p:nvSpPr>
          <p:cNvPr id="4" name="tag139"/>
          <p:cNvSpPr/>
          <p:nvPr/>
        </p:nvSpPr>
        <p:spPr>
          <a:xfrm>
            <a:off x="777240" y="1691640"/>
            <a:ext cx="2377440" cy="329184"/>
          </a:xfrm>
          <a:prstGeom prst="roundRect">
            <a:avLst>
              <a:gd name="adj" fmla="val 50000"/>
            </a:avLst>
          </a:prstGeom>
          <a:solidFill>
            <a:srgbClr val="C039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H₂S</a:t>
            </a:r>
            <a:endParaRPr lang="en-US" sz="1200" dirty="0"/>
          </a:p>
        </p:txBody>
      </p:sp>
      <p:sp>
        <p:nvSpPr>
          <p:cNvPr id="5" name="t140"/>
          <p:cNvSpPr txBox="1"/>
          <p:nvPr/>
        </p:nvSpPr>
        <p:spPr>
          <a:xfrm>
            <a:off x="777240" y="2194560"/>
            <a:ext cx="3063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Toxic gas – fatal at low concentrations</a:t>
            </a:r>
            <a:endParaRPr lang="en-US" sz="1500" dirty="0"/>
          </a:p>
        </p:txBody>
      </p:sp>
      <p:sp>
        <p:nvSpPr>
          <p:cNvPr id="6" name="s141"/>
          <p:cNvSpPr/>
          <p:nvPr/>
        </p:nvSpPr>
        <p:spPr>
          <a:xfrm>
            <a:off x="4297680" y="1417320"/>
            <a:ext cx="3520440" cy="1965960"/>
          </a:xfrm>
          <a:prstGeom prst="roundRect">
            <a:avLst>
              <a:gd name="adj" fmla="val 4651"/>
            </a:avLst>
          </a:prstGeom>
          <a:solidFill>
            <a:srgbClr val="F3F7FA"/>
          </a:solidFill>
          <a:ln w="12700">
            <a:solidFill>
              <a:srgbClr val="E1E8EF"/>
            </a:solidFill>
            <a:prstDash val="solid"/>
          </a:ln>
          <a:effectLst>
            <a:outerShdw sx="100000" sy="100000" kx="0" ky="0" algn="bl" rotWithShape="0" blurRad="76200" dist="25400" dir="5400000">
              <a:srgbClr val="9AA9B8">
                <a:alpha val="22000"/>
              </a:srgbClr>
            </a:outerShdw>
          </a:effectLst>
        </p:spPr>
      </p:sp>
      <p:sp>
        <p:nvSpPr>
          <p:cNvPr id="7" name="tag142"/>
          <p:cNvSpPr/>
          <p:nvPr/>
        </p:nvSpPr>
        <p:spPr>
          <a:xfrm>
            <a:off x="4526280" y="1691640"/>
            <a:ext cx="2377440" cy="329184"/>
          </a:xfrm>
          <a:prstGeom prst="roundRect">
            <a:avLst>
              <a:gd name="adj" fmla="val 50000"/>
            </a:avLst>
          </a:prstGeom>
          <a:solidFill>
            <a:srgbClr val="E67E2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Benzene</a:t>
            </a:r>
            <a:endParaRPr lang="en-US" sz="1200" dirty="0"/>
          </a:p>
        </p:txBody>
      </p:sp>
      <p:sp>
        <p:nvSpPr>
          <p:cNvPr id="8" name="t143"/>
          <p:cNvSpPr txBox="1"/>
          <p:nvPr/>
        </p:nvSpPr>
        <p:spPr>
          <a:xfrm>
            <a:off x="4526280" y="2194560"/>
            <a:ext cx="3063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Carcinogenic vapour – strict exposure limits</a:t>
            </a:r>
            <a:endParaRPr lang="en-US" sz="1500" dirty="0"/>
          </a:p>
        </p:txBody>
      </p:sp>
      <p:sp>
        <p:nvSpPr>
          <p:cNvPr id="9" name="s144"/>
          <p:cNvSpPr/>
          <p:nvPr/>
        </p:nvSpPr>
        <p:spPr>
          <a:xfrm>
            <a:off x="8046720" y="1417320"/>
            <a:ext cx="3520440" cy="1965960"/>
          </a:xfrm>
          <a:prstGeom prst="roundRect">
            <a:avLst>
              <a:gd name="adj" fmla="val 4651"/>
            </a:avLst>
          </a:prstGeom>
          <a:solidFill>
            <a:srgbClr val="F3F7FA"/>
          </a:solidFill>
          <a:ln w="12700">
            <a:solidFill>
              <a:srgbClr val="E1E8EF"/>
            </a:solidFill>
            <a:prstDash val="solid"/>
          </a:ln>
          <a:effectLst>
            <a:outerShdw sx="100000" sy="100000" kx="0" ky="0" algn="bl" rotWithShape="0" blurRad="76200" dist="25400" dir="5400000">
              <a:srgbClr val="9AA9B8">
                <a:alpha val="22000"/>
              </a:srgbClr>
            </a:outerShdw>
          </a:effectLst>
        </p:spPr>
      </p:sp>
      <p:sp>
        <p:nvSpPr>
          <p:cNvPr id="10" name="tag145"/>
          <p:cNvSpPr/>
          <p:nvPr/>
        </p:nvSpPr>
        <p:spPr>
          <a:xfrm>
            <a:off x="8275320" y="1691640"/>
            <a:ext cx="2377440" cy="329184"/>
          </a:xfrm>
          <a:prstGeom prst="roundRect">
            <a:avLst>
              <a:gd name="adj" fmla="val 50000"/>
            </a:avLst>
          </a:prstGeom>
          <a:solidFill>
            <a:srgbClr val="D4A017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LEL hydrocarbons</a:t>
            </a:r>
            <a:endParaRPr lang="en-US" sz="1200" dirty="0"/>
          </a:p>
        </p:txBody>
      </p:sp>
      <p:sp>
        <p:nvSpPr>
          <p:cNvPr id="11" name="t146"/>
          <p:cNvSpPr txBox="1"/>
          <p:nvPr/>
        </p:nvSpPr>
        <p:spPr>
          <a:xfrm>
            <a:off x="8275320" y="2194560"/>
            <a:ext cx="3063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Flammable / explosive atmosphere</a:t>
            </a:r>
            <a:endParaRPr lang="en-US" sz="1500" dirty="0"/>
          </a:p>
        </p:txBody>
      </p:sp>
      <p:sp>
        <p:nvSpPr>
          <p:cNvPr id="12" name="s147"/>
          <p:cNvSpPr/>
          <p:nvPr/>
        </p:nvSpPr>
        <p:spPr>
          <a:xfrm>
            <a:off x="548640" y="3657600"/>
            <a:ext cx="3520440" cy="1965960"/>
          </a:xfrm>
          <a:prstGeom prst="roundRect">
            <a:avLst>
              <a:gd name="adj" fmla="val 4651"/>
            </a:avLst>
          </a:prstGeom>
          <a:solidFill>
            <a:srgbClr val="F3F7FA"/>
          </a:solidFill>
          <a:ln w="12700">
            <a:solidFill>
              <a:srgbClr val="E1E8EF"/>
            </a:solidFill>
            <a:prstDash val="solid"/>
          </a:ln>
          <a:effectLst>
            <a:outerShdw sx="100000" sy="100000" kx="0" ky="0" algn="bl" rotWithShape="0" blurRad="76200" dist="25400" dir="5400000">
              <a:srgbClr val="9AA9B8">
                <a:alpha val="22000"/>
              </a:srgbClr>
            </a:outerShdw>
          </a:effectLst>
        </p:spPr>
      </p:sp>
      <p:sp>
        <p:nvSpPr>
          <p:cNvPr id="13" name="tag148"/>
          <p:cNvSpPr/>
          <p:nvPr/>
        </p:nvSpPr>
        <p:spPr>
          <a:xfrm>
            <a:off x="777240" y="3931920"/>
            <a:ext cx="2377440" cy="329184"/>
          </a:xfrm>
          <a:prstGeom prst="roundRect">
            <a:avLst>
              <a:gd name="adj" fmla="val 50000"/>
            </a:avLst>
          </a:prstGeom>
          <a:solidFill>
            <a:srgbClr val="6B728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Pyrophoric FeS</a:t>
            </a:r>
            <a:endParaRPr lang="en-US" sz="1200" dirty="0"/>
          </a:p>
        </p:txBody>
      </p:sp>
      <p:sp>
        <p:nvSpPr>
          <p:cNvPr id="14" name="t149"/>
          <p:cNvSpPr txBox="1"/>
          <p:nvPr/>
        </p:nvSpPr>
        <p:spPr>
          <a:xfrm>
            <a:off x="777240" y="4434840"/>
            <a:ext cx="3063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Self-heats and ignites when exposed to air</a:t>
            </a:r>
            <a:endParaRPr lang="en-US" sz="1500" dirty="0"/>
          </a:p>
        </p:txBody>
      </p:sp>
      <p:sp>
        <p:nvSpPr>
          <p:cNvPr id="15" name="s150"/>
          <p:cNvSpPr/>
          <p:nvPr/>
        </p:nvSpPr>
        <p:spPr>
          <a:xfrm>
            <a:off x="4297680" y="3657600"/>
            <a:ext cx="3520440" cy="1965960"/>
          </a:xfrm>
          <a:prstGeom prst="roundRect">
            <a:avLst>
              <a:gd name="adj" fmla="val 4651"/>
            </a:avLst>
          </a:prstGeom>
          <a:solidFill>
            <a:srgbClr val="F3F7FA"/>
          </a:solidFill>
          <a:ln w="12700">
            <a:solidFill>
              <a:srgbClr val="E1E8EF"/>
            </a:solidFill>
            <a:prstDash val="solid"/>
          </a:ln>
          <a:effectLst>
            <a:outerShdw sx="100000" sy="100000" kx="0" ky="0" algn="bl" rotWithShape="0" blurRad="76200" dist="25400" dir="5400000">
              <a:srgbClr val="9AA9B8">
                <a:alpha val="22000"/>
              </a:srgbClr>
            </a:outerShdw>
          </a:effectLst>
        </p:spPr>
      </p:sp>
      <p:sp>
        <p:nvSpPr>
          <p:cNvPr id="16" name="tag151"/>
          <p:cNvSpPr/>
          <p:nvPr/>
        </p:nvSpPr>
        <p:spPr>
          <a:xfrm>
            <a:off x="4526280" y="3931920"/>
            <a:ext cx="2377440" cy="329184"/>
          </a:xfrm>
          <a:prstGeom prst="roundRect">
            <a:avLst>
              <a:gd name="adj" fmla="val 50000"/>
            </a:avLst>
          </a:prstGeom>
          <a:solidFill>
            <a:srgbClr val="7A5C3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Heavy oil &amp; sludge</a:t>
            </a:r>
            <a:endParaRPr lang="en-US" sz="1200" dirty="0"/>
          </a:p>
        </p:txBody>
      </p:sp>
      <p:sp>
        <p:nvSpPr>
          <p:cNvPr id="17" name="t152"/>
          <p:cNvSpPr txBox="1"/>
          <p:nvPr/>
        </p:nvSpPr>
        <p:spPr>
          <a:xfrm>
            <a:off x="4526280" y="4434840"/>
            <a:ext cx="3063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Holds gases, blocks inspection, slows mechanical cleaning</a:t>
            </a:r>
            <a:endParaRPr lang="en-US" sz="1500" dirty="0"/>
          </a:p>
        </p:txBody>
      </p:sp>
      <p:sp>
        <p:nvSpPr>
          <p:cNvPr id="18" name="s153"/>
          <p:cNvSpPr/>
          <p:nvPr/>
        </p:nvSpPr>
        <p:spPr>
          <a:xfrm>
            <a:off x="8046720" y="3657600"/>
            <a:ext cx="3520440" cy="1965960"/>
          </a:xfrm>
          <a:prstGeom prst="roundRect">
            <a:avLst>
              <a:gd name="adj" fmla="val 4651"/>
            </a:avLst>
          </a:prstGeom>
          <a:solidFill>
            <a:srgbClr val="F3F7FA"/>
          </a:solidFill>
          <a:ln w="12700">
            <a:solidFill>
              <a:srgbClr val="E1E8EF"/>
            </a:solidFill>
            <a:prstDash val="solid"/>
          </a:ln>
          <a:effectLst>
            <a:outerShdw sx="100000" sy="100000" kx="0" ky="0" algn="bl" rotWithShape="0" blurRad="76200" dist="25400" dir="5400000">
              <a:srgbClr val="9AA9B8">
                <a:alpha val="22000"/>
              </a:srgbClr>
            </a:outerShdw>
          </a:effectLst>
        </p:spPr>
      </p:sp>
      <p:sp>
        <p:nvSpPr>
          <p:cNvPr id="19" name="tag154"/>
          <p:cNvSpPr/>
          <p:nvPr/>
        </p:nvSpPr>
        <p:spPr>
          <a:xfrm>
            <a:off x="8275320" y="3931920"/>
            <a:ext cx="2377440" cy="329184"/>
          </a:xfrm>
          <a:prstGeom prst="roundRect">
            <a:avLst>
              <a:gd name="adj" fmla="val 50000"/>
            </a:avLst>
          </a:prstGeom>
          <a:solidFill>
            <a:srgbClr val="0C74B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Ammonia &amp; mercaptans</a:t>
            </a:r>
            <a:endParaRPr lang="en-US" sz="1200" dirty="0"/>
          </a:p>
        </p:txBody>
      </p:sp>
      <p:sp>
        <p:nvSpPr>
          <p:cNvPr id="20" name="t155"/>
          <p:cNvSpPr txBox="1"/>
          <p:nvPr/>
        </p:nvSpPr>
        <p:spPr>
          <a:xfrm>
            <a:off x="8275320" y="4434840"/>
            <a:ext cx="3063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Toxic and odorous – sour-water and LPG units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708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500"/>
                            </p:stCondLst>
                            <p:childTnLst>
                              <p:par>
                                <p:cTn id="21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4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5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6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9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1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4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5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1000"/>
                            </p:stCondLst>
                            <p:childTnLst>
                              <p:par>
                                <p:cTn id="37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0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1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2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5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6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0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1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" fill="hold">
                            <p:stCondLst>
                              <p:cond delay="1500"/>
                            </p:stCondLst>
                            <p:childTnLst>
                              <p:par>
                                <p:cTn id="53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6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7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1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2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6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7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8" fill="hold">
                            <p:stCondLst>
                              <p:cond delay="2000"/>
                            </p:stCondLst>
                            <p:childTnLst>
                              <p:par>
                                <p:cTn id="69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2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3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4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7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8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9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2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3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4" fill="hold">
                            <p:stCondLst>
                              <p:cond delay="2500"/>
                            </p:stCondLst>
                            <p:childTnLst>
                              <p:par>
                                <p:cTn id="85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8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9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3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4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8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9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47472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5F8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Decontamination objectives</a:t>
            </a:r>
            <a:endParaRPr lang="en-US" sz="2800" dirty="0"/>
          </a:p>
        </p:txBody>
      </p:sp>
      <p:sp>
        <p:nvSpPr>
          <p:cNvPr id="3" name="s156"/>
          <p:cNvSpPr/>
          <p:nvPr/>
        </p:nvSpPr>
        <p:spPr>
          <a:xfrm>
            <a:off x="548640" y="1463040"/>
            <a:ext cx="5394960" cy="2057400"/>
          </a:xfrm>
          <a:prstGeom prst="roundRect">
            <a:avLst>
              <a:gd name="adj" fmla="val 4444"/>
            </a:avLst>
          </a:prstGeom>
          <a:solidFill>
            <a:srgbClr val="F3F7FA"/>
          </a:solidFill>
          <a:ln w="12700">
            <a:solidFill>
              <a:srgbClr val="E1E8EF"/>
            </a:solidFill>
            <a:prstDash val="solid"/>
          </a:ln>
          <a:effectLst>
            <a:outerShdw sx="100000" sy="100000" kx="0" ky="0" algn="bl" rotWithShape="0" blurRad="76200" dist="25400" dir="5400000">
              <a:srgbClr val="9AA9B8">
                <a:alpha val="22000"/>
              </a:srgbClr>
            </a:outerShdw>
          </a:effectLst>
        </p:spPr>
      </p:sp>
      <p:sp>
        <p:nvSpPr>
          <p:cNvPr id="4" name="s157"/>
          <p:cNvSpPr/>
          <p:nvPr/>
        </p:nvSpPr>
        <p:spPr>
          <a:xfrm>
            <a:off x="868680" y="1874520"/>
            <a:ext cx="822960" cy="822960"/>
          </a:xfrm>
          <a:prstGeom prst="ellipse">
            <a:avLst/>
          </a:prstGeom>
          <a:solidFill>
            <a:srgbClr val="0C74BC"/>
          </a:solidFill>
          <a:ln/>
        </p:spPr>
      </p:sp>
      <p:sp>
        <p:nvSpPr>
          <p:cNvPr id="5" name="t158"/>
          <p:cNvSpPr txBox="1"/>
          <p:nvPr/>
        </p:nvSpPr>
        <p:spPr>
          <a:xfrm>
            <a:off x="868680" y="187452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400" dirty="0"/>
          </a:p>
        </p:txBody>
      </p:sp>
      <p:sp>
        <p:nvSpPr>
          <p:cNvPr id="6" name="t159"/>
          <p:cNvSpPr txBox="1"/>
          <p:nvPr/>
        </p:nvSpPr>
        <p:spPr>
          <a:xfrm>
            <a:off x="1920240" y="1828800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F5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De-oiling / de-sludging</a:t>
            </a:r>
            <a:endParaRPr lang="en-US" sz="2000" dirty="0"/>
          </a:p>
        </p:txBody>
      </p:sp>
      <p:sp>
        <p:nvSpPr>
          <p:cNvPr id="7" name="t160"/>
          <p:cNvSpPr txBox="1"/>
          <p:nvPr/>
        </p:nvSpPr>
        <p:spPr>
          <a:xfrm>
            <a:off x="1920240" y="2331720"/>
            <a:ext cx="3840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Soften heavy deposits for easier removal; reduce hazardous sludge.</a:t>
            </a:r>
            <a:endParaRPr lang="en-US" sz="1500" dirty="0"/>
          </a:p>
        </p:txBody>
      </p:sp>
      <p:sp>
        <p:nvSpPr>
          <p:cNvPr id="8" name="s161"/>
          <p:cNvSpPr/>
          <p:nvPr/>
        </p:nvSpPr>
        <p:spPr>
          <a:xfrm>
            <a:off x="6172200" y="1463040"/>
            <a:ext cx="5394960" cy="2057400"/>
          </a:xfrm>
          <a:prstGeom prst="roundRect">
            <a:avLst>
              <a:gd name="adj" fmla="val 4444"/>
            </a:avLst>
          </a:prstGeom>
          <a:solidFill>
            <a:srgbClr val="F3F7FA"/>
          </a:solidFill>
          <a:ln w="12700">
            <a:solidFill>
              <a:srgbClr val="E1E8EF"/>
            </a:solidFill>
            <a:prstDash val="solid"/>
          </a:ln>
          <a:effectLst>
            <a:outerShdw sx="100000" sy="100000" kx="0" ky="0" algn="bl" rotWithShape="0" blurRad="76200" dist="25400" dir="5400000">
              <a:srgbClr val="9AA9B8">
                <a:alpha val="22000"/>
              </a:srgbClr>
            </a:outerShdw>
          </a:effectLst>
        </p:spPr>
      </p:sp>
      <p:sp>
        <p:nvSpPr>
          <p:cNvPr id="9" name="s162"/>
          <p:cNvSpPr/>
          <p:nvPr/>
        </p:nvSpPr>
        <p:spPr>
          <a:xfrm>
            <a:off x="6492240" y="1874520"/>
            <a:ext cx="822960" cy="822960"/>
          </a:xfrm>
          <a:prstGeom prst="ellipse">
            <a:avLst/>
          </a:prstGeom>
          <a:solidFill>
            <a:srgbClr val="3AB54A"/>
          </a:solidFill>
          <a:ln/>
        </p:spPr>
      </p:sp>
      <p:sp>
        <p:nvSpPr>
          <p:cNvPr id="10" name="t163"/>
          <p:cNvSpPr txBox="1"/>
          <p:nvPr/>
        </p:nvSpPr>
        <p:spPr>
          <a:xfrm>
            <a:off x="6492240" y="187452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400" dirty="0"/>
          </a:p>
        </p:txBody>
      </p:sp>
      <p:sp>
        <p:nvSpPr>
          <p:cNvPr id="11" name="t164"/>
          <p:cNvSpPr txBox="1"/>
          <p:nvPr/>
        </p:nvSpPr>
        <p:spPr>
          <a:xfrm>
            <a:off x="7543800" y="1828800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F5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Sulphide oxidation</a:t>
            </a:r>
            <a:endParaRPr lang="en-US" sz="2000" dirty="0"/>
          </a:p>
        </p:txBody>
      </p:sp>
      <p:sp>
        <p:nvSpPr>
          <p:cNvPr id="12" name="t165"/>
          <p:cNvSpPr txBox="1"/>
          <p:nvPr/>
        </p:nvSpPr>
        <p:spPr>
          <a:xfrm>
            <a:off x="7543800" y="2331720"/>
            <a:ext cx="3840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Convert pyrophoric FeS and H₂S into stable, safe compounds.</a:t>
            </a:r>
            <a:endParaRPr lang="en-US" sz="1500" dirty="0"/>
          </a:p>
        </p:txBody>
      </p:sp>
      <p:sp>
        <p:nvSpPr>
          <p:cNvPr id="13" name="s166"/>
          <p:cNvSpPr/>
          <p:nvPr/>
        </p:nvSpPr>
        <p:spPr>
          <a:xfrm>
            <a:off x="548640" y="3794760"/>
            <a:ext cx="5394960" cy="2057400"/>
          </a:xfrm>
          <a:prstGeom prst="roundRect">
            <a:avLst>
              <a:gd name="adj" fmla="val 4444"/>
            </a:avLst>
          </a:prstGeom>
          <a:solidFill>
            <a:srgbClr val="F3F7FA"/>
          </a:solidFill>
          <a:ln w="12700">
            <a:solidFill>
              <a:srgbClr val="E1E8EF"/>
            </a:solidFill>
            <a:prstDash val="solid"/>
          </a:ln>
          <a:effectLst>
            <a:outerShdw sx="100000" sy="100000" kx="0" ky="0" algn="bl" rotWithShape="0" blurRad="76200" dist="25400" dir="5400000">
              <a:srgbClr val="9AA9B8">
                <a:alpha val="22000"/>
              </a:srgbClr>
            </a:outerShdw>
          </a:effectLst>
        </p:spPr>
      </p:sp>
      <p:sp>
        <p:nvSpPr>
          <p:cNvPr id="14" name="s167"/>
          <p:cNvSpPr/>
          <p:nvPr/>
        </p:nvSpPr>
        <p:spPr>
          <a:xfrm>
            <a:off x="868680" y="4206240"/>
            <a:ext cx="822960" cy="822960"/>
          </a:xfrm>
          <a:prstGeom prst="ellipse">
            <a:avLst/>
          </a:prstGeom>
          <a:solidFill>
            <a:srgbClr val="0C74BC"/>
          </a:solidFill>
          <a:ln/>
        </p:spPr>
      </p:sp>
      <p:sp>
        <p:nvSpPr>
          <p:cNvPr id="15" name="t168"/>
          <p:cNvSpPr txBox="1"/>
          <p:nvPr/>
        </p:nvSpPr>
        <p:spPr>
          <a:xfrm>
            <a:off x="868680" y="420624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400" dirty="0"/>
          </a:p>
        </p:txBody>
      </p:sp>
      <p:sp>
        <p:nvSpPr>
          <p:cNvPr id="16" name="t169"/>
          <p:cNvSpPr txBox="1"/>
          <p:nvPr/>
        </p:nvSpPr>
        <p:spPr>
          <a:xfrm>
            <a:off x="1920240" y="4160520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F5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Degassing</a:t>
            </a:r>
            <a:endParaRPr lang="en-US" sz="2000" dirty="0"/>
          </a:p>
        </p:txBody>
      </p:sp>
      <p:sp>
        <p:nvSpPr>
          <p:cNvPr id="17" name="t170"/>
          <p:cNvSpPr txBox="1"/>
          <p:nvPr/>
        </p:nvSpPr>
        <p:spPr>
          <a:xfrm>
            <a:off x="1920240" y="4663440"/>
            <a:ext cx="3840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 LEL hydrocarbons and benzene to the flare / closed vent.</a:t>
            </a:r>
            <a:endParaRPr lang="en-US" sz="1500" dirty="0"/>
          </a:p>
        </p:txBody>
      </p:sp>
      <p:sp>
        <p:nvSpPr>
          <p:cNvPr id="18" name="s171"/>
          <p:cNvSpPr/>
          <p:nvPr/>
        </p:nvSpPr>
        <p:spPr>
          <a:xfrm>
            <a:off x="6172200" y="3794760"/>
            <a:ext cx="5394960" cy="2057400"/>
          </a:xfrm>
          <a:prstGeom prst="roundRect">
            <a:avLst>
              <a:gd name="adj" fmla="val 4444"/>
            </a:avLst>
          </a:prstGeom>
          <a:solidFill>
            <a:srgbClr val="F3F7FA"/>
          </a:solidFill>
          <a:ln w="12700">
            <a:solidFill>
              <a:srgbClr val="E1E8EF"/>
            </a:solidFill>
            <a:prstDash val="solid"/>
          </a:ln>
          <a:effectLst>
            <a:outerShdw sx="100000" sy="100000" kx="0" ky="0" algn="bl" rotWithShape="0" blurRad="76200" dist="25400" dir="5400000">
              <a:srgbClr val="9AA9B8">
                <a:alpha val="22000"/>
              </a:srgbClr>
            </a:outerShdw>
          </a:effectLst>
        </p:spPr>
      </p:sp>
      <p:sp>
        <p:nvSpPr>
          <p:cNvPr id="19" name="s172"/>
          <p:cNvSpPr/>
          <p:nvPr/>
        </p:nvSpPr>
        <p:spPr>
          <a:xfrm>
            <a:off x="6492240" y="4206240"/>
            <a:ext cx="822960" cy="822960"/>
          </a:xfrm>
          <a:prstGeom prst="ellipse">
            <a:avLst/>
          </a:prstGeom>
          <a:solidFill>
            <a:srgbClr val="3AB54A"/>
          </a:solidFill>
          <a:ln/>
        </p:spPr>
      </p:sp>
      <p:sp>
        <p:nvSpPr>
          <p:cNvPr id="20" name="t173"/>
          <p:cNvSpPr txBox="1"/>
          <p:nvPr/>
        </p:nvSpPr>
        <p:spPr>
          <a:xfrm>
            <a:off x="6492240" y="420624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400" dirty="0"/>
          </a:p>
        </p:txBody>
      </p:sp>
      <p:sp>
        <p:nvSpPr>
          <p:cNvPr id="21" name="t174"/>
          <p:cNvSpPr txBox="1"/>
          <p:nvPr/>
        </p:nvSpPr>
        <p:spPr>
          <a:xfrm>
            <a:off x="7543800" y="4160520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F5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Neutralising</a:t>
            </a:r>
            <a:endParaRPr lang="en-US" sz="2000" dirty="0"/>
          </a:p>
        </p:txBody>
      </p:sp>
      <p:sp>
        <p:nvSpPr>
          <p:cNvPr id="22" name="t175"/>
          <p:cNvSpPr txBox="1"/>
          <p:nvPr/>
        </p:nvSpPr>
        <p:spPr>
          <a:xfrm>
            <a:off x="7543800" y="4663440"/>
            <a:ext cx="3840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 pH and treat ammonia so the effluent can be disposed of.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708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176"/>
          <p:cNvSpPr/>
          <p:nvPr/>
        </p:nvSpPr>
        <p:spPr>
          <a:xfrm>
            <a:off x="8778240" y="1097280"/>
            <a:ext cx="4572000" cy="4572000"/>
          </a:xfrm>
          <a:prstGeom prst="ellipse">
            <a:avLst/>
          </a:prstGeom>
          <a:solidFill>
            <a:srgbClr val="D3E6F4"/>
          </a:solidFill>
          <a:ln/>
        </p:spPr>
      </p:sp>
      <p:pic>
        <p:nvPicPr>
          <p:cNvPr id="3" name="i177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274552" y="274320"/>
            <a:ext cx="502920" cy="658368"/>
          </a:xfrm>
          <a:prstGeom prst="rect">
            <a:avLst/>
          </a:prstGeom>
        </p:spPr>
      </p:pic>
      <p:sp>
        <p:nvSpPr>
          <p:cNvPr id="4" name="t178"/>
          <p:cNvSpPr txBox="1"/>
          <p:nvPr/>
        </p:nvSpPr>
        <p:spPr>
          <a:xfrm>
            <a:off x="685800" y="1600200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0" b="1" dirty="0">
                <a:solidFill>
                  <a:srgbClr val="0C74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6600" dirty="0"/>
          </a:p>
        </p:txBody>
      </p:sp>
      <p:sp>
        <p:nvSpPr>
          <p:cNvPr id="5" name="t179"/>
          <p:cNvSpPr txBox="1"/>
          <p:nvPr/>
        </p:nvSpPr>
        <p:spPr>
          <a:xfrm>
            <a:off x="685800" y="2926080"/>
            <a:ext cx="77724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400" b="1" dirty="0">
                <a:solidFill>
                  <a:srgbClr val="1F3A5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we decontaminate</a:t>
            </a:r>
            <a:endParaRPr lang="en-US" sz="3400" dirty="0"/>
          </a:p>
        </p:txBody>
      </p:sp>
      <p:sp>
        <p:nvSpPr>
          <p:cNvPr id="6" name="t180"/>
          <p:cNvSpPr txBox="1"/>
          <p:nvPr/>
        </p:nvSpPr>
        <p:spPr>
          <a:xfrm>
            <a:off x="685800" y="4343400"/>
            <a:ext cx="7772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5B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methods – each shown with where every contaminant goes</a:t>
            </a:r>
            <a:endParaRPr lang="en-US" sz="18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8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8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8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8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8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8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47472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5F8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Which method, where?</a:t>
            </a:r>
            <a:endParaRPr lang="en-US" sz="2800" dirty="0"/>
          </a:p>
        </p:txBody>
      </p:sp>
      <p:sp>
        <p:nvSpPr>
          <p:cNvPr id="3" name="t181"/>
          <p:cNvSpPr txBox="1"/>
          <p:nvPr/>
        </p:nvSpPr>
        <p:spPr>
          <a:xfrm>
            <a:off x="3931920" y="1280160"/>
            <a:ext cx="1280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F5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Vapour-phase</a:t>
            </a:r>
            <a:endParaRPr lang="en-US" sz="1300" dirty="0"/>
          </a:p>
        </p:txBody>
      </p:sp>
      <p:sp>
        <p:nvSpPr>
          <p:cNvPr id="4" name="t182"/>
          <p:cNvSpPr txBox="1"/>
          <p:nvPr/>
        </p:nvSpPr>
        <p:spPr>
          <a:xfrm>
            <a:off x="5212080" y="1280160"/>
            <a:ext cx="1280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F5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Boil-out</a:t>
            </a:r>
            <a:endParaRPr lang="en-US" sz="1300" dirty="0"/>
          </a:p>
        </p:txBody>
      </p:sp>
      <p:sp>
        <p:nvSpPr>
          <p:cNvPr id="5" name="t183"/>
          <p:cNvSpPr txBox="1"/>
          <p:nvPr/>
        </p:nvSpPr>
        <p:spPr>
          <a:xfrm>
            <a:off x="6492240" y="1280160"/>
            <a:ext cx="1280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F5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Viscosity flush</a:t>
            </a:r>
            <a:endParaRPr lang="en-US" sz="1300" dirty="0"/>
          </a:p>
        </p:txBody>
      </p:sp>
      <p:sp>
        <p:nvSpPr>
          <p:cNvPr id="6" name="t184"/>
          <p:cNvSpPr txBox="1"/>
          <p:nvPr/>
        </p:nvSpPr>
        <p:spPr>
          <a:xfrm>
            <a:off x="7772400" y="1280160"/>
            <a:ext cx="1280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F5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Circulation</a:t>
            </a:r>
            <a:endParaRPr lang="en-US" sz="1300" dirty="0"/>
          </a:p>
        </p:txBody>
      </p:sp>
      <p:sp>
        <p:nvSpPr>
          <p:cNvPr id="7" name="t185"/>
          <p:cNvSpPr txBox="1"/>
          <p:nvPr/>
        </p:nvSpPr>
        <p:spPr>
          <a:xfrm>
            <a:off x="9052560" y="1280160"/>
            <a:ext cx="1280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F5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Pre/post-treat</a:t>
            </a:r>
            <a:endParaRPr lang="en-US" sz="1300" dirty="0"/>
          </a:p>
        </p:txBody>
      </p:sp>
      <p:sp>
        <p:nvSpPr>
          <p:cNvPr id="8" name="t186"/>
          <p:cNvSpPr txBox="1"/>
          <p:nvPr/>
        </p:nvSpPr>
        <p:spPr>
          <a:xfrm>
            <a:off x="10332720" y="1280160"/>
            <a:ext cx="1280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F5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Gamma-jet</a:t>
            </a:r>
            <a:endParaRPr lang="en-US" sz="1300" dirty="0"/>
          </a:p>
        </p:txBody>
      </p:sp>
      <p:sp>
        <p:nvSpPr>
          <p:cNvPr id="9" name="s187"/>
          <p:cNvSpPr/>
          <p:nvPr/>
        </p:nvSpPr>
        <p:spPr>
          <a:xfrm>
            <a:off x="548640" y="1965960"/>
            <a:ext cx="11064240" cy="493776"/>
          </a:xfrm>
          <a:prstGeom prst="roundRect">
            <a:avLst>
              <a:gd name="adj" fmla="val 14815"/>
            </a:avLst>
          </a:prstGeom>
          <a:solidFill>
            <a:srgbClr val="F3F7FA"/>
          </a:solidFill>
          <a:ln/>
        </p:spPr>
      </p:sp>
      <p:sp>
        <p:nvSpPr>
          <p:cNvPr id="10" name="t188"/>
          <p:cNvSpPr txBox="1"/>
          <p:nvPr/>
        </p:nvSpPr>
        <p:spPr>
          <a:xfrm>
            <a:off x="731520" y="1965960"/>
            <a:ext cx="31089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Columns &amp; towers</a:t>
            </a:r>
            <a:endParaRPr lang="en-US" sz="1400" dirty="0"/>
          </a:p>
        </p:txBody>
      </p:sp>
      <p:sp>
        <p:nvSpPr>
          <p:cNvPr id="11" name="s189"/>
          <p:cNvSpPr/>
          <p:nvPr/>
        </p:nvSpPr>
        <p:spPr>
          <a:xfrm>
            <a:off x="4434840" y="2075688"/>
            <a:ext cx="274320" cy="274320"/>
          </a:xfrm>
          <a:prstGeom prst="ellipse">
            <a:avLst/>
          </a:prstGeom>
          <a:solidFill>
            <a:srgbClr val="3AB54A"/>
          </a:solidFill>
          <a:ln w="25400">
            <a:solidFill>
              <a:srgbClr val="3AB54A"/>
            </a:solidFill>
            <a:prstDash val="solid"/>
          </a:ln>
        </p:spPr>
      </p:sp>
      <p:sp>
        <p:nvSpPr>
          <p:cNvPr id="12" name="s190"/>
          <p:cNvSpPr/>
          <p:nvPr/>
        </p:nvSpPr>
        <p:spPr>
          <a:xfrm>
            <a:off x="6995160" y="2075688"/>
            <a:ext cx="274320" cy="27432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3AB54A"/>
            </a:solidFill>
            <a:prstDash val="solid"/>
          </a:ln>
        </p:spPr>
      </p:sp>
      <p:sp>
        <p:nvSpPr>
          <p:cNvPr id="13" name="s191"/>
          <p:cNvSpPr/>
          <p:nvPr/>
        </p:nvSpPr>
        <p:spPr>
          <a:xfrm>
            <a:off x="9555480" y="2075688"/>
            <a:ext cx="274320" cy="27432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3AB54A"/>
            </a:solidFill>
            <a:prstDash val="solid"/>
          </a:ln>
        </p:spPr>
      </p:sp>
      <p:sp>
        <p:nvSpPr>
          <p:cNvPr id="14" name="s192"/>
          <p:cNvSpPr/>
          <p:nvPr/>
        </p:nvSpPr>
        <p:spPr>
          <a:xfrm>
            <a:off x="548640" y="2532888"/>
            <a:ext cx="11064240" cy="493776"/>
          </a:xfrm>
          <a:prstGeom prst="roundRect">
            <a:avLst>
              <a:gd name="adj" fmla="val 14815"/>
            </a:avLst>
          </a:prstGeom>
          <a:solidFill>
            <a:srgbClr val="FFFFFF"/>
          </a:solidFill>
          <a:ln/>
        </p:spPr>
      </p:sp>
      <p:sp>
        <p:nvSpPr>
          <p:cNvPr id="15" name="t193"/>
          <p:cNvSpPr txBox="1"/>
          <p:nvPr/>
        </p:nvSpPr>
        <p:spPr>
          <a:xfrm>
            <a:off x="731520" y="2532888"/>
            <a:ext cx="31089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Drums, separators &amp; desalters</a:t>
            </a:r>
            <a:endParaRPr lang="en-US" sz="1400" dirty="0"/>
          </a:p>
        </p:txBody>
      </p:sp>
      <p:sp>
        <p:nvSpPr>
          <p:cNvPr id="16" name="s194"/>
          <p:cNvSpPr/>
          <p:nvPr/>
        </p:nvSpPr>
        <p:spPr>
          <a:xfrm>
            <a:off x="4434840" y="2642616"/>
            <a:ext cx="274320" cy="27432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3AB54A"/>
            </a:solidFill>
            <a:prstDash val="solid"/>
          </a:ln>
        </p:spPr>
      </p:sp>
      <p:sp>
        <p:nvSpPr>
          <p:cNvPr id="17" name="s195"/>
          <p:cNvSpPr/>
          <p:nvPr/>
        </p:nvSpPr>
        <p:spPr>
          <a:xfrm>
            <a:off x="5715000" y="2642616"/>
            <a:ext cx="274320" cy="274320"/>
          </a:xfrm>
          <a:prstGeom prst="ellipse">
            <a:avLst/>
          </a:prstGeom>
          <a:solidFill>
            <a:srgbClr val="3AB54A"/>
          </a:solidFill>
          <a:ln w="25400">
            <a:solidFill>
              <a:srgbClr val="3AB54A"/>
            </a:solidFill>
            <a:prstDash val="solid"/>
          </a:ln>
        </p:spPr>
      </p:sp>
      <p:sp>
        <p:nvSpPr>
          <p:cNvPr id="18" name="s196"/>
          <p:cNvSpPr/>
          <p:nvPr/>
        </p:nvSpPr>
        <p:spPr>
          <a:xfrm>
            <a:off x="548640" y="3099816"/>
            <a:ext cx="11064240" cy="493776"/>
          </a:xfrm>
          <a:prstGeom prst="roundRect">
            <a:avLst>
              <a:gd name="adj" fmla="val 14815"/>
            </a:avLst>
          </a:prstGeom>
          <a:solidFill>
            <a:srgbClr val="F3F7FA"/>
          </a:solidFill>
          <a:ln/>
        </p:spPr>
      </p:sp>
      <p:sp>
        <p:nvSpPr>
          <p:cNvPr id="19" name="t197"/>
          <p:cNvSpPr txBox="1"/>
          <p:nvPr/>
        </p:nvSpPr>
        <p:spPr>
          <a:xfrm>
            <a:off x="731520" y="3099816"/>
            <a:ext cx="31089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Heavy bottoms, coker &amp; quench oil</a:t>
            </a:r>
            <a:endParaRPr lang="en-US" sz="1400" dirty="0"/>
          </a:p>
        </p:txBody>
      </p:sp>
      <p:sp>
        <p:nvSpPr>
          <p:cNvPr id="20" name="s198"/>
          <p:cNvSpPr/>
          <p:nvPr/>
        </p:nvSpPr>
        <p:spPr>
          <a:xfrm>
            <a:off x="4434840" y="3209544"/>
            <a:ext cx="274320" cy="274320"/>
          </a:xfrm>
          <a:prstGeom prst="ellipse">
            <a:avLst/>
          </a:prstGeom>
          <a:solidFill>
            <a:srgbClr val="3AB54A"/>
          </a:solidFill>
          <a:ln w="25400">
            <a:solidFill>
              <a:srgbClr val="3AB54A"/>
            </a:solidFill>
            <a:prstDash val="solid"/>
          </a:ln>
        </p:spPr>
      </p:sp>
      <p:sp>
        <p:nvSpPr>
          <p:cNvPr id="21" name="s199"/>
          <p:cNvSpPr/>
          <p:nvPr/>
        </p:nvSpPr>
        <p:spPr>
          <a:xfrm>
            <a:off x="5715000" y="3209544"/>
            <a:ext cx="274320" cy="27432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3AB54A"/>
            </a:solidFill>
            <a:prstDash val="solid"/>
          </a:ln>
        </p:spPr>
      </p:sp>
      <p:sp>
        <p:nvSpPr>
          <p:cNvPr id="22" name="s200"/>
          <p:cNvSpPr/>
          <p:nvPr/>
        </p:nvSpPr>
        <p:spPr>
          <a:xfrm>
            <a:off x="6995160" y="3209544"/>
            <a:ext cx="274320" cy="274320"/>
          </a:xfrm>
          <a:prstGeom prst="ellipse">
            <a:avLst/>
          </a:prstGeom>
          <a:solidFill>
            <a:srgbClr val="3AB54A"/>
          </a:solidFill>
          <a:ln w="25400">
            <a:solidFill>
              <a:srgbClr val="3AB54A"/>
            </a:solidFill>
            <a:prstDash val="solid"/>
          </a:ln>
        </p:spPr>
      </p:sp>
      <p:sp>
        <p:nvSpPr>
          <p:cNvPr id="23" name="s201"/>
          <p:cNvSpPr/>
          <p:nvPr/>
        </p:nvSpPr>
        <p:spPr>
          <a:xfrm>
            <a:off x="548640" y="3666744"/>
            <a:ext cx="11064240" cy="493776"/>
          </a:xfrm>
          <a:prstGeom prst="roundRect">
            <a:avLst>
              <a:gd name="adj" fmla="val 14815"/>
            </a:avLst>
          </a:prstGeom>
          <a:solidFill>
            <a:srgbClr val="FFFFFF"/>
          </a:solidFill>
          <a:ln/>
        </p:spPr>
      </p:sp>
      <p:sp>
        <p:nvSpPr>
          <p:cNvPr id="24" name="t202"/>
          <p:cNvSpPr txBox="1"/>
          <p:nvPr/>
        </p:nvSpPr>
        <p:spPr>
          <a:xfrm>
            <a:off x="731520" y="3666744"/>
            <a:ext cx="31089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Exchangers &amp; air coolers</a:t>
            </a:r>
            <a:endParaRPr lang="en-US" sz="1400" dirty="0"/>
          </a:p>
        </p:txBody>
      </p:sp>
      <p:sp>
        <p:nvSpPr>
          <p:cNvPr id="25" name="s203"/>
          <p:cNvSpPr/>
          <p:nvPr/>
        </p:nvSpPr>
        <p:spPr>
          <a:xfrm>
            <a:off x="4434840" y="3776472"/>
            <a:ext cx="274320" cy="274320"/>
          </a:xfrm>
          <a:prstGeom prst="ellipse">
            <a:avLst/>
          </a:prstGeom>
          <a:solidFill>
            <a:srgbClr val="3AB54A"/>
          </a:solidFill>
          <a:ln w="25400">
            <a:solidFill>
              <a:srgbClr val="3AB54A"/>
            </a:solidFill>
            <a:prstDash val="solid"/>
          </a:ln>
        </p:spPr>
      </p:sp>
      <p:sp>
        <p:nvSpPr>
          <p:cNvPr id="26" name="s204"/>
          <p:cNvSpPr/>
          <p:nvPr/>
        </p:nvSpPr>
        <p:spPr>
          <a:xfrm>
            <a:off x="6995160" y="3776472"/>
            <a:ext cx="274320" cy="27432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3AB54A"/>
            </a:solidFill>
            <a:prstDash val="solid"/>
          </a:ln>
        </p:spPr>
      </p:sp>
      <p:sp>
        <p:nvSpPr>
          <p:cNvPr id="27" name="s205"/>
          <p:cNvSpPr/>
          <p:nvPr/>
        </p:nvSpPr>
        <p:spPr>
          <a:xfrm>
            <a:off x="8275320" y="3776472"/>
            <a:ext cx="274320" cy="274320"/>
          </a:xfrm>
          <a:prstGeom prst="ellipse">
            <a:avLst/>
          </a:prstGeom>
          <a:solidFill>
            <a:srgbClr val="3AB54A"/>
          </a:solidFill>
          <a:ln w="25400">
            <a:solidFill>
              <a:srgbClr val="3AB54A"/>
            </a:solidFill>
            <a:prstDash val="solid"/>
          </a:ln>
        </p:spPr>
      </p:sp>
      <p:sp>
        <p:nvSpPr>
          <p:cNvPr id="28" name="s206"/>
          <p:cNvSpPr/>
          <p:nvPr/>
        </p:nvSpPr>
        <p:spPr>
          <a:xfrm>
            <a:off x="548640" y="4233672"/>
            <a:ext cx="11064240" cy="493776"/>
          </a:xfrm>
          <a:prstGeom prst="roundRect">
            <a:avLst>
              <a:gd name="adj" fmla="val 14815"/>
            </a:avLst>
          </a:prstGeom>
          <a:solidFill>
            <a:srgbClr val="F3F7FA"/>
          </a:solidFill>
          <a:ln/>
        </p:spPr>
      </p:sp>
      <p:sp>
        <p:nvSpPr>
          <p:cNvPr id="29" name="t207"/>
          <p:cNvSpPr txBox="1"/>
          <p:nvPr/>
        </p:nvSpPr>
        <p:spPr>
          <a:xfrm>
            <a:off x="731520" y="4233672"/>
            <a:ext cx="31089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Packed beds &amp; trays</a:t>
            </a:r>
            <a:endParaRPr lang="en-US" sz="1400" dirty="0"/>
          </a:p>
        </p:txBody>
      </p:sp>
      <p:sp>
        <p:nvSpPr>
          <p:cNvPr id="30" name="s208"/>
          <p:cNvSpPr/>
          <p:nvPr/>
        </p:nvSpPr>
        <p:spPr>
          <a:xfrm>
            <a:off x="4434840" y="4343400"/>
            <a:ext cx="274320" cy="27432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3AB54A"/>
            </a:solidFill>
            <a:prstDash val="solid"/>
          </a:ln>
        </p:spPr>
      </p:sp>
      <p:sp>
        <p:nvSpPr>
          <p:cNvPr id="31" name="s209"/>
          <p:cNvSpPr/>
          <p:nvPr/>
        </p:nvSpPr>
        <p:spPr>
          <a:xfrm>
            <a:off x="9555480" y="4343400"/>
            <a:ext cx="274320" cy="274320"/>
          </a:xfrm>
          <a:prstGeom prst="ellipse">
            <a:avLst/>
          </a:prstGeom>
          <a:solidFill>
            <a:srgbClr val="3AB54A"/>
          </a:solidFill>
          <a:ln w="25400">
            <a:solidFill>
              <a:srgbClr val="3AB54A"/>
            </a:solidFill>
            <a:prstDash val="solid"/>
          </a:ln>
        </p:spPr>
      </p:sp>
      <p:sp>
        <p:nvSpPr>
          <p:cNvPr id="32" name="s210"/>
          <p:cNvSpPr/>
          <p:nvPr/>
        </p:nvSpPr>
        <p:spPr>
          <a:xfrm>
            <a:off x="548640" y="4800600"/>
            <a:ext cx="11064240" cy="493776"/>
          </a:xfrm>
          <a:prstGeom prst="roundRect">
            <a:avLst>
              <a:gd name="adj" fmla="val 14815"/>
            </a:avLst>
          </a:prstGeom>
          <a:solidFill>
            <a:srgbClr val="FFFFFF"/>
          </a:solidFill>
          <a:ln/>
        </p:spPr>
      </p:sp>
      <p:sp>
        <p:nvSpPr>
          <p:cNvPr id="33" name="t211"/>
          <p:cNvSpPr txBox="1"/>
          <p:nvPr/>
        </p:nvSpPr>
        <p:spPr>
          <a:xfrm>
            <a:off x="731520" y="4800600"/>
            <a:ext cx="31089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Tanks &amp; temperature-limited vessels</a:t>
            </a:r>
            <a:endParaRPr lang="en-US" sz="1400" dirty="0"/>
          </a:p>
        </p:txBody>
      </p:sp>
      <p:sp>
        <p:nvSpPr>
          <p:cNvPr id="34" name="s212"/>
          <p:cNvSpPr/>
          <p:nvPr/>
        </p:nvSpPr>
        <p:spPr>
          <a:xfrm>
            <a:off x="8275320" y="4910328"/>
            <a:ext cx="274320" cy="274320"/>
          </a:xfrm>
          <a:prstGeom prst="ellipse">
            <a:avLst/>
          </a:prstGeom>
          <a:solidFill>
            <a:srgbClr val="3AB54A"/>
          </a:solidFill>
          <a:ln w="25400">
            <a:solidFill>
              <a:srgbClr val="3AB54A"/>
            </a:solidFill>
            <a:prstDash val="solid"/>
          </a:ln>
        </p:spPr>
      </p:sp>
      <p:sp>
        <p:nvSpPr>
          <p:cNvPr id="35" name="s213"/>
          <p:cNvSpPr/>
          <p:nvPr/>
        </p:nvSpPr>
        <p:spPr>
          <a:xfrm>
            <a:off x="10835640" y="4910328"/>
            <a:ext cx="274320" cy="274320"/>
          </a:xfrm>
          <a:prstGeom prst="ellipse">
            <a:avLst/>
          </a:prstGeom>
          <a:solidFill>
            <a:srgbClr val="3AB54A"/>
          </a:solidFill>
          <a:ln w="25400">
            <a:solidFill>
              <a:srgbClr val="3AB54A"/>
            </a:solidFill>
            <a:prstDash val="solid"/>
          </a:ln>
        </p:spPr>
      </p:sp>
      <p:sp>
        <p:nvSpPr>
          <p:cNvPr id="36" name="t214"/>
          <p:cNvSpPr txBox="1"/>
          <p:nvPr/>
        </p:nvSpPr>
        <p:spPr>
          <a:xfrm>
            <a:off x="548640" y="54864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AB5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  </a:t>
            </a:r>
            <a:pPr indent="0" marL="0">
              <a:buNone/>
            </a:pPr>
            <a:r>
              <a:rPr lang="en-US" sz="1300" dirty="0">
                <a:solidFill>
                  <a:srgbClr val="5B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 method     </a:t>
            </a:r>
            <a:pPr indent="0" marL="0">
              <a:buNone/>
            </a:pPr>
            <a:r>
              <a:rPr lang="en-US" sz="1300" dirty="0">
                <a:solidFill>
                  <a:srgbClr val="3AB5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○  </a:t>
            </a:r>
            <a:pPr indent="0" marL="0">
              <a:buNone/>
            </a:pPr>
            <a:r>
              <a:rPr lang="en-US" sz="1300" dirty="0">
                <a:solidFill>
                  <a:srgbClr val="5B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used in combination / where applicable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708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4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4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4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4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4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4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4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4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" dur="4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4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450"/>
                            </p:stCondLst>
                            <p:childTnLst>
                              <p:par>
                                <p:cTn id="31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4" dur="4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5" dur="4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6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9" dur="4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0" dur="4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1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4" dur="4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5" dur="4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6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9" dur="4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0" dur="4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900"/>
                            </p:stCondLst>
                            <p:childTnLst>
                              <p:par>
                                <p:cTn id="52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4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5" dur="45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6" dur="45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0" dur="4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1" dur="4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2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4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5" dur="45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6" dur="45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4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0" dur="45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1" dur="45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2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4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5" dur="45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6" dur="45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7" fill="hold">
                            <p:stCondLst>
                              <p:cond delay="1350"/>
                            </p:stCondLst>
                            <p:childTnLst>
                              <p:par>
                                <p:cTn id="78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4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1" dur="45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2" dur="45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4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6" dur="45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7" dur="45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4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1" dur="45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2" dur="45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5" dur="4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6" dur="45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7" dur="45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0" dur="4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1" dur="45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2" dur="45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3" fill="hold">
                            <p:stCondLst>
                              <p:cond delay="1800"/>
                            </p:stCondLst>
                            <p:childTnLst>
                              <p:par>
                                <p:cTn id="104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4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7" dur="45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8" dur="45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9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1" dur="4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2" dur="45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3" dur="45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4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6" dur="4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7" dur="45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8" dur="45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9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1" dur="4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2" dur="45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3" dur="45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4" fill="hold">
                            <p:stCondLst>
                              <p:cond delay="2250"/>
                            </p:stCondLst>
                            <p:childTnLst>
                              <p:par>
                                <p:cTn id="125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7" dur="4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8" dur="45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9" dur="45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2" dur="4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3" dur="45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4" dur="45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7" dur="4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8" dur="45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9" dur="45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2" dur="4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3" dur="45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4" dur="45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5" fill="hold">
                            <p:stCondLst>
                              <p:cond delay="2700"/>
                            </p:stCondLst>
                            <p:childTnLst>
                              <p:par>
                                <p:cTn id="14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8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47472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5F8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Vapour-phase – where each contaminant goes</a:t>
            </a:r>
            <a:endParaRPr lang="en-US" sz="2800" dirty="0"/>
          </a:p>
        </p:txBody>
      </p:sp>
      <p:sp>
        <p:nvSpPr>
          <p:cNvPr id="3" name="s215"/>
          <p:cNvSpPr/>
          <p:nvPr/>
        </p:nvSpPr>
        <p:spPr>
          <a:xfrm>
            <a:off x="4754880" y="1737360"/>
            <a:ext cx="1188720" cy="3474720"/>
          </a:xfrm>
          <a:prstGeom prst="roundRect">
            <a:avLst>
              <a:gd name="adj" fmla="val 50000"/>
            </a:avLst>
          </a:prstGeom>
          <a:solidFill>
            <a:srgbClr val="BFDDF2"/>
          </a:solidFill>
          <a:ln w="25400">
            <a:solidFill>
              <a:srgbClr val="0C74BC"/>
            </a:solidFill>
            <a:prstDash val="solid"/>
          </a:ln>
        </p:spPr>
      </p:sp>
      <p:sp>
        <p:nvSpPr>
          <p:cNvPr id="4" name="s216"/>
          <p:cNvSpPr/>
          <p:nvPr/>
        </p:nvSpPr>
        <p:spPr>
          <a:xfrm>
            <a:off x="4897526" y="2093976"/>
            <a:ext cx="213970" cy="2761488"/>
          </a:xfrm>
          <a:prstGeom prst="roundRect">
            <a:avLst>
              <a:gd name="adj" fmla="val 50000"/>
            </a:avLst>
          </a:prstGeom>
          <a:solidFill>
            <a:srgbClr val="E3F0FA"/>
          </a:solidFill>
          <a:ln/>
        </p:spPr>
      </p:sp>
      <p:sp>
        <p:nvSpPr>
          <p:cNvPr id="5" name="s217"/>
          <p:cNvSpPr/>
          <p:nvPr/>
        </p:nvSpPr>
        <p:spPr>
          <a:xfrm>
            <a:off x="4754880" y="1737360"/>
            <a:ext cx="1188720" cy="3474720"/>
          </a:xfrm>
          <a:prstGeom prst="roundRect">
            <a:avLst>
              <a:gd name="adj" fmla="val 50000"/>
            </a:avLst>
          </a:prstGeom>
          <a:solidFill>
            <a:srgbClr val="A08467"/>
          </a:solidFill>
          <a:ln w="25400">
            <a:solidFill>
              <a:srgbClr val="94A3B8"/>
            </a:solidFill>
            <a:prstDash val="solid"/>
          </a:ln>
        </p:spPr>
      </p:sp>
      <p:sp>
        <p:nvSpPr>
          <p:cNvPr id="6" name="s218"/>
          <p:cNvSpPr/>
          <p:nvPr/>
        </p:nvSpPr>
        <p:spPr>
          <a:xfrm>
            <a:off x="4754880" y="1737360"/>
            <a:ext cx="1188720" cy="3474720"/>
          </a:xfrm>
          <a:prstGeom prst="roundRect">
            <a:avLst>
              <a:gd name="adj" fmla="val 50000"/>
            </a:avLst>
          </a:prstGeom>
          <a:solidFill>
            <a:srgbClr val="7A5C3E"/>
          </a:solidFill>
          <a:ln w="25400">
            <a:solidFill>
              <a:srgbClr val="94A3B8"/>
            </a:solidFill>
            <a:prstDash val="solid"/>
          </a:ln>
        </p:spPr>
      </p:sp>
      <p:sp>
        <p:nvSpPr>
          <p:cNvPr id="7" name="s219"/>
          <p:cNvSpPr/>
          <p:nvPr/>
        </p:nvSpPr>
        <p:spPr>
          <a:xfrm>
            <a:off x="4754880" y="1737360"/>
            <a:ext cx="1188720" cy="3474720"/>
          </a:xfrm>
          <a:prstGeom prst="roundRect">
            <a:avLst>
              <a:gd name="adj" fmla="val 50000"/>
            </a:avLst>
          </a:prstGeom>
          <a:solidFill>
            <a:srgbClr val="5C4630"/>
          </a:solidFill>
          <a:ln w="25400">
            <a:solidFill>
              <a:srgbClr val="94A3B8"/>
            </a:solidFill>
            <a:prstDash val="solid"/>
          </a:ln>
        </p:spPr>
      </p:sp>
      <p:sp>
        <p:nvSpPr>
          <p:cNvPr id="8" name="s220"/>
          <p:cNvSpPr/>
          <p:nvPr/>
        </p:nvSpPr>
        <p:spPr>
          <a:xfrm>
            <a:off x="5408676" y="2362810"/>
            <a:ext cx="91440" cy="833933"/>
          </a:xfrm>
          <a:prstGeom prst="roundRect">
            <a:avLst>
              <a:gd name="adj" fmla="val 50000"/>
            </a:avLst>
          </a:prstGeom>
          <a:solidFill>
            <a:srgbClr val="3E2F20"/>
          </a:solidFill>
          <a:ln/>
        </p:spPr>
      </p:sp>
      <p:sp>
        <p:nvSpPr>
          <p:cNvPr id="9" name="s221"/>
          <p:cNvSpPr/>
          <p:nvPr/>
        </p:nvSpPr>
        <p:spPr>
          <a:xfrm>
            <a:off x="5610758" y="3405226"/>
            <a:ext cx="91440" cy="694944"/>
          </a:xfrm>
          <a:prstGeom prst="roundRect">
            <a:avLst>
              <a:gd name="adj" fmla="val 50000"/>
            </a:avLst>
          </a:prstGeom>
          <a:solidFill>
            <a:srgbClr val="3E2F20"/>
          </a:solidFill>
          <a:ln/>
        </p:spPr>
      </p:sp>
      <p:sp>
        <p:nvSpPr>
          <p:cNvPr id="10" name="s222"/>
          <p:cNvSpPr/>
          <p:nvPr/>
        </p:nvSpPr>
        <p:spPr>
          <a:xfrm>
            <a:off x="5254142" y="4030675"/>
            <a:ext cx="91440" cy="555955"/>
          </a:xfrm>
          <a:prstGeom prst="roundRect">
            <a:avLst>
              <a:gd name="adj" fmla="val 50000"/>
            </a:avLst>
          </a:prstGeom>
          <a:solidFill>
            <a:srgbClr val="3E2F20"/>
          </a:solidFill>
          <a:ln/>
        </p:spPr>
      </p:sp>
      <p:sp>
        <p:nvSpPr>
          <p:cNvPr id="11" name="s223"/>
          <p:cNvSpPr/>
          <p:nvPr/>
        </p:nvSpPr>
        <p:spPr>
          <a:xfrm>
            <a:off x="4800600" y="2171700"/>
            <a:ext cx="1097280" cy="0"/>
          </a:xfrm>
          <a:prstGeom prst="line">
            <a:avLst/>
          </a:prstGeom>
          <a:noFill/>
          <a:ln w="12700">
            <a:solidFill>
              <a:srgbClr val="94A3B8"/>
            </a:solidFill>
            <a:prstDash val="solid"/>
          </a:ln>
        </p:spPr>
      </p:sp>
      <p:sp>
        <p:nvSpPr>
          <p:cNvPr id="12" name="s224"/>
          <p:cNvSpPr/>
          <p:nvPr/>
        </p:nvSpPr>
        <p:spPr>
          <a:xfrm>
            <a:off x="4800600" y="2606040"/>
            <a:ext cx="1097280" cy="0"/>
          </a:xfrm>
          <a:prstGeom prst="line">
            <a:avLst/>
          </a:prstGeom>
          <a:noFill/>
          <a:ln w="12700">
            <a:solidFill>
              <a:srgbClr val="94A3B8"/>
            </a:solidFill>
            <a:prstDash val="solid"/>
          </a:ln>
        </p:spPr>
      </p:sp>
      <p:sp>
        <p:nvSpPr>
          <p:cNvPr id="13" name="s225"/>
          <p:cNvSpPr/>
          <p:nvPr/>
        </p:nvSpPr>
        <p:spPr>
          <a:xfrm>
            <a:off x="4800600" y="3040380"/>
            <a:ext cx="1097280" cy="0"/>
          </a:xfrm>
          <a:prstGeom prst="line">
            <a:avLst/>
          </a:prstGeom>
          <a:noFill/>
          <a:ln w="12700">
            <a:solidFill>
              <a:srgbClr val="94A3B8"/>
            </a:solidFill>
            <a:prstDash val="solid"/>
          </a:ln>
        </p:spPr>
      </p:sp>
      <p:sp>
        <p:nvSpPr>
          <p:cNvPr id="14" name="s226"/>
          <p:cNvSpPr/>
          <p:nvPr/>
        </p:nvSpPr>
        <p:spPr>
          <a:xfrm>
            <a:off x="4800600" y="3474720"/>
            <a:ext cx="1097280" cy="0"/>
          </a:xfrm>
          <a:prstGeom prst="line">
            <a:avLst/>
          </a:prstGeom>
          <a:noFill/>
          <a:ln w="12700">
            <a:solidFill>
              <a:srgbClr val="94A3B8"/>
            </a:solidFill>
            <a:prstDash val="solid"/>
          </a:ln>
        </p:spPr>
      </p:sp>
      <p:sp>
        <p:nvSpPr>
          <p:cNvPr id="15" name="s227"/>
          <p:cNvSpPr/>
          <p:nvPr/>
        </p:nvSpPr>
        <p:spPr>
          <a:xfrm>
            <a:off x="4800600" y="3909060"/>
            <a:ext cx="1097280" cy="0"/>
          </a:xfrm>
          <a:prstGeom prst="line">
            <a:avLst/>
          </a:prstGeom>
          <a:noFill/>
          <a:ln w="12700">
            <a:solidFill>
              <a:srgbClr val="94A3B8"/>
            </a:solidFill>
            <a:prstDash val="solid"/>
          </a:ln>
        </p:spPr>
      </p:sp>
      <p:sp>
        <p:nvSpPr>
          <p:cNvPr id="16" name="s228"/>
          <p:cNvSpPr/>
          <p:nvPr/>
        </p:nvSpPr>
        <p:spPr>
          <a:xfrm>
            <a:off x="4800600" y="4343400"/>
            <a:ext cx="1097280" cy="0"/>
          </a:xfrm>
          <a:prstGeom prst="line">
            <a:avLst/>
          </a:prstGeom>
          <a:noFill/>
          <a:ln w="12700">
            <a:solidFill>
              <a:srgbClr val="94A3B8"/>
            </a:solidFill>
            <a:prstDash val="solid"/>
          </a:ln>
        </p:spPr>
      </p:sp>
      <p:sp>
        <p:nvSpPr>
          <p:cNvPr id="17" name="s229"/>
          <p:cNvSpPr/>
          <p:nvPr/>
        </p:nvSpPr>
        <p:spPr>
          <a:xfrm>
            <a:off x="4800600" y="4777740"/>
            <a:ext cx="1097280" cy="0"/>
          </a:xfrm>
          <a:prstGeom prst="line">
            <a:avLst/>
          </a:prstGeom>
          <a:noFill/>
          <a:ln w="12700">
            <a:solidFill>
              <a:srgbClr val="94A3B8"/>
            </a:solidFill>
            <a:prstDash val="solid"/>
          </a:ln>
        </p:spPr>
      </p:sp>
      <p:sp>
        <p:nvSpPr>
          <p:cNvPr id="18" name="t230"/>
          <p:cNvSpPr txBox="1"/>
          <p:nvPr/>
        </p:nvSpPr>
        <p:spPr>
          <a:xfrm>
            <a:off x="4754880" y="5230368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B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Column</a:t>
            </a:r>
            <a:endParaRPr lang="en-US" sz="1100" dirty="0"/>
          </a:p>
        </p:txBody>
      </p:sp>
      <p:sp>
        <p:nvSpPr>
          <p:cNvPr id="19" name="s231"/>
          <p:cNvSpPr/>
          <p:nvPr/>
        </p:nvSpPr>
        <p:spPr>
          <a:xfrm flipV="1">
            <a:off x="5349240" y="1417320"/>
            <a:ext cx="0" cy="320040"/>
          </a:xfrm>
          <a:prstGeom prst="line">
            <a:avLst/>
          </a:prstGeom>
          <a:noFill/>
          <a:ln w="38100">
            <a:solidFill>
              <a:srgbClr val="94A3B8"/>
            </a:solidFill>
            <a:prstDash val="solid"/>
          </a:ln>
        </p:spPr>
      </p:sp>
      <p:sp>
        <p:nvSpPr>
          <p:cNvPr id="20" name="s232"/>
          <p:cNvSpPr/>
          <p:nvPr/>
        </p:nvSpPr>
        <p:spPr>
          <a:xfrm>
            <a:off x="5349240" y="1417320"/>
            <a:ext cx="4663440" cy="0"/>
          </a:xfrm>
          <a:prstGeom prst="line">
            <a:avLst/>
          </a:prstGeom>
          <a:noFill/>
          <a:ln w="38100">
            <a:solidFill>
              <a:srgbClr val="94A3B8"/>
            </a:solidFill>
            <a:prstDash val="solid"/>
            <a:tailEnd type="triangle"/>
          </a:ln>
        </p:spPr>
      </p:sp>
      <p:sp>
        <p:nvSpPr>
          <p:cNvPr id="21" name="s233"/>
          <p:cNvSpPr/>
          <p:nvPr/>
        </p:nvSpPr>
        <p:spPr>
          <a:xfrm>
            <a:off x="10012680" y="1143000"/>
            <a:ext cx="182880" cy="1188720"/>
          </a:xfrm>
          <a:prstGeom prst="rect">
            <a:avLst/>
          </a:prstGeom>
          <a:solidFill>
            <a:srgbClr val="B4C2D3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22" name="s234"/>
          <p:cNvSpPr/>
          <p:nvPr/>
        </p:nvSpPr>
        <p:spPr>
          <a:xfrm>
            <a:off x="9884664" y="640080"/>
            <a:ext cx="438912" cy="548640"/>
          </a:xfrm>
          <a:prstGeom prst="ellipse">
            <a:avLst/>
          </a:prstGeom>
          <a:solidFill>
            <a:srgbClr val="F7C548"/>
          </a:solidFill>
          <a:ln/>
        </p:spPr>
      </p:sp>
      <p:sp>
        <p:nvSpPr>
          <p:cNvPr id="23" name="s235"/>
          <p:cNvSpPr/>
          <p:nvPr/>
        </p:nvSpPr>
        <p:spPr>
          <a:xfrm>
            <a:off x="9976104" y="850392"/>
            <a:ext cx="256032" cy="329184"/>
          </a:xfrm>
          <a:prstGeom prst="ellipse">
            <a:avLst/>
          </a:prstGeom>
          <a:solidFill>
            <a:srgbClr val="FF8C1A"/>
          </a:solidFill>
          <a:ln/>
        </p:spPr>
      </p:sp>
      <p:sp>
        <p:nvSpPr>
          <p:cNvPr id="24" name="t236"/>
          <p:cNvSpPr txBox="1"/>
          <p:nvPr/>
        </p:nvSpPr>
        <p:spPr>
          <a:xfrm>
            <a:off x="9555480" y="237744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B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FLARE /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5B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CLOSED VENT</a:t>
            </a:r>
            <a:endParaRPr lang="en-US" sz="1100" dirty="0"/>
          </a:p>
        </p:txBody>
      </p:sp>
      <p:sp>
        <p:nvSpPr>
          <p:cNvPr id="25" name="s237"/>
          <p:cNvSpPr/>
          <p:nvPr/>
        </p:nvSpPr>
        <p:spPr>
          <a:xfrm>
            <a:off x="5349240" y="5212080"/>
            <a:ext cx="0" cy="320040"/>
          </a:xfrm>
          <a:prstGeom prst="line">
            <a:avLst/>
          </a:prstGeom>
          <a:noFill/>
          <a:ln w="38100">
            <a:solidFill>
              <a:srgbClr val="94A3B8"/>
            </a:solidFill>
            <a:prstDash val="solid"/>
          </a:ln>
        </p:spPr>
      </p:sp>
      <p:sp>
        <p:nvSpPr>
          <p:cNvPr id="26" name="s238"/>
          <p:cNvSpPr/>
          <p:nvPr/>
        </p:nvSpPr>
        <p:spPr>
          <a:xfrm>
            <a:off x="5349240" y="5532120"/>
            <a:ext cx="3063240" cy="0"/>
          </a:xfrm>
          <a:prstGeom prst="line">
            <a:avLst/>
          </a:prstGeom>
          <a:noFill/>
          <a:ln w="38100">
            <a:solidFill>
              <a:srgbClr val="94A3B8"/>
            </a:solidFill>
            <a:prstDash val="solid"/>
          </a:ln>
        </p:spPr>
      </p:sp>
      <p:sp>
        <p:nvSpPr>
          <p:cNvPr id="27" name="s239"/>
          <p:cNvSpPr/>
          <p:nvPr/>
        </p:nvSpPr>
        <p:spPr>
          <a:xfrm flipV="1">
            <a:off x="8412480" y="5029200"/>
            <a:ext cx="0" cy="502920"/>
          </a:xfrm>
          <a:prstGeom prst="line">
            <a:avLst/>
          </a:prstGeom>
          <a:noFill/>
          <a:ln w="38100">
            <a:solidFill>
              <a:srgbClr val="94A3B8"/>
            </a:solidFill>
            <a:prstDash val="solid"/>
          </a:ln>
        </p:spPr>
      </p:sp>
      <p:sp>
        <p:nvSpPr>
          <p:cNvPr id="28" name="s240"/>
          <p:cNvSpPr/>
          <p:nvPr/>
        </p:nvSpPr>
        <p:spPr>
          <a:xfrm>
            <a:off x="8412480" y="5029200"/>
            <a:ext cx="365760" cy="0"/>
          </a:xfrm>
          <a:prstGeom prst="line">
            <a:avLst/>
          </a:prstGeom>
          <a:noFill/>
          <a:ln w="38100">
            <a:solidFill>
              <a:srgbClr val="94A3B8"/>
            </a:solidFill>
            <a:prstDash val="solid"/>
            <a:tailEnd type="triangle"/>
          </a:ln>
        </p:spPr>
      </p:sp>
      <p:sp>
        <p:nvSpPr>
          <p:cNvPr id="29" name="t241"/>
          <p:cNvSpPr txBox="1"/>
          <p:nvPr/>
        </p:nvSpPr>
        <p:spPr>
          <a:xfrm>
            <a:off x="6126480" y="5257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5B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Condensate drain</a:t>
            </a:r>
            <a:endParaRPr lang="en-US" sz="1100" dirty="0"/>
          </a:p>
        </p:txBody>
      </p:sp>
      <p:sp>
        <p:nvSpPr>
          <p:cNvPr id="30" name="s242"/>
          <p:cNvSpPr/>
          <p:nvPr/>
        </p:nvSpPr>
        <p:spPr>
          <a:xfrm>
            <a:off x="8778240" y="4343400"/>
            <a:ext cx="1463040" cy="1143000"/>
          </a:xfrm>
          <a:prstGeom prst="rect">
            <a:avLst/>
          </a:prstGeom>
          <a:solidFill>
            <a:srgbClr val="EEF2F6"/>
          </a:solidFill>
          <a:ln w="19050">
            <a:solidFill>
              <a:srgbClr val="94A3B8"/>
            </a:solidFill>
            <a:prstDash val="solid"/>
          </a:ln>
        </p:spPr>
      </p:sp>
      <p:sp>
        <p:nvSpPr>
          <p:cNvPr id="31" name="s243"/>
          <p:cNvSpPr/>
          <p:nvPr/>
        </p:nvSpPr>
        <p:spPr>
          <a:xfrm>
            <a:off x="8823960" y="5166360"/>
            <a:ext cx="1371600" cy="274320"/>
          </a:xfrm>
          <a:prstGeom prst="rect">
            <a:avLst/>
          </a:prstGeom>
          <a:solidFill>
            <a:srgbClr val="B8A68F"/>
          </a:solidFill>
          <a:ln/>
        </p:spPr>
      </p:sp>
      <p:sp>
        <p:nvSpPr>
          <p:cNvPr id="32" name="s244"/>
          <p:cNvSpPr/>
          <p:nvPr/>
        </p:nvSpPr>
        <p:spPr>
          <a:xfrm>
            <a:off x="8823960" y="4800600"/>
            <a:ext cx="1371600" cy="365760"/>
          </a:xfrm>
          <a:prstGeom prst="rect">
            <a:avLst/>
          </a:prstGeom>
          <a:solidFill>
            <a:srgbClr val="B8A68F"/>
          </a:solidFill>
          <a:ln/>
        </p:spPr>
      </p:sp>
      <p:sp>
        <p:nvSpPr>
          <p:cNvPr id="33" name="t245"/>
          <p:cNvSpPr txBox="1"/>
          <p:nvPr/>
        </p:nvSpPr>
        <p:spPr>
          <a:xfrm>
            <a:off x="8412480" y="551383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B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EFFLUENT TANK</a:t>
            </a:r>
            <a:endParaRPr lang="en-US" sz="1100" dirty="0"/>
          </a:p>
        </p:txBody>
      </p:sp>
      <p:sp>
        <p:nvSpPr>
          <p:cNvPr id="34" name="t246"/>
          <p:cNvSpPr txBox="1"/>
          <p:nvPr/>
        </p:nvSpPr>
        <p:spPr>
          <a:xfrm>
            <a:off x="548640" y="457200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C74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STEAM</a:t>
            </a:r>
            <a:endParaRPr lang="en-US" sz="1200" dirty="0"/>
          </a:p>
        </p:txBody>
      </p:sp>
      <p:sp>
        <p:nvSpPr>
          <p:cNvPr id="35" name="s247"/>
          <p:cNvSpPr/>
          <p:nvPr/>
        </p:nvSpPr>
        <p:spPr>
          <a:xfrm>
            <a:off x="1188720" y="4846320"/>
            <a:ext cx="3566160" cy="0"/>
          </a:xfrm>
          <a:prstGeom prst="line">
            <a:avLst/>
          </a:prstGeom>
          <a:noFill/>
          <a:ln w="63500">
            <a:solidFill>
              <a:srgbClr val="0C74BC"/>
            </a:solidFill>
            <a:prstDash val="solid"/>
            <a:tailEnd type="triangle"/>
          </a:ln>
        </p:spPr>
      </p:sp>
      <p:sp>
        <p:nvSpPr>
          <p:cNvPr id="36" name="t248"/>
          <p:cNvSpPr txBox="1"/>
          <p:nvPr/>
        </p:nvSpPr>
        <p:spPr>
          <a:xfrm>
            <a:off x="2011680" y="411480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2E8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DECON CHEMISTRY</a:t>
            </a:r>
            <a:endParaRPr lang="en-US" sz="1200" dirty="0"/>
          </a:p>
        </p:txBody>
      </p:sp>
      <p:sp>
        <p:nvSpPr>
          <p:cNvPr id="37" name="s249"/>
          <p:cNvSpPr/>
          <p:nvPr/>
        </p:nvSpPr>
        <p:spPr>
          <a:xfrm>
            <a:off x="2743200" y="4407408"/>
            <a:ext cx="0" cy="438912"/>
          </a:xfrm>
          <a:prstGeom prst="line">
            <a:avLst/>
          </a:prstGeom>
          <a:noFill/>
          <a:ln w="63500">
            <a:solidFill>
              <a:srgbClr val="3AB54A"/>
            </a:solidFill>
            <a:prstDash val="solid"/>
            <a:tailEnd type="triangle"/>
          </a:ln>
        </p:spPr>
      </p:sp>
      <p:sp>
        <p:nvSpPr>
          <p:cNvPr id="38" name="s250"/>
          <p:cNvSpPr/>
          <p:nvPr/>
        </p:nvSpPr>
        <p:spPr>
          <a:xfrm>
            <a:off x="548640" y="1371600"/>
            <a:ext cx="3017520" cy="1737360"/>
          </a:xfrm>
          <a:prstGeom prst="roundRect">
            <a:avLst>
              <a:gd name="adj" fmla="val 6316"/>
            </a:avLst>
          </a:prstGeom>
          <a:solidFill>
            <a:srgbClr val="F3F7FA"/>
          </a:solidFill>
          <a:ln w="12700">
            <a:solidFill>
              <a:srgbClr val="E1E8EF"/>
            </a:solidFill>
            <a:prstDash val="solid"/>
          </a:ln>
        </p:spPr>
      </p:sp>
      <p:sp>
        <p:nvSpPr>
          <p:cNvPr id="39" name="t251"/>
          <p:cNvSpPr txBox="1"/>
          <p:nvPr/>
        </p:nvSpPr>
        <p:spPr>
          <a:xfrm>
            <a:off x="731520" y="14813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2E8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 TEST AT MANWAY</a:t>
            </a:r>
            <a:endParaRPr lang="en-US" sz="1200" dirty="0"/>
          </a:p>
        </p:txBody>
      </p:sp>
      <p:sp>
        <p:nvSpPr>
          <p:cNvPr id="40" name="t252"/>
          <p:cNvSpPr txBox="1"/>
          <p:nvPr/>
        </p:nvSpPr>
        <p:spPr>
          <a:xfrm>
            <a:off x="731520" y="1874520"/>
            <a:ext cx="1005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LEL</a:t>
            </a:r>
            <a:endParaRPr lang="en-US" sz="1400" dirty="0"/>
          </a:p>
        </p:txBody>
      </p:sp>
      <p:sp>
        <p:nvSpPr>
          <p:cNvPr id="41" name="t253"/>
          <p:cNvSpPr txBox="1"/>
          <p:nvPr/>
        </p:nvSpPr>
        <p:spPr>
          <a:xfrm>
            <a:off x="1737360" y="1874520"/>
            <a:ext cx="1737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above limit</a:t>
            </a:r>
            <a:endParaRPr lang="en-US" sz="1300" dirty="0"/>
          </a:p>
        </p:txBody>
      </p:sp>
      <p:sp>
        <p:nvSpPr>
          <p:cNvPr id="42" name="t254"/>
          <p:cNvSpPr txBox="1"/>
          <p:nvPr/>
        </p:nvSpPr>
        <p:spPr>
          <a:xfrm>
            <a:off x="1737360" y="1874520"/>
            <a:ext cx="1737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8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OK</a:t>
            </a:r>
            <a:endParaRPr lang="en-US" sz="1300" dirty="0"/>
          </a:p>
        </p:txBody>
      </p:sp>
      <p:sp>
        <p:nvSpPr>
          <p:cNvPr id="43" name="t255"/>
          <p:cNvSpPr txBox="1"/>
          <p:nvPr/>
        </p:nvSpPr>
        <p:spPr>
          <a:xfrm>
            <a:off x="731520" y="2286000"/>
            <a:ext cx="1005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H₂S</a:t>
            </a:r>
            <a:endParaRPr lang="en-US" sz="1400" dirty="0"/>
          </a:p>
        </p:txBody>
      </p:sp>
      <p:sp>
        <p:nvSpPr>
          <p:cNvPr id="44" name="t256"/>
          <p:cNvSpPr txBox="1"/>
          <p:nvPr/>
        </p:nvSpPr>
        <p:spPr>
          <a:xfrm>
            <a:off x="1737360" y="2286000"/>
            <a:ext cx="1737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above limit</a:t>
            </a:r>
            <a:endParaRPr lang="en-US" sz="1300" dirty="0"/>
          </a:p>
        </p:txBody>
      </p:sp>
      <p:sp>
        <p:nvSpPr>
          <p:cNvPr id="45" name="t257"/>
          <p:cNvSpPr txBox="1"/>
          <p:nvPr/>
        </p:nvSpPr>
        <p:spPr>
          <a:xfrm>
            <a:off x="1737360" y="2286000"/>
            <a:ext cx="1737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8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OK</a:t>
            </a:r>
            <a:endParaRPr lang="en-US" sz="1300" dirty="0"/>
          </a:p>
        </p:txBody>
      </p:sp>
      <p:sp>
        <p:nvSpPr>
          <p:cNvPr id="46" name="t258"/>
          <p:cNvSpPr txBox="1"/>
          <p:nvPr/>
        </p:nvSpPr>
        <p:spPr>
          <a:xfrm>
            <a:off x="731520" y="2697480"/>
            <a:ext cx="1005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Benzene</a:t>
            </a:r>
            <a:endParaRPr lang="en-US" sz="1400" dirty="0"/>
          </a:p>
        </p:txBody>
      </p:sp>
      <p:sp>
        <p:nvSpPr>
          <p:cNvPr id="47" name="t259"/>
          <p:cNvSpPr txBox="1"/>
          <p:nvPr/>
        </p:nvSpPr>
        <p:spPr>
          <a:xfrm>
            <a:off x="1737360" y="2697480"/>
            <a:ext cx="1737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above limit</a:t>
            </a:r>
            <a:endParaRPr lang="en-US" sz="1300" dirty="0"/>
          </a:p>
        </p:txBody>
      </p:sp>
      <p:sp>
        <p:nvSpPr>
          <p:cNvPr id="48" name="t260"/>
          <p:cNvSpPr txBox="1"/>
          <p:nvPr/>
        </p:nvSpPr>
        <p:spPr>
          <a:xfrm>
            <a:off x="1737360" y="2697480"/>
            <a:ext cx="1737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8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OK</a:t>
            </a:r>
            <a:endParaRPr lang="en-US" sz="1300" dirty="0"/>
          </a:p>
        </p:txBody>
      </p:sp>
      <p:sp>
        <p:nvSpPr>
          <p:cNvPr id="49" name="s261"/>
          <p:cNvSpPr/>
          <p:nvPr/>
        </p:nvSpPr>
        <p:spPr>
          <a:xfrm>
            <a:off x="548640" y="5852160"/>
            <a:ext cx="10515600" cy="713232"/>
          </a:xfrm>
          <a:prstGeom prst="roundRect">
            <a:avLst>
              <a:gd name="adj" fmla="val 25641"/>
            </a:avLst>
          </a:prstGeom>
          <a:solidFill>
            <a:srgbClr val="EAF3FA"/>
          </a:solidFill>
          <a:ln/>
        </p:spPr>
      </p:sp>
      <p:sp>
        <p:nvSpPr>
          <p:cNvPr id="50" name="t262"/>
          <p:cNvSpPr txBox="1"/>
          <p:nvPr/>
        </p:nvSpPr>
        <p:spPr>
          <a:xfrm>
            <a:off x="777240" y="5852160"/>
            <a:ext cx="100584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  The unit is shut down, drained and isolated – the column still holds H₂S, benzene, LEL gases, pyrophoric FeS and heavy oil.</a:t>
            </a:r>
            <a:endParaRPr lang="en-US" sz="1400" dirty="0"/>
          </a:p>
        </p:txBody>
      </p:sp>
      <p:sp>
        <p:nvSpPr>
          <p:cNvPr id="51" name="t263"/>
          <p:cNvSpPr txBox="1"/>
          <p:nvPr/>
        </p:nvSpPr>
        <p:spPr>
          <a:xfrm>
            <a:off x="777240" y="5852160"/>
            <a:ext cx="100584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  Steam is introduced through the existing steam-out lines and heats the whole column.</a:t>
            </a:r>
            <a:endParaRPr lang="en-US" sz="1400" dirty="0"/>
          </a:p>
        </p:txBody>
      </p:sp>
      <p:sp>
        <p:nvSpPr>
          <p:cNvPr id="52" name="t264"/>
          <p:cNvSpPr txBox="1"/>
          <p:nvPr/>
        </p:nvSpPr>
        <p:spPr>
          <a:xfrm>
            <a:off x="777240" y="5852160"/>
            <a:ext cx="100584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  Decon chemistry is injected into the steam and reaches every surface the steam reaches.</a:t>
            </a:r>
            <a:endParaRPr lang="en-US" sz="1400" dirty="0"/>
          </a:p>
        </p:txBody>
      </p:sp>
      <p:sp>
        <p:nvSpPr>
          <p:cNvPr id="53" name="t265"/>
          <p:cNvSpPr txBox="1"/>
          <p:nvPr/>
        </p:nvSpPr>
        <p:spPr>
          <a:xfrm>
            <a:off x="777240" y="5852160"/>
            <a:ext cx="100584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  H₂S is converted into stable, non-volatile compounds that stay in the condensate and drain to the effluent tank.</a:t>
            </a:r>
            <a:endParaRPr lang="en-US" sz="1400" dirty="0"/>
          </a:p>
        </p:txBody>
      </p:sp>
      <p:sp>
        <p:nvSpPr>
          <p:cNvPr id="54" name="t266"/>
          <p:cNvSpPr txBox="1"/>
          <p:nvPr/>
        </p:nvSpPr>
        <p:spPr>
          <a:xfrm>
            <a:off x="777240" y="5852160"/>
            <a:ext cx="100584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  Pyrophoric FeS is oxidised in place to stable iron oxide – it can no longer self-heat – and is washed out.</a:t>
            </a:r>
            <a:endParaRPr lang="en-US" sz="1400" dirty="0"/>
          </a:p>
        </p:txBody>
      </p:sp>
      <p:sp>
        <p:nvSpPr>
          <p:cNvPr id="55" name="t267"/>
          <p:cNvSpPr txBox="1"/>
          <p:nvPr/>
        </p:nvSpPr>
        <p:spPr>
          <a:xfrm>
            <a:off x="777240" y="5852160"/>
            <a:ext cx="100584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  Benzene and LEL hydrocarbons are swept to the flare / closed vent; dissolved benzene drains with the condensate.</a:t>
            </a:r>
            <a:endParaRPr lang="en-US" sz="1400" dirty="0"/>
          </a:p>
        </p:txBody>
      </p:sp>
      <p:sp>
        <p:nvSpPr>
          <p:cNvPr id="56" name="t268"/>
          <p:cNvSpPr txBox="1"/>
          <p:nvPr/>
        </p:nvSpPr>
        <p:spPr>
          <a:xfrm>
            <a:off x="777240" y="5852160"/>
            <a:ext cx="100584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  Softened deposits and heavy oil drain with the condensate – the column is clean.</a:t>
            </a:r>
            <a:endParaRPr lang="en-US" sz="1400" dirty="0"/>
          </a:p>
        </p:txBody>
      </p:sp>
      <p:sp>
        <p:nvSpPr>
          <p:cNvPr id="57" name="t269"/>
          <p:cNvSpPr txBox="1"/>
          <p:nvPr/>
        </p:nvSpPr>
        <p:spPr>
          <a:xfrm>
            <a:off x="777240" y="5852160"/>
            <a:ext cx="100584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  Gas tests confirm the entry criteria – the column is handed over for safe entry.</a:t>
            </a:r>
            <a:endParaRPr lang="en-US" sz="1400" dirty="0"/>
          </a:p>
        </p:txBody>
      </p:sp>
      <p:sp>
        <p:nvSpPr>
          <p:cNvPr id="58" name="tag270"/>
          <p:cNvSpPr/>
          <p:nvPr/>
        </p:nvSpPr>
        <p:spPr>
          <a:xfrm>
            <a:off x="4892040" y="2057400"/>
            <a:ext cx="914400" cy="329184"/>
          </a:xfrm>
          <a:prstGeom prst="roundRect">
            <a:avLst>
              <a:gd name="adj" fmla="val 50000"/>
            </a:avLst>
          </a:prstGeom>
          <a:solidFill>
            <a:srgbClr val="C039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H₂S</a:t>
            </a:r>
            <a:endParaRPr lang="en-US" sz="1200" dirty="0"/>
          </a:p>
        </p:txBody>
      </p:sp>
      <p:sp>
        <p:nvSpPr>
          <p:cNvPr id="59" name="tag271"/>
          <p:cNvSpPr/>
          <p:nvPr/>
        </p:nvSpPr>
        <p:spPr>
          <a:xfrm>
            <a:off x="4892040" y="2606040"/>
            <a:ext cx="914400" cy="329184"/>
          </a:xfrm>
          <a:prstGeom prst="roundRect">
            <a:avLst>
              <a:gd name="adj" fmla="val 50000"/>
            </a:avLst>
          </a:prstGeom>
          <a:solidFill>
            <a:srgbClr val="E67E2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Benzene</a:t>
            </a:r>
            <a:endParaRPr lang="en-US" sz="1200" dirty="0"/>
          </a:p>
        </p:txBody>
      </p:sp>
      <p:sp>
        <p:nvSpPr>
          <p:cNvPr id="60" name="tag272"/>
          <p:cNvSpPr/>
          <p:nvPr/>
        </p:nvSpPr>
        <p:spPr>
          <a:xfrm>
            <a:off x="4892040" y="3154680"/>
            <a:ext cx="914400" cy="329184"/>
          </a:xfrm>
          <a:prstGeom prst="roundRect">
            <a:avLst>
              <a:gd name="adj" fmla="val 50000"/>
            </a:avLst>
          </a:prstGeom>
          <a:solidFill>
            <a:srgbClr val="D4A017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LEL</a:t>
            </a:r>
            <a:endParaRPr lang="en-US" sz="1200" dirty="0"/>
          </a:p>
        </p:txBody>
      </p:sp>
      <p:sp>
        <p:nvSpPr>
          <p:cNvPr id="61" name="s273"/>
          <p:cNvSpPr/>
          <p:nvPr/>
        </p:nvSpPr>
        <p:spPr>
          <a:xfrm>
            <a:off x="4828032" y="3657600"/>
            <a:ext cx="1042416" cy="457200"/>
          </a:xfrm>
          <a:prstGeom prst="roundRect">
            <a:avLst>
              <a:gd name="adj" fmla="val 50000"/>
            </a:avLst>
          </a:prstGeom>
          <a:solidFill>
            <a:srgbClr val="FF8C1A">
              <a:alpha val="45000"/>
            </a:srgbClr>
          </a:solidFill>
          <a:ln w="25400">
            <a:solidFill>
              <a:srgbClr val="FF8C1A"/>
            </a:solidFill>
            <a:prstDash val="solid"/>
          </a:ln>
        </p:spPr>
      </p:sp>
      <p:sp>
        <p:nvSpPr>
          <p:cNvPr id="62" name="tag274"/>
          <p:cNvSpPr/>
          <p:nvPr/>
        </p:nvSpPr>
        <p:spPr>
          <a:xfrm>
            <a:off x="4892040" y="3721608"/>
            <a:ext cx="914400" cy="329184"/>
          </a:xfrm>
          <a:prstGeom prst="roundRect">
            <a:avLst>
              <a:gd name="adj" fmla="val 50000"/>
            </a:avLst>
          </a:prstGeom>
          <a:solidFill>
            <a:srgbClr val="6B728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FeS</a:t>
            </a:r>
            <a:endParaRPr lang="en-US" sz="1200" dirty="0"/>
          </a:p>
        </p:txBody>
      </p:sp>
      <p:sp>
        <p:nvSpPr>
          <p:cNvPr id="63" name="tag275"/>
          <p:cNvSpPr/>
          <p:nvPr/>
        </p:nvSpPr>
        <p:spPr>
          <a:xfrm>
            <a:off x="4800600" y="2057400"/>
            <a:ext cx="1097280" cy="329184"/>
          </a:xfrm>
          <a:prstGeom prst="roundRect">
            <a:avLst>
              <a:gd name="adj" fmla="val 50000"/>
            </a:avLst>
          </a:prstGeom>
          <a:solidFill>
            <a:srgbClr val="8E9AA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stable salt</a:t>
            </a:r>
            <a:endParaRPr lang="en-US" sz="1200" dirty="0"/>
          </a:p>
        </p:txBody>
      </p:sp>
      <p:sp>
        <p:nvSpPr>
          <p:cNvPr id="64" name="tag276"/>
          <p:cNvSpPr/>
          <p:nvPr/>
        </p:nvSpPr>
        <p:spPr>
          <a:xfrm>
            <a:off x="4800600" y="3721608"/>
            <a:ext cx="1097280" cy="329184"/>
          </a:xfrm>
          <a:prstGeom prst="roundRect">
            <a:avLst>
              <a:gd name="adj" fmla="val 50000"/>
            </a:avLst>
          </a:prstGeom>
          <a:solidFill>
            <a:srgbClr val="A0522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iron oxide</a:t>
            </a:r>
            <a:endParaRPr lang="en-US" sz="1200" dirty="0"/>
          </a:p>
        </p:txBody>
      </p:sp>
      <p:sp>
        <p:nvSpPr>
          <p:cNvPr id="65" name="s277"/>
          <p:cNvSpPr/>
          <p:nvPr/>
        </p:nvSpPr>
        <p:spPr>
          <a:xfrm>
            <a:off x="1097280" y="4754880"/>
            <a:ext cx="182880" cy="1828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C74BC"/>
            </a:solidFill>
            <a:prstDash val="solid"/>
          </a:ln>
        </p:spPr>
      </p:sp>
      <p:sp>
        <p:nvSpPr>
          <p:cNvPr id="66" name="s278"/>
          <p:cNvSpPr/>
          <p:nvPr/>
        </p:nvSpPr>
        <p:spPr>
          <a:xfrm>
            <a:off x="1097280" y="4754880"/>
            <a:ext cx="182880" cy="1828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C74BC"/>
            </a:solidFill>
            <a:prstDash val="solid"/>
          </a:ln>
        </p:spPr>
      </p:sp>
      <p:sp>
        <p:nvSpPr>
          <p:cNvPr id="67" name="s279"/>
          <p:cNvSpPr/>
          <p:nvPr/>
        </p:nvSpPr>
        <p:spPr>
          <a:xfrm>
            <a:off x="1097280" y="4754880"/>
            <a:ext cx="182880" cy="1828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C74BC"/>
            </a:solidFill>
            <a:prstDash val="solid"/>
          </a:ln>
        </p:spPr>
      </p:sp>
      <p:sp>
        <p:nvSpPr>
          <p:cNvPr id="68" name="s280"/>
          <p:cNvSpPr/>
          <p:nvPr/>
        </p:nvSpPr>
        <p:spPr>
          <a:xfrm>
            <a:off x="1097280" y="4754880"/>
            <a:ext cx="182880" cy="1828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C74BC"/>
            </a:solidFill>
            <a:prstDash val="solid"/>
          </a:ln>
        </p:spPr>
      </p:sp>
      <p:sp>
        <p:nvSpPr>
          <p:cNvPr id="69" name="s281"/>
          <p:cNvSpPr/>
          <p:nvPr/>
        </p:nvSpPr>
        <p:spPr>
          <a:xfrm>
            <a:off x="1097280" y="4754880"/>
            <a:ext cx="182880" cy="1828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C74BC"/>
            </a:solidFill>
            <a:prstDash val="solid"/>
          </a:ln>
        </p:spPr>
      </p:sp>
      <p:sp>
        <p:nvSpPr>
          <p:cNvPr id="70" name="s282"/>
          <p:cNvSpPr/>
          <p:nvPr/>
        </p:nvSpPr>
        <p:spPr>
          <a:xfrm>
            <a:off x="1097280" y="4754880"/>
            <a:ext cx="182880" cy="1828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C74BC"/>
            </a:solidFill>
            <a:prstDash val="solid"/>
          </a:ln>
        </p:spPr>
      </p:sp>
      <p:sp>
        <p:nvSpPr>
          <p:cNvPr id="71" name="s283"/>
          <p:cNvSpPr/>
          <p:nvPr/>
        </p:nvSpPr>
        <p:spPr>
          <a:xfrm>
            <a:off x="1097280" y="4754880"/>
            <a:ext cx="182880" cy="1828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C74BC"/>
            </a:solidFill>
            <a:prstDash val="solid"/>
          </a:ln>
        </p:spPr>
      </p:sp>
      <p:sp>
        <p:nvSpPr>
          <p:cNvPr id="72" name="s284"/>
          <p:cNvSpPr/>
          <p:nvPr/>
        </p:nvSpPr>
        <p:spPr>
          <a:xfrm>
            <a:off x="2651760" y="4315968"/>
            <a:ext cx="182880" cy="182880"/>
          </a:xfrm>
          <a:prstGeom prst="ellipse">
            <a:avLst/>
          </a:prstGeom>
          <a:solidFill>
            <a:srgbClr val="3AB54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3" name="s285"/>
          <p:cNvSpPr/>
          <p:nvPr/>
        </p:nvSpPr>
        <p:spPr>
          <a:xfrm>
            <a:off x="2651760" y="4315968"/>
            <a:ext cx="182880" cy="182880"/>
          </a:xfrm>
          <a:prstGeom prst="ellipse">
            <a:avLst/>
          </a:prstGeom>
          <a:solidFill>
            <a:srgbClr val="3AB54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4" name="s286"/>
          <p:cNvSpPr/>
          <p:nvPr/>
        </p:nvSpPr>
        <p:spPr>
          <a:xfrm>
            <a:off x="2651760" y="4315968"/>
            <a:ext cx="182880" cy="182880"/>
          </a:xfrm>
          <a:prstGeom prst="ellipse">
            <a:avLst/>
          </a:prstGeom>
          <a:solidFill>
            <a:srgbClr val="3AB54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5" name="s287"/>
          <p:cNvSpPr/>
          <p:nvPr/>
        </p:nvSpPr>
        <p:spPr>
          <a:xfrm>
            <a:off x="2651760" y="4315968"/>
            <a:ext cx="182880" cy="182880"/>
          </a:xfrm>
          <a:prstGeom prst="ellipse">
            <a:avLst/>
          </a:prstGeom>
          <a:solidFill>
            <a:srgbClr val="3AB54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6" name="s288"/>
          <p:cNvSpPr/>
          <p:nvPr/>
        </p:nvSpPr>
        <p:spPr>
          <a:xfrm>
            <a:off x="2651760" y="4315968"/>
            <a:ext cx="182880" cy="182880"/>
          </a:xfrm>
          <a:prstGeom prst="ellipse">
            <a:avLst/>
          </a:prstGeom>
          <a:solidFill>
            <a:srgbClr val="3AB54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7" name="s289"/>
          <p:cNvSpPr/>
          <p:nvPr/>
        </p:nvSpPr>
        <p:spPr>
          <a:xfrm>
            <a:off x="2651760" y="4315968"/>
            <a:ext cx="182880" cy="182880"/>
          </a:xfrm>
          <a:prstGeom prst="ellipse">
            <a:avLst/>
          </a:prstGeom>
          <a:solidFill>
            <a:srgbClr val="3AB54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8" name="s290"/>
          <p:cNvSpPr/>
          <p:nvPr/>
        </p:nvSpPr>
        <p:spPr>
          <a:xfrm>
            <a:off x="5248656" y="2121408"/>
            <a:ext cx="201168" cy="201168"/>
          </a:xfrm>
          <a:prstGeom prst="ellipse">
            <a:avLst/>
          </a:prstGeom>
          <a:solidFill>
            <a:srgbClr val="8E9AA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9" name="s291"/>
          <p:cNvSpPr/>
          <p:nvPr/>
        </p:nvSpPr>
        <p:spPr>
          <a:xfrm>
            <a:off x="5248656" y="2121408"/>
            <a:ext cx="201168" cy="201168"/>
          </a:xfrm>
          <a:prstGeom prst="ellipse">
            <a:avLst/>
          </a:prstGeom>
          <a:solidFill>
            <a:srgbClr val="8E9AA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0" name="s292"/>
          <p:cNvSpPr/>
          <p:nvPr/>
        </p:nvSpPr>
        <p:spPr>
          <a:xfrm>
            <a:off x="5248656" y="2121408"/>
            <a:ext cx="201168" cy="201168"/>
          </a:xfrm>
          <a:prstGeom prst="ellipse">
            <a:avLst/>
          </a:prstGeom>
          <a:solidFill>
            <a:srgbClr val="8E9AA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1" name="s293"/>
          <p:cNvSpPr/>
          <p:nvPr/>
        </p:nvSpPr>
        <p:spPr>
          <a:xfrm>
            <a:off x="5248656" y="2121408"/>
            <a:ext cx="201168" cy="201168"/>
          </a:xfrm>
          <a:prstGeom prst="ellipse">
            <a:avLst/>
          </a:prstGeom>
          <a:solidFill>
            <a:srgbClr val="8E9AA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2" name="s294"/>
          <p:cNvSpPr/>
          <p:nvPr/>
        </p:nvSpPr>
        <p:spPr>
          <a:xfrm>
            <a:off x="5248656" y="3785616"/>
            <a:ext cx="201168" cy="201168"/>
          </a:xfrm>
          <a:prstGeom prst="ellipse">
            <a:avLst/>
          </a:prstGeom>
          <a:solidFill>
            <a:srgbClr val="A0522D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3" name="s295"/>
          <p:cNvSpPr/>
          <p:nvPr/>
        </p:nvSpPr>
        <p:spPr>
          <a:xfrm>
            <a:off x="5248656" y="3785616"/>
            <a:ext cx="201168" cy="201168"/>
          </a:xfrm>
          <a:prstGeom prst="ellipse">
            <a:avLst/>
          </a:prstGeom>
          <a:solidFill>
            <a:srgbClr val="A0522D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4" name="s296"/>
          <p:cNvSpPr/>
          <p:nvPr/>
        </p:nvSpPr>
        <p:spPr>
          <a:xfrm>
            <a:off x="5248656" y="3785616"/>
            <a:ext cx="201168" cy="201168"/>
          </a:xfrm>
          <a:prstGeom prst="ellipse">
            <a:avLst/>
          </a:prstGeom>
          <a:solidFill>
            <a:srgbClr val="A0522D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5" name="s297"/>
          <p:cNvSpPr/>
          <p:nvPr/>
        </p:nvSpPr>
        <p:spPr>
          <a:xfrm>
            <a:off x="5248656" y="3785616"/>
            <a:ext cx="201168" cy="201168"/>
          </a:xfrm>
          <a:prstGeom prst="ellipse">
            <a:avLst/>
          </a:prstGeom>
          <a:solidFill>
            <a:srgbClr val="A0522D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6" name="s298"/>
          <p:cNvSpPr/>
          <p:nvPr/>
        </p:nvSpPr>
        <p:spPr>
          <a:xfrm>
            <a:off x="5266944" y="2688336"/>
            <a:ext cx="164592" cy="164592"/>
          </a:xfrm>
          <a:prstGeom prst="ellipse">
            <a:avLst/>
          </a:prstGeom>
          <a:solidFill>
            <a:srgbClr val="E67E22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7" name="s299"/>
          <p:cNvSpPr/>
          <p:nvPr/>
        </p:nvSpPr>
        <p:spPr>
          <a:xfrm>
            <a:off x="5266944" y="2688336"/>
            <a:ext cx="164592" cy="164592"/>
          </a:xfrm>
          <a:prstGeom prst="ellipse">
            <a:avLst/>
          </a:prstGeom>
          <a:solidFill>
            <a:srgbClr val="E67E22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8" name="s300"/>
          <p:cNvSpPr/>
          <p:nvPr/>
        </p:nvSpPr>
        <p:spPr>
          <a:xfrm>
            <a:off x="5248656" y="4654296"/>
            <a:ext cx="201168" cy="201168"/>
          </a:xfrm>
          <a:prstGeom prst="ellipse">
            <a:avLst/>
          </a:prstGeom>
          <a:solidFill>
            <a:srgbClr val="5C463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9" name="s301"/>
          <p:cNvSpPr/>
          <p:nvPr/>
        </p:nvSpPr>
        <p:spPr>
          <a:xfrm>
            <a:off x="5248656" y="4654296"/>
            <a:ext cx="201168" cy="201168"/>
          </a:xfrm>
          <a:prstGeom prst="ellipse">
            <a:avLst/>
          </a:prstGeom>
          <a:solidFill>
            <a:srgbClr val="5C463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90" name="s302"/>
          <p:cNvSpPr/>
          <p:nvPr/>
        </p:nvSpPr>
        <p:spPr>
          <a:xfrm>
            <a:off x="5248656" y="4654296"/>
            <a:ext cx="201168" cy="201168"/>
          </a:xfrm>
          <a:prstGeom prst="ellipse">
            <a:avLst/>
          </a:prstGeom>
          <a:solidFill>
            <a:srgbClr val="5C463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91" name="s303"/>
          <p:cNvSpPr/>
          <p:nvPr/>
        </p:nvSpPr>
        <p:spPr>
          <a:xfrm>
            <a:off x="5248656" y="4654296"/>
            <a:ext cx="201168" cy="201168"/>
          </a:xfrm>
          <a:prstGeom prst="ellipse">
            <a:avLst/>
          </a:prstGeom>
          <a:solidFill>
            <a:srgbClr val="5C463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92" name="s304"/>
          <p:cNvSpPr/>
          <p:nvPr/>
        </p:nvSpPr>
        <p:spPr>
          <a:xfrm>
            <a:off x="4849978" y="1828800"/>
            <a:ext cx="998525" cy="164592"/>
          </a:xfrm>
          <a:prstGeom prst="roundRect">
            <a:avLst>
              <a:gd name="adj" fmla="val 50000"/>
            </a:avLst>
          </a:prstGeom>
          <a:solidFill>
            <a:srgbClr val="FFFFFF">
              <a:alpha val="65000"/>
            </a:srgbClr>
          </a:solidFill>
          <a:ln/>
        </p:spPr>
      </p:sp>
      <p:sp>
        <p:nvSpPr>
          <p:cNvPr id="93" name="s305"/>
          <p:cNvSpPr/>
          <p:nvPr/>
        </p:nvSpPr>
        <p:spPr>
          <a:xfrm>
            <a:off x="548640" y="3383280"/>
            <a:ext cx="3017520" cy="640080"/>
          </a:xfrm>
          <a:prstGeom prst="roundRect">
            <a:avLst>
              <a:gd name="adj" fmla="val 50000"/>
            </a:avLst>
          </a:prstGeom>
          <a:solidFill>
            <a:srgbClr val="3AB54A"/>
          </a:solidFill>
          <a:ln/>
        </p:spPr>
      </p:sp>
      <p:sp>
        <p:nvSpPr>
          <p:cNvPr id="94" name="t306"/>
          <p:cNvSpPr txBox="1"/>
          <p:nvPr/>
        </p:nvSpPr>
        <p:spPr>
          <a:xfrm>
            <a:off x="548640" y="3383280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READY FOR SAFE ENTRY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708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6" presetClass="emph" presetSubtype="0" repeatCount="3000" fill="hold" grpId="2" nodeType="withEffect">
                                  <p:stCondLst>
                                    <p:cond delay="400"/>
                                  </p:stCondLst>
                                  <p:childTnLst>
                                    <p:animScale>
                                      <p:cBhvr>
                                        <p:cTn id="12" dur="500" autoRev="1" fill="hold"/>
                                        <p:tgtEl>
                                          <p:spTgt spid="61"/>
                                        </p:tgtEl>
                                      </p:cBhvr>
                                      <p:by x="108000" y="108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3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7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0" presetClass="path" presetSubtype="0" fill="hold" grpId="3" nodeType="withEffect">
                                  <p:stCondLst>
                                    <p:cond delay="700"/>
                                  </p:stCondLst>
                                  <p:childTnLst>
                                    <p:animMotion origin="layout" path="M 0 0 L 0.3263 0.0000 L 0.3263 -0.4000 E" pathEditMode="relative" ptsTypes="AAA">
                                      <p:cBhvr>
                                        <p:cTn id="26" dur="2200" fill="hold"/>
                                        <p:tgtEl>
                                          <p:spTgt spid="6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7" presetID="1" presetClass="exit" presetSubtype="0" fill="hold" grpId="1" nodeType="withEffect">
                                  <p:stCondLst>
                                    <p:cond delay="290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103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0" presetClass="path" presetSubtype="0" fill="hold" grpId="3" nodeType="withEffect">
                                  <p:stCondLst>
                                    <p:cond delay="1030"/>
                                  </p:stCondLst>
                                  <p:childTnLst>
                                    <p:animMotion origin="layout" path="M 0 0 L 0.3263 0.0000 L 0.3263 -0.4000 E" pathEditMode="relative" ptsTypes="AAA">
                                      <p:cBhvr>
                                        <p:cTn id="32" dur="2200" fill="hold"/>
                                        <p:tgtEl>
                                          <p:spTgt spid="6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3" presetID="1" presetClass="exit" presetSubtype="0" fill="hold" grpId="1" nodeType="withEffect">
                                  <p:stCondLst>
                                    <p:cond delay="323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136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0" presetClass="path" presetSubtype="0" fill="hold" grpId="3" nodeType="withEffect">
                                  <p:stCondLst>
                                    <p:cond delay="1360"/>
                                  </p:stCondLst>
                                  <p:childTnLst>
                                    <p:animMotion origin="layout" path="M 0 0 L 0.3263 0.0000 L 0.3263 -0.4000 E" pathEditMode="relative" ptsTypes="AAA">
                                      <p:cBhvr>
                                        <p:cTn id="38" dur="2200" fill="hold"/>
                                        <p:tgtEl>
                                          <p:spTgt spid="6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9" presetID="1" presetClass="exit" presetSubtype="0" fill="hold" grpId="1" nodeType="withEffect">
                                  <p:stCondLst>
                                    <p:cond delay="356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169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0" presetClass="path" presetSubtype="0" fill="hold" grpId="3" nodeType="withEffect">
                                  <p:stCondLst>
                                    <p:cond delay="1690"/>
                                  </p:stCondLst>
                                  <p:childTnLst>
                                    <p:animMotion origin="layout" path="M 0 0 L 0.3263 0.0000 L 0.3263 -0.4000 E" pathEditMode="relative" ptsTypes="AAA">
                                      <p:cBhvr>
                                        <p:cTn id="44" dur="2200" fill="hold"/>
                                        <p:tgtEl>
                                          <p:spTgt spid="6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45" presetID="1" presetClass="exit" presetSubtype="0" fill="hold" grpId="1" nodeType="withEffect">
                                  <p:stCondLst>
                                    <p:cond delay="389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202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0" presetClass="path" presetSubtype="0" fill="hold" grpId="3" nodeType="withEffect">
                                  <p:stCondLst>
                                    <p:cond delay="2020"/>
                                  </p:stCondLst>
                                  <p:childTnLst>
                                    <p:animMotion origin="layout" path="M 0 0 L 0.3263 0.0000 L 0.3263 -0.4000 E" pathEditMode="relative" ptsTypes="AAA">
                                      <p:cBhvr>
                                        <p:cTn id="50" dur="2200" fill="hold"/>
                                        <p:tgtEl>
                                          <p:spTgt spid="6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51" presetID="1" presetClass="exit" presetSubtype="0" fill="hold" grpId="1" nodeType="withEffect">
                                  <p:stCondLst>
                                    <p:cond delay="422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grpId="0" nodeType="withEffect">
                                  <p:stCondLst>
                                    <p:cond delay="235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0" presetClass="path" presetSubtype="0" fill="hold" grpId="3" nodeType="withEffect">
                                  <p:stCondLst>
                                    <p:cond delay="2350"/>
                                  </p:stCondLst>
                                  <p:childTnLst>
                                    <p:animMotion origin="layout" path="M 0 0 L 0.3263 0.0000 L 0.3263 -0.4000 E" pathEditMode="relative" ptsTypes="AAA">
                                      <p:cBhvr>
                                        <p:cTn id="56" dur="2200" fill="hold"/>
                                        <p:tgtEl>
                                          <p:spTgt spid="7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57" presetID="1" presetClass="exit" presetSubtype="0" fill="hold" grpId="1" nodeType="withEffect">
                                  <p:stCondLst>
                                    <p:cond delay="455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grpId="0" nodeType="withEffect">
                                  <p:stCondLst>
                                    <p:cond delay="268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0" presetClass="path" presetSubtype="0" fill="hold" grpId="3" nodeType="withEffect">
                                  <p:stCondLst>
                                    <p:cond delay="2680"/>
                                  </p:stCondLst>
                                  <p:childTnLst>
                                    <p:animMotion origin="layout" path="M 0 0 L 0.3263 0.0000 L 0.3263 -0.4000 E" pathEditMode="relative" ptsTypes="AAA">
                                      <p:cBhvr>
                                        <p:cTn id="62" dur="2200" fill="hold"/>
                                        <p:tgtEl>
                                          <p:spTgt spid="7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63" presetID="1" presetClass="exit" presetSubtype="0" fill="hold" grpId="1" nodeType="withEffect">
                                  <p:stCondLst>
                                    <p:cond delay="488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3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4" dur="6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" presetID="1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7" presetID="0" presetClass="path" presetSubtype="0" fill="hold" grpId="3" nodeType="withEffect">
                                  <p:stCondLst>
                                    <p:cond delay="600"/>
                                  </p:stCondLst>
                                  <p:childTnLst>
                                    <p:animMotion origin="layout" path="M 0 0 L 0.0000 0.0640 L 0.2063 0.0640 L 0.2063 -0.3627 E" pathEditMode="relative" ptsTypes="AAAA">
                                      <p:cBhvr>
                                        <p:cTn id="78" dur="2400" fill="hold"/>
                                        <p:tgtEl>
                                          <p:spTgt spid="7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79" presetID="1" presetClass="exit" presetSubtype="0" fill="hold" grpId="1" nodeType="withEffect">
                                  <p:stCondLst>
                                    <p:cond delay="300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1" presetID="1" presetClass="entr" presetSubtype="0" fill="hold" grpId="0" nodeType="withEffect">
                                  <p:stCondLst>
                                    <p:cond delay="96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3" presetID="0" presetClass="path" presetSubtype="0" fill="hold" grpId="3" nodeType="withEffect">
                                  <p:stCondLst>
                                    <p:cond delay="960"/>
                                  </p:stCondLst>
                                  <p:childTnLst>
                                    <p:animMotion origin="layout" path="M 0 0 L 0.0000 0.0640 L 0.2063 0.0640 L 0.2063 -0.3627 E" pathEditMode="relative" ptsTypes="AAAA">
                                      <p:cBhvr>
                                        <p:cTn id="84" dur="2400" fill="hold"/>
                                        <p:tgtEl>
                                          <p:spTgt spid="7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85" presetID="1" presetClass="exit" presetSubtype="0" fill="hold" grpId="1" nodeType="withEffect">
                                  <p:stCondLst>
                                    <p:cond delay="336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7" presetID="1" presetClass="entr" presetSubtype="0" fill="hold" grpId="0" nodeType="withEffect">
                                  <p:stCondLst>
                                    <p:cond delay="132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9" presetID="0" presetClass="path" presetSubtype="0" fill="hold" grpId="3" nodeType="withEffect">
                                  <p:stCondLst>
                                    <p:cond delay="1320"/>
                                  </p:stCondLst>
                                  <p:childTnLst>
                                    <p:animMotion origin="layout" path="M 0 0 L 0.0000 0.0640 L 0.2063 0.0640 L 0.2063 -0.3627 E" pathEditMode="relative" ptsTypes="AAAA">
                                      <p:cBhvr>
                                        <p:cTn id="90" dur="2400" fill="hold"/>
                                        <p:tgtEl>
                                          <p:spTgt spid="7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91" presetID="1" presetClass="exit" presetSubtype="0" fill="hold" grpId="1" nodeType="withEffect">
                                  <p:stCondLst>
                                    <p:cond delay="372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3" presetID="1" presetClass="entr" presetSubtype="0" fill="hold" grpId="0" nodeType="withEffect">
                                  <p:stCondLst>
                                    <p:cond delay="168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5" presetID="0" presetClass="path" presetSubtype="0" fill="hold" grpId="3" nodeType="withEffect">
                                  <p:stCondLst>
                                    <p:cond delay="1680"/>
                                  </p:stCondLst>
                                  <p:childTnLst>
                                    <p:animMotion origin="layout" path="M 0 0 L 0.0000 0.0640 L 0.2063 0.0640 L 0.2063 -0.3627 E" pathEditMode="relative" ptsTypes="AAAA">
                                      <p:cBhvr>
                                        <p:cTn id="96" dur="2400" fill="hold"/>
                                        <p:tgtEl>
                                          <p:spTgt spid="7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97" presetID="1" presetClass="exit" presetSubtype="0" fill="hold" grpId="1" nodeType="withEffect">
                                  <p:stCondLst>
                                    <p:cond delay="408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9" presetID="1" presetClass="entr" presetSubtype="0" fill="hold" grpId="0" nodeType="withEffect">
                                  <p:stCondLst>
                                    <p:cond delay="204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1" presetID="0" presetClass="path" presetSubtype="0" fill="hold" grpId="3" nodeType="withEffect">
                                  <p:stCondLst>
                                    <p:cond delay="2040"/>
                                  </p:stCondLst>
                                  <p:childTnLst>
                                    <p:animMotion origin="layout" path="M 0 0 L 0.0000 0.0640 L 0.2063 0.0640 L 0.2063 -0.3627 E" pathEditMode="relative" ptsTypes="AAAA">
                                      <p:cBhvr>
                                        <p:cTn id="102" dur="2400" fill="hold"/>
                                        <p:tgtEl>
                                          <p:spTgt spid="7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03" presetID="1" presetClass="exit" presetSubtype="0" fill="hold" grpId="1" nodeType="withEffect">
                                  <p:stCondLst>
                                    <p:cond delay="444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5" presetID="1" presetClass="entr" presetSubtype="0" fill="hold" grpId="0" nodeType="withEffect">
                                  <p:stCondLst>
                                    <p:cond delay="240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7" presetID="0" presetClass="path" presetSubtype="0" fill="hold" grpId="3" nodeType="withEffect">
                                  <p:stCondLst>
                                    <p:cond delay="2400"/>
                                  </p:stCondLst>
                                  <p:childTnLst>
                                    <p:animMotion origin="layout" path="M 0 0 L 0.0000 0.0640 L 0.2063 0.0640 L 0.2063 -0.3627 E" pathEditMode="relative" ptsTypes="AAAA">
                                      <p:cBhvr>
                                        <p:cTn id="108" dur="2400" fill="hold"/>
                                        <p:tgtEl>
                                          <p:spTgt spid="7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09" presetID="1" presetClass="exit" presetSubtype="0" fill="hold" grpId="1" nodeType="withEffect">
                                  <p:stCondLst>
                                    <p:cond delay="480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1" presetID="10" presetClass="exit" presetSubtype="0" fill="hold" grpId="1" nodeType="withEffect">
                                  <p:stCondLst>
                                    <p:cond delay="18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12" dur="1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13" dur="1" fill="hold">
                                          <p:stCondLst>
                                            <p:cond delay="149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4" fill="hold">
                      <p:stCondLst>
                        <p:cond delay="indefinite"/>
                      </p:stCondLst>
                      <p:childTnLst>
                        <p:par>
                          <p:cTn id="115" fill="hold">
                            <p:stCondLst>
                              <p:cond delay="0"/>
                            </p:stCondLst>
                            <p:childTnLst>
                              <p:par>
                                <p:cTn id="116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0" dur="3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1" presetID="6" presetClass="emph" presetSubtype="0" repeatCount="200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122" dur="300" autoRev="1" fill="hold"/>
                                        <p:tgtEl>
                                          <p:spTgt spid="58"/>
                                        </p:tgtEl>
                                      </p:cBhvr>
                                      <p:by x="120000" y="12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3" fill="hold">
                            <p:stCondLst>
                              <p:cond delay="500"/>
                            </p:stCondLst>
                            <p:childTnLst>
                              <p:par>
                                <p:cTn id="124" presetID="10" presetClass="exit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25" dur="45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449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9" dur="45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0" fill="hold">
                            <p:stCondLst>
                              <p:cond delay="950"/>
                            </p:stCondLst>
                            <p:childTnLst>
                              <p:par>
                                <p:cTn id="131" presetID="10" presetClass="exit" presetSubtype="0" fill="hold" grpId="1" nodeType="afterEffect">
                                  <p:stCondLst>
                                    <p:cond delay="6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32" dur="4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33" dur="1" fill="hold">
                                          <p:stCondLst>
                                            <p:cond delay="399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4" presetID="1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1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6" presetID="0" presetClass="path" presetSubtype="0" fill="hold" grpId="3" nodeType="withEffect">
                                  <p:stCondLst>
                                    <p:cond delay="600"/>
                                  </p:stCondLst>
                                  <p:childTnLst>
                                    <p:animMotion origin="layout" path="M 0 0 L 0.0000 0.4827 L 0.2513 0.4827 L 0.2513 0.4093 L 0.3000 0.4093 E" pathEditMode="relative" ptsTypes="AAAAA">
                                      <p:cBhvr>
                                        <p:cTn id="137" dur="2000" fill="hold"/>
                                        <p:tgtEl>
                                          <p:spTgt spid="7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38" presetID="1" presetClass="exit" presetSubtype="0" fill="hold" grpId="1" nodeType="withEffect">
                                  <p:stCondLst>
                                    <p:cond delay="2600"/>
                                  </p:stCondLst>
                                  <p:childTnLst>
                                    <p:set>
                                      <p:cBhvr>
                                        <p:cTn id="1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0" presetID="1" presetClass="entr" presetSubtype="0" fill="hold" grpId="0" nodeType="withEffect">
                                  <p:stCondLst>
                                    <p:cond delay="850"/>
                                  </p:stCondLst>
                                  <p:childTnLst>
                                    <p:set>
                                      <p:cBhvr>
                                        <p:cTn id="1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2" presetID="0" presetClass="path" presetSubtype="0" fill="hold" grpId="3" nodeType="withEffect">
                                  <p:stCondLst>
                                    <p:cond delay="850"/>
                                  </p:stCondLst>
                                  <p:childTnLst>
                                    <p:animMotion origin="layout" path="M 0 0 L 0.0000 0.4827 L 0.2513 0.4827 L 0.2513 0.4093 L 0.3000 0.4093 E" pathEditMode="relative" ptsTypes="AAAAA">
                                      <p:cBhvr>
                                        <p:cTn id="143" dur="2000" fill="hold"/>
                                        <p:tgtEl>
                                          <p:spTgt spid="7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44" presetID="1" presetClass="exit" presetSubtype="0" fill="hold" grpId="1" nodeType="withEffect">
                                  <p:stCondLst>
                                    <p:cond delay="2850"/>
                                  </p:stCondLst>
                                  <p:childTnLst>
                                    <p:set>
                                      <p:cBhvr>
                                        <p:cTn id="1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6" presetID="1" presetClass="entr" presetSubtype="0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1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8" presetID="0" presetClass="path" presetSubtype="0" fill="hold" grpId="3" nodeType="withEffect">
                                  <p:stCondLst>
                                    <p:cond delay="1100"/>
                                  </p:stCondLst>
                                  <p:childTnLst>
                                    <p:animMotion origin="layout" path="M 0 0 L 0.0000 0.4827 L 0.2513 0.4827 L 0.2513 0.4093 L 0.3000 0.4093 E" pathEditMode="relative" ptsTypes="AAAAA">
                                      <p:cBhvr>
                                        <p:cTn id="149" dur="2000" fill="hold"/>
                                        <p:tgtEl>
                                          <p:spTgt spid="8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50" presetID="1" presetClass="exit" presetSubtype="0" fill="hold" grpId="1" nodeType="withEffect">
                                  <p:stCondLst>
                                    <p:cond delay="3100"/>
                                  </p:stCondLst>
                                  <p:childTnLst>
                                    <p:set>
                                      <p:cBhvr>
                                        <p:cTn id="1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2" presetID="1" presetClass="entr" presetSubtype="0" fill="hold" grpId="0" nodeType="withEffect">
                                  <p:stCondLst>
                                    <p:cond delay="1350"/>
                                  </p:stCondLst>
                                  <p:childTnLst>
                                    <p:set>
                                      <p:cBhvr>
                                        <p:cTn id="1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4" presetID="0" presetClass="path" presetSubtype="0" fill="hold" grpId="3" nodeType="withEffect">
                                  <p:stCondLst>
                                    <p:cond delay="1350"/>
                                  </p:stCondLst>
                                  <p:childTnLst>
                                    <p:animMotion origin="layout" path="M 0 0 L 0.0000 0.4827 L 0.2513 0.4827 L 0.2513 0.4093 L 0.3000 0.4093 E" pathEditMode="relative" ptsTypes="AAAAA">
                                      <p:cBhvr>
                                        <p:cTn id="155" dur="2000" fill="hold"/>
                                        <p:tgtEl>
                                          <p:spTgt spid="8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56" presetID="1" presetClass="exit" presetSubtype="0" fill="hold" grpId="1" nodeType="withEffect">
                                  <p:stCondLst>
                                    <p:cond delay="3350"/>
                                  </p:stCondLst>
                                  <p:childTnLst>
                                    <p:set>
                                      <p:cBhvr>
                                        <p:cTn id="1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8" fill="hold">
                            <p:stCondLst>
                              <p:cond delay="4800"/>
                            </p:stCondLst>
                            <p:childTnLst>
                              <p:par>
                                <p:cTn id="159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61" dur="6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2" fill="hold">
                      <p:stCondLst>
                        <p:cond delay="indefinite"/>
                      </p:stCondLst>
                      <p:childTnLst>
                        <p:par>
                          <p:cTn id="163" fill="hold">
                            <p:stCondLst>
                              <p:cond delay="0"/>
                            </p:stCondLst>
                            <p:childTnLst>
                              <p:par>
                                <p:cTn id="164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8" dur="3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9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70" dur="6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71" dur="1" fill="hold">
                                          <p:stCondLst>
                                            <p:cond delay="599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2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73" dur="6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74" dur="1" fill="hold">
                                          <p:stCondLst>
                                            <p:cond delay="599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7" dur="60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8" presetID="0" presetClass="path" presetSubtype="0" fill="hold" grpId="3" nodeType="with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0 0 L 0.0000 0.1267 E" pathEditMode="relative" ptsTypes="AA">
                                      <p:cBhvr>
                                        <p:cTn id="179" dur="12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80" presetID="10" presetClass="exit" presetSubtype="0" fill="hold" grpId="1" nodeType="withEffect">
                                  <p:stCondLst>
                                    <p:cond delay="12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81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82" dur="1" fill="hold">
                                          <p:stCondLst>
                                            <p:cond delay="3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3" presetID="0" presetClass="path" presetSubtype="0" fill="hold" grpId="3" nodeType="withEffect">
                                  <p:stCondLst>
                                    <p:cond delay="500"/>
                                  </p:stCondLst>
                                  <p:childTnLst>
                                    <p:animMotion origin="layout" path="M 0 0 L 0.0000 0.1267 E" pathEditMode="relative" ptsTypes="AA">
                                      <p:cBhvr>
                                        <p:cTn id="184" dur="12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85" presetID="10" presetClass="exit" presetSubtype="0" fill="hold" grpId="1" nodeType="withEffect">
                                  <p:stCondLst>
                                    <p:cond delay="14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86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87" dur="1" fill="hold">
                                          <p:stCondLst>
                                            <p:cond delay="399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8" presetID="0" presetClass="path" presetSubtype="0" fill="hold" grpId="3" nodeType="withEffect">
                                  <p:stCondLst>
                                    <p:cond delay="700"/>
                                  </p:stCondLst>
                                  <p:childTnLst>
                                    <p:animMotion origin="layout" path="M 0 0 L 0.0000 0.1267 E" pathEditMode="relative" ptsTypes="AA">
                                      <p:cBhvr>
                                        <p:cTn id="189" dur="12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90" presetID="10" presetClass="exit" presetSubtype="0" fill="hold" grpId="1" nodeType="withEffect">
                                  <p:stCondLst>
                                    <p:cond delay="16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91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92" dur="1" fill="hold">
                                          <p:stCondLst>
                                            <p:cond delay="39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3" fill="hold">
                            <p:stCondLst>
                              <p:cond delay="2000"/>
                            </p:stCondLst>
                            <p:childTnLst>
                              <p:par>
                                <p:cTn id="194" presetID="10" presetClass="exit" presetSubtype="0" fill="hold" grpId="1" nodeType="afterEffect">
                                  <p:stCondLst>
                                    <p:cond delay="4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95" dur="40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96" dur="1" fill="hold">
                                          <p:stCondLst>
                                            <p:cond delay="399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7" presetID="1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9" presetID="0" presetClass="path" presetSubtype="0" fill="hold" grpId="3" nodeType="withEffect">
                                  <p:stCondLst>
                                    <p:cond delay="400"/>
                                  </p:stCondLst>
                                  <p:childTnLst>
                                    <p:animMotion origin="layout" path="M 0 0 L 0.0000 0.2400 L 0.2513 0.2400 L 0.2513 0.1667 L 0.3000 0.1667 E" pathEditMode="relative" ptsTypes="AAAAA">
                                      <p:cBhvr>
                                        <p:cTn id="200" dur="1800" fill="hold"/>
                                        <p:tgtEl>
                                          <p:spTgt spid="8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01" presetID="1" presetClass="exit" presetSubtype="0" fill="hold" grpId="1" nodeType="withEffect">
                                  <p:stCondLst>
                                    <p:cond delay="2200"/>
                                  </p:stCondLst>
                                  <p:childTnLst>
                                    <p:set>
                                      <p:cBhvr>
                                        <p:cTn id="2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3" presetID="1" presetClass="entr" presetSubtype="0" fill="hold" grpId="0" nodeType="withEffect">
                                  <p:stCondLst>
                                    <p:cond delay="650"/>
                                  </p:stCondLst>
                                  <p:childTnLst>
                                    <p:set>
                                      <p:cBhvr>
                                        <p:cTn id="2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5" presetID="0" presetClass="path" presetSubtype="0" fill="hold" grpId="3" nodeType="withEffect">
                                  <p:stCondLst>
                                    <p:cond delay="650"/>
                                  </p:stCondLst>
                                  <p:childTnLst>
                                    <p:animMotion origin="layout" path="M 0 0 L 0.0000 0.2400 L 0.2513 0.2400 L 0.2513 0.1667 L 0.3000 0.1667 E" pathEditMode="relative" ptsTypes="AAAAA">
                                      <p:cBhvr>
                                        <p:cTn id="206" dur="1800" fill="hold"/>
                                        <p:tgtEl>
                                          <p:spTgt spid="8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07" presetID="1" presetClass="exit" presetSubtype="0" fill="hold" grpId="1" nodeType="withEffect">
                                  <p:stCondLst>
                                    <p:cond delay="2450"/>
                                  </p:stCondLst>
                                  <p:childTnLst>
                                    <p:set>
                                      <p:cBhvr>
                                        <p:cTn id="2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9" presetID="1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2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1" presetID="0" presetClass="path" presetSubtype="0" fill="hold" grpId="3" nodeType="withEffect">
                                  <p:stCondLst>
                                    <p:cond delay="900"/>
                                  </p:stCondLst>
                                  <p:childTnLst>
                                    <p:animMotion origin="layout" path="M 0 0 L 0.0000 0.2400 L 0.2513 0.2400 L 0.2513 0.1667 L 0.3000 0.1667 E" pathEditMode="relative" ptsTypes="AAAAA">
                                      <p:cBhvr>
                                        <p:cTn id="212" dur="1800" fill="hold"/>
                                        <p:tgtEl>
                                          <p:spTgt spid="8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13" presetID="1" presetClass="exit" presetSubtype="0" fill="hold" grpId="1" nodeType="withEffect">
                                  <p:stCondLst>
                                    <p:cond delay="2700"/>
                                  </p:stCondLst>
                                  <p:childTnLst>
                                    <p:set>
                                      <p:cBhvr>
                                        <p:cTn id="2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5" presetID="1" presetClass="entr" presetSubtype="0" fill="hold" grpId="0" nodeType="withEffect">
                                  <p:stCondLst>
                                    <p:cond delay="1150"/>
                                  </p:stCondLst>
                                  <p:childTnLst>
                                    <p:set>
                                      <p:cBhvr>
                                        <p:cTn id="2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7" presetID="0" presetClass="path" presetSubtype="0" fill="hold" grpId="3" nodeType="withEffect">
                                  <p:stCondLst>
                                    <p:cond delay="1150"/>
                                  </p:stCondLst>
                                  <p:childTnLst>
                                    <p:animMotion origin="layout" path="M 0 0 L 0.0000 0.2400 L 0.2513 0.2400 L 0.2513 0.1667 L 0.3000 0.1667 E" pathEditMode="relative" ptsTypes="AAAAA">
                                      <p:cBhvr>
                                        <p:cTn id="218" dur="1800" fill="hold"/>
                                        <p:tgtEl>
                                          <p:spTgt spid="8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19" presetID="1" presetClass="exit" presetSubtype="0" fill="hold" grpId="1" nodeType="withEffect">
                                  <p:stCondLst>
                                    <p:cond delay="2950"/>
                                  </p:stCondLst>
                                  <p:childTnLst>
                                    <p:set>
                                      <p:cBhvr>
                                        <p:cTn id="2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1" fill="hold">
                      <p:stCondLst>
                        <p:cond delay="indefinite"/>
                      </p:stCondLst>
                      <p:childTnLst>
                        <p:par>
                          <p:cTn id="222" fill="hold">
                            <p:stCondLst>
                              <p:cond delay="0"/>
                            </p:stCondLst>
                            <p:childTnLst>
                              <p:par>
                                <p:cTn id="223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7" dur="3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8" presetID="0" presetClass="path" presetSubtype="0" fill="hold" grpId="3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-0.1973 L 0.4050 -0.1973 E" pathEditMode="relative" ptsTypes="AAA">
                                      <p:cBhvr>
                                        <p:cTn id="229" dur="1800" fill="hold"/>
                                        <p:tgtEl>
                                          <p:spTgt spid="5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30" presetID="10" presetClass="exit" presetSubtype="0" fill="hold" grpId="1" nodeType="withEffect">
                                  <p:stCondLst>
                                    <p:cond delay="18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31" dur="4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32" dur="1" fill="hold">
                                          <p:stCondLst>
                                            <p:cond delay="399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3" presetID="0" presetClass="path" presetSubtype="0" fill="hold" grpId="3" nodeType="withEffect">
                                  <p:stCondLst>
                                    <p:cond delay="400"/>
                                  </p:stCondLst>
                                  <p:childTnLst>
                                    <p:animMotion origin="layout" path="M 0 0 L 0.0000 -0.2773 L 0.4050 -0.2773 E" pathEditMode="relative" ptsTypes="AAA">
                                      <p:cBhvr>
                                        <p:cTn id="234" dur="1800" fill="hold"/>
                                        <p:tgtEl>
                                          <p:spTgt spid="6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35" presetID="10" presetClass="exit" presetSubtype="0" fill="hold" grpId="1" nodeType="withEffect">
                                  <p:stCondLst>
                                    <p:cond delay="22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36" dur="4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37" dur="1" fill="hold">
                                          <p:stCondLst>
                                            <p:cond delay="399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8" presetID="6" presetClass="emph" presetSubtype="0" repeatCount="4000" fill="hold" grpId="2" nodeType="withEffect">
                                  <p:stCondLst>
                                    <p:cond delay="1700"/>
                                  </p:stCondLst>
                                  <p:childTnLst>
                                    <p:animScale>
                                      <p:cBhvr>
                                        <p:cTn id="239" dur="300" autoRev="1" fill="hold"/>
                                        <p:tgtEl>
                                          <p:spTgt spid="22"/>
                                        </p:tgtEl>
                                      </p:cBhvr>
                                      <p:by x="140000" y="140000"/>
                                    </p:animScale>
                                  </p:childTnLst>
                                </p:cTn>
                              </p:par>
                              <p:par>
                                <p:cTn id="240" presetID="6" presetClass="emph" presetSubtype="0" repeatCount="4000" fill="hold" grpId="2" nodeType="withEffect">
                                  <p:stCondLst>
                                    <p:cond delay="1700"/>
                                  </p:stCondLst>
                                  <p:childTnLst>
                                    <p:animScale>
                                      <p:cBhvr>
                                        <p:cTn id="241" dur="300" autoRev="1" fill="hold"/>
                                        <p:tgtEl>
                                          <p:spTgt spid="23"/>
                                        </p:tgtEl>
                                      </p:cBhvr>
                                      <p:by x="140000" y="140000"/>
                                    </p:animScale>
                                  </p:childTnLst>
                                </p:cTn>
                              </p:par>
                              <p:par>
                                <p:cTn id="242" presetID="1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2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4" presetID="0" presetClass="path" presetSubtype="0" fill="hold" grpId="3" nodeType="withEffect">
                                  <p:stCondLst>
                                    <p:cond delay="900"/>
                                  </p:stCondLst>
                                  <p:childTnLst>
                                    <p:animMotion origin="layout" path="M 0 0 L 0.0000 0.4027 L 0.2513 0.4027 L 0.2513 0.3293 L 0.3000 0.3293 E" pathEditMode="relative" ptsTypes="AAAAA">
                                      <p:cBhvr>
                                        <p:cTn id="245" dur="1800" fill="hold"/>
                                        <p:tgtEl>
                                          <p:spTgt spid="8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46" presetID="1" presetClass="exit" presetSubtype="0" fill="hold" grpId="1" nodeType="withEffect">
                                  <p:stCondLst>
                                    <p:cond delay="2700"/>
                                  </p:stCondLst>
                                  <p:childTnLst>
                                    <p:set>
                                      <p:cBhvr>
                                        <p:cTn id="2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8" presetID="1" presetClass="entr" presetSubtype="0" fill="hold" grpId="0" nodeType="withEffect">
                                  <p:stCondLst>
                                    <p:cond delay="1200"/>
                                  </p:stCondLst>
                                  <p:childTnLst>
                                    <p:set>
                                      <p:cBhvr>
                                        <p:cTn id="2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0" presetID="0" presetClass="path" presetSubtype="0" fill="hold" grpId="3" nodeType="withEffect">
                                  <p:stCondLst>
                                    <p:cond delay="1200"/>
                                  </p:stCondLst>
                                  <p:childTnLst>
                                    <p:animMotion origin="layout" path="M 0 0 L 0.0000 0.4027 L 0.2513 0.4027 L 0.2513 0.3293 L 0.3000 0.3293 E" pathEditMode="relative" ptsTypes="AAAAA">
                                      <p:cBhvr>
                                        <p:cTn id="251" dur="1800" fill="hold"/>
                                        <p:tgtEl>
                                          <p:spTgt spid="8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52" presetID="1" presetClass="exit" presetSubtype="0" fill="hold" grpId="1" nodeType="withEffect">
                                  <p:stCondLst>
                                    <p:cond delay="3000"/>
                                  </p:stCondLst>
                                  <p:childTnLst>
                                    <p:set>
                                      <p:cBhvr>
                                        <p:cTn id="2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4" fill="hold">
                      <p:stCondLst>
                        <p:cond delay="indefinite"/>
                      </p:stCondLst>
                      <p:childTnLst>
                        <p:par>
                          <p:cTn id="255" fill="hold">
                            <p:stCondLst>
                              <p:cond delay="0"/>
                            </p:stCondLst>
                            <p:childTnLst>
                              <p:par>
                                <p:cTn id="256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0" dur="3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1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62" dur="1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63" dur="1" fill="hold">
                                          <p:stCondLst>
                                            <p:cond delay="13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6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66" presetID="0" presetClass="path" presetSubtype="0" fill="hold" grpId="3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0.1133 L 0.2513 0.1133 L 0.2513 0.0400 L 0.3000 0.0400 E" pathEditMode="relative" ptsTypes="AAAAA">
                                      <p:cBhvr>
                                        <p:cTn id="267" dur="1600" fill="hold"/>
                                        <p:tgtEl>
                                          <p:spTgt spid="8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68" presetID="1" presetClass="exit" presetSubtype="0" fill="hold" grpId="1" nodeType="withEffect">
                                  <p:stCondLst>
                                    <p:cond delay="1600"/>
                                  </p:stCondLst>
                                  <p:childTnLst>
                                    <p:set>
                                      <p:cBhvr>
                                        <p:cTn id="2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0" presetID="1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2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2" presetID="0" presetClass="path" presetSubtype="0" fill="hold" grpId="3" nodeType="with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0 0 L 0.0000 0.1133 L 0.2513 0.1133 L 0.2513 0.0400 L 0.3000 0.0400 E" pathEditMode="relative" ptsTypes="AAAAA">
                                      <p:cBhvr>
                                        <p:cTn id="273" dur="1600" fill="hold"/>
                                        <p:tgtEl>
                                          <p:spTgt spid="8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74" presetID="1" presetClass="exit" presetSubtype="0" fill="hold" grpId="1" nodeType="withEffect">
                                  <p:stCondLst>
                                    <p:cond delay="1900"/>
                                  </p:stCondLst>
                                  <p:childTnLst>
                                    <p:set>
                                      <p:cBhvr>
                                        <p:cTn id="2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6" presetID="1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2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8" presetID="0" presetClass="path" presetSubtype="0" fill="hold" grpId="3" nodeType="withEffect">
                                  <p:stCondLst>
                                    <p:cond delay="600"/>
                                  </p:stCondLst>
                                  <p:childTnLst>
                                    <p:animMotion origin="layout" path="M 0 0 L 0.0000 0.1133 L 0.2513 0.1133 L 0.2513 0.0400 L 0.3000 0.0400 E" pathEditMode="relative" ptsTypes="AAAAA">
                                      <p:cBhvr>
                                        <p:cTn id="279" dur="1600" fill="hold"/>
                                        <p:tgtEl>
                                          <p:spTgt spid="9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80" presetID="1" presetClass="exit" presetSubtype="0" fill="hold" grpId="1" nodeType="withEffect">
                                  <p:stCondLst>
                                    <p:cond delay="2200"/>
                                  </p:stCondLst>
                                  <p:childTnLst>
                                    <p:set>
                                      <p:cBhvr>
                                        <p:cTn id="2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82" presetID="1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2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84" presetID="0" presetClass="path" presetSubtype="0" fill="hold" grpId="3" nodeType="withEffect">
                                  <p:stCondLst>
                                    <p:cond delay="900"/>
                                  </p:stCondLst>
                                  <p:childTnLst>
                                    <p:animMotion origin="layout" path="M 0 0 L 0.0000 0.1133 L 0.2513 0.1133 L 0.2513 0.0400 L 0.3000 0.0400 E" pathEditMode="relative" ptsTypes="AAAAA">
                                      <p:cBhvr>
                                        <p:cTn id="285" dur="1600" fill="hold"/>
                                        <p:tgtEl>
                                          <p:spTgt spid="9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86" presetID="1" presetClass="exit" presetSubtype="0" fill="hold" grpId="1" nodeType="withEffect">
                                  <p:stCondLst>
                                    <p:cond delay="2500"/>
                                  </p:stCondLst>
                                  <p:childTnLst>
                                    <p:set>
                                      <p:cBhvr>
                                        <p:cTn id="2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8" fill="hold">
                            <p:stCondLst>
                              <p:cond delay="3000"/>
                            </p:stCondLst>
                            <p:childTnLst>
                              <p:par>
                                <p:cTn id="289" presetID="10" presetClass="exit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90" dur="12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91" dur="1" fill="hold">
                                          <p:stCondLst>
                                            <p:cond delay="119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2" fill="hold">
                            <p:stCondLst>
                              <p:cond delay="4200"/>
                            </p:stCondLst>
                            <p:childTnLst>
                              <p:par>
                                <p:cTn id="293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5" presetID="0" presetClass="path" presetSubtype="0" fill="hold" grpId="3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0.4467 E" pathEditMode="relative" ptsTypes="AA">
                                      <p:cBhvr>
                                        <p:cTn id="296" dur="1100" fill="hold"/>
                                        <p:tgtEl>
                                          <p:spTgt spid="9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97" presetID="10" presetClass="exit" presetSubtype="0" fill="hold" grpId="1" nodeType="withEffect">
                                  <p:stCondLst>
                                    <p:cond delay="10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98" dur="300"/>
                                        <p:tgtEl>
                                          <p:spTgt spid="9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99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00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02" dur="7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3" fill="hold">
                      <p:stCondLst>
                        <p:cond delay="indefinite"/>
                      </p:stCondLst>
                      <p:childTnLst>
                        <p:par>
                          <p:cTn id="304" fill="hold">
                            <p:stCondLst>
                              <p:cond delay="0"/>
                            </p:stCondLst>
                            <p:childTnLst>
                              <p:par>
                                <p:cTn id="305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0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9" dur="3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0" presetID="1" presetClass="exit" presetSubtype="0" fill="hold" grpId="1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3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2" presetID="53" presetClass="entr" presetSubtype="16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3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14" dur="40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15" dur="40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16" dur="4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7" presetID="1" presetClass="exit" presetSubtype="0" fill="hold" grpId="1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3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9" presetID="53" presetClass="entr" presetSubtype="16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3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21" dur="40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22" dur="40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23" dur="4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4" presetID="1" presetClass="exit" presetSubtype="0" fill="hold" grpId="1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3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26" presetID="53" presetClass="entr" presetSubtype="16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3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28" dur="400" fill="hold"/>
                                        <p:tgtEl>
                                          <p:spTgt spid="4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29" dur="400" fill="hold"/>
                                        <p:tgtEl>
                                          <p:spTgt spid="4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30" dur="4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1" fill="hold">
                            <p:stCondLst>
                              <p:cond delay="2000"/>
                            </p:stCondLst>
                            <p:childTnLst>
                              <p:par>
                                <p:cTn id="332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34" dur="500" fill="hold"/>
                                        <p:tgtEl>
                                          <p:spTgt spid="9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35" dur="500" fill="hold"/>
                                        <p:tgtEl>
                                          <p:spTgt spid="9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36" dur="500"/>
                                        <p:tgtEl>
                                          <p:spTgt spid="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7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39" dur="500" fill="hold"/>
                                        <p:tgtEl>
                                          <p:spTgt spid="9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0" dur="500" fill="hold"/>
                                        <p:tgtEl>
                                          <p:spTgt spid="9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41" dur="500"/>
                                        <p:tgtEl>
                                          <p:spTgt spid="9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2" fill="hold">
                            <p:stCondLst>
                              <p:cond delay="2500"/>
                            </p:stCondLst>
                            <p:childTnLst>
                              <p:par>
                                <p:cTn id="343" presetID="6" presetClass="emph" presetSubtype="0" repeatCount="2000" fill="hold" grpId="2" nodeType="after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344" dur="400" autoRev="1" fill="hold"/>
                                        <p:tgtEl>
                                          <p:spTgt spid="93"/>
                                        </p:tgtEl>
                                      </p:cBhvr>
                                      <p:by x="108000" y="108000"/>
                                    </p:animScale>
                                  </p:childTnLst>
                                </p:cTn>
                              </p:par>
                              <p:par>
                                <p:cTn id="345" presetID="6" presetClass="emph" presetSubtype="0" repeatCount="200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346" dur="400" autoRev="1" fill="hold"/>
                                        <p:tgtEl>
                                          <p:spTgt spid="94"/>
                                        </p:tgtEl>
                                      </p:cBhvr>
                                      <p:by x="108000" y="108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9" grpId="0" animBg="1"/>
      <p:bldP spid="50" grpId="0" animBg="1"/>
      <p:bldP spid="61" grpId="2" animBg="1"/>
      <p:bldP spid="50" grpId="1" animBg="1"/>
      <p:bldP spid="51" grpId="0" animBg="1"/>
      <p:bldP spid="35" grpId="0" animBg="1"/>
      <p:bldP spid="65" grpId="0" animBg="1"/>
      <p:bldP spid="65" grpId="3" animBg="1"/>
      <p:bldP spid="65" grpId="1" animBg="1"/>
      <p:bldP spid="66" grpId="0" animBg="1"/>
      <p:bldP spid="66" grpId="3" animBg="1"/>
      <p:bldP spid="66" grpId="1" animBg="1"/>
      <p:bldP spid="67" grpId="0" animBg="1"/>
      <p:bldP spid="67" grpId="3" animBg="1"/>
      <p:bldP spid="67" grpId="1" animBg="1"/>
      <p:bldP spid="68" grpId="0" animBg="1"/>
      <p:bldP spid="68" grpId="3" animBg="1"/>
      <p:bldP spid="68" grpId="1" animBg="1"/>
      <p:bldP spid="69" grpId="0" animBg="1"/>
      <p:bldP spid="69" grpId="3" animBg="1"/>
      <p:bldP spid="69" grpId="1" animBg="1"/>
      <p:bldP spid="70" grpId="0" animBg="1"/>
      <p:bldP spid="70" grpId="3" animBg="1"/>
      <p:bldP spid="70" grpId="1" animBg="1"/>
      <p:bldP spid="71" grpId="0" animBg="1"/>
      <p:bldP spid="71" grpId="3" animBg="1"/>
      <p:bldP spid="71" grpId="1" animBg="1"/>
      <p:bldP spid="51" grpId="1" animBg="1"/>
      <p:bldP spid="52" grpId="0" animBg="1"/>
      <p:bldP spid="37" grpId="0" animBg="1"/>
      <p:bldP spid="72" grpId="0" animBg="1"/>
      <p:bldP spid="72" grpId="3" animBg="1"/>
      <p:bldP spid="72" grpId="1" animBg="1"/>
      <p:bldP spid="73" grpId="0" animBg="1"/>
      <p:bldP spid="73" grpId="3" animBg="1"/>
      <p:bldP spid="73" grpId="1" animBg="1"/>
      <p:bldP spid="74" grpId="0" animBg="1"/>
      <p:bldP spid="74" grpId="3" animBg="1"/>
      <p:bldP spid="74" grpId="1" animBg="1"/>
      <p:bldP spid="75" grpId="0" animBg="1"/>
      <p:bldP spid="75" grpId="3" animBg="1"/>
      <p:bldP spid="75" grpId="1" animBg="1"/>
      <p:bldP spid="76" grpId="0" animBg="1"/>
      <p:bldP spid="76" grpId="3" animBg="1"/>
      <p:bldP spid="76" grpId="1" animBg="1"/>
      <p:bldP spid="77" grpId="0" animBg="1"/>
      <p:bldP spid="77" grpId="3" animBg="1"/>
      <p:bldP spid="77" grpId="1" animBg="1"/>
      <p:bldP spid="7" grpId="1" animBg="1"/>
      <p:bldP spid="52" grpId="1" animBg="1"/>
      <p:bldP spid="53" grpId="0" animBg="1"/>
      <p:bldP spid="58" grpId="2" animBg="1"/>
      <p:bldP spid="58" grpId="1" animBg="1"/>
      <p:bldP spid="63" grpId="0" animBg="1"/>
      <p:bldP spid="63" grpId="1" animBg="1"/>
      <p:bldP spid="78" grpId="0" animBg="1"/>
      <p:bldP spid="78" grpId="3" animBg="1"/>
      <p:bldP spid="78" grpId="1" animBg="1"/>
      <p:bldP spid="79" grpId="0" animBg="1"/>
      <p:bldP spid="79" grpId="3" animBg="1"/>
      <p:bldP spid="79" grpId="1" animBg="1"/>
      <p:bldP spid="80" grpId="0" animBg="1"/>
      <p:bldP spid="80" grpId="3" animBg="1"/>
      <p:bldP spid="80" grpId="1" animBg="1"/>
      <p:bldP spid="81" grpId="0" animBg="1"/>
      <p:bldP spid="81" grpId="3" animBg="1"/>
      <p:bldP spid="81" grpId="1" animBg="1"/>
      <p:bldP spid="31" grpId="0" animBg="1"/>
      <p:bldP spid="53" grpId="1" animBg="1"/>
      <p:bldP spid="54" grpId="0" animBg="1"/>
      <p:bldP spid="61" grpId="1" animBg="1"/>
      <p:bldP spid="62" grpId="1" animBg="1"/>
      <p:bldP spid="64" grpId="0" animBg="1"/>
      <p:bldP spid="8" grpId="3" animBg="1"/>
      <p:bldP spid="8" grpId="1" animBg="1"/>
      <p:bldP spid="9" grpId="3" animBg="1"/>
      <p:bldP spid="9" grpId="1" animBg="1"/>
      <p:bldP spid="10" grpId="3" animBg="1"/>
      <p:bldP spid="10" grpId="1" animBg="1"/>
      <p:bldP spid="64" grpId="1" animBg="1"/>
      <p:bldP spid="82" grpId="0" animBg="1"/>
      <p:bldP spid="82" grpId="3" animBg="1"/>
      <p:bldP spid="82" grpId="1" animBg="1"/>
      <p:bldP spid="83" grpId="0" animBg="1"/>
      <p:bldP spid="83" grpId="3" animBg="1"/>
      <p:bldP spid="83" grpId="1" animBg="1"/>
      <p:bldP spid="84" grpId="0" animBg="1"/>
      <p:bldP spid="84" grpId="3" animBg="1"/>
      <p:bldP spid="84" grpId="1" animBg="1"/>
      <p:bldP spid="85" grpId="0" animBg="1"/>
      <p:bldP spid="85" grpId="3" animBg="1"/>
      <p:bldP spid="85" grpId="1" animBg="1"/>
      <p:bldP spid="54" grpId="1" animBg="1"/>
      <p:bldP spid="55" grpId="0" animBg="1"/>
      <p:bldP spid="59" grpId="3" animBg="1"/>
      <p:bldP spid="59" grpId="1" animBg="1"/>
      <p:bldP spid="60" grpId="3" animBg="1"/>
      <p:bldP spid="60" grpId="1" animBg="1"/>
      <p:bldP spid="22" grpId="2" animBg="1"/>
      <p:bldP spid="23" grpId="2" animBg="1"/>
      <p:bldP spid="86" grpId="0" animBg="1"/>
      <p:bldP spid="86" grpId="3" animBg="1"/>
      <p:bldP spid="86" grpId="1" animBg="1"/>
      <p:bldP spid="87" grpId="0" animBg="1"/>
      <p:bldP spid="87" grpId="3" animBg="1"/>
      <p:bldP spid="87" grpId="1" animBg="1"/>
      <p:bldP spid="55" grpId="1" animBg="1"/>
      <p:bldP spid="56" grpId="0" animBg="1"/>
      <p:bldP spid="6" grpId="1" animBg="1"/>
      <p:bldP spid="88" grpId="0" animBg="1"/>
      <p:bldP spid="88" grpId="3" animBg="1"/>
      <p:bldP spid="88" grpId="1" animBg="1"/>
      <p:bldP spid="89" grpId="0" animBg="1"/>
      <p:bldP spid="89" grpId="3" animBg="1"/>
      <p:bldP spid="89" grpId="1" animBg="1"/>
      <p:bldP spid="90" grpId="0" animBg="1"/>
      <p:bldP spid="90" grpId="3" animBg="1"/>
      <p:bldP spid="90" grpId="1" animBg="1"/>
      <p:bldP spid="91" grpId="0" animBg="1"/>
      <p:bldP spid="91" grpId="3" animBg="1"/>
      <p:bldP spid="91" grpId="1" animBg="1"/>
      <p:bldP spid="5" grpId="1" animBg="1"/>
      <p:bldP spid="92" grpId="0" animBg="1"/>
      <p:bldP spid="92" grpId="3" animBg="1"/>
      <p:bldP spid="92" grpId="1" animBg="1"/>
      <p:bldP spid="32" grpId="0" animBg="1"/>
      <p:bldP spid="56" grpId="1" animBg="1"/>
      <p:bldP spid="57" grpId="0" animBg="1"/>
      <p:bldP spid="41" grpId="1" animBg="1"/>
      <p:bldP spid="42" grpId="0" animBg="1"/>
      <p:bldP spid="44" grpId="1" animBg="1"/>
      <p:bldP spid="45" grpId="0" animBg="1"/>
      <p:bldP spid="47" grpId="1" animBg="1"/>
      <p:bldP spid="48" grpId="0" animBg="1"/>
      <p:bldP spid="93" grpId="0" animBg="1"/>
      <p:bldP spid="94" grpId="0" animBg="1"/>
      <p:bldP spid="93" grpId="2" animBg="1"/>
      <p:bldP spid="94" grpId="2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47472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5F8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Boil-out – vessels with sludge</a:t>
            </a:r>
            <a:endParaRPr lang="en-US" sz="2800" dirty="0"/>
          </a:p>
        </p:txBody>
      </p:sp>
      <p:sp>
        <p:nvSpPr>
          <p:cNvPr id="3" name="s307"/>
          <p:cNvSpPr/>
          <p:nvPr/>
        </p:nvSpPr>
        <p:spPr>
          <a:xfrm>
            <a:off x="3931920" y="2011680"/>
            <a:ext cx="5486400" cy="2194560"/>
          </a:xfrm>
          <a:prstGeom prst="roundRect">
            <a:avLst>
              <a:gd name="adj" fmla="val 50000"/>
            </a:avLst>
          </a:prstGeom>
          <a:solidFill>
            <a:srgbClr val="BFDDF2"/>
          </a:solidFill>
          <a:ln w="25400">
            <a:solidFill>
              <a:srgbClr val="0C74BC"/>
            </a:solidFill>
            <a:prstDash val="solid"/>
          </a:ln>
        </p:spPr>
      </p:sp>
      <p:sp>
        <p:nvSpPr>
          <p:cNvPr id="4" name="s308"/>
          <p:cNvSpPr/>
          <p:nvPr/>
        </p:nvSpPr>
        <p:spPr>
          <a:xfrm>
            <a:off x="4590288" y="2275027"/>
            <a:ext cx="987552" cy="1667866"/>
          </a:xfrm>
          <a:prstGeom prst="roundRect">
            <a:avLst>
              <a:gd name="adj" fmla="val 50000"/>
            </a:avLst>
          </a:prstGeom>
          <a:solidFill>
            <a:srgbClr val="E3F0FA"/>
          </a:solidFill>
          <a:ln/>
        </p:spPr>
      </p:sp>
      <p:sp>
        <p:nvSpPr>
          <p:cNvPr id="5" name="s309"/>
          <p:cNvSpPr/>
          <p:nvPr/>
        </p:nvSpPr>
        <p:spPr>
          <a:xfrm>
            <a:off x="3931920" y="2011680"/>
            <a:ext cx="5486400" cy="2194560"/>
          </a:xfrm>
          <a:prstGeom prst="roundRect">
            <a:avLst>
              <a:gd name="adj" fmla="val 50000"/>
            </a:avLst>
          </a:prstGeom>
          <a:solidFill>
            <a:srgbClr val="A08467"/>
          </a:solidFill>
          <a:ln w="25400">
            <a:solidFill>
              <a:srgbClr val="94A3B8"/>
            </a:solidFill>
            <a:prstDash val="solid"/>
          </a:ln>
        </p:spPr>
      </p:sp>
      <p:sp>
        <p:nvSpPr>
          <p:cNvPr id="6" name="s310"/>
          <p:cNvSpPr/>
          <p:nvPr/>
        </p:nvSpPr>
        <p:spPr>
          <a:xfrm>
            <a:off x="3931920" y="2011680"/>
            <a:ext cx="5486400" cy="2194560"/>
          </a:xfrm>
          <a:prstGeom prst="roundRect">
            <a:avLst>
              <a:gd name="adj" fmla="val 50000"/>
            </a:avLst>
          </a:prstGeom>
          <a:solidFill>
            <a:srgbClr val="7A5C3E"/>
          </a:solidFill>
          <a:ln w="25400">
            <a:solidFill>
              <a:srgbClr val="94A3B8"/>
            </a:solidFill>
            <a:prstDash val="solid"/>
          </a:ln>
        </p:spPr>
      </p:sp>
      <p:sp>
        <p:nvSpPr>
          <p:cNvPr id="7" name="s311"/>
          <p:cNvSpPr/>
          <p:nvPr/>
        </p:nvSpPr>
        <p:spPr>
          <a:xfrm>
            <a:off x="3931920" y="2011680"/>
            <a:ext cx="5486400" cy="2194560"/>
          </a:xfrm>
          <a:prstGeom prst="roundRect">
            <a:avLst>
              <a:gd name="adj" fmla="val 50000"/>
            </a:avLst>
          </a:prstGeom>
          <a:solidFill>
            <a:srgbClr val="5C4630"/>
          </a:solidFill>
          <a:ln w="25400">
            <a:solidFill>
              <a:srgbClr val="94A3B8"/>
            </a:solidFill>
            <a:prstDash val="solid"/>
          </a:ln>
        </p:spPr>
      </p:sp>
      <p:sp>
        <p:nvSpPr>
          <p:cNvPr id="8" name="s312"/>
          <p:cNvSpPr/>
          <p:nvPr/>
        </p:nvSpPr>
        <p:spPr>
          <a:xfrm>
            <a:off x="6949440" y="2406701"/>
            <a:ext cx="91440" cy="526694"/>
          </a:xfrm>
          <a:prstGeom prst="roundRect">
            <a:avLst>
              <a:gd name="adj" fmla="val 50000"/>
            </a:avLst>
          </a:prstGeom>
          <a:solidFill>
            <a:srgbClr val="3E2F20"/>
          </a:solidFill>
          <a:ln/>
        </p:spPr>
      </p:sp>
      <p:sp>
        <p:nvSpPr>
          <p:cNvPr id="9" name="s313"/>
          <p:cNvSpPr/>
          <p:nvPr/>
        </p:nvSpPr>
        <p:spPr>
          <a:xfrm>
            <a:off x="7882128" y="3065069"/>
            <a:ext cx="91440" cy="438912"/>
          </a:xfrm>
          <a:prstGeom prst="roundRect">
            <a:avLst>
              <a:gd name="adj" fmla="val 50000"/>
            </a:avLst>
          </a:prstGeom>
          <a:solidFill>
            <a:srgbClr val="3E2F20"/>
          </a:solidFill>
          <a:ln/>
        </p:spPr>
      </p:sp>
      <p:sp>
        <p:nvSpPr>
          <p:cNvPr id="10" name="s314"/>
          <p:cNvSpPr/>
          <p:nvPr/>
        </p:nvSpPr>
        <p:spPr>
          <a:xfrm>
            <a:off x="6236208" y="3460090"/>
            <a:ext cx="91440" cy="351130"/>
          </a:xfrm>
          <a:prstGeom prst="roundRect">
            <a:avLst>
              <a:gd name="adj" fmla="val 50000"/>
            </a:avLst>
          </a:prstGeom>
          <a:solidFill>
            <a:srgbClr val="3E2F20"/>
          </a:solidFill>
          <a:ln/>
        </p:spPr>
      </p:sp>
      <p:sp>
        <p:nvSpPr>
          <p:cNvPr id="11" name="s315"/>
          <p:cNvSpPr/>
          <p:nvPr/>
        </p:nvSpPr>
        <p:spPr>
          <a:xfrm>
            <a:off x="4480560" y="3657600"/>
            <a:ext cx="4389120" cy="384048"/>
          </a:xfrm>
          <a:prstGeom prst="rect">
            <a:avLst/>
          </a:prstGeom>
          <a:solidFill>
            <a:srgbClr val="5C4630"/>
          </a:solidFill>
          <a:ln/>
        </p:spPr>
      </p:sp>
      <p:sp>
        <p:nvSpPr>
          <p:cNvPr id="12" name="s316"/>
          <p:cNvSpPr/>
          <p:nvPr/>
        </p:nvSpPr>
        <p:spPr>
          <a:xfrm>
            <a:off x="4251960" y="2697480"/>
            <a:ext cx="4846320" cy="960120"/>
          </a:xfrm>
          <a:prstGeom prst="roundRect">
            <a:avLst>
              <a:gd name="adj" fmla="val 28571"/>
            </a:avLst>
          </a:prstGeom>
          <a:solidFill>
            <a:srgbClr val="BFDDF2">
              <a:alpha val="85000"/>
            </a:srgbClr>
          </a:solidFill>
          <a:ln/>
        </p:spPr>
      </p:sp>
      <p:sp>
        <p:nvSpPr>
          <p:cNvPr id="13" name="t317"/>
          <p:cNvSpPr txBox="1"/>
          <p:nvPr/>
        </p:nvSpPr>
        <p:spPr>
          <a:xfrm>
            <a:off x="3931920" y="4224528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5B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Vessel / drum</a:t>
            </a:r>
            <a:endParaRPr lang="en-US" sz="1100" dirty="0"/>
          </a:p>
        </p:txBody>
      </p:sp>
      <p:sp>
        <p:nvSpPr>
          <p:cNvPr id="14" name="s318"/>
          <p:cNvSpPr/>
          <p:nvPr/>
        </p:nvSpPr>
        <p:spPr>
          <a:xfrm flipV="1">
            <a:off x="8595360" y="1417320"/>
            <a:ext cx="0" cy="594360"/>
          </a:xfrm>
          <a:prstGeom prst="line">
            <a:avLst/>
          </a:prstGeom>
          <a:noFill/>
          <a:ln w="38100">
            <a:solidFill>
              <a:srgbClr val="94A3B8"/>
            </a:solidFill>
            <a:prstDash val="solid"/>
          </a:ln>
        </p:spPr>
      </p:sp>
      <p:sp>
        <p:nvSpPr>
          <p:cNvPr id="15" name="s319"/>
          <p:cNvSpPr/>
          <p:nvPr/>
        </p:nvSpPr>
        <p:spPr>
          <a:xfrm>
            <a:off x="8595360" y="1417320"/>
            <a:ext cx="2011680" cy="0"/>
          </a:xfrm>
          <a:prstGeom prst="line">
            <a:avLst/>
          </a:prstGeom>
          <a:noFill/>
          <a:ln w="38100">
            <a:solidFill>
              <a:srgbClr val="94A3B8"/>
            </a:solidFill>
            <a:prstDash val="solid"/>
            <a:tailEnd type="triangle"/>
          </a:ln>
        </p:spPr>
      </p:sp>
      <p:sp>
        <p:nvSpPr>
          <p:cNvPr id="16" name="s320"/>
          <p:cNvSpPr/>
          <p:nvPr/>
        </p:nvSpPr>
        <p:spPr>
          <a:xfrm>
            <a:off x="10607040" y="1143000"/>
            <a:ext cx="182880" cy="1188720"/>
          </a:xfrm>
          <a:prstGeom prst="rect">
            <a:avLst/>
          </a:prstGeom>
          <a:solidFill>
            <a:srgbClr val="B4C2D3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17" name="s321"/>
          <p:cNvSpPr/>
          <p:nvPr/>
        </p:nvSpPr>
        <p:spPr>
          <a:xfrm>
            <a:off x="10479024" y="640080"/>
            <a:ext cx="438912" cy="548640"/>
          </a:xfrm>
          <a:prstGeom prst="ellipse">
            <a:avLst/>
          </a:prstGeom>
          <a:solidFill>
            <a:srgbClr val="F7C548"/>
          </a:solidFill>
          <a:ln/>
        </p:spPr>
      </p:sp>
      <p:sp>
        <p:nvSpPr>
          <p:cNvPr id="18" name="s322"/>
          <p:cNvSpPr/>
          <p:nvPr/>
        </p:nvSpPr>
        <p:spPr>
          <a:xfrm>
            <a:off x="10570464" y="850392"/>
            <a:ext cx="256032" cy="329184"/>
          </a:xfrm>
          <a:prstGeom prst="ellipse">
            <a:avLst/>
          </a:prstGeom>
          <a:solidFill>
            <a:srgbClr val="FF8C1A"/>
          </a:solidFill>
          <a:ln/>
        </p:spPr>
      </p:sp>
      <p:sp>
        <p:nvSpPr>
          <p:cNvPr id="19" name="t323"/>
          <p:cNvSpPr txBox="1"/>
          <p:nvPr/>
        </p:nvSpPr>
        <p:spPr>
          <a:xfrm>
            <a:off x="10149840" y="237744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B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FLARE /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5B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CLOSED VENT</a:t>
            </a:r>
            <a:endParaRPr lang="en-US" sz="1100" dirty="0"/>
          </a:p>
        </p:txBody>
      </p:sp>
      <p:sp>
        <p:nvSpPr>
          <p:cNvPr id="20" name="t324"/>
          <p:cNvSpPr txBox="1"/>
          <p:nvPr/>
        </p:nvSpPr>
        <p:spPr>
          <a:xfrm>
            <a:off x="10561320" y="452628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C74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STEAM</a:t>
            </a:r>
            <a:endParaRPr lang="en-US" sz="1200" dirty="0"/>
          </a:p>
        </p:txBody>
      </p:sp>
      <p:sp>
        <p:nvSpPr>
          <p:cNvPr id="21" name="s325"/>
          <p:cNvSpPr/>
          <p:nvPr/>
        </p:nvSpPr>
        <p:spPr>
          <a:xfrm flipH="1">
            <a:off x="5669280" y="4846320"/>
            <a:ext cx="5669280" cy="0"/>
          </a:xfrm>
          <a:prstGeom prst="line">
            <a:avLst/>
          </a:prstGeom>
          <a:noFill/>
          <a:ln w="63500">
            <a:solidFill>
              <a:srgbClr val="0C74BC"/>
            </a:solidFill>
            <a:prstDash val="solid"/>
          </a:ln>
        </p:spPr>
      </p:sp>
      <p:sp>
        <p:nvSpPr>
          <p:cNvPr id="22" name="s326"/>
          <p:cNvSpPr/>
          <p:nvPr/>
        </p:nvSpPr>
        <p:spPr>
          <a:xfrm flipV="1">
            <a:off x="5669280" y="4206240"/>
            <a:ext cx="0" cy="640080"/>
          </a:xfrm>
          <a:prstGeom prst="line">
            <a:avLst/>
          </a:prstGeom>
          <a:noFill/>
          <a:ln w="50800">
            <a:solidFill>
              <a:srgbClr val="0C74BC"/>
            </a:solidFill>
            <a:prstDash val="solid"/>
            <a:tailEnd type="triangle"/>
          </a:ln>
        </p:spPr>
      </p:sp>
      <p:sp>
        <p:nvSpPr>
          <p:cNvPr id="23" name="s327"/>
          <p:cNvSpPr/>
          <p:nvPr/>
        </p:nvSpPr>
        <p:spPr>
          <a:xfrm flipV="1">
            <a:off x="6675120" y="4206240"/>
            <a:ext cx="0" cy="640080"/>
          </a:xfrm>
          <a:prstGeom prst="line">
            <a:avLst/>
          </a:prstGeom>
          <a:noFill/>
          <a:ln w="50800">
            <a:solidFill>
              <a:srgbClr val="0C74BC"/>
            </a:solidFill>
            <a:prstDash val="solid"/>
            <a:tailEnd type="triangle"/>
          </a:ln>
        </p:spPr>
      </p:sp>
      <p:sp>
        <p:nvSpPr>
          <p:cNvPr id="24" name="s328"/>
          <p:cNvSpPr/>
          <p:nvPr/>
        </p:nvSpPr>
        <p:spPr>
          <a:xfrm flipV="1">
            <a:off x="7680960" y="4206240"/>
            <a:ext cx="0" cy="640080"/>
          </a:xfrm>
          <a:prstGeom prst="line">
            <a:avLst/>
          </a:prstGeom>
          <a:noFill/>
          <a:ln w="50800">
            <a:solidFill>
              <a:srgbClr val="0C74BC"/>
            </a:solidFill>
            <a:prstDash val="solid"/>
            <a:tailEnd type="triangle"/>
          </a:ln>
        </p:spPr>
      </p:sp>
      <p:sp>
        <p:nvSpPr>
          <p:cNvPr id="25" name="t329"/>
          <p:cNvSpPr txBox="1"/>
          <p:nvPr/>
        </p:nvSpPr>
        <p:spPr>
          <a:xfrm>
            <a:off x="8503920" y="544068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2E8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DECON CHEMISTRY</a:t>
            </a:r>
            <a:endParaRPr lang="en-US" sz="1200" dirty="0"/>
          </a:p>
        </p:txBody>
      </p:sp>
      <p:sp>
        <p:nvSpPr>
          <p:cNvPr id="26" name="s330"/>
          <p:cNvSpPr/>
          <p:nvPr/>
        </p:nvSpPr>
        <p:spPr>
          <a:xfrm flipV="1">
            <a:off x="9692640" y="4846320"/>
            <a:ext cx="0" cy="548640"/>
          </a:xfrm>
          <a:prstGeom prst="line">
            <a:avLst/>
          </a:prstGeom>
          <a:noFill/>
          <a:ln w="63500">
            <a:solidFill>
              <a:srgbClr val="3AB54A"/>
            </a:solidFill>
            <a:prstDash val="solid"/>
            <a:tailEnd type="triangle"/>
          </a:ln>
        </p:spPr>
      </p:sp>
      <p:sp>
        <p:nvSpPr>
          <p:cNvPr id="27" name="s331"/>
          <p:cNvSpPr/>
          <p:nvPr/>
        </p:nvSpPr>
        <p:spPr>
          <a:xfrm>
            <a:off x="5120640" y="4206240"/>
            <a:ext cx="0" cy="868680"/>
          </a:xfrm>
          <a:prstGeom prst="line">
            <a:avLst/>
          </a:prstGeom>
          <a:noFill/>
          <a:ln w="38100">
            <a:solidFill>
              <a:srgbClr val="94A3B8"/>
            </a:solidFill>
            <a:prstDash val="solid"/>
          </a:ln>
        </p:spPr>
      </p:sp>
      <p:sp>
        <p:nvSpPr>
          <p:cNvPr id="28" name="s332"/>
          <p:cNvSpPr/>
          <p:nvPr/>
        </p:nvSpPr>
        <p:spPr>
          <a:xfrm flipH="1">
            <a:off x="2103120" y="5074920"/>
            <a:ext cx="3017520" cy="0"/>
          </a:xfrm>
          <a:prstGeom prst="line">
            <a:avLst/>
          </a:prstGeom>
          <a:noFill/>
          <a:ln w="38100">
            <a:solidFill>
              <a:srgbClr val="94A3B8"/>
            </a:solidFill>
            <a:prstDash val="solid"/>
            <a:tailEnd type="triangle"/>
          </a:ln>
        </p:spPr>
      </p:sp>
      <p:sp>
        <p:nvSpPr>
          <p:cNvPr id="29" name="s333"/>
          <p:cNvSpPr/>
          <p:nvPr/>
        </p:nvSpPr>
        <p:spPr>
          <a:xfrm>
            <a:off x="640080" y="4343400"/>
            <a:ext cx="1463040" cy="1051560"/>
          </a:xfrm>
          <a:prstGeom prst="rect">
            <a:avLst/>
          </a:prstGeom>
          <a:solidFill>
            <a:srgbClr val="EEF2F6"/>
          </a:solidFill>
          <a:ln w="19050">
            <a:solidFill>
              <a:srgbClr val="94A3B8"/>
            </a:solidFill>
            <a:prstDash val="solid"/>
          </a:ln>
        </p:spPr>
      </p:sp>
      <p:sp>
        <p:nvSpPr>
          <p:cNvPr id="30" name="s334"/>
          <p:cNvSpPr/>
          <p:nvPr/>
        </p:nvSpPr>
        <p:spPr>
          <a:xfrm>
            <a:off x="685800" y="5074920"/>
            <a:ext cx="1371600" cy="274320"/>
          </a:xfrm>
          <a:prstGeom prst="rect">
            <a:avLst/>
          </a:prstGeom>
          <a:solidFill>
            <a:srgbClr val="B8A68F"/>
          </a:solidFill>
          <a:ln/>
        </p:spPr>
      </p:sp>
      <p:sp>
        <p:nvSpPr>
          <p:cNvPr id="31" name="s335"/>
          <p:cNvSpPr/>
          <p:nvPr/>
        </p:nvSpPr>
        <p:spPr>
          <a:xfrm>
            <a:off x="685800" y="4709160"/>
            <a:ext cx="1371600" cy="365760"/>
          </a:xfrm>
          <a:prstGeom prst="rect">
            <a:avLst/>
          </a:prstGeom>
          <a:solidFill>
            <a:srgbClr val="B8A68F"/>
          </a:solidFill>
          <a:ln/>
        </p:spPr>
      </p:sp>
      <p:sp>
        <p:nvSpPr>
          <p:cNvPr id="32" name="t336"/>
          <p:cNvSpPr txBox="1"/>
          <p:nvPr/>
        </p:nvSpPr>
        <p:spPr>
          <a:xfrm>
            <a:off x="274320" y="542239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B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EFFLUENT TANK</a:t>
            </a:r>
            <a:endParaRPr lang="en-US" sz="1100" dirty="0"/>
          </a:p>
        </p:txBody>
      </p:sp>
      <p:sp>
        <p:nvSpPr>
          <p:cNvPr id="33" name="s337"/>
          <p:cNvSpPr/>
          <p:nvPr/>
        </p:nvSpPr>
        <p:spPr>
          <a:xfrm>
            <a:off x="9710928" y="2194560"/>
            <a:ext cx="201168" cy="17373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9050">
            <a:solidFill>
              <a:srgbClr val="94A3B8"/>
            </a:solidFill>
            <a:prstDash val="solid"/>
          </a:ln>
        </p:spPr>
      </p:sp>
      <p:sp>
        <p:nvSpPr>
          <p:cNvPr id="34" name="s338"/>
          <p:cNvSpPr/>
          <p:nvPr/>
        </p:nvSpPr>
        <p:spPr>
          <a:xfrm>
            <a:off x="9747504" y="2377440"/>
            <a:ext cx="128016" cy="1536192"/>
          </a:xfrm>
          <a:prstGeom prst="roundRect">
            <a:avLst>
              <a:gd name="adj" fmla="val 50000"/>
            </a:avLst>
          </a:prstGeom>
          <a:solidFill>
            <a:srgbClr val="C0392B"/>
          </a:solidFill>
          <a:ln/>
        </p:spPr>
      </p:sp>
      <p:sp>
        <p:nvSpPr>
          <p:cNvPr id="35" name="s339"/>
          <p:cNvSpPr/>
          <p:nvPr/>
        </p:nvSpPr>
        <p:spPr>
          <a:xfrm>
            <a:off x="9646920" y="3794760"/>
            <a:ext cx="329184" cy="329184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36" name="t340"/>
          <p:cNvSpPr txBox="1"/>
          <p:nvPr/>
        </p:nvSpPr>
        <p:spPr>
          <a:xfrm>
            <a:off x="9372600" y="187452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Boiling</a:t>
            </a:r>
            <a:endParaRPr lang="en-US" sz="1100" dirty="0"/>
          </a:p>
        </p:txBody>
      </p:sp>
      <p:sp>
        <p:nvSpPr>
          <p:cNvPr id="37" name="s341"/>
          <p:cNvSpPr/>
          <p:nvPr/>
        </p:nvSpPr>
        <p:spPr>
          <a:xfrm>
            <a:off x="548640" y="1371600"/>
            <a:ext cx="3017520" cy="1737360"/>
          </a:xfrm>
          <a:prstGeom prst="roundRect">
            <a:avLst>
              <a:gd name="adj" fmla="val 6316"/>
            </a:avLst>
          </a:prstGeom>
          <a:solidFill>
            <a:srgbClr val="F3F7FA"/>
          </a:solidFill>
          <a:ln w="12700">
            <a:solidFill>
              <a:srgbClr val="E1E8EF"/>
            </a:solidFill>
            <a:prstDash val="solid"/>
          </a:ln>
        </p:spPr>
      </p:sp>
      <p:sp>
        <p:nvSpPr>
          <p:cNvPr id="38" name="t342"/>
          <p:cNvSpPr txBox="1"/>
          <p:nvPr/>
        </p:nvSpPr>
        <p:spPr>
          <a:xfrm>
            <a:off x="731520" y="14813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2E8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 TEST AT MANWAY</a:t>
            </a:r>
            <a:endParaRPr lang="en-US" sz="1200" dirty="0"/>
          </a:p>
        </p:txBody>
      </p:sp>
      <p:sp>
        <p:nvSpPr>
          <p:cNvPr id="39" name="t343"/>
          <p:cNvSpPr txBox="1"/>
          <p:nvPr/>
        </p:nvSpPr>
        <p:spPr>
          <a:xfrm>
            <a:off x="731520" y="1874520"/>
            <a:ext cx="1005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LEL</a:t>
            </a:r>
            <a:endParaRPr lang="en-US" sz="1400" dirty="0"/>
          </a:p>
        </p:txBody>
      </p:sp>
      <p:sp>
        <p:nvSpPr>
          <p:cNvPr id="40" name="t344"/>
          <p:cNvSpPr txBox="1"/>
          <p:nvPr/>
        </p:nvSpPr>
        <p:spPr>
          <a:xfrm>
            <a:off x="1737360" y="1874520"/>
            <a:ext cx="1737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above limit</a:t>
            </a:r>
            <a:endParaRPr lang="en-US" sz="1300" dirty="0"/>
          </a:p>
        </p:txBody>
      </p:sp>
      <p:sp>
        <p:nvSpPr>
          <p:cNvPr id="41" name="t345"/>
          <p:cNvSpPr txBox="1"/>
          <p:nvPr/>
        </p:nvSpPr>
        <p:spPr>
          <a:xfrm>
            <a:off x="1737360" y="1874520"/>
            <a:ext cx="1737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8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OK</a:t>
            </a:r>
            <a:endParaRPr lang="en-US" sz="1300" dirty="0"/>
          </a:p>
        </p:txBody>
      </p:sp>
      <p:sp>
        <p:nvSpPr>
          <p:cNvPr id="42" name="t346"/>
          <p:cNvSpPr txBox="1"/>
          <p:nvPr/>
        </p:nvSpPr>
        <p:spPr>
          <a:xfrm>
            <a:off x="731520" y="2286000"/>
            <a:ext cx="1005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H₂S</a:t>
            </a:r>
            <a:endParaRPr lang="en-US" sz="1400" dirty="0"/>
          </a:p>
        </p:txBody>
      </p:sp>
      <p:sp>
        <p:nvSpPr>
          <p:cNvPr id="43" name="t347"/>
          <p:cNvSpPr txBox="1"/>
          <p:nvPr/>
        </p:nvSpPr>
        <p:spPr>
          <a:xfrm>
            <a:off x="1737360" y="2286000"/>
            <a:ext cx="1737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above limit</a:t>
            </a:r>
            <a:endParaRPr lang="en-US" sz="1300" dirty="0"/>
          </a:p>
        </p:txBody>
      </p:sp>
      <p:sp>
        <p:nvSpPr>
          <p:cNvPr id="44" name="t348"/>
          <p:cNvSpPr txBox="1"/>
          <p:nvPr/>
        </p:nvSpPr>
        <p:spPr>
          <a:xfrm>
            <a:off x="1737360" y="2286000"/>
            <a:ext cx="1737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8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OK</a:t>
            </a:r>
            <a:endParaRPr lang="en-US" sz="1300" dirty="0"/>
          </a:p>
        </p:txBody>
      </p:sp>
      <p:sp>
        <p:nvSpPr>
          <p:cNvPr id="45" name="t349"/>
          <p:cNvSpPr txBox="1"/>
          <p:nvPr/>
        </p:nvSpPr>
        <p:spPr>
          <a:xfrm>
            <a:off x="731520" y="2697480"/>
            <a:ext cx="1005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Benzene</a:t>
            </a:r>
            <a:endParaRPr lang="en-US" sz="1400" dirty="0"/>
          </a:p>
        </p:txBody>
      </p:sp>
      <p:sp>
        <p:nvSpPr>
          <p:cNvPr id="46" name="t350"/>
          <p:cNvSpPr txBox="1"/>
          <p:nvPr/>
        </p:nvSpPr>
        <p:spPr>
          <a:xfrm>
            <a:off x="1737360" y="2697480"/>
            <a:ext cx="1737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above limit</a:t>
            </a:r>
            <a:endParaRPr lang="en-US" sz="1300" dirty="0"/>
          </a:p>
        </p:txBody>
      </p:sp>
      <p:sp>
        <p:nvSpPr>
          <p:cNvPr id="47" name="t351"/>
          <p:cNvSpPr txBox="1"/>
          <p:nvPr/>
        </p:nvSpPr>
        <p:spPr>
          <a:xfrm>
            <a:off x="1737360" y="2697480"/>
            <a:ext cx="1737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8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OK</a:t>
            </a:r>
            <a:endParaRPr lang="en-US" sz="1300" dirty="0"/>
          </a:p>
        </p:txBody>
      </p:sp>
      <p:sp>
        <p:nvSpPr>
          <p:cNvPr id="48" name="s352"/>
          <p:cNvSpPr/>
          <p:nvPr/>
        </p:nvSpPr>
        <p:spPr>
          <a:xfrm>
            <a:off x="548640" y="5852160"/>
            <a:ext cx="10515600" cy="713232"/>
          </a:xfrm>
          <a:prstGeom prst="roundRect">
            <a:avLst>
              <a:gd name="adj" fmla="val 25641"/>
            </a:avLst>
          </a:prstGeom>
          <a:solidFill>
            <a:srgbClr val="EAF3FA"/>
          </a:solidFill>
          <a:ln/>
        </p:spPr>
      </p:sp>
      <p:sp>
        <p:nvSpPr>
          <p:cNvPr id="49" name="t353"/>
          <p:cNvSpPr txBox="1"/>
          <p:nvPr/>
        </p:nvSpPr>
        <p:spPr>
          <a:xfrm>
            <a:off x="777240" y="5852160"/>
            <a:ext cx="100584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  The vessel is drained and isolated – sludge on the bottom, H₂S, benzene and LEL above it, pyrophoric FeS in the deposits.</a:t>
            </a:r>
            <a:endParaRPr lang="en-US" sz="1400" dirty="0"/>
          </a:p>
        </p:txBody>
      </p:sp>
      <p:sp>
        <p:nvSpPr>
          <p:cNvPr id="50" name="t354"/>
          <p:cNvSpPr txBox="1"/>
          <p:nvPr/>
        </p:nvSpPr>
        <p:spPr>
          <a:xfrm>
            <a:off x="777240" y="5852160"/>
            <a:ext cx="100584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  Water is filled above the sludge level.</a:t>
            </a:r>
            <a:endParaRPr lang="en-US" sz="1400" dirty="0"/>
          </a:p>
        </p:txBody>
      </p:sp>
      <p:sp>
        <p:nvSpPr>
          <p:cNvPr id="51" name="t355"/>
          <p:cNvSpPr txBox="1"/>
          <p:nvPr/>
        </p:nvSpPr>
        <p:spPr>
          <a:xfrm>
            <a:off x="777240" y="5852160"/>
            <a:ext cx="100584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  Steam is injected at several points along the bottom and brings the water to the boil.</a:t>
            </a:r>
            <a:endParaRPr lang="en-US" sz="1400" dirty="0"/>
          </a:p>
        </p:txBody>
      </p:sp>
      <p:sp>
        <p:nvSpPr>
          <p:cNvPr id="52" name="t356"/>
          <p:cNvSpPr txBox="1"/>
          <p:nvPr/>
        </p:nvSpPr>
        <p:spPr>
          <a:xfrm>
            <a:off x="777240" y="5852160"/>
            <a:ext cx="100584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  Decon chemistry is injected with the steam; the rolling boil lifts and emulsifies the sludge.</a:t>
            </a:r>
            <a:endParaRPr lang="en-US" sz="1400" dirty="0"/>
          </a:p>
        </p:txBody>
      </p:sp>
      <p:sp>
        <p:nvSpPr>
          <p:cNvPr id="53" name="t357"/>
          <p:cNvSpPr txBox="1"/>
          <p:nvPr/>
        </p:nvSpPr>
        <p:spPr>
          <a:xfrm>
            <a:off x="777240" y="5852160"/>
            <a:ext cx="100584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  H₂S dissolves and is converted into stable compounds; FeS is oxidised to iron oxide – both stay in the water.</a:t>
            </a:r>
            <a:endParaRPr lang="en-US" sz="1400" dirty="0"/>
          </a:p>
        </p:txBody>
      </p:sp>
      <p:sp>
        <p:nvSpPr>
          <p:cNvPr id="54" name="t358"/>
          <p:cNvSpPr txBox="1"/>
          <p:nvPr/>
        </p:nvSpPr>
        <p:spPr>
          <a:xfrm>
            <a:off x="777240" y="5852160"/>
            <a:ext cx="100584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  Benzene and LEL vapours leave through the vent to the flare / closed vent.</a:t>
            </a:r>
            <a:endParaRPr lang="en-US" sz="1400" dirty="0"/>
          </a:p>
        </p:txBody>
      </p:sp>
      <p:sp>
        <p:nvSpPr>
          <p:cNvPr id="55" name="t359"/>
          <p:cNvSpPr txBox="1"/>
          <p:nvPr/>
        </p:nvSpPr>
        <p:spPr>
          <a:xfrm>
            <a:off x="777240" y="5852160"/>
            <a:ext cx="100584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  The vessel is drained to the effluent tank and rinsed – the vessel is clean.</a:t>
            </a:r>
            <a:endParaRPr lang="en-US" sz="1400" dirty="0"/>
          </a:p>
        </p:txBody>
      </p:sp>
      <p:sp>
        <p:nvSpPr>
          <p:cNvPr id="56" name="t360"/>
          <p:cNvSpPr txBox="1"/>
          <p:nvPr/>
        </p:nvSpPr>
        <p:spPr>
          <a:xfrm>
            <a:off x="777240" y="5852160"/>
            <a:ext cx="100584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  Gas tests confirm the entry criteria – the vessel is handed over for safe entry.</a:t>
            </a:r>
            <a:endParaRPr lang="en-US" sz="1400" dirty="0"/>
          </a:p>
        </p:txBody>
      </p:sp>
      <p:sp>
        <p:nvSpPr>
          <p:cNvPr id="57" name="tag361"/>
          <p:cNvSpPr/>
          <p:nvPr/>
        </p:nvSpPr>
        <p:spPr>
          <a:xfrm>
            <a:off x="4846320" y="2194560"/>
            <a:ext cx="914400" cy="329184"/>
          </a:xfrm>
          <a:prstGeom prst="roundRect">
            <a:avLst>
              <a:gd name="adj" fmla="val 50000"/>
            </a:avLst>
          </a:prstGeom>
          <a:solidFill>
            <a:srgbClr val="C039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H₂S</a:t>
            </a:r>
            <a:endParaRPr lang="en-US" sz="1200" dirty="0"/>
          </a:p>
        </p:txBody>
      </p:sp>
      <p:sp>
        <p:nvSpPr>
          <p:cNvPr id="58" name="tag362"/>
          <p:cNvSpPr/>
          <p:nvPr/>
        </p:nvSpPr>
        <p:spPr>
          <a:xfrm>
            <a:off x="6035040" y="2194560"/>
            <a:ext cx="914400" cy="329184"/>
          </a:xfrm>
          <a:prstGeom prst="roundRect">
            <a:avLst>
              <a:gd name="adj" fmla="val 50000"/>
            </a:avLst>
          </a:prstGeom>
          <a:solidFill>
            <a:srgbClr val="E67E2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Benzene</a:t>
            </a:r>
            <a:endParaRPr lang="en-US" sz="1200" dirty="0"/>
          </a:p>
        </p:txBody>
      </p:sp>
      <p:sp>
        <p:nvSpPr>
          <p:cNvPr id="59" name="tag363"/>
          <p:cNvSpPr/>
          <p:nvPr/>
        </p:nvSpPr>
        <p:spPr>
          <a:xfrm>
            <a:off x="7223760" y="2194560"/>
            <a:ext cx="914400" cy="329184"/>
          </a:xfrm>
          <a:prstGeom prst="roundRect">
            <a:avLst>
              <a:gd name="adj" fmla="val 50000"/>
            </a:avLst>
          </a:prstGeom>
          <a:solidFill>
            <a:srgbClr val="D4A017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LEL</a:t>
            </a:r>
            <a:endParaRPr lang="en-US" sz="1200" dirty="0"/>
          </a:p>
        </p:txBody>
      </p:sp>
      <p:sp>
        <p:nvSpPr>
          <p:cNvPr id="60" name="s364"/>
          <p:cNvSpPr/>
          <p:nvPr/>
        </p:nvSpPr>
        <p:spPr>
          <a:xfrm>
            <a:off x="7708392" y="3602736"/>
            <a:ext cx="1042416" cy="457200"/>
          </a:xfrm>
          <a:prstGeom prst="roundRect">
            <a:avLst>
              <a:gd name="adj" fmla="val 50000"/>
            </a:avLst>
          </a:prstGeom>
          <a:solidFill>
            <a:srgbClr val="FF8C1A">
              <a:alpha val="45000"/>
            </a:srgbClr>
          </a:solidFill>
          <a:ln w="25400">
            <a:solidFill>
              <a:srgbClr val="FF8C1A"/>
            </a:solidFill>
            <a:prstDash val="solid"/>
          </a:ln>
        </p:spPr>
      </p:sp>
      <p:sp>
        <p:nvSpPr>
          <p:cNvPr id="61" name="tag365"/>
          <p:cNvSpPr/>
          <p:nvPr/>
        </p:nvSpPr>
        <p:spPr>
          <a:xfrm>
            <a:off x="7772400" y="3666744"/>
            <a:ext cx="914400" cy="329184"/>
          </a:xfrm>
          <a:prstGeom prst="roundRect">
            <a:avLst>
              <a:gd name="adj" fmla="val 50000"/>
            </a:avLst>
          </a:prstGeom>
          <a:solidFill>
            <a:srgbClr val="6B728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FeS</a:t>
            </a:r>
            <a:endParaRPr lang="en-US" sz="1200" dirty="0"/>
          </a:p>
        </p:txBody>
      </p:sp>
      <p:sp>
        <p:nvSpPr>
          <p:cNvPr id="62" name="tag366"/>
          <p:cNvSpPr/>
          <p:nvPr/>
        </p:nvSpPr>
        <p:spPr>
          <a:xfrm>
            <a:off x="4754880" y="3017520"/>
            <a:ext cx="1097280" cy="329184"/>
          </a:xfrm>
          <a:prstGeom prst="roundRect">
            <a:avLst>
              <a:gd name="adj" fmla="val 50000"/>
            </a:avLst>
          </a:prstGeom>
          <a:solidFill>
            <a:srgbClr val="8E9AA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stable salt</a:t>
            </a:r>
            <a:endParaRPr lang="en-US" sz="1200" dirty="0"/>
          </a:p>
        </p:txBody>
      </p:sp>
      <p:sp>
        <p:nvSpPr>
          <p:cNvPr id="63" name="tag367"/>
          <p:cNvSpPr/>
          <p:nvPr/>
        </p:nvSpPr>
        <p:spPr>
          <a:xfrm>
            <a:off x="7680960" y="3017520"/>
            <a:ext cx="1097280" cy="329184"/>
          </a:xfrm>
          <a:prstGeom prst="roundRect">
            <a:avLst>
              <a:gd name="adj" fmla="val 50000"/>
            </a:avLst>
          </a:prstGeom>
          <a:solidFill>
            <a:srgbClr val="A0522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iron oxide</a:t>
            </a:r>
            <a:endParaRPr lang="en-US" sz="1200" dirty="0"/>
          </a:p>
        </p:txBody>
      </p:sp>
      <p:sp>
        <p:nvSpPr>
          <p:cNvPr id="64" name="s368"/>
          <p:cNvSpPr/>
          <p:nvPr/>
        </p:nvSpPr>
        <p:spPr>
          <a:xfrm>
            <a:off x="11164824" y="4764024"/>
            <a:ext cx="164592" cy="164592"/>
          </a:xfrm>
          <a:prstGeom prst="ellipse">
            <a:avLst/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65" name="s369"/>
          <p:cNvSpPr/>
          <p:nvPr/>
        </p:nvSpPr>
        <p:spPr>
          <a:xfrm>
            <a:off x="11164824" y="4764024"/>
            <a:ext cx="164592" cy="164592"/>
          </a:xfrm>
          <a:prstGeom prst="ellipse">
            <a:avLst/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66" name="s370"/>
          <p:cNvSpPr/>
          <p:nvPr/>
        </p:nvSpPr>
        <p:spPr>
          <a:xfrm>
            <a:off x="11164824" y="4764024"/>
            <a:ext cx="164592" cy="164592"/>
          </a:xfrm>
          <a:prstGeom prst="ellipse">
            <a:avLst/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67" name="s371"/>
          <p:cNvSpPr/>
          <p:nvPr/>
        </p:nvSpPr>
        <p:spPr>
          <a:xfrm>
            <a:off x="11164824" y="4764024"/>
            <a:ext cx="164592" cy="164592"/>
          </a:xfrm>
          <a:prstGeom prst="ellipse">
            <a:avLst/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68" name="s372"/>
          <p:cNvSpPr/>
          <p:nvPr/>
        </p:nvSpPr>
        <p:spPr>
          <a:xfrm>
            <a:off x="4480560" y="35204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FB8E3"/>
            </a:solidFill>
            <a:prstDash val="solid"/>
          </a:ln>
        </p:spPr>
      </p:sp>
      <p:sp>
        <p:nvSpPr>
          <p:cNvPr id="69" name="s373"/>
          <p:cNvSpPr/>
          <p:nvPr/>
        </p:nvSpPr>
        <p:spPr>
          <a:xfrm>
            <a:off x="4965192" y="35204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FB8E3"/>
            </a:solidFill>
            <a:prstDash val="solid"/>
          </a:ln>
        </p:spPr>
      </p:sp>
      <p:sp>
        <p:nvSpPr>
          <p:cNvPr id="70" name="s374"/>
          <p:cNvSpPr/>
          <p:nvPr/>
        </p:nvSpPr>
        <p:spPr>
          <a:xfrm>
            <a:off x="5449824" y="35204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FB8E3"/>
            </a:solidFill>
            <a:prstDash val="solid"/>
          </a:ln>
        </p:spPr>
      </p:sp>
      <p:sp>
        <p:nvSpPr>
          <p:cNvPr id="71" name="s375"/>
          <p:cNvSpPr/>
          <p:nvPr/>
        </p:nvSpPr>
        <p:spPr>
          <a:xfrm>
            <a:off x="5934456" y="35204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FB8E3"/>
            </a:solidFill>
            <a:prstDash val="solid"/>
          </a:ln>
        </p:spPr>
      </p:sp>
      <p:sp>
        <p:nvSpPr>
          <p:cNvPr id="72" name="s376"/>
          <p:cNvSpPr/>
          <p:nvPr/>
        </p:nvSpPr>
        <p:spPr>
          <a:xfrm>
            <a:off x="6419088" y="35204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FB8E3"/>
            </a:solidFill>
            <a:prstDash val="solid"/>
          </a:ln>
        </p:spPr>
      </p:sp>
      <p:sp>
        <p:nvSpPr>
          <p:cNvPr id="73" name="s377"/>
          <p:cNvSpPr/>
          <p:nvPr/>
        </p:nvSpPr>
        <p:spPr>
          <a:xfrm>
            <a:off x="6903720" y="35204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FB8E3"/>
            </a:solidFill>
            <a:prstDash val="solid"/>
          </a:ln>
        </p:spPr>
      </p:sp>
      <p:sp>
        <p:nvSpPr>
          <p:cNvPr id="74" name="s378"/>
          <p:cNvSpPr/>
          <p:nvPr/>
        </p:nvSpPr>
        <p:spPr>
          <a:xfrm>
            <a:off x="7388352" y="35204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FB8E3"/>
            </a:solidFill>
            <a:prstDash val="solid"/>
          </a:ln>
        </p:spPr>
      </p:sp>
      <p:sp>
        <p:nvSpPr>
          <p:cNvPr id="75" name="s379"/>
          <p:cNvSpPr/>
          <p:nvPr/>
        </p:nvSpPr>
        <p:spPr>
          <a:xfrm>
            <a:off x="7872984" y="35204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FB8E3"/>
            </a:solidFill>
            <a:prstDash val="solid"/>
          </a:ln>
        </p:spPr>
      </p:sp>
      <p:sp>
        <p:nvSpPr>
          <p:cNvPr id="76" name="s380"/>
          <p:cNvSpPr/>
          <p:nvPr/>
        </p:nvSpPr>
        <p:spPr>
          <a:xfrm>
            <a:off x="8357616" y="35204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FB8E3"/>
            </a:solidFill>
            <a:prstDash val="solid"/>
          </a:ln>
        </p:spPr>
      </p:sp>
      <p:sp>
        <p:nvSpPr>
          <p:cNvPr id="77" name="s381"/>
          <p:cNvSpPr/>
          <p:nvPr/>
        </p:nvSpPr>
        <p:spPr>
          <a:xfrm>
            <a:off x="8842248" y="35204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FB8E3"/>
            </a:solidFill>
            <a:prstDash val="solid"/>
          </a:ln>
        </p:spPr>
      </p:sp>
      <p:sp>
        <p:nvSpPr>
          <p:cNvPr id="78" name="s382"/>
          <p:cNvSpPr/>
          <p:nvPr/>
        </p:nvSpPr>
        <p:spPr>
          <a:xfrm>
            <a:off x="4846320" y="35204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FB8E3"/>
            </a:solidFill>
            <a:prstDash val="solid"/>
          </a:ln>
        </p:spPr>
      </p:sp>
      <p:sp>
        <p:nvSpPr>
          <p:cNvPr id="79" name="s383"/>
          <p:cNvSpPr/>
          <p:nvPr/>
        </p:nvSpPr>
        <p:spPr>
          <a:xfrm>
            <a:off x="5330952" y="35204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FB8E3"/>
            </a:solidFill>
            <a:prstDash val="solid"/>
          </a:ln>
        </p:spPr>
      </p:sp>
      <p:sp>
        <p:nvSpPr>
          <p:cNvPr id="80" name="s384"/>
          <p:cNvSpPr/>
          <p:nvPr/>
        </p:nvSpPr>
        <p:spPr>
          <a:xfrm>
            <a:off x="5815584" y="35204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FB8E3"/>
            </a:solidFill>
            <a:prstDash val="solid"/>
          </a:ln>
        </p:spPr>
      </p:sp>
      <p:sp>
        <p:nvSpPr>
          <p:cNvPr id="81" name="s385"/>
          <p:cNvSpPr/>
          <p:nvPr/>
        </p:nvSpPr>
        <p:spPr>
          <a:xfrm>
            <a:off x="6300216" y="35204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FB8E3"/>
            </a:solidFill>
            <a:prstDash val="solid"/>
          </a:ln>
        </p:spPr>
      </p:sp>
      <p:sp>
        <p:nvSpPr>
          <p:cNvPr id="82" name="s386"/>
          <p:cNvSpPr/>
          <p:nvPr/>
        </p:nvSpPr>
        <p:spPr>
          <a:xfrm>
            <a:off x="6784848" y="35204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FB8E3"/>
            </a:solidFill>
            <a:prstDash val="solid"/>
          </a:ln>
        </p:spPr>
      </p:sp>
      <p:sp>
        <p:nvSpPr>
          <p:cNvPr id="83" name="s387"/>
          <p:cNvSpPr/>
          <p:nvPr/>
        </p:nvSpPr>
        <p:spPr>
          <a:xfrm>
            <a:off x="7269480" y="35204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FB8E3"/>
            </a:solidFill>
            <a:prstDash val="solid"/>
          </a:ln>
        </p:spPr>
      </p:sp>
      <p:sp>
        <p:nvSpPr>
          <p:cNvPr id="84" name="s388"/>
          <p:cNvSpPr/>
          <p:nvPr/>
        </p:nvSpPr>
        <p:spPr>
          <a:xfrm>
            <a:off x="7754112" y="35204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FB8E3"/>
            </a:solidFill>
            <a:prstDash val="solid"/>
          </a:ln>
        </p:spPr>
      </p:sp>
      <p:sp>
        <p:nvSpPr>
          <p:cNvPr id="85" name="s389"/>
          <p:cNvSpPr/>
          <p:nvPr/>
        </p:nvSpPr>
        <p:spPr>
          <a:xfrm>
            <a:off x="8238744" y="35204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FB8E3"/>
            </a:solidFill>
            <a:prstDash val="solid"/>
          </a:ln>
        </p:spPr>
      </p:sp>
      <p:sp>
        <p:nvSpPr>
          <p:cNvPr id="86" name="s390"/>
          <p:cNvSpPr/>
          <p:nvPr/>
        </p:nvSpPr>
        <p:spPr>
          <a:xfrm>
            <a:off x="9601200" y="5303520"/>
            <a:ext cx="182880" cy="182880"/>
          </a:xfrm>
          <a:prstGeom prst="ellipse">
            <a:avLst/>
          </a:prstGeom>
          <a:solidFill>
            <a:srgbClr val="3AB54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7" name="s391"/>
          <p:cNvSpPr/>
          <p:nvPr/>
        </p:nvSpPr>
        <p:spPr>
          <a:xfrm>
            <a:off x="9601200" y="5303520"/>
            <a:ext cx="182880" cy="182880"/>
          </a:xfrm>
          <a:prstGeom prst="ellipse">
            <a:avLst/>
          </a:prstGeom>
          <a:solidFill>
            <a:srgbClr val="3AB54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8" name="s392"/>
          <p:cNvSpPr/>
          <p:nvPr/>
        </p:nvSpPr>
        <p:spPr>
          <a:xfrm>
            <a:off x="9601200" y="5303520"/>
            <a:ext cx="182880" cy="182880"/>
          </a:xfrm>
          <a:prstGeom prst="ellipse">
            <a:avLst/>
          </a:prstGeom>
          <a:solidFill>
            <a:srgbClr val="3AB54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9" name="s393"/>
          <p:cNvSpPr/>
          <p:nvPr/>
        </p:nvSpPr>
        <p:spPr>
          <a:xfrm>
            <a:off x="9601200" y="5303520"/>
            <a:ext cx="182880" cy="182880"/>
          </a:xfrm>
          <a:prstGeom prst="ellipse">
            <a:avLst/>
          </a:prstGeom>
          <a:solidFill>
            <a:srgbClr val="3AB54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90" name="s394"/>
          <p:cNvSpPr/>
          <p:nvPr/>
        </p:nvSpPr>
        <p:spPr>
          <a:xfrm>
            <a:off x="9601200" y="5303520"/>
            <a:ext cx="182880" cy="182880"/>
          </a:xfrm>
          <a:prstGeom prst="ellipse">
            <a:avLst/>
          </a:prstGeom>
          <a:solidFill>
            <a:srgbClr val="3AB54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91" name="s395"/>
          <p:cNvSpPr/>
          <p:nvPr/>
        </p:nvSpPr>
        <p:spPr>
          <a:xfrm>
            <a:off x="9601200" y="5303520"/>
            <a:ext cx="182880" cy="182880"/>
          </a:xfrm>
          <a:prstGeom prst="ellipse">
            <a:avLst/>
          </a:prstGeom>
          <a:solidFill>
            <a:srgbClr val="3AB54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92" name="s396"/>
          <p:cNvSpPr/>
          <p:nvPr/>
        </p:nvSpPr>
        <p:spPr>
          <a:xfrm>
            <a:off x="4480560" y="35204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FB8E3"/>
            </a:solidFill>
            <a:prstDash val="solid"/>
          </a:ln>
        </p:spPr>
      </p:sp>
      <p:sp>
        <p:nvSpPr>
          <p:cNvPr id="93" name="s397"/>
          <p:cNvSpPr/>
          <p:nvPr/>
        </p:nvSpPr>
        <p:spPr>
          <a:xfrm>
            <a:off x="5038344" y="35204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FB8E3"/>
            </a:solidFill>
            <a:prstDash val="solid"/>
          </a:ln>
        </p:spPr>
      </p:sp>
      <p:sp>
        <p:nvSpPr>
          <p:cNvPr id="94" name="s398"/>
          <p:cNvSpPr/>
          <p:nvPr/>
        </p:nvSpPr>
        <p:spPr>
          <a:xfrm>
            <a:off x="5596128" y="35204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FB8E3"/>
            </a:solidFill>
            <a:prstDash val="solid"/>
          </a:ln>
        </p:spPr>
      </p:sp>
      <p:sp>
        <p:nvSpPr>
          <p:cNvPr id="95" name="s399"/>
          <p:cNvSpPr/>
          <p:nvPr/>
        </p:nvSpPr>
        <p:spPr>
          <a:xfrm>
            <a:off x="6153912" y="35204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FB8E3"/>
            </a:solidFill>
            <a:prstDash val="solid"/>
          </a:ln>
        </p:spPr>
      </p:sp>
      <p:sp>
        <p:nvSpPr>
          <p:cNvPr id="96" name="s400"/>
          <p:cNvSpPr/>
          <p:nvPr/>
        </p:nvSpPr>
        <p:spPr>
          <a:xfrm>
            <a:off x="6711696" y="35204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FB8E3"/>
            </a:solidFill>
            <a:prstDash val="solid"/>
          </a:ln>
        </p:spPr>
      </p:sp>
      <p:sp>
        <p:nvSpPr>
          <p:cNvPr id="97" name="s401"/>
          <p:cNvSpPr/>
          <p:nvPr/>
        </p:nvSpPr>
        <p:spPr>
          <a:xfrm>
            <a:off x="7269480" y="35204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FB8E3"/>
            </a:solidFill>
            <a:prstDash val="solid"/>
          </a:ln>
        </p:spPr>
      </p:sp>
      <p:sp>
        <p:nvSpPr>
          <p:cNvPr id="98" name="s402"/>
          <p:cNvSpPr/>
          <p:nvPr/>
        </p:nvSpPr>
        <p:spPr>
          <a:xfrm>
            <a:off x="7827264" y="35204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FB8E3"/>
            </a:solidFill>
            <a:prstDash val="solid"/>
          </a:ln>
        </p:spPr>
      </p:sp>
      <p:sp>
        <p:nvSpPr>
          <p:cNvPr id="99" name="s403"/>
          <p:cNvSpPr/>
          <p:nvPr/>
        </p:nvSpPr>
        <p:spPr>
          <a:xfrm>
            <a:off x="8385048" y="35204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FB8E3"/>
            </a:solidFill>
            <a:prstDash val="solid"/>
          </a:ln>
        </p:spPr>
      </p:sp>
      <p:sp>
        <p:nvSpPr>
          <p:cNvPr id="100" name="s404"/>
          <p:cNvSpPr/>
          <p:nvPr/>
        </p:nvSpPr>
        <p:spPr>
          <a:xfrm>
            <a:off x="8942832" y="35204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FB8E3"/>
            </a:solidFill>
            <a:prstDash val="solid"/>
          </a:ln>
        </p:spPr>
      </p:sp>
      <p:sp>
        <p:nvSpPr>
          <p:cNvPr id="101" name="s405"/>
          <p:cNvSpPr/>
          <p:nvPr/>
        </p:nvSpPr>
        <p:spPr>
          <a:xfrm>
            <a:off x="5020056" y="35204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FB8E3"/>
            </a:solidFill>
            <a:prstDash val="solid"/>
          </a:ln>
        </p:spPr>
      </p:sp>
      <p:sp>
        <p:nvSpPr>
          <p:cNvPr id="102" name="s406"/>
          <p:cNvSpPr/>
          <p:nvPr/>
        </p:nvSpPr>
        <p:spPr>
          <a:xfrm>
            <a:off x="5577840" y="35204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FB8E3"/>
            </a:solidFill>
            <a:prstDash val="solid"/>
          </a:ln>
        </p:spPr>
      </p:sp>
      <p:sp>
        <p:nvSpPr>
          <p:cNvPr id="103" name="s407"/>
          <p:cNvSpPr/>
          <p:nvPr/>
        </p:nvSpPr>
        <p:spPr>
          <a:xfrm>
            <a:off x="6135624" y="35204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FB8E3"/>
            </a:solidFill>
            <a:prstDash val="solid"/>
          </a:ln>
        </p:spPr>
      </p:sp>
      <p:sp>
        <p:nvSpPr>
          <p:cNvPr id="104" name="s408"/>
          <p:cNvSpPr/>
          <p:nvPr/>
        </p:nvSpPr>
        <p:spPr>
          <a:xfrm>
            <a:off x="6693408" y="35204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FB8E3"/>
            </a:solidFill>
            <a:prstDash val="solid"/>
          </a:ln>
        </p:spPr>
      </p:sp>
      <p:sp>
        <p:nvSpPr>
          <p:cNvPr id="105" name="s409"/>
          <p:cNvSpPr/>
          <p:nvPr/>
        </p:nvSpPr>
        <p:spPr>
          <a:xfrm>
            <a:off x="7251192" y="35204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FB8E3"/>
            </a:solidFill>
            <a:prstDash val="solid"/>
          </a:ln>
        </p:spPr>
      </p:sp>
      <p:sp>
        <p:nvSpPr>
          <p:cNvPr id="106" name="s410"/>
          <p:cNvSpPr/>
          <p:nvPr/>
        </p:nvSpPr>
        <p:spPr>
          <a:xfrm>
            <a:off x="7808976" y="35204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FB8E3"/>
            </a:solidFill>
            <a:prstDash val="solid"/>
          </a:ln>
        </p:spPr>
      </p:sp>
      <p:sp>
        <p:nvSpPr>
          <p:cNvPr id="107" name="s411"/>
          <p:cNvSpPr/>
          <p:nvPr/>
        </p:nvSpPr>
        <p:spPr>
          <a:xfrm>
            <a:off x="8366760" y="35204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FB8E3"/>
            </a:solidFill>
            <a:prstDash val="solid"/>
          </a:ln>
        </p:spPr>
      </p:sp>
      <p:sp>
        <p:nvSpPr>
          <p:cNvPr id="108" name="s412"/>
          <p:cNvSpPr/>
          <p:nvPr/>
        </p:nvSpPr>
        <p:spPr>
          <a:xfrm>
            <a:off x="8924544" y="35204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FB8E3"/>
            </a:solidFill>
            <a:prstDash val="solid"/>
          </a:ln>
        </p:spPr>
      </p:sp>
      <p:sp>
        <p:nvSpPr>
          <p:cNvPr id="109" name="s413"/>
          <p:cNvSpPr/>
          <p:nvPr/>
        </p:nvSpPr>
        <p:spPr>
          <a:xfrm>
            <a:off x="5001768" y="35204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FB8E3"/>
            </a:solidFill>
            <a:prstDash val="solid"/>
          </a:ln>
        </p:spPr>
      </p:sp>
      <p:sp>
        <p:nvSpPr>
          <p:cNvPr id="110" name="s414"/>
          <p:cNvSpPr/>
          <p:nvPr/>
        </p:nvSpPr>
        <p:spPr>
          <a:xfrm>
            <a:off x="4663440" y="3703320"/>
            <a:ext cx="182880" cy="182880"/>
          </a:xfrm>
          <a:prstGeom prst="ellipse">
            <a:avLst/>
          </a:prstGeom>
          <a:solidFill>
            <a:srgbClr val="7A5C3E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11" name="s415"/>
          <p:cNvSpPr/>
          <p:nvPr/>
        </p:nvSpPr>
        <p:spPr>
          <a:xfrm>
            <a:off x="5166360" y="3703320"/>
            <a:ext cx="182880" cy="182880"/>
          </a:xfrm>
          <a:prstGeom prst="ellipse">
            <a:avLst/>
          </a:prstGeom>
          <a:solidFill>
            <a:srgbClr val="7A5C3E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12" name="s416"/>
          <p:cNvSpPr/>
          <p:nvPr/>
        </p:nvSpPr>
        <p:spPr>
          <a:xfrm>
            <a:off x="5669280" y="3703320"/>
            <a:ext cx="182880" cy="182880"/>
          </a:xfrm>
          <a:prstGeom prst="ellipse">
            <a:avLst/>
          </a:prstGeom>
          <a:solidFill>
            <a:srgbClr val="7A5C3E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13" name="s417"/>
          <p:cNvSpPr/>
          <p:nvPr/>
        </p:nvSpPr>
        <p:spPr>
          <a:xfrm>
            <a:off x="6172200" y="3703320"/>
            <a:ext cx="182880" cy="182880"/>
          </a:xfrm>
          <a:prstGeom prst="ellipse">
            <a:avLst/>
          </a:prstGeom>
          <a:solidFill>
            <a:srgbClr val="7A5C3E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14" name="s418"/>
          <p:cNvSpPr/>
          <p:nvPr/>
        </p:nvSpPr>
        <p:spPr>
          <a:xfrm>
            <a:off x="6675120" y="3703320"/>
            <a:ext cx="182880" cy="182880"/>
          </a:xfrm>
          <a:prstGeom prst="ellipse">
            <a:avLst/>
          </a:prstGeom>
          <a:solidFill>
            <a:srgbClr val="7A5C3E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15" name="s419"/>
          <p:cNvSpPr/>
          <p:nvPr/>
        </p:nvSpPr>
        <p:spPr>
          <a:xfrm>
            <a:off x="7178040" y="3703320"/>
            <a:ext cx="182880" cy="182880"/>
          </a:xfrm>
          <a:prstGeom prst="ellipse">
            <a:avLst/>
          </a:prstGeom>
          <a:solidFill>
            <a:srgbClr val="7A5C3E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16" name="s420"/>
          <p:cNvSpPr/>
          <p:nvPr/>
        </p:nvSpPr>
        <p:spPr>
          <a:xfrm>
            <a:off x="7680960" y="3703320"/>
            <a:ext cx="182880" cy="182880"/>
          </a:xfrm>
          <a:prstGeom prst="ellipse">
            <a:avLst/>
          </a:prstGeom>
          <a:solidFill>
            <a:srgbClr val="7A5C3E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17" name="s421"/>
          <p:cNvSpPr/>
          <p:nvPr/>
        </p:nvSpPr>
        <p:spPr>
          <a:xfrm>
            <a:off x="8183880" y="3703320"/>
            <a:ext cx="182880" cy="182880"/>
          </a:xfrm>
          <a:prstGeom prst="ellipse">
            <a:avLst/>
          </a:prstGeom>
          <a:solidFill>
            <a:srgbClr val="7A5C3E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18" name="s422"/>
          <p:cNvSpPr/>
          <p:nvPr/>
        </p:nvSpPr>
        <p:spPr>
          <a:xfrm>
            <a:off x="5020056" y="4105656"/>
            <a:ext cx="201168" cy="201168"/>
          </a:xfrm>
          <a:prstGeom prst="ellipse">
            <a:avLst/>
          </a:prstGeom>
          <a:solidFill>
            <a:srgbClr val="7A5C3E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19" name="s423"/>
          <p:cNvSpPr/>
          <p:nvPr/>
        </p:nvSpPr>
        <p:spPr>
          <a:xfrm>
            <a:off x="5020056" y="4105656"/>
            <a:ext cx="201168" cy="201168"/>
          </a:xfrm>
          <a:prstGeom prst="ellipse">
            <a:avLst/>
          </a:prstGeom>
          <a:solidFill>
            <a:srgbClr val="8E9AA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0" name="s424"/>
          <p:cNvSpPr/>
          <p:nvPr/>
        </p:nvSpPr>
        <p:spPr>
          <a:xfrm>
            <a:off x="5020056" y="4105656"/>
            <a:ext cx="201168" cy="201168"/>
          </a:xfrm>
          <a:prstGeom prst="ellipse">
            <a:avLst/>
          </a:prstGeom>
          <a:solidFill>
            <a:srgbClr val="7A5C3E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1" name="s425"/>
          <p:cNvSpPr/>
          <p:nvPr/>
        </p:nvSpPr>
        <p:spPr>
          <a:xfrm>
            <a:off x="5020056" y="4105656"/>
            <a:ext cx="201168" cy="201168"/>
          </a:xfrm>
          <a:prstGeom prst="ellipse">
            <a:avLst/>
          </a:prstGeom>
          <a:solidFill>
            <a:srgbClr val="8E9AA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2" name="s426"/>
          <p:cNvSpPr/>
          <p:nvPr/>
        </p:nvSpPr>
        <p:spPr>
          <a:xfrm>
            <a:off x="5020056" y="4105656"/>
            <a:ext cx="201168" cy="201168"/>
          </a:xfrm>
          <a:prstGeom prst="ellipse">
            <a:avLst/>
          </a:prstGeom>
          <a:solidFill>
            <a:srgbClr val="7A5C3E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3" name="s427"/>
          <p:cNvSpPr/>
          <p:nvPr/>
        </p:nvSpPr>
        <p:spPr>
          <a:xfrm>
            <a:off x="5020056" y="4105656"/>
            <a:ext cx="201168" cy="201168"/>
          </a:xfrm>
          <a:prstGeom prst="ellipse">
            <a:avLst/>
          </a:prstGeom>
          <a:solidFill>
            <a:srgbClr val="8E9AA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4" name="s428"/>
          <p:cNvSpPr/>
          <p:nvPr/>
        </p:nvSpPr>
        <p:spPr>
          <a:xfrm>
            <a:off x="4370832" y="2103120"/>
            <a:ext cx="4608576" cy="164592"/>
          </a:xfrm>
          <a:prstGeom prst="roundRect">
            <a:avLst>
              <a:gd name="adj" fmla="val 50000"/>
            </a:avLst>
          </a:prstGeom>
          <a:solidFill>
            <a:srgbClr val="FFFFFF">
              <a:alpha val="65000"/>
            </a:srgbClr>
          </a:solidFill>
          <a:ln/>
        </p:spPr>
      </p:sp>
      <p:sp>
        <p:nvSpPr>
          <p:cNvPr id="125" name="s429"/>
          <p:cNvSpPr/>
          <p:nvPr/>
        </p:nvSpPr>
        <p:spPr>
          <a:xfrm>
            <a:off x="548640" y="3383280"/>
            <a:ext cx="3017520" cy="640080"/>
          </a:xfrm>
          <a:prstGeom prst="roundRect">
            <a:avLst>
              <a:gd name="adj" fmla="val 50000"/>
            </a:avLst>
          </a:prstGeom>
          <a:solidFill>
            <a:srgbClr val="3AB54A"/>
          </a:solidFill>
          <a:ln/>
        </p:spPr>
      </p:sp>
      <p:sp>
        <p:nvSpPr>
          <p:cNvPr id="126" name="t430"/>
          <p:cNvSpPr txBox="1"/>
          <p:nvPr/>
        </p:nvSpPr>
        <p:spPr>
          <a:xfrm>
            <a:off x="548640" y="3383280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READY FOR SAFE ENTRY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708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6" presetClass="emph" presetSubtype="0" repeatCount="3000" fill="hold" grpId="2" nodeType="withEffect">
                                  <p:stCondLst>
                                    <p:cond delay="400"/>
                                  </p:stCondLst>
                                  <p:childTnLst>
                                    <p:animScale>
                                      <p:cBhvr>
                                        <p:cTn id="12" dur="500" autoRev="1" fill="hold"/>
                                        <p:tgtEl>
                                          <p:spTgt spid="60"/>
                                        </p:tgtEl>
                                      </p:cBhvr>
                                      <p:by x="108000" y="108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3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2" dur="18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2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2" dur="7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700"/>
                            </p:stCondLst>
                            <p:childTnLst>
                              <p:par>
                                <p:cTn id="34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6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9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2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0" presetClass="path" presetSubtype="0" fill="hold" grpId="3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0.2925 0.0000 L -0.2925 -0.0933 E" pathEditMode="relative" ptsTypes="AAA">
                                      <p:cBhvr>
                                        <p:cTn id="46" dur="1300" fill="hold"/>
                                        <p:tgtEl>
                                          <p:spTgt spid="6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47" presetID="1" presetClass="exit" presetSubtype="0" fill="hold" grpId="1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0" presetClass="path" presetSubtype="0" fill="hold" grpId="3" nodeType="with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0 0 L -0.2925 0.0000 L -0.2925 -0.0933 E" pathEditMode="relative" ptsTypes="AAA">
                                      <p:cBhvr>
                                        <p:cTn id="52" dur="1300" fill="hold"/>
                                        <p:tgtEl>
                                          <p:spTgt spid="6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53" presetID="1" presetClass="exit" presetSubtype="0" fill="hold" grpId="1" nodeType="withEffect">
                                  <p:stCondLst>
                                    <p:cond delay="160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0" presetClass="path" presetSubtype="0" fill="hold" grpId="3" nodeType="withEffect">
                                  <p:stCondLst>
                                    <p:cond delay="600"/>
                                  </p:stCondLst>
                                  <p:childTnLst>
                                    <p:animMotion origin="layout" path="M 0 0 L -0.2925 0.0000 L -0.2925 -0.0933 E" pathEditMode="relative" ptsTypes="AAA">
                                      <p:cBhvr>
                                        <p:cTn id="58" dur="1300" fill="hold"/>
                                        <p:tgtEl>
                                          <p:spTgt spid="6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59" presetID="1" presetClass="exit" presetSubtype="0" fill="hold" grpId="1" nodeType="withEffect">
                                  <p:stCondLst>
                                    <p:cond delay="190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0" presetClass="path" presetSubtype="0" fill="hold" grpId="3" nodeType="withEffect">
                                  <p:stCondLst>
                                    <p:cond delay="900"/>
                                  </p:stCondLst>
                                  <p:childTnLst>
                                    <p:animMotion origin="layout" path="M 0 0 L -0.2925 0.0000 L -0.2925 -0.0933 E" pathEditMode="relative" ptsTypes="AAA">
                                      <p:cBhvr>
                                        <p:cTn id="64" dur="1300" fill="hold"/>
                                        <p:tgtEl>
                                          <p:spTgt spid="6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65" presetID="1" presetClass="exit" presetSubtype="0" fill="hold" grpId="1" nodeType="withEffect">
                                  <p:stCondLst>
                                    <p:cond delay="220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7" fill="hold">
                            <p:stCondLst>
                              <p:cond delay="3400"/>
                            </p:stCondLst>
                            <p:childTnLst>
                              <p:par>
                                <p:cTn id="68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0" dur="20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grpId="0" nodeType="withEffect">
                                  <p:stCondLst>
                                    <p:cond delay="180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6" presetID="0" presetClass="path" presetSubtype="0" fill="hold" grpId="3" nodeType="with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0 0 L 0.0038 -0.0600 L -0.0023 -0.1067 E" pathEditMode="relative" ptsTypes="AAA">
                                      <p:cBhvr>
                                        <p:cTn id="77" dur="1100" fill="hold"/>
                                        <p:tgtEl>
                                          <p:spTgt spid="6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78" presetID="1" presetClass="exit" presetSubtype="0" fill="hold" grpId="1" nodeType="with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0" presetID="1" presetClass="entr" presetSubtype="0" fill="hold" grpId="0" nodeType="withEffect">
                                  <p:stCondLst>
                                    <p:cond delay="46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2" presetID="0" presetClass="path" presetSubtype="0" fill="hold" grpId="3" nodeType="withEffect">
                                  <p:stCondLst>
                                    <p:cond delay="460"/>
                                  </p:stCondLst>
                                  <p:childTnLst>
                                    <p:animMotion origin="layout" path="M 0 0 L 0.0038 -0.0600 L -0.0023 -0.1067 E" pathEditMode="relative" ptsTypes="AAA">
                                      <p:cBhvr>
                                        <p:cTn id="83" dur="1100" fill="hold"/>
                                        <p:tgtEl>
                                          <p:spTgt spid="6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84" presetID="1" presetClass="exit" presetSubtype="0" fill="hold" grpId="1" nodeType="withEffect">
                                  <p:stCondLst>
                                    <p:cond delay="156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6" presetID="1" presetClass="entr" presetSubtype="0" fill="hold" grpId="0" nodeType="withEffect">
                                  <p:stCondLst>
                                    <p:cond delay="62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8" presetID="0" presetClass="path" presetSubtype="0" fill="hold" grpId="3" nodeType="withEffect">
                                  <p:stCondLst>
                                    <p:cond delay="620"/>
                                  </p:stCondLst>
                                  <p:childTnLst>
                                    <p:animMotion origin="layout" path="M 0 0 L 0.0038 -0.0600 L -0.0023 -0.1067 E" pathEditMode="relative" ptsTypes="AAA">
                                      <p:cBhvr>
                                        <p:cTn id="89" dur="1100" fill="hold"/>
                                        <p:tgtEl>
                                          <p:spTgt spid="7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90" presetID="1" presetClass="exit" presetSubtype="0" fill="hold" grpId="1" nodeType="withEffect">
                                  <p:stCondLst>
                                    <p:cond delay="172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2" presetID="1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4" presetID="0" presetClass="path" presetSubtype="0" fill="hold" grpId="3" nodeType="withEffect">
                                  <p:stCondLst>
                                    <p:cond delay="780"/>
                                  </p:stCondLst>
                                  <p:childTnLst>
                                    <p:animMotion origin="layout" path="M 0 0 L 0.0038 -0.0600 L -0.0023 -0.1067 E" pathEditMode="relative" ptsTypes="AAA">
                                      <p:cBhvr>
                                        <p:cTn id="95" dur="1100" fill="hold"/>
                                        <p:tgtEl>
                                          <p:spTgt spid="7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96" presetID="1" presetClass="exit" presetSubtype="0" fill="hold" grpId="1" nodeType="withEffect">
                                  <p:stCondLst>
                                    <p:cond delay="1880"/>
                                  </p:stCondLst>
                                  <p:childTnLs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8" presetID="1" presetClass="entr" presetSubtype="0" fill="hold" grpId="0" nodeType="withEffect">
                                  <p:stCondLst>
                                    <p:cond delay="94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0" presetID="0" presetClass="path" presetSubtype="0" fill="hold" grpId="3" nodeType="withEffect">
                                  <p:stCondLst>
                                    <p:cond delay="940"/>
                                  </p:stCondLst>
                                  <p:childTnLst>
                                    <p:animMotion origin="layout" path="M 0 0 L 0.0038 -0.0600 L -0.0023 -0.1067 E" pathEditMode="relative" ptsTypes="AAA">
                                      <p:cBhvr>
                                        <p:cTn id="101" dur="1100" fill="hold"/>
                                        <p:tgtEl>
                                          <p:spTgt spid="7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02" presetID="1" presetClass="exit" presetSubtype="0" fill="hold" grpId="1" nodeType="withEffect">
                                  <p:stCondLst>
                                    <p:cond delay="2040"/>
                                  </p:stCondLst>
                                  <p:childTnLst>
                                    <p:set>
                                      <p:cBhvr>
                                        <p:cTn id="1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4" presetID="1" presetClass="entr" presetSubtype="0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6" presetID="0" presetClass="path" presetSubtype="0" fill="hold" grpId="3" nodeType="withEffect">
                                  <p:stCondLst>
                                    <p:cond delay="1100"/>
                                  </p:stCondLst>
                                  <p:childTnLst>
                                    <p:animMotion origin="layout" path="M 0 0 L 0.0038 -0.0600 L -0.0023 -0.1067 E" pathEditMode="relative" ptsTypes="AAA">
                                      <p:cBhvr>
                                        <p:cTn id="107" dur="1100" fill="hold"/>
                                        <p:tgtEl>
                                          <p:spTgt spid="7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08" presetID="1" presetClass="exit" presetSubtype="0" fill="hold" grpId="1" nodeType="withEffect">
                                  <p:stCondLst>
                                    <p:cond delay="2200"/>
                                  </p:stCondLst>
                                  <p:childTnLst>
                                    <p:set>
                                      <p:cBhvr>
                                        <p:cTn id="1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0" presetID="1" presetClass="entr" presetSubtype="0" fill="hold" grpId="0" nodeType="withEffect">
                                  <p:stCondLst>
                                    <p:cond delay="126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2" presetID="0" presetClass="path" presetSubtype="0" fill="hold" grpId="3" nodeType="withEffect">
                                  <p:stCondLst>
                                    <p:cond delay="1260"/>
                                  </p:stCondLst>
                                  <p:childTnLst>
                                    <p:animMotion origin="layout" path="M 0 0 L 0.0038 -0.0600 L -0.0023 -0.1067 E" pathEditMode="relative" ptsTypes="AAA">
                                      <p:cBhvr>
                                        <p:cTn id="113" dur="1100" fill="hold"/>
                                        <p:tgtEl>
                                          <p:spTgt spid="7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14" presetID="1" presetClass="exit" presetSubtype="0" fill="hold" grpId="1" nodeType="withEffect">
                                  <p:stCondLst>
                                    <p:cond delay="2360"/>
                                  </p:stCondLst>
                                  <p:childTnLst>
                                    <p:set>
                                      <p:cBhvr>
                                        <p:cTn id="1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6" presetID="1" presetClass="entr" presetSubtype="0" fill="hold" grpId="0" nodeType="withEffect">
                                  <p:stCondLst>
                                    <p:cond delay="142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8" presetID="0" presetClass="path" presetSubtype="0" fill="hold" grpId="3" nodeType="withEffect">
                                  <p:stCondLst>
                                    <p:cond delay="1420"/>
                                  </p:stCondLst>
                                  <p:childTnLst>
                                    <p:animMotion origin="layout" path="M 0 0 L 0.0038 -0.0600 L -0.0023 -0.1067 E" pathEditMode="relative" ptsTypes="AAA">
                                      <p:cBhvr>
                                        <p:cTn id="119" dur="1100" fill="hold"/>
                                        <p:tgtEl>
                                          <p:spTgt spid="7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20" presetID="1" presetClass="exit" presetSubtype="0" fill="hold" grpId="1" nodeType="withEffect">
                                  <p:stCondLst>
                                    <p:cond delay="2520"/>
                                  </p:stCondLst>
                                  <p:childTnLst>
                                    <p:set>
                                      <p:cBhvr>
                                        <p:cTn id="1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2" presetID="1" presetClass="entr" presetSubtype="0" fill="hold" grpId="0" nodeType="withEffect">
                                  <p:stCondLst>
                                    <p:cond delay="1580"/>
                                  </p:stCondLst>
                                  <p:childTnLst>
                                    <p:set>
                                      <p:cBhvr>
                                        <p:cTn id="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4" presetID="0" presetClass="path" presetSubtype="0" fill="hold" grpId="3" nodeType="withEffect">
                                  <p:stCondLst>
                                    <p:cond delay="1580"/>
                                  </p:stCondLst>
                                  <p:childTnLst>
                                    <p:animMotion origin="layout" path="M 0 0 L 0.0038 -0.0600 L -0.0023 -0.1067 E" pathEditMode="relative" ptsTypes="AAA">
                                      <p:cBhvr>
                                        <p:cTn id="125" dur="1100" fill="hold"/>
                                        <p:tgtEl>
                                          <p:spTgt spid="7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26" presetID="1" presetClass="exit" presetSubtype="0" fill="hold" grpId="1" nodeType="withEffect">
                                  <p:stCondLst>
                                    <p:cond delay="2680"/>
                                  </p:stCondLst>
                                  <p:childTnLst>
                                    <p:set>
                                      <p:cBhvr>
                                        <p:cTn id="1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8" presetID="1" presetClass="entr" presetSubtype="0" fill="hold" grpId="0" nodeType="withEffect">
                                  <p:stCondLst>
                                    <p:cond delay="174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0" presetID="0" presetClass="path" presetSubtype="0" fill="hold" grpId="3" nodeType="withEffect">
                                  <p:stCondLst>
                                    <p:cond delay="1740"/>
                                  </p:stCondLst>
                                  <p:childTnLst>
                                    <p:animMotion origin="layout" path="M 0 0 L 0.0038 -0.0600 L -0.0023 -0.1067 E" pathEditMode="relative" ptsTypes="AAA">
                                      <p:cBhvr>
                                        <p:cTn id="131" dur="1100" fill="hold"/>
                                        <p:tgtEl>
                                          <p:spTgt spid="7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32" presetID="1" presetClass="exit" presetSubtype="0" fill="hold" grpId="1" nodeType="withEffect">
                                  <p:stCondLst>
                                    <p:cond delay="2840"/>
                                  </p:stCondLst>
                                  <p:childTnLst>
                                    <p:set>
                                      <p:cBhvr>
                                        <p:cTn id="1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4" presetID="1" presetClass="entr" presetSubtype="0" fill="hold" grpId="0" nodeType="withEffect">
                                  <p:stCondLst>
                                    <p:cond delay="1900"/>
                                  </p:stCondLst>
                                  <p:childTnLst>
                                    <p:set>
                                      <p:cBhvr>
                                        <p:cTn id="1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6" presetID="0" presetClass="path" presetSubtype="0" fill="hold" grpId="3" nodeType="withEffect">
                                  <p:stCondLst>
                                    <p:cond delay="1900"/>
                                  </p:stCondLst>
                                  <p:childTnLst>
                                    <p:animMotion origin="layout" path="M 0 0 L 0.0038 -0.0600 L -0.0023 -0.1067 E" pathEditMode="relative" ptsTypes="AAA">
                                      <p:cBhvr>
                                        <p:cTn id="137" dur="1100" fill="hold"/>
                                        <p:tgtEl>
                                          <p:spTgt spid="7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38" presetID="1" presetClass="exit" presetSubtype="0" fill="hold" grpId="1" nodeType="withEffect">
                                  <p:stCondLst>
                                    <p:cond delay="3000"/>
                                  </p:stCondLst>
                                  <p:childTnLst>
                                    <p:set>
                                      <p:cBhvr>
                                        <p:cTn id="1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0" presetID="1" presetClass="entr" presetSubtype="0" fill="hold" grpId="0" nodeType="withEffect">
                                  <p:stCondLst>
                                    <p:cond delay="2060"/>
                                  </p:stCondLst>
                                  <p:childTnLst>
                                    <p:set>
                                      <p:cBhvr>
                                        <p:cTn id="1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2" presetID="0" presetClass="path" presetSubtype="0" fill="hold" grpId="3" nodeType="withEffect">
                                  <p:stCondLst>
                                    <p:cond delay="2060"/>
                                  </p:stCondLst>
                                  <p:childTnLst>
                                    <p:animMotion origin="layout" path="M 0 0 L 0.0038 -0.0600 L -0.0023 -0.1067 E" pathEditMode="relative" ptsTypes="AAA">
                                      <p:cBhvr>
                                        <p:cTn id="143" dur="1100" fill="hold"/>
                                        <p:tgtEl>
                                          <p:spTgt spid="7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44" presetID="1" presetClass="exit" presetSubtype="0" fill="hold" grpId="1" nodeType="withEffect">
                                  <p:stCondLst>
                                    <p:cond delay="3160"/>
                                  </p:stCondLst>
                                  <p:childTnLst>
                                    <p:set>
                                      <p:cBhvr>
                                        <p:cTn id="1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6" presetID="1" presetClass="entr" presetSubtype="0" fill="hold" grpId="0" nodeType="withEffect">
                                  <p:stCondLst>
                                    <p:cond delay="2220"/>
                                  </p:stCondLst>
                                  <p:childTnLst>
                                    <p:set>
                                      <p:cBhvr>
                                        <p:cTn id="1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8" presetID="0" presetClass="path" presetSubtype="0" fill="hold" grpId="3" nodeType="withEffect">
                                  <p:stCondLst>
                                    <p:cond delay="2220"/>
                                  </p:stCondLst>
                                  <p:childTnLst>
                                    <p:animMotion origin="layout" path="M 0 0 L 0.0038 -0.0600 L -0.0023 -0.1067 E" pathEditMode="relative" ptsTypes="AAA">
                                      <p:cBhvr>
                                        <p:cTn id="149" dur="1100" fill="hold"/>
                                        <p:tgtEl>
                                          <p:spTgt spid="8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50" presetID="1" presetClass="exit" presetSubtype="0" fill="hold" grpId="1" nodeType="withEffect">
                                  <p:stCondLst>
                                    <p:cond delay="3320"/>
                                  </p:stCondLst>
                                  <p:childTnLst>
                                    <p:set>
                                      <p:cBhvr>
                                        <p:cTn id="1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2" presetID="1" presetClass="entr" presetSubtype="0" fill="hold" grpId="0" nodeType="withEffect">
                                  <p:stCondLst>
                                    <p:cond delay="2380"/>
                                  </p:stCondLst>
                                  <p:childTnLst>
                                    <p:set>
                                      <p:cBhvr>
                                        <p:cTn id="1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4" presetID="0" presetClass="path" presetSubtype="0" fill="hold" grpId="3" nodeType="withEffect">
                                  <p:stCondLst>
                                    <p:cond delay="2380"/>
                                  </p:stCondLst>
                                  <p:childTnLst>
                                    <p:animMotion origin="layout" path="M 0 0 L 0.0038 -0.0600 L -0.0023 -0.1067 E" pathEditMode="relative" ptsTypes="AAA">
                                      <p:cBhvr>
                                        <p:cTn id="155" dur="1100" fill="hold"/>
                                        <p:tgtEl>
                                          <p:spTgt spid="8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56" presetID="1" presetClass="exit" presetSubtype="0" fill="hold" grpId="1" nodeType="withEffect">
                                  <p:stCondLst>
                                    <p:cond delay="3480"/>
                                  </p:stCondLst>
                                  <p:childTnLst>
                                    <p:set>
                                      <p:cBhvr>
                                        <p:cTn id="1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8" presetID="1" presetClass="entr" presetSubtype="0" fill="hold" grpId="0" nodeType="withEffect">
                                  <p:stCondLst>
                                    <p:cond delay="2540"/>
                                  </p:stCondLst>
                                  <p:childTnLst>
                                    <p:set>
                                      <p:cBhvr>
                                        <p:cTn id="1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0" presetID="0" presetClass="path" presetSubtype="0" fill="hold" grpId="3" nodeType="withEffect">
                                  <p:stCondLst>
                                    <p:cond delay="2540"/>
                                  </p:stCondLst>
                                  <p:childTnLst>
                                    <p:animMotion origin="layout" path="M 0 0 L 0.0038 -0.0600 L -0.0023 -0.1067 E" pathEditMode="relative" ptsTypes="AAA">
                                      <p:cBhvr>
                                        <p:cTn id="161" dur="1100" fill="hold"/>
                                        <p:tgtEl>
                                          <p:spTgt spid="8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62" presetID="1" presetClass="exit" presetSubtype="0" fill="hold" grpId="1" nodeType="withEffect">
                                  <p:stCondLst>
                                    <p:cond delay="3640"/>
                                  </p:stCondLst>
                                  <p:childTnLst>
                                    <p:set>
                                      <p:cBhvr>
                                        <p:cTn id="1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4" presetID="1" presetClass="entr" presetSubtype="0" fill="hold" grpId="0" nodeType="withEffect">
                                  <p:stCondLst>
                                    <p:cond delay="2700"/>
                                  </p:stCondLst>
                                  <p:childTnLst>
                                    <p:set>
                                      <p:cBhvr>
                                        <p:cTn id="1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6" presetID="0" presetClass="path" presetSubtype="0" fill="hold" grpId="3" nodeType="withEffect">
                                  <p:stCondLst>
                                    <p:cond delay="2700"/>
                                  </p:stCondLst>
                                  <p:childTnLst>
                                    <p:animMotion origin="layout" path="M 0 0 L 0.0038 -0.0600 L -0.0023 -0.1067 E" pathEditMode="relative" ptsTypes="AAA">
                                      <p:cBhvr>
                                        <p:cTn id="167" dur="1100" fill="hold"/>
                                        <p:tgtEl>
                                          <p:spTgt spid="8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68" presetID="1" presetClass="exit" presetSubtype="0" fill="hold" grpId="1" nodeType="withEffect">
                                  <p:stCondLst>
                                    <p:cond delay="3800"/>
                                  </p:stCondLst>
                                  <p:childTnLst>
                                    <p:set>
                                      <p:cBhvr>
                                        <p:cTn id="1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0" presetID="1" presetClass="entr" presetSubtype="0" fill="hold" grpId="0" nodeType="withEffect">
                                  <p:stCondLst>
                                    <p:cond delay="2860"/>
                                  </p:stCondLst>
                                  <p:childTnLst>
                                    <p:set>
                                      <p:cBhvr>
                                        <p:cTn id="1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2" presetID="0" presetClass="path" presetSubtype="0" fill="hold" grpId="3" nodeType="withEffect">
                                  <p:stCondLst>
                                    <p:cond delay="2860"/>
                                  </p:stCondLst>
                                  <p:childTnLst>
                                    <p:animMotion origin="layout" path="M 0 0 L 0.0038 -0.0600 L -0.0023 -0.1067 E" pathEditMode="relative" ptsTypes="AAA">
                                      <p:cBhvr>
                                        <p:cTn id="173" dur="1100" fill="hold"/>
                                        <p:tgtEl>
                                          <p:spTgt spid="8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74" presetID="1" presetClass="exit" presetSubtype="0" fill="hold" grpId="1" nodeType="withEffect">
                                  <p:stCondLst>
                                    <p:cond delay="3960"/>
                                  </p:stCondLst>
                                  <p:childTnLst>
                                    <p:set>
                                      <p:cBhvr>
                                        <p:cTn id="1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6" presetID="1" presetClass="entr" presetSubtype="0" fill="hold" grpId="0" nodeType="withEffect">
                                  <p:stCondLst>
                                    <p:cond delay="3020"/>
                                  </p:stCondLst>
                                  <p:childTnLst>
                                    <p:set>
                                      <p:cBhvr>
                                        <p:cTn id="1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8" presetID="0" presetClass="path" presetSubtype="0" fill="hold" grpId="3" nodeType="withEffect">
                                  <p:stCondLst>
                                    <p:cond delay="3020"/>
                                  </p:stCondLst>
                                  <p:childTnLst>
                                    <p:animMotion origin="layout" path="M 0 0 L 0.0038 -0.0600 L -0.0023 -0.1067 E" pathEditMode="relative" ptsTypes="AAA">
                                      <p:cBhvr>
                                        <p:cTn id="179" dur="1100" fill="hold"/>
                                        <p:tgtEl>
                                          <p:spTgt spid="8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80" presetID="1" presetClass="exit" presetSubtype="0" fill="hold" grpId="1" nodeType="withEffect">
                                  <p:stCondLst>
                                    <p:cond delay="4120"/>
                                  </p:stCondLst>
                                  <p:childTnLst>
                                    <p:set>
                                      <p:cBhvr>
                                        <p:cTn id="1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2" fill="hold">
                      <p:stCondLst>
                        <p:cond delay="indefinite"/>
                      </p:stCondLst>
                      <p:childTnLst>
                        <p:par>
                          <p:cTn id="183" fill="hold">
                            <p:stCondLst>
                              <p:cond delay="0"/>
                            </p:stCondLst>
                            <p:childTnLst>
                              <p:par>
                                <p:cTn id="184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8" dur="3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9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91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2" presetID="1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4" presetID="0" presetClass="path" presetSubtype="0" fill="hold" grpId="3" nodeType="withEffect">
                                  <p:stCondLst>
                                    <p:cond delay="500"/>
                                  </p:stCondLst>
                                  <p:childTnLst>
                                    <p:animMotion origin="layout" path="M 0 0 L 0.0000 -0.0800 L -0.3300 -0.0800 L -0.3300 -0.2133 E" pathEditMode="relative" ptsTypes="AAAA">
                                      <p:cBhvr>
                                        <p:cTn id="195" dur="1500" fill="hold"/>
                                        <p:tgtEl>
                                          <p:spTgt spid="8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96" presetID="1" presetClass="exit" presetSubtype="0" fill="hold" grpId="1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1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8" presetID="1" presetClass="entr" presetSubtype="0" fill="hold" grpId="0" nodeType="with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1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0" presetID="0" presetClass="path" presetSubtype="0" fill="hold" grpId="3" nodeType="withEffect">
                                  <p:stCondLst>
                                    <p:cond delay="950"/>
                                  </p:stCondLst>
                                  <p:childTnLst>
                                    <p:animMotion origin="layout" path="M 0 0 L 0.0000 -0.0800 L -0.3300 -0.0800 L -0.3300 -0.2133 E" pathEditMode="relative" ptsTypes="AAAA">
                                      <p:cBhvr>
                                        <p:cTn id="201" dur="1500" fill="hold"/>
                                        <p:tgtEl>
                                          <p:spTgt spid="8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02" presetID="1" presetClass="exit" presetSubtype="0" fill="hold" grpId="1" nodeType="withEffect">
                                  <p:stCondLst>
                                    <p:cond delay="2450"/>
                                  </p:stCondLst>
                                  <p:childTnLst>
                                    <p:set>
                                      <p:cBhvr>
                                        <p:cTn id="2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4" presetID="1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2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6" presetID="0" presetClass="path" presetSubtype="0" fill="hold" grpId="3" nodeType="withEffect">
                                  <p:stCondLst>
                                    <p:cond delay="700"/>
                                  </p:stCondLst>
                                  <p:childTnLst>
                                    <p:animMotion origin="layout" path="M 0 0 L 0.0000 -0.0800 L -0.2475 -0.0800 L -0.2475 -0.2133 E" pathEditMode="relative" ptsTypes="AAAA">
                                      <p:cBhvr>
                                        <p:cTn id="207" dur="1500" fill="hold"/>
                                        <p:tgtEl>
                                          <p:spTgt spid="8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08" presetID="1" presetClass="exit" presetSubtype="0" fill="hold" grpId="1" nodeType="withEffect">
                                  <p:stCondLst>
                                    <p:cond delay="2200"/>
                                  </p:stCondLst>
                                  <p:childTnLst>
                                    <p:set>
                                      <p:cBhvr>
                                        <p:cTn id="2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0" presetID="1" presetClass="entr" presetSubtype="0" fill="hold" grpId="0" nodeType="withEffect">
                                  <p:stCondLst>
                                    <p:cond delay="1150"/>
                                  </p:stCondLst>
                                  <p:childTnLst>
                                    <p:set>
                                      <p:cBhvr>
                                        <p:cTn id="2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2" presetID="0" presetClass="path" presetSubtype="0" fill="hold" grpId="3" nodeType="withEffect">
                                  <p:stCondLst>
                                    <p:cond delay="1150"/>
                                  </p:stCondLst>
                                  <p:childTnLst>
                                    <p:animMotion origin="layout" path="M 0 0 L 0.0000 -0.0800 L -0.2475 -0.0800 L -0.2475 -0.2133 E" pathEditMode="relative" ptsTypes="AAAA">
                                      <p:cBhvr>
                                        <p:cTn id="213" dur="1500" fill="hold"/>
                                        <p:tgtEl>
                                          <p:spTgt spid="8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14" presetID="1" presetClass="exit" presetSubtype="0" fill="hold" grpId="1" nodeType="withEffect">
                                  <p:stCondLst>
                                    <p:cond delay="2650"/>
                                  </p:stCondLst>
                                  <p:childTnLst>
                                    <p:set>
                                      <p:cBhvr>
                                        <p:cTn id="2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6" presetID="1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2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8" presetID="0" presetClass="path" presetSubtype="0" fill="hold" grpId="3" nodeType="withEffect">
                                  <p:stCondLst>
                                    <p:cond delay="900"/>
                                  </p:stCondLst>
                                  <p:childTnLst>
                                    <p:animMotion origin="layout" path="M 0 0 L 0.0000 -0.0800 L -0.1650 -0.0800 L -0.1650 -0.2133 E" pathEditMode="relative" ptsTypes="AAAA">
                                      <p:cBhvr>
                                        <p:cTn id="219" dur="1500" fill="hold"/>
                                        <p:tgtEl>
                                          <p:spTgt spid="9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20" presetID="1" presetClass="exit" presetSubtype="0" fill="hold" grpId="1" nodeType="withEffect">
                                  <p:stCondLst>
                                    <p:cond delay="2400"/>
                                  </p:stCondLst>
                                  <p:childTnLst>
                                    <p:set>
                                      <p:cBhvr>
                                        <p:cTn id="2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2" presetID="1" presetClass="entr" presetSubtype="0" fill="hold" grpId="0" nodeType="withEffect">
                                  <p:stCondLst>
                                    <p:cond delay="1350"/>
                                  </p:stCondLst>
                                  <p:childTnLst>
                                    <p:set>
                                      <p:cBhvr>
                                        <p:cTn id="2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4" presetID="0" presetClass="path" presetSubtype="0" fill="hold" grpId="3" nodeType="withEffect">
                                  <p:stCondLst>
                                    <p:cond delay="1350"/>
                                  </p:stCondLst>
                                  <p:childTnLst>
                                    <p:animMotion origin="layout" path="M 0 0 L 0.0000 -0.0800 L -0.1650 -0.0800 L -0.1650 -0.2133 E" pathEditMode="relative" ptsTypes="AAAA">
                                      <p:cBhvr>
                                        <p:cTn id="225" dur="1500" fill="hold"/>
                                        <p:tgtEl>
                                          <p:spTgt spid="9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26" presetID="1" presetClass="exit" presetSubtype="0" fill="hold" grpId="1" nodeType="withEffect">
                                  <p:stCondLst>
                                    <p:cond delay="2850"/>
                                  </p:stCondLst>
                                  <p:childTnLst>
                                    <p:set>
                                      <p:cBhvr>
                                        <p:cTn id="2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8" presetID="1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2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0" presetID="0" presetClass="path" presetSubtype="0" fill="hold" grpId="3" nodeType="withEffect">
                                  <p:stCondLst>
                                    <p:cond delay="900"/>
                                  </p:stCondLst>
                                  <p:childTnLst>
                                    <p:animMotion origin="layout" path="M 0 0 L 0.0038 -0.0600 L -0.0023 -0.1067 E" pathEditMode="relative" ptsTypes="AAA">
                                      <p:cBhvr>
                                        <p:cTn id="231" dur="1100" fill="hold"/>
                                        <p:tgtEl>
                                          <p:spTgt spid="9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32" presetID="1" presetClass="exit" presetSubtype="0" fill="hold" grpId="1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2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4" presetID="1" presetClass="entr" presetSubtype="0" fill="hold" grpId="0" nodeType="withEffect">
                                  <p:stCondLst>
                                    <p:cond delay="1040"/>
                                  </p:stCondLst>
                                  <p:childTnLst>
                                    <p:set>
                                      <p:cBhvr>
                                        <p:cTn id="2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6" presetID="0" presetClass="path" presetSubtype="0" fill="hold" grpId="3" nodeType="withEffect">
                                  <p:stCondLst>
                                    <p:cond delay="1040"/>
                                  </p:stCondLst>
                                  <p:childTnLst>
                                    <p:animMotion origin="layout" path="M 0 0 L 0.0038 -0.0600 L -0.0023 -0.1067 E" pathEditMode="relative" ptsTypes="AAA">
                                      <p:cBhvr>
                                        <p:cTn id="237" dur="1100" fill="hold"/>
                                        <p:tgtEl>
                                          <p:spTgt spid="9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38" presetID="1" presetClass="exit" presetSubtype="0" fill="hold" grpId="1" nodeType="withEffect">
                                  <p:stCondLst>
                                    <p:cond delay="2140"/>
                                  </p:stCondLst>
                                  <p:childTnLst>
                                    <p:set>
                                      <p:cBhvr>
                                        <p:cTn id="2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0" presetID="1" presetClass="entr" presetSubtype="0" fill="hold" grpId="0" nodeType="withEffect">
                                  <p:stCondLst>
                                    <p:cond delay="1180"/>
                                  </p:stCondLst>
                                  <p:childTnLst>
                                    <p:set>
                                      <p:cBhvr>
                                        <p:cTn id="2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2" presetID="0" presetClass="path" presetSubtype="0" fill="hold" grpId="3" nodeType="withEffect">
                                  <p:stCondLst>
                                    <p:cond delay="1180"/>
                                  </p:stCondLst>
                                  <p:childTnLst>
                                    <p:animMotion origin="layout" path="M 0 0 L 0.0038 -0.0600 L -0.0023 -0.1067 E" pathEditMode="relative" ptsTypes="AAA">
                                      <p:cBhvr>
                                        <p:cTn id="243" dur="1100" fill="hold"/>
                                        <p:tgtEl>
                                          <p:spTgt spid="9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44" presetID="1" presetClass="exit" presetSubtype="0" fill="hold" grpId="1" nodeType="withEffect">
                                  <p:stCondLst>
                                    <p:cond delay="2280"/>
                                  </p:stCondLst>
                                  <p:childTnLst>
                                    <p:set>
                                      <p:cBhvr>
                                        <p:cTn id="2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6" presetID="1" presetClass="entr" presetSubtype="0" fill="hold" grpId="0" nodeType="withEffect">
                                  <p:stCondLst>
                                    <p:cond delay="1320"/>
                                  </p:stCondLst>
                                  <p:childTnLst>
                                    <p:set>
                                      <p:cBhvr>
                                        <p:cTn id="2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8" presetID="0" presetClass="path" presetSubtype="0" fill="hold" grpId="3" nodeType="withEffect">
                                  <p:stCondLst>
                                    <p:cond delay="1320"/>
                                  </p:stCondLst>
                                  <p:childTnLst>
                                    <p:animMotion origin="layout" path="M 0 0 L 0.0038 -0.0600 L -0.0023 -0.1067 E" pathEditMode="relative" ptsTypes="AAA">
                                      <p:cBhvr>
                                        <p:cTn id="249" dur="1100" fill="hold"/>
                                        <p:tgtEl>
                                          <p:spTgt spid="9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50" presetID="1" presetClass="exit" presetSubtype="0" fill="hold" grpId="1" nodeType="withEffect">
                                  <p:stCondLst>
                                    <p:cond delay="2420"/>
                                  </p:stCondLst>
                                  <p:childTnLst>
                                    <p:set>
                                      <p:cBhvr>
                                        <p:cTn id="2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2" presetID="1" presetClass="entr" presetSubtype="0" fill="hold" grpId="0" nodeType="withEffect">
                                  <p:stCondLst>
                                    <p:cond delay="1460"/>
                                  </p:stCondLst>
                                  <p:childTnLst>
                                    <p:set>
                                      <p:cBhvr>
                                        <p:cTn id="2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4" presetID="0" presetClass="path" presetSubtype="0" fill="hold" grpId="3" nodeType="withEffect">
                                  <p:stCondLst>
                                    <p:cond delay="1460"/>
                                  </p:stCondLst>
                                  <p:childTnLst>
                                    <p:animMotion origin="layout" path="M 0 0 L 0.0038 -0.0600 L -0.0023 -0.1067 E" pathEditMode="relative" ptsTypes="AAA">
                                      <p:cBhvr>
                                        <p:cTn id="255" dur="1100" fill="hold"/>
                                        <p:tgtEl>
                                          <p:spTgt spid="9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56" presetID="1" presetClass="exit" presetSubtype="0" fill="hold" grpId="1" nodeType="withEffect">
                                  <p:stCondLst>
                                    <p:cond delay="2560"/>
                                  </p:stCondLst>
                                  <p:childTnLst>
                                    <p:set>
                                      <p:cBhvr>
                                        <p:cTn id="2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8" presetID="1" presetClass="entr" presetSubtype="0" fill="hold" grpId="0" nodeType="withEffect">
                                  <p:stCondLst>
                                    <p:cond delay="1600"/>
                                  </p:stCondLst>
                                  <p:childTnLst>
                                    <p:set>
                                      <p:cBhvr>
                                        <p:cTn id="2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60" presetID="0" presetClass="path" presetSubtype="0" fill="hold" grpId="3" nodeType="withEffect">
                                  <p:stCondLst>
                                    <p:cond delay="1600"/>
                                  </p:stCondLst>
                                  <p:childTnLst>
                                    <p:animMotion origin="layout" path="M 0 0 L 0.0038 -0.0600 L -0.0023 -0.1067 E" pathEditMode="relative" ptsTypes="AAA">
                                      <p:cBhvr>
                                        <p:cTn id="261" dur="1100" fill="hold"/>
                                        <p:tgtEl>
                                          <p:spTgt spid="9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62" presetID="1" presetClass="exit" presetSubtype="0" fill="hold" grpId="1" nodeType="withEffect">
                                  <p:stCondLst>
                                    <p:cond delay="2700"/>
                                  </p:stCondLst>
                                  <p:childTnLst>
                                    <p:set>
                                      <p:cBhvr>
                                        <p:cTn id="2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64" presetID="1" presetClass="entr" presetSubtype="0" fill="hold" grpId="0" nodeType="withEffect">
                                  <p:stCondLst>
                                    <p:cond delay="1740"/>
                                  </p:stCondLst>
                                  <p:childTnLst>
                                    <p:set>
                                      <p:cBhvr>
                                        <p:cTn id="2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66" presetID="0" presetClass="path" presetSubtype="0" fill="hold" grpId="3" nodeType="withEffect">
                                  <p:stCondLst>
                                    <p:cond delay="1740"/>
                                  </p:stCondLst>
                                  <p:childTnLst>
                                    <p:animMotion origin="layout" path="M 0 0 L 0.0038 -0.0600 L -0.0023 -0.1067 E" pathEditMode="relative" ptsTypes="AAA">
                                      <p:cBhvr>
                                        <p:cTn id="267" dur="1100" fill="hold"/>
                                        <p:tgtEl>
                                          <p:spTgt spid="9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68" presetID="1" presetClass="exit" presetSubtype="0" fill="hold" grpId="1" nodeType="withEffect">
                                  <p:stCondLst>
                                    <p:cond delay="2840"/>
                                  </p:stCondLst>
                                  <p:childTnLst>
                                    <p:set>
                                      <p:cBhvr>
                                        <p:cTn id="2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0" presetID="1" presetClass="entr" presetSubtype="0" fill="hold" grpId="0" nodeType="withEffect">
                                  <p:stCondLst>
                                    <p:cond delay="1880"/>
                                  </p:stCondLst>
                                  <p:childTnLst>
                                    <p:set>
                                      <p:cBhvr>
                                        <p:cTn id="2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2" presetID="0" presetClass="path" presetSubtype="0" fill="hold" grpId="3" nodeType="withEffect">
                                  <p:stCondLst>
                                    <p:cond delay="1880"/>
                                  </p:stCondLst>
                                  <p:childTnLst>
                                    <p:animMotion origin="layout" path="M 0 0 L 0.0038 -0.0600 L -0.0023 -0.1067 E" pathEditMode="relative" ptsTypes="AAA">
                                      <p:cBhvr>
                                        <p:cTn id="273" dur="1100" fill="hold"/>
                                        <p:tgtEl>
                                          <p:spTgt spid="9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74" presetID="1" presetClass="exit" presetSubtype="0" fill="hold" grpId="1" nodeType="withEffect">
                                  <p:stCondLst>
                                    <p:cond delay="2980"/>
                                  </p:stCondLst>
                                  <p:childTnLst>
                                    <p:set>
                                      <p:cBhvr>
                                        <p:cTn id="2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6" presetID="1" presetClass="entr" presetSubtype="0" fill="hold" grpId="0" nodeType="withEffect">
                                  <p:stCondLst>
                                    <p:cond delay="2020"/>
                                  </p:stCondLst>
                                  <p:childTnLst>
                                    <p:set>
                                      <p:cBhvr>
                                        <p:cTn id="2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8" presetID="0" presetClass="path" presetSubtype="0" fill="hold" grpId="3" nodeType="withEffect">
                                  <p:stCondLst>
                                    <p:cond delay="2020"/>
                                  </p:stCondLst>
                                  <p:childTnLst>
                                    <p:animMotion origin="layout" path="M 0 0 L 0.0038 -0.0600 L -0.0023 -0.1067 E" pathEditMode="relative" ptsTypes="AAA">
                                      <p:cBhvr>
                                        <p:cTn id="279" dur="1100" fill="hold"/>
                                        <p:tgtEl>
                                          <p:spTgt spid="10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80" presetID="1" presetClass="exit" presetSubtype="0" fill="hold" grpId="1" nodeType="withEffect">
                                  <p:stCondLst>
                                    <p:cond delay="3120"/>
                                  </p:stCondLst>
                                  <p:childTnLst>
                                    <p:set>
                                      <p:cBhvr>
                                        <p:cTn id="2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82" presetID="1" presetClass="entr" presetSubtype="0" fill="hold" grpId="0" nodeType="withEffect">
                                  <p:stCondLst>
                                    <p:cond delay="2160"/>
                                  </p:stCondLst>
                                  <p:childTnLst>
                                    <p:set>
                                      <p:cBhvr>
                                        <p:cTn id="2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84" presetID="0" presetClass="path" presetSubtype="0" fill="hold" grpId="3" nodeType="withEffect">
                                  <p:stCondLst>
                                    <p:cond delay="2160"/>
                                  </p:stCondLst>
                                  <p:childTnLst>
                                    <p:animMotion origin="layout" path="M 0 0 L 0.0038 -0.0600 L -0.0023 -0.1067 E" pathEditMode="relative" ptsTypes="AAA">
                                      <p:cBhvr>
                                        <p:cTn id="285" dur="1100" fill="hold"/>
                                        <p:tgtEl>
                                          <p:spTgt spid="10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86" presetID="1" presetClass="exit" presetSubtype="0" fill="hold" grpId="1" nodeType="withEffect">
                                  <p:stCondLst>
                                    <p:cond delay="3260"/>
                                  </p:stCondLst>
                                  <p:childTnLst>
                                    <p:set>
                                      <p:cBhvr>
                                        <p:cTn id="2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88" presetID="1" presetClass="entr" presetSubtype="0" fill="hold" grpId="0" nodeType="withEffect">
                                  <p:stCondLst>
                                    <p:cond delay="2300"/>
                                  </p:stCondLst>
                                  <p:childTnLst>
                                    <p:set>
                                      <p:cBhvr>
                                        <p:cTn id="2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0" presetID="0" presetClass="path" presetSubtype="0" fill="hold" grpId="3" nodeType="withEffect">
                                  <p:stCondLst>
                                    <p:cond delay="2300"/>
                                  </p:stCondLst>
                                  <p:childTnLst>
                                    <p:animMotion origin="layout" path="M 0 0 L 0.0038 -0.0600 L -0.0023 -0.1067 E" pathEditMode="relative" ptsTypes="AAA">
                                      <p:cBhvr>
                                        <p:cTn id="291" dur="1100" fill="hold"/>
                                        <p:tgtEl>
                                          <p:spTgt spid="10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92" presetID="1" presetClass="exit" presetSubtype="0" fill="hold" grpId="1" nodeType="withEffect">
                                  <p:stCondLst>
                                    <p:cond delay="3400"/>
                                  </p:stCondLst>
                                  <p:childTnLst>
                                    <p:set>
                                      <p:cBhvr>
                                        <p:cTn id="2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4" presetID="1" presetClass="entr" presetSubtype="0" fill="hold" grpId="0" nodeType="withEffect">
                                  <p:stCondLst>
                                    <p:cond delay="2440"/>
                                  </p:stCondLst>
                                  <p:childTnLst>
                                    <p:set>
                                      <p:cBhvr>
                                        <p:cTn id="2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6" presetID="0" presetClass="path" presetSubtype="0" fill="hold" grpId="3" nodeType="withEffect">
                                  <p:stCondLst>
                                    <p:cond delay="2440"/>
                                  </p:stCondLst>
                                  <p:childTnLst>
                                    <p:animMotion origin="layout" path="M 0 0 L 0.0038 -0.0600 L -0.0023 -0.1067 E" pathEditMode="relative" ptsTypes="AAA">
                                      <p:cBhvr>
                                        <p:cTn id="297" dur="1100" fill="hold"/>
                                        <p:tgtEl>
                                          <p:spTgt spid="10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98" presetID="1" presetClass="exit" presetSubtype="0" fill="hold" grpId="1" nodeType="withEffect">
                                  <p:stCondLst>
                                    <p:cond delay="3540"/>
                                  </p:stCondLst>
                                  <p:childTnLst>
                                    <p:set>
                                      <p:cBhvr>
                                        <p:cTn id="2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00" presetID="1" presetClass="entr" presetSubtype="0" fill="hold" grpId="0" nodeType="withEffect">
                                  <p:stCondLst>
                                    <p:cond delay="2580"/>
                                  </p:stCondLst>
                                  <p:childTnLst>
                                    <p:set>
                                      <p:cBhvr>
                                        <p:cTn id="3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02" presetID="0" presetClass="path" presetSubtype="0" fill="hold" grpId="3" nodeType="withEffect">
                                  <p:stCondLst>
                                    <p:cond delay="2580"/>
                                  </p:stCondLst>
                                  <p:childTnLst>
                                    <p:animMotion origin="layout" path="M 0 0 L 0.0038 -0.0600 L -0.0023 -0.1067 E" pathEditMode="relative" ptsTypes="AAA">
                                      <p:cBhvr>
                                        <p:cTn id="303" dur="1100" fill="hold"/>
                                        <p:tgtEl>
                                          <p:spTgt spid="10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04" presetID="1" presetClass="exit" presetSubtype="0" fill="hold" grpId="1" nodeType="withEffect">
                                  <p:stCondLst>
                                    <p:cond delay="3680"/>
                                  </p:stCondLst>
                                  <p:childTnLst>
                                    <p:set>
                                      <p:cBhvr>
                                        <p:cTn id="3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06" presetID="1" presetClass="entr" presetSubtype="0" fill="hold" grpId="0" nodeType="withEffect">
                                  <p:stCondLst>
                                    <p:cond delay="2720"/>
                                  </p:stCondLst>
                                  <p:childTnLst>
                                    <p:set>
                                      <p:cBhvr>
                                        <p:cTn id="3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08" presetID="0" presetClass="path" presetSubtype="0" fill="hold" grpId="3" nodeType="withEffect">
                                  <p:stCondLst>
                                    <p:cond delay="2720"/>
                                  </p:stCondLst>
                                  <p:childTnLst>
                                    <p:animMotion origin="layout" path="M 0 0 L 0.0038 -0.0600 L -0.0023 -0.1067 E" pathEditMode="relative" ptsTypes="AAA">
                                      <p:cBhvr>
                                        <p:cTn id="309" dur="1100" fill="hold"/>
                                        <p:tgtEl>
                                          <p:spTgt spid="10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10" presetID="1" presetClass="exit" presetSubtype="0" fill="hold" grpId="1" nodeType="withEffect">
                                  <p:stCondLst>
                                    <p:cond delay="3820"/>
                                  </p:stCondLst>
                                  <p:childTnLst>
                                    <p:set>
                                      <p:cBhvr>
                                        <p:cTn id="3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2" presetID="1" presetClass="entr" presetSubtype="0" fill="hold" grpId="0" nodeType="withEffect">
                                  <p:stCondLst>
                                    <p:cond delay="2860"/>
                                  </p:stCondLst>
                                  <p:childTnLst>
                                    <p:set>
                                      <p:cBhvr>
                                        <p:cTn id="3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4" presetID="0" presetClass="path" presetSubtype="0" fill="hold" grpId="3" nodeType="withEffect">
                                  <p:stCondLst>
                                    <p:cond delay="2860"/>
                                  </p:stCondLst>
                                  <p:childTnLst>
                                    <p:animMotion origin="layout" path="M 0 0 L 0.0038 -0.0600 L -0.0023 -0.1067 E" pathEditMode="relative" ptsTypes="AAA">
                                      <p:cBhvr>
                                        <p:cTn id="315" dur="1100" fill="hold"/>
                                        <p:tgtEl>
                                          <p:spTgt spid="10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16" presetID="1" presetClass="exit" presetSubtype="0" fill="hold" grpId="1" nodeType="withEffect">
                                  <p:stCondLst>
                                    <p:cond delay="3960"/>
                                  </p:stCondLst>
                                  <p:childTnLst>
                                    <p:set>
                                      <p:cBhvr>
                                        <p:cTn id="3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8" presetID="1" presetClass="entr" presetSubtype="0" fill="hold" grpId="0" nodeType="withEffect">
                                  <p:stCondLst>
                                    <p:cond delay="3000"/>
                                  </p:stCondLst>
                                  <p:childTnLst>
                                    <p:set>
                                      <p:cBhvr>
                                        <p:cTn id="3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20" presetID="0" presetClass="path" presetSubtype="0" fill="hold" grpId="3" nodeType="withEffect">
                                  <p:stCondLst>
                                    <p:cond delay="3000"/>
                                  </p:stCondLst>
                                  <p:childTnLst>
                                    <p:animMotion origin="layout" path="M 0 0 L 0.0038 -0.0600 L -0.0023 -0.1067 E" pathEditMode="relative" ptsTypes="AAA">
                                      <p:cBhvr>
                                        <p:cTn id="321" dur="1100" fill="hold"/>
                                        <p:tgtEl>
                                          <p:spTgt spid="10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22" presetID="1" presetClass="exit" presetSubtype="0" fill="hold" grpId="1" nodeType="withEffect">
                                  <p:stCondLst>
                                    <p:cond delay="4100"/>
                                  </p:stCondLst>
                                  <p:childTnLst>
                                    <p:set>
                                      <p:cBhvr>
                                        <p:cTn id="3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24" presetID="1" presetClass="entr" presetSubtype="0" fill="hold" grpId="0" nodeType="withEffect">
                                  <p:stCondLst>
                                    <p:cond delay="3140"/>
                                  </p:stCondLst>
                                  <p:childTnLst>
                                    <p:set>
                                      <p:cBhvr>
                                        <p:cTn id="3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26" presetID="0" presetClass="path" presetSubtype="0" fill="hold" grpId="3" nodeType="withEffect">
                                  <p:stCondLst>
                                    <p:cond delay="3140"/>
                                  </p:stCondLst>
                                  <p:childTnLst>
                                    <p:animMotion origin="layout" path="M 0 0 L 0.0038 -0.0600 L -0.0023 -0.1067 E" pathEditMode="relative" ptsTypes="AAA">
                                      <p:cBhvr>
                                        <p:cTn id="327" dur="1100" fill="hold"/>
                                        <p:tgtEl>
                                          <p:spTgt spid="10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28" presetID="1" presetClass="exit" presetSubtype="0" fill="hold" grpId="1" nodeType="withEffect">
                                  <p:stCondLst>
                                    <p:cond delay="4240"/>
                                  </p:stCondLst>
                                  <p:childTnLst>
                                    <p:set>
                                      <p:cBhvr>
                                        <p:cTn id="3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0" presetID="1" presetClass="entr" presetSubtype="0" fill="hold" grpId="0" nodeType="withEffect">
                                  <p:stCondLst>
                                    <p:cond delay="3280"/>
                                  </p:stCondLst>
                                  <p:childTnLst>
                                    <p:set>
                                      <p:cBhvr>
                                        <p:cTn id="3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2" presetID="0" presetClass="path" presetSubtype="0" fill="hold" grpId="3" nodeType="withEffect">
                                  <p:stCondLst>
                                    <p:cond delay="3280"/>
                                  </p:stCondLst>
                                  <p:childTnLst>
                                    <p:animMotion origin="layout" path="M 0 0 L 0.0038 -0.0600 L -0.0023 -0.1067 E" pathEditMode="relative" ptsTypes="AAA">
                                      <p:cBhvr>
                                        <p:cTn id="333" dur="1100" fill="hold"/>
                                        <p:tgtEl>
                                          <p:spTgt spid="10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34" presetID="1" presetClass="exit" presetSubtype="0" fill="hold" grpId="1" nodeType="withEffect">
                                  <p:stCondLst>
                                    <p:cond delay="4380"/>
                                  </p:stCondLst>
                                  <p:childTnLst>
                                    <p:set>
                                      <p:cBhvr>
                                        <p:cTn id="3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6" presetID="10" presetClass="exit" presetSubtype="0" fill="hold" grpId="1" nodeType="withEffect">
                                  <p:stCondLst>
                                    <p:cond delay="12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37" dur="2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38" dur="1" fill="hold">
                                          <p:stCondLst>
                                            <p:cond delay="249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9" presetID="10" presetClass="exit" presetSubtype="0" fill="hold" grpId="1" nodeType="withEffect">
                                  <p:stCondLst>
                                    <p:cond delay="15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40" dur="1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41" dur="1" fill="hold">
                                          <p:stCondLst>
                                            <p:cond delay="149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42" presetID="1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3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44" presetID="0" presetClass="path" presetSubtype="0" fill="hold" grpId="3" nodeType="withEffect">
                                  <p:stCondLst>
                                    <p:cond delay="1300"/>
                                  </p:stCondLst>
                                  <p:childTnLst>
                                    <p:animMotion origin="layout" path="M 0 0 L 0.0075 -0.0467 E" pathEditMode="relative" ptsTypes="AA">
                                      <p:cBhvr>
                                        <p:cTn id="345" dur="1500" fill="hold"/>
                                        <p:tgtEl>
                                          <p:spTgt spid="1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46" presetID="1" presetClass="entr" presetSubtype="0" fill="hold" grpId="0" nodeType="withEffect">
                                  <p:stCondLst>
                                    <p:cond delay="1450"/>
                                  </p:stCondLst>
                                  <p:childTnLst>
                                    <p:set>
                                      <p:cBhvr>
                                        <p:cTn id="3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48" presetID="0" presetClass="path" presetSubtype="0" fill="hold" grpId="3" nodeType="withEffect">
                                  <p:stCondLst>
                                    <p:cond delay="1450"/>
                                  </p:stCondLst>
                                  <p:childTnLst>
                                    <p:animMotion origin="layout" path="M 0 0 L 0.0075 -0.0667 E" pathEditMode="relative" ptsTypes="AA">
                                      <p:cBhvr>
                                        <p:cTn id="349" dur="1500" fill="hold"/>
                                        <p:tgtEl>
                                          <p:spTgt spid="1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50" presetID="1" presetClass="entr" presetSubtype="0" fill="hold" grpId="0" nodeType="withEffect">
                                  <p:stCondLst>
                                    <p:cond delay="1600"/>
                                  </p:stCondLst>
                                  <p:childTnLst>
                                    <p:set>
                                      <p:cBhvr>
                                        <p:cTn id="3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2" presetID="0" presetClass="path" presetSubtype="0" fill="hold" grpId="3" nodeType="withEffect">
                                  <p:stCondLst>
                                    <p:cond delay="1600"/>
                                  </p:stCondLst>
                                  <p:childTnLst>
                                    <p:animMotion origin="layout" path="M 0 0 L 0.0075 -0.0867 E" pathEditMode="relative" ptsTypes="AA">
                                      <p:cBhvr>
                                        <p:cTn id="353" dur="1500" fill="hold"/>
                                        <p:tgtEl>
                                          <p:spTgt spid="1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54" presetID="1" presetClass="entr" presetSubtype="0" fill="hold" grpId="0" nodeType="with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3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6" presetID="0" presetClass="path" presetSubtype="0" fill="hold" grpId="3" nodeType="withEffect">
                                  <p:stCondLst>
                                    <p:cond delay="1750"/>
                                  </p:stCondLst>
                                  <p:childTnLst>
                                    <p:animMotion origin="layout" path="M 0 0 L 0.0075 -0.0467 E" pathEditMode="relative" ptsTypes="AA">
                                      <p:cBhvr>
                                        <p:cTn id="357" dur="1500" fill="hold"/>
                                        <p:tgtEl>
                                          <p:spTgt spid="11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58" presetID="1" presetClass="entr" presetSubtype="0" fill="hold" grpId="0" nodeType="withEffect">
                                  <p:stCondLst>
                                    <p:cond delay="1900"/>
                                  </p:stCondLst>
                                  <p:childTnLst>
                                    <p:set>
                                      <p:cBhvr>
                                        <p:cTn id="3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60" presetID="0" presetClass="path" presetSubtype="0" fill="hold" grpId="3" nodeType="withEffect">
                                  <p:stCondLst>
                                    <p:cond delay="1900"/>
                                  </p:stCondLst>
                                  <p:childTnLst>
                                    <p:animMotion origin="layout" path="M 0 0 L 0.0075 -0.0667 E" pathEditMode="relative" ptsTypes="AA">
                                      <p:cBhvr>
                                        <p:cTn id="361" dur="1500" fill="hold"/>
                                        <p:tgtEl>
                                          <p:spTgt spid="11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62" presetID="1" presetClass="entr" presetSubtype="0" fill="hold" grpId="0" nodeType="withEffect">
                                  <p:stCondLst>
                                    <p:cond delay="2050"/>
                                  </p:stCondLst>
                                  <p:childTnLst>
                                    <p:set>
                                      <p:cBhvr>
                                        <p:cTn id="3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64" presetID="0" presetClass="path" presetSubtype="0" fill="hold" grpId="3" nodeType="withEffect">
                                  <p:stCondLst>
                                    <p:cond delay="2050"/>
                                  </p:stCondLst>
                                  <p:childTnLst>
                                    <p:animMotion origin="layout" path="M 0 0 L 0.0075 -0.0867 E" pathEditMode="relative" ptsTypes="AA">
                                      <p:cBhvr>
                                        <p:cTn id="365" dur="1500" fill="hold"/>
                                        <p:tgtEl>
                                          <p:spTgt spid="11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66" presetID="1" presetClass="entr" presetSubtype="0" fill="hold" grpId="0" nodeType="withEffect">
                                  <p:stCondLst>
                                    <p:cond delay="2200"/>
                                  </p:stCondLst>
                                  <p:childTnLst>
                                    <p:set>
                                      <p:cBhvr>
                                        <p:cTn id="3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68" presetID="0" presetClass="path" presetSubtype="0" fill="hold" grpId="3" nodeType="withEffect">
                                  <p:stCondLst>
                                    <p:cond delay="2200"/>
                                  </p:stCondLst>
                                  <p:childTnLst>
                                    <p:animMotion origin="layout" path="M 0 0 L 0.0075 -0.0467 E" pathEditMode="relative" ptsTypes="AA">
                                      <p:cBhvr>
                                        <p:cTn id="369" dur="1500" fill="hold"/>
                                        <p:tgtEl>
                                          <p:spTgt spid="11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70" presetID="1" presetClass="entr" presetSubtype="0" fill="hold" grpId="0" nodeType="withEffect">
                                  <p:stCondLst>
                                    <p:cond delay="2350"/>
                                  </p:stCondLst>
                                  <p:childTnLst>
                                    <p:set>
                                      <p:cBhvr>
                                        <p:cTn id="3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2" presetID="0" presetClass="path" presetSubtype="0" fill="hold" grpId="3" nodeType="withEffect">
                                  <p:stCondLst>
                                    <p:cond delay="2350"/>
                                  </p:stCondLst>
                                  <p:childTnLst>
                                    <p:animMotion origin="layout" path="M 0 0 L 0.0075 -0.0667 E" pathEditMode="relative" ptsTypes="AA">
                                      <p:cBhvr>
                                        <p:cTn id="373" dur="1500" fill="hold"/>
                                        <p:tgtEl>
                                          <p:spTgt spid="11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4" fill="hold">
                      <p:stCondLst>
                        <p:cond delay="indefinite"/>
                      </p:stCondLst>
                      <p:childTnLst>
                        <p:par>
                          <p:cTn id="375" fill="hold">
                            <p:stCondLst>
                              <p:cond delay="0"/>
                            </p:stCondLst>
                            <p:childTnLst>
                              <p:par>
                                <p:cTn id="376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0" dur="3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1" presetID="0" presetClass="path" presetSubtype="0" fill="hold" grpId="3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0.0075 0.1200 E" pathEditMode="relative" ptsTypes="AA">
                                      <p:cBhvr>
                                        <p:cTn id="382" dur="900" fill="hold"/>
                                        <p:tgtEl>
                                          <p:spTgt spid="5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3" fill="hold">
                            <p:stCondLst>
                              <p:cond delay="900"/>
                            </p:stCondLst>
                            <p:childTnLst>
                              <p:par>
                                <p:cTn id="384" presetID="10" presetClass="exit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85" dur="4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86" dur="1" fill="hold">
                                          <p:stCondLst>
                                            <p:cond delay="399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8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9" dur="4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0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91" dur="6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92" dur="1" fill="hold">
                                          <p:stCondLst>
                                            <p:cond delay="599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3" presetID="0" presetClass="path" presetSubtype="0" fill="hold" grpId="3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0.0075 -0.0947 E" pathEditMode="relative" ptsTypes="AA">
                                      <p:cBhvr>
                                        <p:cTn id="394" dur="800" fill="hold"/>
                                        <p:tgtEl>
                                          <p:spTgt spid="6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5" fill="hold">
                            <p:stCondLst>
                              <p:cond delay="1700"/>
                            </p:stCondLst>
                            <p:childTnLst>
                              <p:par>
                                <p:cTn id="396" presetID="10" presetClass="exit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97" dur="4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98" dur="1" fill="hold">
                                          <p:stCondLst>
                                            <p:cond delay="399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1" dur="4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2" presetID="0" presetClass="path" presetSubtype="0" fill="hold" grpId="3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0.0800 E" pathEditMode="relative" ptsTypes="AA">
                                      <p:cBhvr>
                                        <p:cTn id="403" dur="12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404" presetID="10" presetClass="exit" presetSubtype="0" fill="hold" grpId="1" nodeType="withEffect">
                                  <p:stCondLst>
                                    <p:cond delay="9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05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06" dur="1" fill="hold">
                                          <p:stCondLst>
                                            <p:cond delay="3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07" presetID="0" presetClass="path" presetSubtype="0" fill="hold" grpId="3" nodeType="withEffect">
                                  <p:stCondLst>
                                    <p:cond delay="200"/>
                                  </p:stCondLst>
                                  <p:childTnLst>
                                    <p:animMotion origin="layout" path="M 0 0 L 0.0000 0.0800 E" pathEditMode="relative" ptsTypes="AA">
                                      <p:cBhvr>
                                        <p:cTn id="408" dur="12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409" presetID="10" presetClass="exit" presetSubtype="0" fill="hold" grpId="1" nodeType="withEffect">
                                  <p:stCondLst>
                                    <p:cond delay="11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10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11" dur="1" fill="hold">
                                          <p:stCondLst>
                                            <p:cond delay="399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2" presetID="0" presetClass="path" presetSubtype="0" fill="hold" grpId="3" nodeType="withEffect">
                                  <p:stCondLst>
                                    <p:cond delay="400"/>
                                  </p:stCondLst>
                                  <p:childTnLst>
                                    <p:animMotion origin="layout" path="M 0 0 L 0.0000 0.0800 E" pathEditMode="relative" ptsTypes="AA">
                                      <p:cBhvr>
                                        <p:cTn id="413" dur="12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414" presetID="10" presetClass="exit" presetSubtype="0" fill="hold" grpId="1" nodeType="withEffect">
                                  <p:stCondLst>
                                    <p:cond delay="13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15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16" dur="1" fill="hold">
                                          <p:stCondLst>
                                            <p:cond delay="39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7" fill="hold">
                      <p:stCondLst>
                        <p:cond delay="indefinite"/>
                      </p:stCondLst>
                      <p:childTnLst>
                        <p:par>
                          <p:cTn id="418" fill="hold">
                            <p:stCondLst>
                              <p:cond delay="0"/>
                            </p:stCondLst>
                            <p:childTnLst>
                              <p:par>
                                <p:cTn id="41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3" dur="3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4" presetID="0" presetClass="path" presetSubtype="0" fill="hold" grpId="3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1725 0.0000 L 0.1725 -0.1373 L 0.3375 -0.1373 E" pathEditMode="relative" ptsTypes="AAAA">
                                      <p:cBhvr>
                                        <p:cTn id="425" dur="1800" fill="hold"/>
                                        <p:tgtEl>
                                          <p:spTgt spid="5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426" presetID="10" presetClass="exit" presetSubtype="0" fill="hold" grpId="1" nodeType="withEffect">
                                  <p:stCondLst>
                                    <p:cond delay="18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27" dur="4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28" dur="1" fill="hold">
                                          <p:stCondLst>
                                            <p:cond delay="399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29" presetID="0" presetClass="path" presetSubtype="0" fill="hold" grpId="3" nodeType="withEffect">
                                  <p:stCondLst>
                                    <p:cond delay="400"/>
                                  </p:stCondLst>
                                  <p:childTnLst>
                                    <p:animMotion origin="layout" path="M 0 0 L 0.0750 0.0000 L 0.0750 -0.1373 L 0.2400 -0.1373 E" pathEditMode="relative" ptsTypes="AAAA">
                                      <p:cBhvr>
                                        <p:cTn id="430" dur="1800" fill="hold"/>
                                        <p:tgtEl>
                                          <p:spTgt spid="5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431" presetID="10" presetClass="exit" presetSubtype="0" fill="hold" grpId="1" nodeType="withEffect">
                                  <p:stCondLst>
                                    <p:cond delay="22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32" dur="4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33" dur="1" fill="hold">
                                          <p:stCondLst>
                                            <p:cond delay="399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4" presetID="6" presetClass="emph" presetSubtype="0" repeatCount="4000" fill="hold" grpId="2" nodeType="withEffect">
                                  <p:stCondLst>
                                    <p:cond delay="1700"/>
                                  </p:stCondLst>
                                  <p:childTnLst>
                                    <p:animScale>
                                      <p:cBhvr>
                                        <p:cTn id="435" dur="300" autoRev="1" fill="hold"/>
                                        <p:tgtEl>
                                          <p:spTgt spid="17"/>
                                        </p:tgtEl>
                                      </p:cBhvr>
                                      <p:by x="140000" y="140000"/>
                                    </p:animScale>
                                  </p:childTnLst>
                                </p:cTn>
                              </p:par>
                              <p:par>
                                <p:cTn id="436" presetID="6" presetClass="emph" presetSubtype="0" repeatCount="4000" fill="hold" grpId="2" nodeType="withEffect">
                                  <p:stCondLst>
                                    <p:cond delay="1700"/>
                                  </p:stCondLst>
                                  <p:childTnLst>
                                    <p:animScale>
                                      <p:cBhvr>
                                        <p:cTn id="437" dur="300" autoRev="1" fill="hold"/>
                                        <p:tgtEl>
                                          <p:spTgt spid="18"/>
                                        </p:tgtEl>
                                      </p:cBhvr>
                                      <p:by x="140000" y="14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8" fill="hold">
                      <p:stCondLst>
                        <p:cond delay="indefinite"/>
                      </p:stCondLst>
                      <p:childTnLst>
                        <p:par>
                          <p:cTn id="439" fill="hold">
                            <p:stCondLst>
                              <p:cond delay="0"/>
                            </p:stCondLst>
                            <p:childTnLst>
                              <p:par>
                                <p:cTn id="440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4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4" dur="3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5" presetID="22" presetClass="exit" presetSubtype="1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up)">
                                      <p:cBhvr>
                                        <p:cTn id="446" dur="22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47" dur="1" fill="hold">
                                          <p:stCondLst>
                                            <p:cond delay="219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48" presetID="10" presetClass="exit" presetSubtype="0" fill="hold" grpId="1" nodeType="withEffect">
                                  <p:stCondLst>
                                    <p:cond delay="3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49" dur="6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50" dur="1" fill="hold">
                                          <p:stCondLst>
                                            <p:cond delay="599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1" presetID="10" presetClass="exit" presetSubtype="0" fill="hold" grpId="1" nodeType="withEffect">
                                  <p:stCondLst>
                                    <p:cond delay="3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52" dur="6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53" dur="1" fill="hold">
                                          <p:stCondLst>
                                            <p:cond delay="599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4" presetID="1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4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6" presetID="0" presetClass="path" presetSubtype="0" fill="hold" grpId="3" nodeType="with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0 0 L 0.0000 0.1267 L -0.2588 0.1267 E" pathEditMode="relative" ptsTypes="AAA">
                                      <p:cBhvr>
                                        <p:cTn id="457" dur="1600" fill="hold"/>
                                        <p:tgtEl>
                                          <p:spTgt spid="11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458" presetID="1" presetClass="exit" presetSubtype="0" fill="hold" grpId="1" nodeType="withEffect">
                                  <p:stCondLst>
                                    <p:cond delay="1900"/>
                                  </p:stCondLst>
                                  <p:childTnLst>
                                    <p:set>
                                      <p:cBhvr>
                                        <p:cTn id="4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60" presetID="1" presetClass="entr" presetSubtype="0" fill="hold" grpId="0" nodeType="withEffect">
                                  <p:stCondLst>
                                    <p:cond delay="580"/>
                                  </p:stCondLst>
                                  <p:childTnLst>
                                    <p:set>
                                      <p:cBhvr>
                                        <p:cTn id="4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62" presetID="0" presetClass="path" presetSubtype="0" fill="hold" grpId="3" nodeType="withEffect">
                                  <p:stCondLst>
                                    <p:cond delay="580"/>
                                  </p:stCondLst>
                                  <p:childTnLst>
                                    <p:animMotion origin="layout" path="M 0 0 L 0.0000 0.1267 L -0.2588 0.1267 E" pathEditMode="relative" ptsTypes="AAA">
                                      <p:cBhvr>
                                        <p:cTn id="463" dur="1600" fill="hold"/>
                                        <p:tgtEl>
                                          <p:spTgt spid="11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464" presetID="1" presetClass="exit" presetSubtype="0" fill="hold" grpId="1" nodeType="withEffect">
                                  <p:stCondLst>
                                    <p:cond delay="2180"/>
                                  </p:stCondLst>
                                  <p:childTnLst>
                                    <p:set>
                                      <p:cBhvr>
                                        <p:cTn id="4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66" presetID="1" presetClass="entr" presetSubtype="0" fill="hold" grpId="0" nodeType="withEffect">
                                  <p:stCondLst>
                                    <p:cond delay="860"/>
                                  </p:stCondLst>
                                  <p:childTnLst>
                                    <p:set>
                                      <p:cBhvr>
                                        <p:cTn id="4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68" presetID="0" presetClass="path" presetSubtype="0" fill="hold" grpId="3" nodeType="withEffect">
                                  <p:stCondLst>
                                    <p:cond delay="860"/>
                                  </p:stCondLst>
                                  <p:childTnLst>
                                    <p:animMotion origin="layout" path="M 0 0 L 0.0000 0.1267 L -0.2588 0.1267 E" pathEditMode="relative" ptsTypes="AAA">
                                      <p:cBhvr>
                                        <p:cTn id="469" dur="1600" fill="hold"/>
                                        <p:tgtEl>
                                          <p:spTgt spid="12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470" presetID="1" presetClass="exit" presetSubtype="0" fill="hold" grpId="1" nodeType="withEffect">
                                  <p:stCondLst>
                                    <p:cond delay="2460"/>
                                  </p:stCondLst>
                                  <p:childTnLst>
                                    <p:set>
                                      <p:cBhvr>
                                        <p:cTn id="4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2" presetID="1" presetClass="entr" presetSubtype="0" fill="hold" grpId="0" nodeType="withEffect">
                                  <p:stCondLst>
                                    <p:cond delay="1140"/>
                                  </p:stCondLst>
                                  <p:childTnLst>
                                    <p:set>
                                      <p:cBhvr>
                                        <p:cTn id="4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4" presetID="0" presetClass="path" presetSubtype="0" fill="hold" grpId="3" nodeType="withEffect">
                                  <p:stCondLst>
                                    <p:cond delay="1140"/>
                                  </p:stCondLst>
                                  <p:childTnLst>
                                    <p:animMotion origin="layout" path="M 0 0 L 0.0000 0.1267 L -0.2588 0.1267 E" pathEditMode="relative" ptsTypes="AAA">
                                      <p:cBhvr>
                                        <p:cTn id="475" dur="1600" fill="hold"/>
                                        <p:tgtEl>
                                          <p:spTgt spid="12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476" presetID="1" presetClass="exit" presetSubtype="0" fill="hold" grpId="1" nodeType="withEffect">
                                  <p:stCondLst>
                                    <p:cond delay="2740"/>
                                  </p:stCondLst>
                                  <p:childTnLst>
                                    <p:set>
                                      <p:cBhvr>
                                        <p:cTn id="4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8" presetID="1" presetClass="entr" presetSubtype="0" fill="hold" grpId="0" nodeType="withEffect">
                                  <p:stCondLst>
                                    <p:cond delay="1420"/>
                                  </p:stCondLst>
                                  <p:childTnLst>
                                    <p:set>
                                      <p:cBhvr>
                                        <p:cTn id="4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80" presetID="0" presetClass="path" presetSubtype="0" fill="hold" grpId="3" nodeType="withEffect">
                                  <p:stCondLst>
                                    <p:cond delay="1420"/>
                                  </p:stCondLst>
                                  <p:childTnLst>
                                    <p:animMotion origin="layout" path="M 0 0 L 0.0000 0.1267 L -0.2588 0.1267 E" pathEditMode="relative" ptsTypes="AAA">
                                      <p:cBhvr>
                                        <p:cTn id="481" dur="1600" fill="hold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482" presetID="1" presetClass="exit" presetSubtype="0" fill="hold" grpId="1" nodeType="withEffect">
                                  <p:stCondLst>
                                    <p:cond delay="3020"/>
                                  </p:stCondLst>
                                  <p:childTnLst>
                                    <p:set>
                                      <p:cBhvr>
                                        <p:cTn id="4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84" presetID="1" presetClass="entr" presetSubtype="0" fill="hold" grpId="0" nodeType="withEffect">
                                  <p:stCondLst>
                                    <p:cond delay="1700"/>
                                  </p:stCondLst>
                                  <p:childTnLst>
                                    <p:set>
                                      <p:cBhvr>
                                        <p:cTn id="4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86" presetID="0" presetClass="path" presetSubtype="0" fill="hold" grpId="3" nodeType="withEffect">
                                  <p:stCondLst>
                                    <p:cond delay="1700"/>
                                  </p:stCondLst>
                                  <p:childTnLst>
                                    <p:animMotion origin="layout" path="M 0 0 L 0.0000 0.1267 L -0.2588 0.1267 E" pathEditMode="relative" ptsTypes="AAA">
                                      <p:cBhvr>
                                        <p:cTn id="487" dur="1600" fill="hold"/>
                                        <p:tgtEl>
                                          <p:spTgt spid="12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488" presetID="1" presetClass="exit" presetSubtype="0" fill="hold" grpId="1" nodeType="withEffect">
                                  <p:stCondLst>
                                    <p:cond delay="3300"/>
                                  </p:stCondLst>
                                  <p:childTnLst>
                                    <p:set>
                                      <p:cBhvr>
                                        <p:cTn id="4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0" presetID="22" presetClass="entr" presetSubtype="4" fill="hold" grpId="0" nodeType="withEffect">
                                  <p:stCondLst>
                                    <p:cond delay="1200"/>
                                  </p:stCondLst>
                                  <p:childTnLst>
                                    <p:set>
                                      <p:cBhvr>
                                        <p:cTn id="4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92" dur="6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3" presetID="22" presetClass="entr" presetSubtype="4" fill="hold" grpId="0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4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95" dur="6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6" presetID="10" presetClass="exit" presetSubtype="0" fill="hold" grpId="1" nodeType="withEffect">
                                  <p:stCondLst>
                                    <p:cond delay="15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97" dur="12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98" dur="1" fill="hold">
                                          <p:stCondLst>
                                            <p:cond delay="11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9" fill="hold">
                            <p:stCondLst>
                              <p:cond delay="3800"/>
                            </p:stCondLst>
                            <p:childTnLst>
                              <p:par>
                                <p:cTn id="500" presetID="10" presetClass="exit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01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02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03" fill="hold">
                            <p:stCondLst>
                              <p:cond delay="4800"/>
                            </p:stCondLst>
                            <p:childTnLst>
                              <p:par>
                                <p:cTn id="504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06" presetID="0" presetClass="path" presetSubtype="0" fill="hold" grpId="3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0.2600 E" pathEditMode="relative" ptsTypes="AA">
                                      <p:cBhvr>
                                        <p:cTn id="507" dur="1100" fill="hold"/>
                                        <p:tgtEl>
                                          <p:spTgt spid="12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508" presetID="10" presetClass="exit" presetSubtype="0" fill="hold" grpId="1" nodeType="withEffect">
                                  <p:stCondLst>
                                    <p:cond delay="10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09" dur="300"/>
                                        <p:tgtEl>
                                          <p:spTgt spid="12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1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1" fill="hold">
                      <p:stCondLst>
                        <p:cond delay="indefinite"/>
                      </p:stCondLst>
                      <p:childTnLst>
                        <p:par>
                          <p:cTn id="512" fill="hold">
                            <p:stCondLst>
                              <p:cond delay="0"/>
                            </p:stCondLst>
                            <p:childTnLst>
                              <p:par>
                                <p:cTn id="513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7" dur="3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8" presetID="1" presetClass="exit" presetSubtype="0" fill="hold" grpId="1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5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20" presetID="53" presetClass="entr" presetSubtype="16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5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22" dur="40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23" dur="40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24" dur="4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5" presetID="1" presetClass="exit" presetSubtype="0" fill="hold" grpId="1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5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27" presetID="53" presetClass="entr" presetSubtype="16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5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29" dur="400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30" dur="400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31" dur="4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2" presetID="1" presetClass="exit" presetSubtype="0" fill="hold" grpId="1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5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4" presetID="53" presetClass="entr" presetSubtype="16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5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36" dur="400" fill="hold"/>
                                        <p:tgtEl>
                                          <p:spTgt spid="4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37" dur="400" fill="hold"/>
                                        <p:tgtEl>
                                          <p:spTgt spid="4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38" dur="4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39" fill="hold">
                            <p:stCondLst>
                              <p:cond delay="2000"/>
                            </p:stCondLst>
                            <p:childTnLst>
                              <p:par>
                                <p:cTn id="540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42" dur="500" fill="hold"/>
                                        <p:tgtEl>
                                          <p:spTgt spid="12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43" dur="500" fill="hold"/>
                                        <p:tgtEl>
                                          <p:spTgt spid="12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44" dur="500"/>
                                        <p:tgtEl>
                                          <p:spTgt spid="1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5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47" dur="500" fill="hold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48" dur="500" fill="hold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49" dur="500"/>
                                        <p:tgtEl>
                                          <p:spTgt spid="1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50" fill="hold">
                            <p:stCondLst>
                              <p:cond delay="2500"/>
                            </p:stCondLst>
                            <p:childTnLst>
                              <p:par>
                                <p:cTn id="551" presetID="6" presetClass="emph" presetSubtype="0" repeatCount="2000" fill="hold" grpId="2" nodeType="after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552" dur="400" autoRev="1" fill="hold"/>
                                        <p:tgtEl>
                                          <p:spTgt spid="125"/>
                                        </p:tgtEl>
                                      </p:cBhvr>
                                      <p:by x="108000" y="108000"/>
                                    </p:animScale>
                                  </p:childTnLst>
                                </p:cTn>
                              </p:par>
                              <p:par>
                                <p:cTn id="553" presetID="6" presetClass="emph" presetSubtype="0" repeatCount="200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554" dur="400" autoRev="1" fill="hold"/>
                                        <p:tgtEl>
                                          <p:spTgt spid="126"/>
                                        </p:tgtEl>
                                      </p:cBhvr>
                                      <p:by x="108000" y="108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8" grpId="0" animBg="1"/>
      <p:bldP spid="49" grpId="0" animBg="1"/>
      <p:bldP spid="60" grpId="2" animBg="1"/>
      <p:bldP spid="49" grpId="1" animBg="1"/>
      <p:bldP spid="50" grpId="0" animBg="1"/>
      <p:bldP spid="12" grpId="0" animBg="1"/>
      <p:bldP spid="50" grpId="1" animBg="1"/>
      <p:bldP spid="51" grpId="0" animBg="1"/>
      <p:bldP spid="21" grpId="0" animBg="1"/>
      <p:bldP spid="22" grpId="0" animBg="1"/>
      <p:bldP spid="23" grpId="0" animBg="1"/>
      <p:bldP spid="24" grpId="0" animBg="1"/>
      <p:bldP spid="64" grpId="0" animBg="1"/>
      <p:bldP spid="64" grpId="3" animBg="1"/>
      <p:bldP spid="64" grpId="1" animBg="1"/>
      <p:bldP spid="65" grpId="0" animBg="1"/>
      <p:bldP spid="65" grpId="3" animBg="1"/>
      <p:bldP spid="65" grpId="1" animBg="1"/>
      <p:bldP spid="66" grpId="0" animBg="1"/>
      <p:bldP spid="66" grpId="3" animBg="1"/>
      <p:bldP spid="66" grpId="1" animBg="1"/>
      <p:bldP spid="67" grpId="0" animBg="1"/>
      <p:bldP spid="67" grpId="3" animBg="1"/>
      <p:bldP spid="67" grpId="1" animBg="1"/>
      <p:bldP spid="34" grpId="0" animBg="1"/>
      <p:bldP spid="36" grpId="0" animBg="1"/>
      <p:bldP spid="68" grpId="0" animBg="1"/>
      <p:bldP spid="68" grpId="3" animBg="1"/>
      <p:bldP spid="68" grpId="1" animBg="1"/>
      <p:bldP spid="69" grpId="0" animBg="1"/>
      <p:bldP spid="69" grpId="3" animBg="1"/>
      <p:bldP spid="69" grpId="1" animBg="1"/>
      <p:bldP spid="70" grpId="0" animBg="1"/>
      <p:bldP spid="70" grpId="3" animBg="1"/>
      <p:bldP spid="70" grpId="1" animBg="1"/>
      <p:bldP spid="71" grpId="0" animBg="1"/>
      <p:bldP spid="71" grpId="3" animBg="1"/>
      <p:bldP spid="71" grpId="1" animBg="1"/>
      <p:bldP spid="72" grpId="0" animBg="1"/>
      <p:bldP spid="72" grpId="3" animBg="1"/>
      <p:bldP spid="72" grpId="1" animBg="1"/>
      <p:bldP spid="73" grpId="0" animBg="1"/>
      <p:bldP spid="73" grpId="3" animBg="1"/>
      <p:bldP spid="73" grpId="1" animBg="1"/>
      <p:bldP spid="74" grpId="0" animBg="1"/>
      <p:bldP spid="74" grpId="3" animBg="1"/>
      <p:bldP spid="74" grpId="1" animBg="1"/>
      <p:bldP spid="75" grpId="0" animBg="1"/>
      <p:bldP spid="75" grpId="3" animBg="1"/>
      <p:bldP spid="75" grpId="1" animBg="1"/>
      <p:bldP spid="76" grpId="0" animBg="1"/>
      <p:bldP spid="76" grpId="3" animBg="1"/>
      <p:bldP spid="76" grpId="1" animBg="1"/>
      <p:bldP spid="77" grpId="0" animBg="1"/>
      <p:bldP spid="77" grpId="3" animBg="1"/>
      <p:bldP spid="77" grpId="1" animBg="1"/>
      <p:bldP spid="78" grpId="0" animBg="1"/>
      <p:bldP spid="78" grpId="3" animBg="1"/>
      <p:bldP spid="78" grpId="1" animBg="1"/>
      <p:bldP spid="79" grpId="0" animBg="1"/>
      <p:bldP spid="79" grpId="3" animBg="1"/>
      <p:bldP spid="79" grpId="1" animBg="1"/>
      <p:bldP spid="80" grpId="0" animBg="1"/>
      <p:bldP spid="80" grpId="3" animBg="1"/>
      <p:bldP spid="80" grpId="1" animBg="1"/>
      <p:bldP spid="81" grpId="0" animBg="1"/>
      <p:bldP spid="81" grpId="3" animBg="1"/>
      <p:bldP spid="81" grpId="1" animBg="1"/>
      <p:bldP spid="82" grpId="0" animBg="1"/>
      <p:bldP spid="82" grpId="3" animBg="1"/>
      <p:bldP spid="82" grpId="1" animBg="1"/>
      <p:bldP spid="83" grpId="0" animBg="1"/>
      <p:bldP spid="83" grpId="3" animBg="1"/>
      <p:bldP spid="83" grpId="1" animBg="1"/>
      <p:bldP spid="84" grpId="0" animBg="1"/>
      <p:bldP spid="84" grpId="3" animBg="1"/>
      <p:bldP spid="84" grpId="1" animBg="1"/>
      <p:bldP spid="85" grpId="0" animBg="1"/>
      <p:bldP spid="85" grpId="3" animBg="1"/>
      <p:bldP spid="85" grpId="1" animBg="1"/>
      <p:bldP spid="51" grpId="1" animBg="1"/>
      <p:bldP spid="52" grpId="0" animBg="1"/>
      <p:bldP spid="26" grpId="0" animBg="1"/>
      <p:bldP spid="86" grpId="0" animBg="1"/>
      <p:bldP spid="86" grpId="3" animBg="1"/>
      <p:bldP spid="86" grpId="1" animBg="1"/>
      <p:bldP spid="87" grpId="0" animBg="1"/>
      <p:bldP spid="87" grpId="3" animBg="1"/>
      <p:bldP spid="87" grpId="1" animBg="1"/>
      <p:bldP spid="88" grpId="0" animBg="1"/>
      <p:bldP spid="88" grpId="3" animBg="1"/>
      <p:bldP spid="88" grpId="1" animBg="1"/>
      <p:bldP spid="89" grpId="0" animBg="1"/>
      <p:bldP spid="89" grpId="3" animBg="1"/>
      <p:bldP spid="89" grpId="1" animBg="1"/>
      <p:bldP spid="90" grpId="0" animBg="1"/>
      <p:bldP spid="90" grpId="3" animBg="1"/>
      <p:bldP spid="90" grpId="1" animBg="1"/>
      <p:bldP spid="91" grpId="0" animBg="1"/>
      <p:bldP spid="91" grpId="3" animBg="1"/>
      <p:bldP spid="91" grpId="1" animBg="1"/>
      <p:bldP spid="92" grpId="0" animBg="1"/>
      <p:bldP spid="92" grpId="3" animBg="1"/>
      <p:bldP spid="92" grpId="1" animBg="1"/>
      <p:bldP spid="93" grpId="0" animBg="1"/>
      <p:bldP spid="93" grpId="3" animBg="1"/>
      <p:bldP spid="93" grpId="1" animBg="1"/>
      <p:bldP spid="94" grpId="0" animBg="1"/>
      <p:bldP spid="94" grpId="3" animBg="1"/>
      <p:bldP spid="94" grpId="1" animBg="1"/>
      <p:bldP spid="95" grpId="0" animBg="1"/>
      <p:bldP spid="95" grpId="3" animBg="1"/>
      <p:bldP spid="95" grpId="1" animBg="1"/>
      <p:bldP spid="96" grpId="0" animBg="1"/>
      <p:bldP spid="96" grpId="3" animBg="1"/>
      <p:bldP spid="96" grpId="1" animBg="1"/>
      <p:bldP spid="97" grpId="0" animBg="1"/>
      <p:bldP spid="97" grpId="3" animBg="1"/>
      <p:bldP spid="97" grpId="1" animBg="1"/>
      <p:bldP spid="98" grpId="0" animBg="1"/>
      <p:bldP spid="98" grpId="3" animBg="1"/>
      <p:bldP spid="98" grpId="1" animBg="1"/>
      <p:bldP spid="99" grpId="0" animBg="1"/>
      <p:bldP spid="99" grpId="3" animBg="1"/>
      <p:bldP spid="99" grpId="1" animBg="1"/>
      <p:bldP spid="100" grpId="0" animBg="1"/>
      <p:bldP spid="100" grpId="3" animBg="1"/>
      <p:bldP spid="100" grpId="1" animBg="1"/>
      <p:bldP spid="101" grpId="0" animBg="1"/>
      <p:bldP spid="101" grpId="3" animBg="1"/>
      <p:bldP spid="101" grpId="1" animBg="1"/>
      <p:bldP spid="102" grpId="0" animBg="1"/>
      <p:bldP spid="102" grpId="3" animBg="1"/>
      <p:bldP spid="102" grpId="1" animBg="1"/>
      <p:bldP spid="103" grpId="0" animBg="1"/>
      <p:bldP spid="103" grpId="3" animBg="1"/>
      <p:bldP spid="103" grpId="1" animBg="1"/>
      <p:bldP spid="104" grpId="0" animBg="1"/>
      <p:bldP spid="104" grpId="3" animBg="1"/>
      <p:bldP spid="104" grpId="1" animBg="1"/>
      <p:bldP spid="105" grpId="0" animBg="1"/>
      <p:bldP spid="105" grpId="3" animBg="1"/>
      <p:bldP spid="105" grpId="1" animBg="1"/>
      <p:bldP spid="106" grpId="0" animBg="1"/>
      <p:bldP spid="106" grpId="3" animBg="1"/>
      <p:bldP spid="106" grpId="1" animBg="1"/>
      <p:bldP spid="107" grpId="0" animBg="1"/>
      <p:bldP spid="107" grpId="3" animBg="1"/>
      <p:bldP spid="107" grpId="1" animBg="1"/>
      <p:bldP spid="108" grpId="0" animBg="1"/>
      <p:bldP spid="108" grpId="3" animBg="1"/>
      <p:bldP spid="108" grpId="1" animBg="1"/>
      <p:bldP spid="109" grpId="0" animBg="1"/>
      <p:bldP spid="109" grpId="3" animBg="1"/>
      <p:bldP spid="109" grpId="1" animBg="1"/>
      <p:bldP spid="11" grpId="1" animBg="1"/>
      <p:bldP spid="7" grpId="1" animBg="1"/>
      <p:bldP spid="110" grpId="0" animBg="1"/>
      <p:bldP spid="110" grpId="3" animBg="1"/>
      <p:bldP spid="111" grpId="0" animBg="1"/>
      <p:bldP spid="111" grpId="3" animBg="1"/>
      <p:bldP spid="112" grpId="0" animBg="1"/>
      <p:bldP spid="112" grpId="3" animBg="1"/>
      <p:bldP spid="113" grpId="0" animBg="1"/>
      <p:bldP spid="113" grpId="3" animBg="1"/>
      <p:bldP spid="114" grpId="0" animBg="1"/>
      <p:bldP spid="114" grpId="3" animBg="1"/>
      <p:bldP spid="115" grpId="0" animBg="1"/>
      <p:bldP spid="115" grpId="3" animBg="1"/>
      <p:bldP spid="116" grpId="0" animBg="1"/>
      <p:bldP spid="116" grpId="3" animBg="1"/>
      <p:bldP spid="117" grpId="0" animBg="1"/>
      <p:bldP spid="117" grpId="3" animBg="1"/>
      <p:bldP spid="52" grpId="1" animBg="1"/>
      <p:bldP spid="53" grpId="0" animBg="1"/>
      <p:bldP spid="57" grpId="3" animBg="1"/>
      <p:bldP spid="57" grpId="1" animBg="1"/>
      <p:bldP spid="62" grpId="0" animBg="1"/>
      <p:bldP spid="60" grpId="1" animBg="1"/>
      <p:bldP spid="61" grpId="3" animBg="1"/>
      <p:bldP spid="61" grpId="1" animBg="1"/>
      <p:bldP spid="63" grpId="0" animBg="1"/>
      <p:bldP spid="8" grpId="3" animBg="1"/>
      <p:bldP spid="8" grpId="1" animBg="1"/>
      <p:bldP spid="9" grpId="3" animBg="1"/>
      <p:bldP spid="9" grpId="1" animBg="1"/>
      <p:bldP spid="10" grpId="3" animBg="1"/>
      <p:bldP spid="10" grpId="1" animBg="1"/>
      <p:bldP spid="53" grpId="1" animBg="1"/>
      <p:bldP spid="54" grpId="0" animBg="1"/>
      <p:bldP spid="58" grpId="3" animBg="1"/>
      <p:bldP spid="58" grpId="1" animBg="1"/>
      <p:bldP spid="59" grpId="3" animBg="1"/>
      <p:bldP spid="59" grpId="1" animBg="1"/>
      <p:bldP spid="17" grpId="2" animBg="1"/>
      <p:bldP spid="18" grpId="2" animBg="1"/>
      <p:bldP spid="54" grpId="1" animBg="1"/>
      <p:bldP spid="55" grpId="0" animBg="1"/>
      <p:bldP spid="12" grpId="1" animBg="1"/>
      <p:bldP spid="62" grpId="1" animBg="1"/>
      <p:bldP spid="63" grpId="1" animBg="1"/>
      <p:bldP spid="118" grpId="0" animBg="1"/>
      <p:bldP spid="118" grpId="3" animBg="1"/>
      <p:bldP spid="118" grpId="1" animBg="1"/>
      <p:bldP spid="119" grpId="0" animBg="1"/>
      <p:bldP spid="119" grpId="3" animBg="1"/>
      <p:bldP spid="119" grpId="1" animBg="1"/>
      <p:bldP spid="120" grpId="0" animBg="1"/>
      <p:bldP spid="120" grpId="3" animBg="1"/>
      <p:bldP spid="120" grpId="1" animBg="1"/>
      <p:bldP spid="121" grpId="0" animBg="1"/>
      <p:bldP spid="121" grpId="3" animBg="1"/>
      <p:bldP spid="121" grpId="1" animBg="1"/>
      <p:bldP spid="122" grpId="0" animBg="1"/>
      <p:bldP spid="122" grpId="3" animBg="1"/>
      <p:bldP spid="122" grpId="1" animBg="1"/>
      <p:bldP spid="123" grpId="0" animBg="1"/>
      <p:bldP spid="123" grpId="3" animBg="1"/>
      <p:bldP spid="123" grpId="1" animBg="1"/>
      <p:bldP spid="30" grpId="0" animBg="1"/>
      <p:bldP spid="31" grpId="0" animBg="1"/>
      <p:bldP spid="6" grpId="1" animBg="1"/>
      <p:bldP spid="5" grpId="1" animBg="1"/>
      <p:bldP spid="124" grpId="0" animBg="1"/>
      <p:bldP spid="124" grpId="3" animBg="1"/>
      <p:bldP spid="124" grpId="1" animBg="1"/>
      <p:bldP spid="55" grpId="1" animBg="1"/>
      <p:bldP spid="56" grpId="0" animBg="1"/>
      <p:bldP spid="40" grpId="1" animBg="1"/>
      <p:bldP spid="41" grpId="0" animBg="1"/>
      <p:bldP spid="43" grpId="1" animBg="1"/>
      <p:bldP spid="44" grpId="0" animBg="1"/>
      <p:bldP spid="46" grpId="1" animBg="1"/>
      <p:bldP spid="47" grpId="0" animBg="1"/>
      <p:bldP spid="125" grpId="0" animBg="1"/>
      <p:bldP spid="126" grpId="0" animBg="1"/>
      <p:bldP spid="125" grpId="2" animBg="1"/>
      <p:bldP spid="126" grpId="2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47472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5F8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Viscosity flush / oil wash – heavy deposits</a:t>
            </a:r>
            <a:endParaRPr lang="en-US" sz="2800" dirty="0"/>
          </a:p>
        </p:txBody>
      </p:sp>
      <p:sp>
        <p:nvSpPr>
          <p:cNvPr id="3" name="s431"/>
          <p:cNvSpPr/>
          <p:nvPr/>
        </p:nvSpPr>
        <p:spPr>
          <a:xfrm>
            <a:off x="4023360" y="1645920"/>
            <a:ext cx="1097280" cy="3474720"/>
          </a:xfrm>
          <a:prstGeom prst="roundRect">
            <a:avLst>
              <a:gd name="adj" fmla="val 50000"/>
            </a:avLst>
          </a:prstGeom>
          <a:solidFill>
            <a:srgbClr val="BFDDF2"/>
          </a:solidFill>
          <a:ln w="25400">
            <a:solidFill>
              <a:srgbClr val="0C74BC"/>
            </a:solidFill>
            <a:prstDash val="solid"/>
          </a:ln>
        </p:spPr>
      </p:sp>
      <p:sp>
        <p:nvSpPr>
          <p:cNvPr id="4" name="s432"/>
          <p:cNvSpPr/>
          <p:nvPr/>
        </p:nvSpPr>
        <p:spPr>
          <a:xfrm>
            <a:off x="4155034" y="1975104"/>
            <a:ext cx="197510" cy="2816352"/>
          </a:xfrm>
          <a:prstGeom prst="roundRect">
            <a:avLst>
              <a:gd name="adj" fmla="val 50000"/>
            </a:avLst>
          </a:prstGeom>
          <a:solidFill>
            <a:srgbClr val="E3F0FA"/>
          </a:solidFill>
          <a:ln/>
        </p:spPr>
      </p:sp>
      <p:sp>
        <p:nvSpPr>
          <p:cNvPr id="5" name="s433"/>
          <p:cNvSpPr/>
          <p:nvPr/>
        </p:nvSpPr>
        <p:spPr>
          <a:xfrm>
            <a:off x="4023360" y="1645920"/>
            <a:ext cx="1097280" cy="3474720"/>
          </a:xfrm>
          <a:prstGeom prst="roundRect">
            <a:avLst>
              <a:gd name="adj" fmla="val 50000"/>
            </a:avLst>
          </a:prstGeom>
          <a:solidFill>
            <a:srgbClr val="6B7175"/>
          </a:solidFill>
          <a:ln w="25400">
            <a:solidFill>
              <a:srgbClr val="94A3B8"/>
            </a:solidFill>
            <a:prstDash val="solid"/>
          </a:ln>
        </p:spPr>
      </p:sp>
      <p:sp>
        <p:nvSpPr>
          <p:cNvPr id="6" name="s434"/>
          <p:cNvSpPr/>
          <p:nvPr/>
        </p:nvSpPr>
        <p:spPr>
          <a:xfrm>
            <a:off x="4023360" y="1645920"/>
            <a:ext cx="1097280" cy="3474720"/>
          </a:xfrm>
          <a:prstGeom prst="roundRect">
            <a:avLst>
              <a:gd name="adj" fmla="val 50000"/>
            </a:avLst>
          </a:prstGeom>
          <a:solidFill>
            <a:srgbClr val="4A4F52"/>
          </a:solidFill>
          <a:ln w="25400">
            <a:solidFill>
              <a:srgbClr val="94A3B8"/>
            </a:solidFill>
            <a:prstDash val="solid"/>
          </a:ln>
        </p:spPr>
      </p:sp>
      <p:sp>
        <p:nvSpPr>
          <p:cNvPr id="7" name="s435"/>
          <p:cNvSpPr/>
          <p:nvPr/>
        </p:nvSpPr>
        <p:spPr>
          <a:xfrm>
            <a:off x="4023360" y="1645920"/>
            <a:ext cx="1097280" cy="3474720"/>
          </a:xfrm>
          <a:prstGeom prst="roundRect">
            <a:avLst>
              <a:gd name="adj" fmla="val 50000"/>
            </a:avLst>
          </a:prstGeom>
          <a:solidFill>
            <a:srgbClr val="2F3437"/>
          </a:solidFill>
          <a:ln w="25400">
            <a:solidFill>
              <a:srgbClr val="94A3B8"/>
            </a:solidFill>
            <a:prstDash val="solid"/>
          </a:ln>
        </p:spPr>
      </p:sp>
      <p:sp>
        <p:nvSpPr>
          <p:cNvPr id="8" name="s436"/>
          <p:cNvSpPr/>
          <p:nvPr/>
        </p:nvSpPr>
        <p:spPr>
          <a:xfrm>
            <a:off x="4626864" y="2271370"/>
            <a:ext cx="91440" cy="833933"/>
          </a:xfrm>
          <a:prstGeom prst="roundRect">
            <a:avLst>
              <a:gd name="adj" fmla="val 50000"/>
            </a:avLst>
          </a:prstGeom>
          <a:solidFill>
            <a:srgbClr val="3E2F20"/>
          </a:solidFill>
          <a:ln/>
        </p:spPr>
      </p:sp>
      <p:sp>
        <p:nvSpPr>
          <p:cNvPr id="9" name="s437"/>
          <p:cNvSpPr/>
          <p:nvPr/>
        </p:nvSpPr>
        <p:spPr>
          <a:xfrm>
            <a:off x="4813402" y="3313786"/>
            <a:ext cx="91440" cy="694944"/>
          </a:xfrm>
          <a:prstGeom prst="roundRect">
            <a:avLst>
              <a:gd name="adj" fmla="val 50000"/>
            </a:avLst>
          </a:prstGeom>
          <a:solidFill>
            <a:srgbClr val="3E2F20"/>
          </a:solidFill>
          <a:ln/>
        </p:spPr>
      </p:sp>
      <p:sp>
        <p:nvSpPr>
          <p:cNvPr id="10" name="s438"/>
          <p:cNvSpPr/>
          <p:nvPr/>
        </p:nvSpPr>
        <p:spPr>
          <a:xfrm>
            <a:off x="4484218" y="3939235"/>
            <a:ext cx="91440" cy="555955"/>
          </a:xfrm>
          <a:prstGeom prst="roundRect">
            <a:avLst>
              <a:gd name="adj" fmla="val 50000"/>
            </a:avLst>
          </a:prstGeom>
          <a:solidFill>
            <a:srgbClr val="3E2F20"/>
          </a:solidFill>
          <a:ln/>
        </p:spPr>
      </p:sp>
      <p:sp>
        <p:nvSpPr>
          <p:cNvPr id="11" name="t439"/>
          <p:cNvSpPr txBox="1"/>
          <p:nvPr/>
        </p:nvSpPr>
        <p:spPr>
          <a:xfrm>
            <a:off x="3749040" y="513892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B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Column bottoms</a:t>
            </a:r>
            <a:endParaRPr lang="en-US" sz="1100" dirty="0"/>
          </a:p>
        </p:txBody>
      </p:sp>
      <p:sp>
        <p:nvSpPr>
          <p:cNvPr id="12" name="s440"/>
          <p:cNvSpPr/>
          <p:nvPr/>
        </p:nvSpPr>
        <p:spPr>
          <a:xfrm>
            <a:off x="7132320" y="3931920"/>
            <a:ext cx="2011680" cy="548640"/>
          </a:xfrm>
          <a:prstGeom prst="roundRect">
            <a:avLst>
              <a:gd name="adj" fmla="val 50000"/>
            </a:avLst>
          </a:prstGeom>
          <a:solidFill>
            <a:srgbClr val="BFDDF2"/>
          </a:solidFill>
          <a:ln w="19050">
            <a:solidFill>
              <a:srgbClr val="0C74BC"/>
            </a:solidFill>
            <a:prstDash val="solid"/>
          </a:ln>
        </p:spPr>
      </p:sp>
      <p:sp>
        <p:nvSpPr>
          <p:cNvPr id="13" name="s441"/>
          <p:cNvSpPr/>
          <p:nvPr/>
        </p:nvSpPr>
        <p:spPr>
          <a:xfrm>
            <a:off x="7132320" y="3931920"/>
            <a:ext cx="2011680" cy="548640"/>
          </a:xfrm>
          <a:prstGeom prst="roundRect">
            <a:avLst>
              <a:gd name="adj" fmla="val 50000"/>
            </a:avLst>
          </a:prstGeom>
          <a:solidFill>
            <a:srgbClr val="6B7175"/>
          </a:solidFill>
          <a:ln w="19050">
            <a:solidFill>
              <a:srgbClr val="94A3B8"/>
            </a:solidFill>
            <a:prstDash val="solid"/>
          </a:ln>
        </p:spPr>
      </p:sp>
      <p:sp>
        <p:nvSpPr>
          <p:cNvPr id="14" name="s442"/>
          <p:cNvSpPr/>
          <p:nvPr/>
        </p:nvSpPr>
        <p:spPr>
          <a:xfrm>
            <a:off x="7132320" y="3931920"/>
            <a:ext cx="2011680" cy="548640"/>
          </a:xfrm>
          <a:prstGeom prst="roundRect">
            <a:avLst>
              <a:gd name="adj" fmla="val 50000"/>
            </a:avLst>
          </a:prstGeom>
          <a:solidFill>
            <a:srgbClr val="4A4F52"/>
          </a:solidFill>
          <a:ln w="19050">
            <a:solidFill>
              <a:srgbClr val="94A3B8"/>
            </a:solidFill>
            <a:prstDash val="solid"/>
          </a:ln>
        </p:spPr>
      </p:sp>
      <p:sp>
        <p:nvSpPr>
          <p:cNvPr id="15" name="s443"/>
          <p:cNvSpPr/>
          <p:nvPr/>
        </p:nvSpPr>
        <p:spPr>
          <a:xfrm>
            <a:off x="7132320" y="3931920"/>
            <a:ext cx="2011680" cy="548640"/>
          </a:xfrm>
          <a:prstGeom prst="roundRect">
            <a:avLst>
              <a:gd name="adj" fmla="val 50000"/>
            </a:avLst>
          </a:prstGeom>
          <a:solidFill>
            <a:srgbClr val="2F3437"/>
          </a:solidFill>
          <a:ln w="19050">
            <a:solidFill>
              <a:srgbClr val="94A3B8"/>
            </a:solidFill>
            <a:prstDash val="solid"/>
          </a:ln>
        </p:spPr>
      </p:sp>
      <p:sp>
        <p:nvSpPr>
          <p:cNvPr id="16" name="s444"/>
          <p:cNvSpPr/>
          <p:nvPr/>
        </p:nvSpPr>
        <p:spPr>
          <a:xfrm>
            <a:off x="7406640" y="4069080"/>
            <a:ext cx="1554480" cy="0"/>
          </a:xfrm>
          <a:prstGeom prst="line">
            <a:avLst/>
          </a:prstGeom>
          <a:noFill/>
          <a:ln w="9525">
            <a:solidFill>
              <a:srgbClr val="94A3B8"/>
            </a:solidFill>
            <a:prstDash val="solid"/>
          </a:ln>
        </p:spPr>
      </p:sp>
      <p:sp>
        <p:nvSpPr>
          <p:cNvPr id="17" name="s445"/>
          <p:cNvSpPr/>
          <p:nvPr/>
        </p:nvSpPr>
        <p:spPr>
          <a:xfrm>
            <a:off x="7406640" y="4206240"/>
            <a:ext cx="1554480" cy="0"/>
          </a:xfrm>
          <a:prstGeom prst="line">
            <a:avLst/>
          </a:prstGeom>
          <a:noFill/>
          <a:ln w="9525">
            <a:solidFill>
              <a:srgbClr val="94A3B8"/>
            </a:solidFill>
            <a:prstDash val="solid"/>
          </a:ln>
        </p:spPr>
      </p:sp>
      <p:sp>
        <p:nvSpPr>
          <p:cNvPr id="18" name="s446"/>
          <p:cNvSpPr/>
          <p:nvPr/>
        </p:nvSpPr>
        <p:spPr>
          <a:xfrm>
            <a:off x="7406640" y="4343400"/>
            <a:ext cx="1554480" cy="0"/>
          </a:xfrm>
          <a:prstGeom prst="line">
            <a:avLst/>
          </a:prstGeom>
          <a:noFill/>
          <a:ln w="9525">
            <a:solidFill>
              <a:srgbClr val="94A3B8"/>
            </a:solidFill>
            <a:prstDash val="solid"/>
          </a:ln>
        </p:spPr>
      </p:sp>
      <p:sp>
        <p:nvSpPr>
          <p:cNvPr id="19" name="t447"/>
          <p:cNvSpPr txBox="1"/>
          <p:nvPr/>
        </p:nvSpPr>
        <p:spPr>
          <a:xfrm>
            <a:off x="7132320" y="452628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B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Exchanger</a:t>
            </a:r>
            <a:endParaRPr lang="en-US" sz="1100" dirty="0"/>
          </a:p>
        </p:txBody>
      </p:sp>
      <p:sp>
        <p:nvSpPr>
          <p:cNvPr id="20" name="s448"/>
          <p:cNvSpPr/>
          <p:nvPr/>
        </p:nvSpPr>
        <p:spPr>
          <a:xfrm>
            <a:off x="6035040" y="5257800"/>
            <a:ext cx="411480" cy="4114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94A3B8"/>
            </a:solidFill>
            <a:prstDash val="solid"/>
          </a:ln>
        </p:spPr>
      </p:sp>
      <p:sp>
        <p:nvSpPr>
          <p:cNvPr id="21" name="t449"/>
          <p:cNvSpPr txBox="1"/>
          <p:nvPr/>
        </p:nvSpPr>
        <p:spPr>
          <a:xfrm>
            <a:off x="5897880" y="553212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5B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Pump</a:t>
            </a:r>
            <a:endParaRPr lang="en-US" sz="1000" dirty="0"/>
          </a:p>
        </p:txBody>
      </p:sp>
      <p:sp>
        <p:nvSpPr>
          <p:cNvPr id="22" name="s450"/>
          <p:cNvSpPr/>
          <p:nvPr/>
        </p:nvSpPr>
        <p:spPr>
          <a:xfrm>
            <a:off x="4572000" y="5120640"/>
            <a:ext cx="0" cy="338328"/>
          </a:xfrm>
          <a:prstGeom prst="line">
            <a:avLst/>
          </a:prstGeom>
          <a:noFill/>
          <a:ln w="50800">
            <a:solidFill>
              <a:srgbClr val="D9A441"/>
            </a:solidFill>
            <a:prstDash val="solid"/>
          </a:ln>
        </p:spPr>
      </p:sp>
      <p:sp>
        <p:nvSpPr>
          <p:cNvPr id="23" name="s451"/>
          <p:cNvSpPr/>
          <p:nvPr/>
        </p:nvSpPr>
        <p:spPr>
          <a:xfrm>
            <a:off x="4572000" y="5458968"/>
            <a:ext cx="1463040" cy="0"/>
          </a:xfrm>
          <a:prstGeom prst="line">
            <a:avLst/>
          </a:prstGeom>
          <a:noFill/>
          <a:ln w="50800">
            <a:solidFill>
              <a:srgbClr val="D9A441"/>
            </a:solidFill>
            <a:prstDash val="solid"/>
          </a:ln>
        </p:spPr>
      </p:sp>
      <p:sp>
        <p:nvSpPr>
          <p:cNvPr id="24" name="s452"/>
          <p:cNvSpPr/>
          <p:nvPr/>
        </p:nvSpPr>
        <p:spPr>
          <a:xfrm>
            <a:off x="6446520" y="5458968"/>
            <a:ext cx="3246120" cy="0"/>
          </a:xfrm>
          <a:prstGeom prst="line">
            <a:avLst/>
          </a:prstGeom>
          <a:noFill/>
          <a:ln w="50800">
            <a:solidFill>
              <a:srgbClr val="D9A441"/>
            </a:solidFill>
            <a:prstDash val="solid"/>
          </a:ln>
        </p:spPr>
      </p:sp>
      <p:sp>
        <p:nvSpPr>
          <p:cNvPr id="25" name="s453"/>
          <p:cNvSpPr/>
          <p:nvPr/>
        </p:nvSpPr>
        <p:spPr>
          <a:xfrm flipV="1">
            <a:off x="9692640" y="4206240"/>
            <a:ext cx="0" cy="1252728"/>
          </a:xfrm>
          <a:prstGeom prst="line">
            <a:avLst/>
          </a:prstGeom>
          <a:noFill/>
          <a:ln w="50800">
            <a:solidFill>
              <a:srgbClr val="D9A441"/>
            </a:solidFill>
            <a:prstDash val="solid"/>
          </a:ln>
        </p:spPr>
      </p:sp>
      <p:sp>
        <p:nvSpPr>
          <p:cNvPr id="26" name="s454"/>
          <p:cNvSpPr/>
          <p:nvPr/>
        </p:nvSpPr>
        <p:spPr>
          <a:xfrm flipH="1">
            <a:off x="9144000" y="4206240"/>
            <a:ext cx="548640" cy="0"/>
          </a:xfrm>
          <a:prstGeom prst="line">
            <a:avLst/>
          </a:prstGeom>
          <a:noFill/>
          <a:ln w="50800">
            <a:solidFill>
              <a:srgbClr val="D9A441"/>
            </a:solidFill>
            <a:prstDash val="solid"/>
            <a:tailEnd type="triangle"/>
          </a:ln>
        </p:spPr>
      </p:sp>
      <p:sp>
        <p:nvSpPr>
          <p:cNvPr id="27" name="s455"/>
          <p:cNvSpPr/>
          <p:nvPr/>
        </p:nvSpPr>
        <p:spPr>
          <a:xfrm flipH="1">
            <a:off x="5669280" y="4206240"/>
            <a:ext cx="1463040" cy="0"/>
          </a:xfrm>
          <a:prstGeom prst="line">
            <a:avLst/>
          </a:prstGeom>
          <a:noFill/>
          <a:ln w="50800">
            <a:solidFill>
              <a:srgbClr val="D9A441"/>
            </a:solidFill>
            <a:prstDash val="solid"/>
          </a:ln>
        </p:spPr>
      </p:sp>
      <p:sp>
        <p:nvSpPr>
          <p:cNvPr id="28" name="s456"/>
          <p:cNvSpPr/>
          <p:nvPr/>
        </p:nvSpPr>
        <p:spPr>
          <a:xfrm flipV="1">
            <a:off x="5669280" y="2743200"/>
            <a:ext cx="0" cy="1463040"/>
          </a:xfrm>
          <a:prstGeom prst="line">
            <a:avLst/>
          </a:prstGeom>
          <a:noFill/>
          <a:ln w="50800">
            <a:solidFill>
              <a:srgbClr val="D9A441"/>
            </a:solidFill>
            <a:prstDash val="solid"/>
          </a:ln>
        </p:spPr>
      </p:sp>
      <p:sp>
        <p:nvSpPr>
          <p:cNvPr id="29" name="s457"/>
          <p:cNvSpPr/>
          <p:nvPr/>
        </p:nvSpPr>
        <p:spPr>
          <a:xfrm flipH="1">
            <a:off x="5120640" y="2743200"/>
            <a:ext cx="548640" cy="0"/>
          </a:xfrm>
          <a:prstGeom prst="line">
            <a:avLst/>
          </a:prstGeom>
          <a:noFill/>
          <a:ln w="50800">
            <a:solidFill>
              <a:srgbClr val="D9A441"/>
            </a:solidFill>
            <a:prstDash val="solid"/>
            <a:tailEnd type="triangle"/>
          </a:ln>
        </p:spPr>
      </p:sp>
      <p:sp>
        <p:nvSpPr>
          <p:cNvPr id="30" name="s458"/>
          <p:cNvSpPr/>
          <p:nvPr/>
        </p:nvSpPr>
        <p:spPr>
          <a:xfrm>
            <a:off x="731520" y="4114800"/>
            <a:ext cx="1371600" cy="960120"/>
          </a:xfrm>
          <a:prstGeom prst="roundRect">
            <a:avLst>
              <a:gd name="adj" fmla="val 19048"/>
            </a:avLst>
          </a:prstGeom>
          <a:solidFill>
            <a:srgbClr val="F6E7C8"/>
          </a:solidFill>
          <a:ln w="19050">
            <a:solidFill>
              <a:srgbClr val="D9A441"/>
            </a:solidFill>
            <a:prstDash val="solid"/>
          </a:ln>
        </p:spPr>
      </p:sp>
      <p:sp>
        <p:nvSpPr>
          <p:cNvPr id="31" name="t459"/>
          <p:cNvSpPr txBox="1"/>
          <p:nvPr/>
        </p:nvSpPr>
        <p:spPr>
          <a:xfrm>
            <a:off x="548640" y="512064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B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Flushing oil / cutter stock</a:t>
            </a:r>
            <a:endParaRPr lang="en-US" sz="1100" dirty="0"/>
          </a:p>
        </p:txBody>
      </p:sp>
      <p:sp>
        <p:nvSpPr>
          <p:cNvPr id="32" name="s460"/>
          <p:cNvSpPr/>
          <p:nvPr/>
        </p:nvSpPr>
        <p:spPr>
          <a:xfrm>
            <a:off x="2103120" y="4754880"/>
            <a:ext cx="822960" cy="0"/>
          </a:xfrm>
          <a:prstGeom prst="line">
            <a:avLst/>
          </a:prstGeom>
          <a:noFill/>
          <a:ln w="50800">
            <a:solidFill>
              <a:srgbClr val="D9A441"/>
            </a:solidFill>
            <a:prstDash val="solid"/>
          </a:ln>
        </p:spPr>
      </p:sp>
      <p:sp>
        <p:nvSpPr>
          <p:cNvPr id="33" name="s461"/>
          <p:cNvSpPr/>
          <p:nvPr/>
        </p:nvSpPr>
        <p:spPr>
          <a:xfrm>
            <a:off x="2926080" y="4754880"/>
            <a:ext cx="0" cy="704088"/>
          </a:xfrm>
          <a:prstGeom prst="line">
            <a:avLst/>
          </a:prstGeom>
          <a:noFill/>
          <a:ln w="50800">
            <a:solidFill>
              <a:srgbClr val="D9A441"/>
            </a:solidFill>
            <a:prstDash val="solid"/>
          </a:ln>
        </p:spPr>
      </p:sp>
      <p:sp>
        <p:nvSpPr>
          <p:cNvPr id="34" name="s462"/>
          <p:cNvSpPr/>
          <p:nvPr/>
        </p:nvSpPr>
        <p:spPr>
          <a:xfrm>
            <a:off x="2926080" y="5458968"/>
            <a:ext cx="1645920" cy="0"/>
          </a:xfrm>
          <a:prstGeom prst="line">
            <a:avLst/>
          </a:prstGeom>
          <a:noFill/>
          <a:ln w="50800">
            <a:solidFill>
              <a:srgbClr val="D9A441"/>
            </a:solidFill>
            <a:prstDash val="solid"/>
            <a:tailEnd type="triangle"/>
          </a:ln>
        </p:spPr>
      </p:sp>
      <p:sp>
        <p:nvSpPr>
          <p:cNvPr id="35" name="t463"/>
          <p:cNvSpPr txBox="1"/>
          <p:nvPr/>
        </p:nvSpPr>
        <p:spPr>
          <a:xfrm>
            <a:off x="5394960" y="45720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E8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OIL-BASED SOLVENT</a:t>
            </a:r>
            <a:endParaRPr lang="en-US" sz="1100" dirty="0"/>
          </a:p>
        </p:txBody>
      </p:sp>
      <p:sp>
        <p:nvSpPr>
          <p:cNvPr id="36" name="s464"/>
          <p:cNvSpPr/>
          <p:nvPr/>
        </p:nvSpPr>
        <p:spPr>
          <a:xfrm>
            <a:off x="6236208" y="4846320"/>
            <a:ext cx="0" cy="411480"/>
          </a:xfrm>
          <a:prstGeom prst="line">
            <a:avLst/>
          </a:prstGeom>
          <a:noFill/>
          <a:ln w="50800">
            <a:solidFill>
              <a:srgbClr val="3AB54A"/>
            </a:solidFill>
            <a:prstDash val="solid"/>
            <a:tailEnd type="triangle"/>
          </a:ln>
        </p:spPr>
      </p:sp>
      <p:sp>
        <p:nvSpPr>
          <p:cNvPr id="37" name="s465"/>
          <p:cNvSpPr/>
          <p:nvPr/>
        </p:nvSpPr>
        <p:spPr>
          <a:xfrm flipV="1">
            <a:off x="9692640" y="2377440"/>
            <a:ext cx="0" cy="1828800"/>
          </a:xfrm>
          <a:prstGeom prst="line">
            <a:avLst/>
          </a:prstGeom>
          <a:noFill/>
          <a:ln w="50800">
            <a:solidFill>
              <a:srgbClr val="D9A441"/>
            </a:solidFill>
            <a:prstDash val="solid"/>
          </a:ln>
        </p:spPr>
      </p:sp>
      <p:sp>
        <p:nvSpPr>
          <p:cNvPr id="38" name="s466"/>
          <p:cNvSpPr/>
          <p:nvPr/>
        </p:nvSpPr>
        <p:spPr>
          <a:xfrm>
            <a:off x="9692640" y="2377440"/>
            <a:ext cx="548640" cy="0"/>
          </a:xfrm>
          <a:prstGeom prst="line">
            <a:avLst/>
          </a:prstGeom>
          <a:noFill/>
          <a:ln w="50800">
            <a:solidFill>
              <a:srgbClr val="D9A441"/>
            </a:solidFill>
            <a:prstDash val="solid"/>
            <a:tailEnd type="triangle"/>
          </a:ln>
        </p:spPr>
      </p:sp>
      <p:sp>
        <p:nvSpPr>
          <p:cNvPr id="39" name="s467"/>
          <p:cNvSpPr/>
          <p:nvPr/>
        </p:nvSpPr>
        <p:spPr>
          <a:xfrm>
            <a:off x="10241280" y="1783080"/>
            <a:ext cx="1280160" cy="1143000"/>
          </a:xfrm>
          <a:prstGeom prst="rect">
            <a:avLst/>
          </a:prstGeom>
          <a:solidFill>
            <a:srgbClr val="EEF2F6"/>
          </a:solidFill>
          <a:ln w="19050">
            <a:solidFill>
              <a:srgbClr val="94A3B8"/>
            </a:solidFill>
            <a:prstDash val="solid"/>
          </a:ln>
        </p:spPr>
      </p:sp>
      <p:sp>
        <p:nvSpPr>
          <p:cNvPr id="40" name="s468"/>
          <p:cNvSpPr/>
          <p:nvPr/>
        </p:nvSpPr>
        <p:spPr>
          <a:xfrm>
            <a:off x="10287000" y="2606040"/>
            <a:ext cx="1188720" cy="274320"/>
          </a:xfrm>
          <a:prstGeom prst="rect">
            <a:avLst/>
          </a:prstGeom>
          <a:solidFill>
            <a:srgbClr val="6B5236"/>
          </a:solidFill>
          <a:ln/>
        </p:spPr>
      </p:sp>
      <p:sp>
        <p:nvSpPr>
          <p:cNvPr id="41" name="s469"/>
          <p:cNvSpPr/>
          <p:nvPr/>
        </p:nvSpPr>
        <p:spPr>
          <a:xfrm>
            <a:off x="10287000" y="2240280"/>
            <a:ext cx="1188720" cy="365760"/>
          </a:xfrm>
          <a:prstGeom prst="rect">
            <a:avLst/>
          </a:prstGeom>
          <a:solidFill>
            <a:srgbClr val="6B5236"/>
          </a:solidFill>
          <a:ln/>
        </p:spPr>
      </p:sp>
      <p:sp>
        <p:nvSpPr>
          <p:cNvPr id="42" name="t470"/>
          <p:cNvSpPr txBox="1"/>
          <p:nvPr/>
        </p:nvSpPr>
        <p:spPr>
          <a:xfrm>
            <a:off x="9875520" y="295351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B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SLOP / RERUN TANK</a:t>
            </a:r>
            <a:endParaRPr lang="en-US" sz="1100" dirty="0"/>
          </a:p>
        </p:txBody>
      </p:sp>
      <p:sp>
        <p:nvSpPr>
          <p:cNvPr id="43" name="s471"/>
          <p:cNvSpPr/>
          <p:nvPr/>
        </p:nvSpPr>
        <p:spPr>
          <a:xfrm>
            <a:off x="548640" y="1371600"/>
            <a:ext cx="3108960" cy="2194560"/>
          </a:xfrm>
          <a:prstGeom prst="roundRect">
            <a:avLst>
              <a:gd name="adj" fmla="val 5000"/>
            </a:avLst>
          </a:prstGeom>
          <a:solidFill>
            <a:srgbClr val="F3F7FA"/>
          </a:solidFill>
          <a:ln w="12700">
            <a:solidFill>
              <a:srgbClr val="E1E8EF"/>
            </a:solidFill>
            <a:prstDash val="solid"/>
          </a:ln>
        </p:spPr>
      </p:sp>
      <p:sp>
        <p:nvSpPr>
          <p:cNvPr id="44" name="t472"/>
          <p:cNvSpPr txBox="1"/>
          <p:nvPr/>
        </p:nvSpPr>
        <p:spPr>
          <a:xfrm>
            <a:off x="731520" y="14813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2E8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SAMPLE – RETURNING OIL</a:t>
            </a:r>
            <a:endParaRPr lang="en-US" sz="1200" dirty="0"/>
          </a:p>
        </p:txBody>
      </p:sp>
      <p:sp>
        <p:nvSpPr>
          <p:cNvPr id="45" name="s473"/>
          <p:cNvSpPr/>
          <p:nvPr/>
        </p:nvSpPr>
        <p:spPr>
          <a:xfrm>
            <a:off x="1051560" y="1874520"/>
            <a:ext cx="274320" cy="228600"/>
          </a:xfrm>
          <a:prstGeom prst="rect">
            <a:avLst/>
          </a:prstGeom>
          <a:solidFill>
            <a:srgbClr val="FFFFFF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46" name="s474"/>
          <p:cNvSpPr/>
          <p:nvPr/>
        </p:nvSpPr>
        <p:spPr>
          <a:xfrm>
            <a:off x="868680" y="2103120"/>
            <a:ext cx="640080" cy="1234440"/>
          </a:xfrm>
          <a:prstGeom prst="roundRect">
            <a:avLst>
              <a:gd name="adj" fmla="val 17143"/>
            </a:avLst>
          </a:prstGeom>
          <a:solidFill>
            <a:srgbClr val="FFFFFF"/>
          </a:solidFill>
          <a:ln w="19050">
            <a:solidFill>
              <a:srgbClr val="94A3B8"/>
            </a:solidFill>
            <a:prstDash val="solid"/>
          </a:ln>
        </p:spPr>
      </p:sp>
      <p:sp>
        <p:nvSpPr>
          <p:cNvPr id="47" name="s475"/>
          <p:cNvSpPr/>
          <p:nvPr/>
        </p:nvSpPr>
        <p:spPr>
          <a:xfrm>
            <a:off x="914400" y="2377440"/>
            <a:ext cx="548640" cy="914400"/>
          </a:xfrm>
          <a:prstGeom prst="roundRect">
            <a:avLst>
              <a:gd name="adj" fmla="val 16667"/>
            </a:avLst>
          </a:prstGeom>
          <a:solidFill>
            <a:srgbClr val="F2D58A"/>
          </a:solidFill>
          <a:ln/>
        </p:spPr>
      </p:sp>
      <p:sp>
        <p:nvSpPr>
          <p:cNvPr id="48" name="s476"/>
          <p:cNvSpPr/>
          <p:nvPr/>
        </p:nvSpPr>
        <p:spPr>
          <a:xfrm>
            <a:off x="914400" y="2377440"/>
            <a:ext cx="548640" cy="914400"/>
          </a:xfrm>
          <a:prstGeom prst="roundRect">
            <a:avLst>
              <a:gd name="adj" fmla="val 16667"/>
            </a:avLst>
          </a:prstGeom>
          <a:solidFill>
            <a:srgbClr val="C79A3C"/>
          </a:solidFill>
          <a:ln/>
        </p:spPr>
      </p:sp>
      <p:sp>
        <p:nvSpPr>
          <p:cNvPr id="49" name="s477"/>
          <p:cNvSpPr/>
          <p:nvPr/>
        </p:nvSpPr>
        <p:spPr>
          <a:xfrm>
            <a:off x="914400" y="2377440"/>
            <a:ext cx="548640" cy="914400"/>
          </a:xfrm>
          <a:prstGeom prst="roundRect">
            <a:avLst>
              <a:gd name="adj" fmla="val 16667"/>
            </a:avLst>
          </a:prstGeom>
          <a:solidFill>
            <a:srgbClr val="5A4025"/>
          </a:solidFill>
          <a:ln/>
        </p:spPr>
      </p:sp>
      <p:sp>
        <p:nvSpPr>
          <p:cNvPr id="50" name="s478"/>
          <p:cNvSpPr/>
          <p:nvPr/>
        </p:nvSpPr>
        <p:spPr>
          <a:xfrm>
            <a:off x="914400" y="2377440"/>
            <a:ext cx="548640" cy="914400"/>
          </a:xfrm>
          <a:prstGeom prst="roundRect">
            <a:avLst>
              <a:gd name="adj" fmla="val 16667"/>
            </a:avLst>
          </a:prstGeom>
          <a:solidFill>
            <a:srgbClr val="1C1F21"/>
          </a:solidFill>
          <a:ln/>
        </p:spPr>
      </p:sp>
      <p:sp>
        <p:nvSpPr>
          <p:cNvPr id="51" name="t479"/>
          <p:cNvSpPr txBox="1"/>
          <p:nvPr/>
        </p:nvSpPr>
        <p:spPr>
          <a:xfrm>
            <a:off x="1691640" y="2331720"/>
            <a:ext cx="1874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 flushing oil</a:t>
            </a:r>
            <a:endParaRPr lang="en-US" sz="1400" dirty="0"/>
          </a:p>
        </p:txBody>
      </p:sp>
      <p:sp>
        <p:nvSpPr>
          <p:cNvPr id="52" name="t480"/>
          <p:cNvSpPr txBox="1"/>
          <p:nvPr/>
        </p:nvSpPr>
        <p:spPr>
          <a:xfrm>
            <a:off x="1691640" y="2331720"/>
            <a:ext cx="1874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Dark – picking up deposits</a:t>
            </a:r>
            <a:endParaRPr lang="en-US" sz="1400" dirty="0"/>
          </a:p>
        </p:txBody>
      </p:sp>
      <p:sp>
        <p:nvSpPr>
          <p:cNvPr id="53" name="t481"/>
          <p:cNvSpPr txBox="1"/>
          <p:nvPr/>
        </p:nvSpPr>
        <p:spPr>
          <a:xfrm>
            <a:off x="1691640" y="2331720"/>
            <a:ext cx="1874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Lighter with each pass</a:t>
            </a:r>
            <a:endParaRPr lang="en-US" sz="1400" dirty="0"/>
          </a:p>
        </p:txBody>
      </p:sp>
      <p:sp>
        <p:nvSpPr>
          <p:cNvPr id="54" name="t482"/>
          <p:cNvSpPr txBox="1"/>
          <p:nvPr/>
        </p:nvSpPr>
        <p:spPr>
          <a:xfrm>
            <a:off x="1691640" y="2331720"/>
            <a:ext cx="1874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Clear – flush complete</a:t>
            </a:r>
            <a:endParaRPr lang="en-US" sz="1400" dirty="0"/>
          </a:p>
        </p:txBody>
      </p:sp>
      <p:sp>
        <p:nvSpPr>
          <p:cNvPr id="55" name="s483"/>
          <p:cNvSpPr/>
          <p:nvPr/>
        </p:nvSpPr>
        <p:spPr>
          <a:xfrm>
            <a:off x="548640" y="5852160"/>
            <a:ext cx="10515600" cy="713232"/>
          </a:xfrm>
          <a:prstGeom prst="roundRect">
            <a:avLst>
              <a:gd name="adj" fmla="val 25641"/>
            </a:avLst>
          </a:prstGeom>
          <a:solidFill>
            <a:srgbClr val="EAF3FA"/>
          </a:solidFill>
          <a:ln/>
        </p:spPr>
      </p:sp>
      <p:sp>
        <p:nvSpPr>
          <p:cNvPr id="56" name="t484"/>
          <p:cNvSpPr txBox="1"/>
          <p:nvPr/>
        </p:nvSpPr>
        <p:spPr>
          <a:xfrm>
            <a:off x="777240" y="5852160"/>
            <a:ext cx="100584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  Heavy bottoms, coker and quench circuits hold tar-like deposits that steam alone cannot shift.</a:t>
            </a:r>
            <a:endParaRPr lang="en-US" sz="1400" dirty="0"/>
          </a:p>
        </p:txBody>
      </p:sp>
      <p:sp>
        <p:nvSpPr>
          <p:cNvPr id="57" name="t485"/>
          <p:cNvSpPr txBox="1"/>
          <p:nvPr/>
        </p:nvSpPr>
        <p:spPr>
          <a:xfrm>
            <a:off x="777240" y="5852160"/>
            <a:ext cx="100584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  Hot flushing oil (cutter stock) fills the bottoms circuit: column → pump → exchangers → column.</a:t>
            </a:r>
            <a:endParaRPr lang="en-US" sz="1400" dirty="0"/>
          </a:p>
        </p:txBody>
      </p:sp>
      <p:sp>
        <p:nvSpPr>
          <p:cNvPr id="58" name="t486"/>
          <p:cNvSpPr txBox="1"/>
          <p:nvPr/>
        </p:nvSpPr>
        <p:spPr>
          <a:xfrm>
            <a:off x="777240" y="5852160"/>
            <a:ext cx="100584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  The oil circulates continuously through the circuit.</a:t>
            </a:r>
            <a:endParaRPr lang="en-US" sz="1400" dirty="0"/>
          </a:p>
        </p:txBody>
      </p:sp>
      <p:sp>
        <p:nvSpPr>
          <p:cNvPr id="59" name="t487"/>
          <p:cNvSpPr txBox="1"/>
          <p:nvPr/>
        </p:nvSpPr>
        <p:spPr>
          <a:xfrm>
            <a:off x="777240" y="5852160"/>
            <a:ext cx="100584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  Oil-based solvent is added – it penetrates and softens the heavy deposits; the returning oil turns dark.</a:t>
            </a:r>
            <a:endParaRPr lang="en-US" sz="1400" dirty="0"/>
          </a:p>
        </p:txBody>
      </p:sp>
      <p:sp>
        <p:nvSpPr>
          <p:cNvPr id="60" name="t488"/>
          <p:cNvSpPr txBox="1"/>
          <p:nvPr/>
        </p:nvSpPr>
        <p:spPr>
          <a:xfrm>
            <a:off x="777240" y="5852160"/>
            <a:ext cx="100584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  Pass after pass the deposits dissolve – the exchanger and column clean up and the sample gets lighter.</a:t>
            </a:r>
            <a:endParaRPr lang="en-US" sz="1400" dirty="0"/>
          </a:p>
        </p:txBody>
      </p:sp>
      <p:sp>
        <p:nvSpPr>
          <p:cNvPr id="61" name="t489"/>
          <p:cNvSpPr txBox="1"/>
          <p:nvPr/>
        </p:nvSpPr>
        <p:spPr>
          <a:xfrm>
            <a:off x="777240" y="5852160"/>
            <a:ext cx="100584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  The loaded oil is sent to the slop / rerun tank – not to effluent.</a:t>
            </a:r>
            <a:endParaRPr lang="en-US" sz="1400" dirty="0"/>
          </a:p>
        </p:txBody>
      </p:sp>
      <p:sp>
        <p:nvSpPr>
          <p:cNvPr id="62" name="t490"/>
          <p:cNvSpPr txBox="1"/>
          <p:nvPr/>
        </p:nvSpPr>
        <p:spPr>
          <a:xfrm>
            <a:off x="777240" y="5852160"/>
            <a:ext cx="100584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  Circuit clean – followed by vapour-phase for final gas-freeing.</a:t>
            </a:r>
            <a:endParaRPr lang="en-US" sz="1400" dirty="0"/>
          </a:p>
        </p:txBody>
      </p:sp>
      <p:sp>
        <p:nvSpPr>
          <p:cNvPr id="63" name="s491"/>
          <p:cNvSpPr/>
          <p:nvPr/>
        </p:nvSpPr>
        <p:spPr>
          <a:xfrm>
            <a:off x="6355080" y="5367528"/>
            <a:ext cx="182880" cy="182880"/>
          </a:xfrm>
          <a:prstGeom prst="ellipse">
            <a:avLst/>
          </a:prstGeom>
          <a:solidFill>
            <a:srgbClr val="D9A441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64" name="s492"/>
          <p:cNvSpPr/>
          <p:nvPr/>
        </p:nvSpPr>
        <p:spPr>
          <a:xfrm>
            <a:off x="6355080" y="5367528"/>
            <a:ext cx="182880" cy="182880"/>
          </a:xfrm>
          <a:prstGeom prst="ellipse">
            <a:avLst/>
          </a:prstGeom>
          <a:solidFill>
            <a:srgbClr val="D9A441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65" name="s493"/>
          <p:cNvSpPr/>
          <p:nvPr/>
        </p:nvSpPr>
        <p:spPr>
          <a:xfrm>
            <a:off x="6355080" y="5367528"/>
            <a:ext cx="182880" cy="182880"/>
          </a:xfrm>
          <a:prstGeom prst="ellipse">
            <a:avLst/>
          </a:prstGeom>
          <a:solidFill>
            <a:srgbClr val="D9A441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66" name="s494"/>
          <p:cNvSpPr/>
          <p:nvPr/>
        </p:nvSpPr>
        <p:spPr>
          <a:xfrm>
            <a:off x="6355080" y="5367528"/>
            <a:ext cx="182880" cy="182880"/>
          </a:xfrm>
          <a:prstGeom prst="ellipse">
            <a:avLst/>
          </a:prstGeom>
          <a:solidFill>
            <a:srgbClr val="D9A441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67" name="s495"/>
          <p:cNvSpPr/>
          <p:nvPr/>
        </p:nvSpPr>
        <p:spPr>
          <a:xfrm>
            <a:off x="6355080" y="5367528"/>
            <a:ext cx="182880" cy="182880"/>
          </a:xfrm>
          <a:prstGeom prst="ellipse">
            <a:avLst/>
          </a:prstGeom>
          <a:solidFill>
            <a:srgbClr val="D9A441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68" name="s496"/>
          <p:cNvSpPr/>
          <p:nvPr/>
        </p:nvSpPr>
        <p:spPr>
          <a:xfrm>
            <a:off x="6355080" y="5367528"/>
            <a:ext cx="182880" cy="182880"/>
          </a:xfrm>
          <a:prstGeom prst="ellipse">
            <a:avLst/>
          </a:prstGeom>
          <a:solidFill>
            <a:srgbClr val="D9A441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69" name="s497"/>
          <p:cNvSpPr/>
          <p:nvPr/>
        </p:nvSpPr>
        <p:spPr>
          <a:xfrm>
            <a:off x="6355080" y="5367528"/>
            <a:ext cx="182880" cy="182880"/>
          </a:xfrm>
          <a:prstGeom prst="ellipse">
            <a:avLst/>
          </a:prstGeom>
          <a:solidFill>
            <a:srgbClr val="D9A441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0" name="s498"/>
          <p:cNvSpPr/>
          <p:nvPr/>
        </p:nvSpPr>
        <p:spPr>
          <a:xfrm>
            <a:off x="6355080" y="5367528"/>
            <a:ext cx="182880" cy="182880"/>
          </a:xfrm>
          <a:prstGeom prst="ellipse">
            <a:avLst/>
          </a:prstGeom>
          <a:solidFill>
            <a:srgbClr val="D9A441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1" name="s499"/>
          <p:cNvSpPr/>
          <p:nvPr/>
        </p:nvSpPr>
        <p:spPr>
          <a:xfrm>
            <a:off x="6355080" y="5367528"/>
            <a:ext cx="182880" cy="182880"/>
          </a:xfrm>
          <a:prstGeom prst="ellipse">
            <a:avLst/>
          </a:prstGeom>
          <a:solidFill>
            <a:srgbClr val="D9A441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2" name="s500"/>
          <p:cNvSpPr/>
          <p:nvPr/>
        </p:nvSpPr>
        <p:spPr>
          <a:xfrm>
            <a:off x="6144768" y="4754880"/>
            <a:ext cx="182880" cy="182880"/>
          </a:xfrm>
          <a:prstGeom prst="ellipse">
            <a:avLst/>
          </a:prstGeom>
          <a:solidFill>
            <a:srgbClr val="3AB54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3" name="s501"/>
          <p:cNvSpPr/>
          <p:nvPr/>
        </p:nvSpPr>
        <p:spPr>
          <a:xfrm>
            <a:off x="6144768" y="4754880"/>
            <a:ext cx="182880" cy="182880"/>
          </a:xfrm>
          <a:prstGeom prst="ellipse">
            <a:avLst/>
          </a:prstGeom>
          <a:solidFill>
            <a:srgbClr val="3AB54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4" name="s502"/>
          <p:cNvSpPr/>
          <p:nvPr/>
        </p:nvSpPr>
        <p:spPr>
          <a:xfrm>
            <a:off x="6144768" y="4754880"/>
            <a:ext cx="182880" cy="182880"/>
          </a:xfrm>
          <a:prstGeom prst="ellipse">
            <a:avLst/>
          </a:prstGeom>
          <a:solidFill>
            <a:srgbClr val="3AB54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5" name="s503"/>
          <p:cNvSpPr/>
          <p:nvPr/>
        </p:nvSpPr>
        <p:spPr>
          <a:xfrm>
            <a:off x="6144768" y="4754880"/>
            <a:ext cx="182880" cy="182880"/>
          </a:xfrm>
          <a:prstGeom prst="ellipse">
            <a:avLst/>
          </a:prstGeom>
          <a:solidFill>
            <a:srgbClr val="3AB54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6" name="s504"/>
          <p:cNvSpPr/>
          <p:nvPr/>
        </p:nvSpPr>
        <p:spPr>
          <a:xfrm>
            <a:off x="6355080" y="5367528"/>
            <a:ext cx="182880" cy="182880"/>
          </a:xfrm>
          <a:prstGeom prst="ellipse">
            <a:avLst/>
          </a:prstGeom>
          <a:solidFill>
            <a:srgbClr val="D9A441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7" name="s505"/>
          <p:cNvSpPr/>
          <p:nvPr/>
        </p:nvSpPr>
        <p:spPr>
          <a:xfrm>
            <a:off x="6355080" y="5367528"/>
            <a:ext cx="182880" cy="182880"/>
          </a:xfrm>
          <a:prstGeom prst="ellipse">
            <a:avLst/>
          </a:prstGeom>
          <a:solidFill>
            <a:srgbClr val="D9A441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8" name="s506"/>
          <p:cNvSpPr/>
          <p:nvPr/>
        </p:nvSpPr>
        <p:spPr>
          <a:xfrm>
            <a:off x="6355080" y="5367528"/>
            <a:ext cx="182880" cy="182880"/>
          </a:xfrm>
          <a:prstGeom prst="ellipse">
            <a:avLst/>
          </a:prstGeom>
          <a:solidFill>
            <a:srgbClr val="D9A441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9" name="s507"/>
          <p:cNvSpPr/>
          <p:nvPr/>
        </p:nvSpPr>
        <p:spPr>
          <a:xfrm>
            <a:off x="6355080" y="5367528"/>
            <a:ext cx="182880" cy="182880"/>
          </a:xfrm>
          <a:prstGeom prst="ellipse">
            <a:avLst/>
          </a:prstGeom>
          <a:solidFill>
            <a:srgbClr val="D9A441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0" name="s508"/>
          <p:cNvSpPr/>
          <p:nvPr/>
        </p:nvSpPr>
        <p:spPr>
          <a:xfrm>
            <a:off x="6355080" y="5367528"/>
            <a:ext cx="182880" cy="182880"/>
          </a:xfrm>
          <a:prstGeom prst="ellipse">
            <a:avLst/>
          </a:prstGeom>
          <a:solidFill>
            <a:srgbClr val="D9A441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1" name="s509"/>
          <p:cNvSpPr/>
          <p:nvPr/>
        </p:nvSpPr>
        <p:spPr>
          <a:xfrm>
            <a:off x="6355080" y="5367528"/>
            <a:ext cx="182880" cy="182880"/>
          </a:xfrm>
          <a:prstGeom prst="ellipse">
            <a:avLst/>
          </a:prstGeom>
          <a:solidFill>
            <a:srgbClr val="D9A441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2" name="s510"/>
          <p:cNvSpPr/>
          <p:nvPr/>
        </p:nvSpPr>
        <p:spPr>
          <a:xfrm>
            <a:off x="6355080" y="5367528"/>
            <a:ext cx="182880" cy="182880"/>
          </a:xfrm>
          <a:prstGeom prst="ellipse">
            <a:avLst/>
          </a:prstGeom>
          <a:solidFill>
            <a:srgbClr val="D9A441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3" name="s511"/>
          <p:cNvSpPr/>
          <p:nvPr/>
        </p:nvSpPr>
        <p:spPr>
          <a:xfrm>
            <a:off x="6355080" y="5367528"/>
            <a:ext cx="182880" cy="182880"/>
          </a:xfrm>
          <a:prstGeom prst="ellipse">
            <a:avLst/>
          </a:prstGeom>
          <a:solidFill>
            <a:srgbClr val="D9A441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4" name="s512"/>
          <p:cNvSpPr/>
          <p:nvPr/>
        </p:nvSpPr>
        <p:spPr>
          <a:xfrm>
            <a:off x="6355080" y="5367528"/>
            <a:ext cx="182880" cy="182880"/>
          </a:xfrm>
          <a:prstGeom prst="ellipse">
            <a:avLst/>
          </a:prstGeom>
          <a:solidFill>
            <a:srgbClr val="D9A441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5" name="s513"/>
          <p:cNvSpPr/>
          <p:nvPr/>
        </p:nvSpPr>
        <p:spPr>
          <a:xfrm>
            <a:off x="6355080" y="5367528"/>
            <a:ext cx="182880" cy="182880"/>
          </a:xfrm>
          <a:prstGeom prst="ellipse">
            <a:avLst/>
          </a:prstGeom>
          <a:solidFill>
            <a:srgbClr val="D9A441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6" name="s514"/>
          <p:cNvSpPr/>
          <p:nvPr/>
        </p:nvSpPr>
        <p:spPr>
          <a:xfrm>
            <a:off x="6355080" y="5367528"/>
            <a:ext cx="182880" cy="182880"/>
          </a:xfrm>
          <a:prstGeom prst="ellipse">
            <a:avLst/>
          </a:prstGeom>
          <a:solidFill>
            <a:srgbClr val="D9A441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7" name="s515"/>
          <p:cNvSpPr/>
          <p:nvPr/>
        </p:nvSpPr>
        <p:spPr>
          <a:xfrm>
            <a:off x="6355080" y="5367528"/>
            <a:ext cx="182880" cy="182880"/>
          </a:xfrm>
          <a:prstGeom prst="ellipse">
            <a:avLst/>
          </a:prstGeom>
          <a:solidFill>
            <a:srgbClr val="D9A441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8" name="s516"/>
          <p:cNvSpPr/>
          <p:nvPr/>
        </p:nvSpPr>
        <p:spPr>
          <a:xfrm>
            <a:off x="6355080" y="5367528"/>
            <a:ext cx="182880" cy="182880"/>
          </a:xfrm>
          <a:prstGeom prst="ellipse">
            <a:avLst/>
          </a:prstGeom>
          <a:solidFill>
            <a:srgbClr val="D9A441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9" name="s517"/>
          <p:cNvSpPr/>
          <p:nvPr/>
        </p:nvSpPr>
        <p:spPr>
          <a:xfrm>
            <a:off x="6355080" y="5367528"/>
            <a:ext cx="182880" cy="182880"/>
          </a:xfrm>
          <a:prstGeom prst="ellipse">
            <a:avLst/>
          </a:prstGeom>
          <a:solidFill>
            <a:srgbClr val="D9A441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90" name="s518"/>
          <p:cNvSpPr/>
          <p:nvPr/>
        </p:nvSpPr>
        <p:spPr>
          <a:xfrm>
            <a:off x="9601200" y="4114800"/>
            <a:ext cx="182880" cy="182880"/>
          </a:xfrm>
          <a:prstGeom prst="ellipse">
            <a:avLst/>
          </a:prstGeom>
          <a:solidFill>
            <a:srgbClr val="6B523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91" name="s519"/>
          <p:cNvSpPr/>
          <p:nvPr/>
        </p:nvSpPr>
        <p:spPr>
          <a:xfrm>
            <a:off x="9601200" y="4114800"/>
            <a:ext cx="182880" cy="182880"/>
          </a:xfrm>
          <a:prstGeom prst="ellipse">
            <a:avLst/>
          </a:prstGeom>
          <a:solidFill>
            <a:srgbClr val="6B523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92" name="s520"/>
          <p:cNvSpPr/>
          <p:nvPr/>
        </p:nvSpPr>
        <p:spPr>
          <a:xfrm>
            <a:off x="9601200" y="4114800"/>
            <a:ext cx="182880" cy="182880"/>
          </a:xfrm>
          <a:prstGeom prst="ellipse">
            <a:avLst/>
          </a:prstGeom>
          <a:solidFill>
            <a:srgbClr val="6B523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93" name="s521"/>
          <p:cNvSpPr/>
          <p:nvPr/>
        </p:nvSpPr>
        <p:spPr>
          <a:xfrm>
            <a:off x="9601200" y="4114800"/>
            <a:ext cx="182880" cy="182880"/>
          </a:xfrm>
          <a:prstGeom prst="ellipse">
            <a:avLst/>
          </a:prstGeom>
          <a:solidFill>
            <a:srgbClr val="6B523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94" name="s522"/>
          <p:cNvSpPr/>
          <p:nvPr/>
        </p:nvSpPr>
        <p:spPr>
          <a:xfrm>
            <a:off x="9601200" y="4114800"/>
            <a:ext cx="182880" cy="182880"/>
          </a:xfrm>
          <a:prstGeom prst="ellipse">
            <a:avLst/>
          </a:prstGeom>
          <a:solidFill>
            <a:srgbClr val="6B523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95" name="s523"/>
          <p:cNvSpPr/>
          <p:nvPr/>
        </p:nvSpPr>
        <p:spPr>
          <a:xfrm>
            <a:off x="9601200" y="4114800"/>
            <a:ext cx="182880" cy="182880"/>
          </a:xfrm>
          <a:prstGeom prst="ellipse">
            <a:avLst/>
          </a:prstGeom>
          <a:solidFill>
            <a:srgbClr val="6B523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96" name="s524"/>
          <p:cNvSpPr/>
          <p:nvPr/>
        </p:nvSpPr>
        <p:spPr>
          <a:xfrm>
            <a:off x="4111142" y="1737360"/>
            <a:ext cx="921715" cy="164592"/>
          </a:xfrm>
          <a:prstGeom prst="roundRect">
            <a:avLst>
              <a:gd name="adj" fmla="val 50000"/>
            </a:avLst>
          </a:prstGeom>
          <a:solidFill>
            <a:srgbClr val="FFFFFF">
              <a:alpha val="65000"/>
            </a:srgbClr>
          </a:solidFill>
          <a:ln/>
        </p:spPr>
      </p:sp>
      <p:sp>
        <p:nvSpPr>
          <p:cNvPr id="97" name="s525"/>
          <p:cNvSpPr/>
          <p:nvPr/>
        </p:nvSpPr>
        <p:spPr>
          <a:xfrm>
            <a:off x="548640" y="3703320"/>
            <a:ext cx="3108960" cy="640080"/>
          </a:xfrm>
          <a:prstGeom prst="roundRect">
            <a:avLst>
              <a:gd name="adj" fmla="val 50000"/>
            </a:avLst>
          </a:prstGeom>
          <a:solidFill>
            <a:srgbClr val="3AB54A"/>
          </a:solidFill>
          <a:ln/>
        </p:spPr>
      </p:sp>
      <p:sp>
        <p:nvSpPr>
          <p:cNvPr id="98" name="t526"/>
          <p:cNvSpPr txBox="1"/>
          <p:nvPr/>
        </p:nvSpPr>
        <p:spPr>
          <a:xfrm>
            <a:off x="548640" y="3703320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NEXT: VAPOUR-PHASE GAS-FREEING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708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5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800"/>
                            </p:stCondLst>
                            <p:childTnLst>
                              <p:par>
                                <p:cTn id="3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1100"/>
                            </p:stCondLst>
                            <p:childTnLst>
                              <p:par>
                                <p:cTn id="36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8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1400"/>
                            </p:stCondLst>
                            <p:childTnLst>
                              <p:par>
                                <p:cTn id="40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3" fill="hold">
                            <p:stCondLst>
                              <p:cond delay="1700"/>
                            </p:stCondLst>
                            <p:childTnLst>
                              <p:par>
                                <p:cTn id="44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6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7" fill="hold">
                            <p:stCondLst>
                              <p:cond delay="2000"/>
                            </p:stCondLst>
                            <p:childTnLst>
                              <p:par>
                                <p:cTn id="48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50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2300"/>
                            </p:stCondLst>
                            <p:childTnLst>
                              <p:par>
                                <p:cTn id="52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54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5" fill="hold">
                            <p:stCondLst>
                              <p:cond delay="2600"/>
                            </p:stCondLst>
                            <p:childTnLst>
                              <p:par>
                                <p:cTn id="56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58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8" presetID="0" presetClass="path" presetSubtype="0" fill="hold" grpId="3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2663 0.0000 L 0.2663 -0.1827 L -0.0638 -0.1827 L -0.0638 -0.3960 L -0.1538 -0.3960 L -0.1538 0.0000 L -0.0338 0.0000 E" pathEditMode="relative" ptsTypes="AAAAAAAA">
                                      <p:cBhvr>
                                        <p:cTn id="69" dur="4200" fill="hold"/>
                                        <p:tgtEl>
                                          <p:spTgt spid="6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70" presetID="1" presetClass="exit" presetSubtype="0" fill="hold" grpId="1" nodeType="withEffect">
                                  <p:stCondLst>
                                    <p:cond delay="420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2" presetID="1" presetClass="entr" presetSubtype="0" fill="hold" grpId="0" nodeType="with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4" presetID="0" presetClass="path" presetSubtype="0" fill="hold" grpId="3" nodeType="withEffect">
                                  <p:stCondLst>
                                    <p:cond delay="450"/>
                                  </p:stCondLst>
                                  <p:childTnLst>
                                    <p:animMotion origin="layout" path="M 0 0 L 0.2663 0.0000 L 0.2663 -0.1827 L -0.0638 -0.1827 L -0.0638 -0.3960 L -0.1538 -0.3960 L -0.1538 0.0000 L -0.0338 0.0000 E" pathEditMode="relative" ptsTypes="AAAAAAAA">
                                      <p:cBhvr>
                                        <p:cTn id="75" dur="4200" fill="hold"/>
                                        <p:tgtEl>
                                          <p:spTgt spid="6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76" presetID="1" presetClass="exit" presetSubtype="0" fill="hold" grpId="1" nodeType="withEffect">
                                  <p:stCondLst>
                                    <p:cond delay="465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8" presetID="1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0" presetID="0" presetClass="path" presetSubtype="0" fill="hold" grpId="3" nodeType="withEffect">
                                  <p:stCondLst>
                                    <p:cond delay="900"/>
                                  </p:stCondLst>
                                  <p:childTnLst>
                                    <p:animMotion origin="layout" path="M 0 0 L 0.2663 0.0000 L 0.2663 -0.1827 L -0.0638 -0.1827 L -0.0638 -0.3960 L -0.1538 -0.3960 L -0.1538 0.0000 L -0.0338 0.0000 E" pathEditMode="relative" ptsTypes="AAAAAAAA">
                                      <p:cBhvr>
                                        <p:cTn id="81" dur="4200" fill="hold"/>
                                        <p:tgtEl>
                                          <p:spTgt spid="6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82" presetID="1" presetClass="exit" presetSubtype="0" fill="hold" grpId="1" nodeType="withEffect">
                                  <p:stCondLst>
                                    <p:cond delay="510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4" presetID="1" presetClass="entr" presetSubtype="0" fill="hold" grpId="0" nodeType="withEffect">
                                  <p:stCondLst>
                                    <p:cond delay="135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6" presetID="0" presetClass="path" presetSubtype="0" fill="hold" grpId="3" nodeType="withEffect">
                                  <p:stCondLst>
                                    <p:cond delay="1350"/>
                                  </p:stCondLst>
                                  <p:childTnLst>
                                    <p:animMotion origin="layout" path="M 0 0 L 0.2663 0.0000 L 0.2663 -0.1827 L -0.0638 -0.1827 L -0.0638 -0.3960 L -0.1538 -0.3960 L -0.1538 0.0000 L -0.0338 0.0000 E" pathEditMode="relative" ptsTypes="AAAAAAAA">
                                      <p:cBhvr>
                                        <p:cTn id="87" dur="4200" fill="hold"/>
                                        <p:tgtEl>
                                          <p:spTgt spid="6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88" presetID="1" presetClass="exit" presetSubtype="0" fill="hold" grpId="1" nodeType="withEffect">
                                  <p:stCondLst>
                                    <p:cond delay="555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0" presetID="1" presetClass="entr" presetSubtype="0" fill="hold" grpId="0" nodeType="withEffect">
                                  <p:stCondLst>
                                    <p:cond delay="180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2" presetID="0" presetClass="path" presetSubtype="0" fill="hold" grpId="3" nodeType="withEffect">
                                  <p:stCondLst>
                                    <p:cond delay="1800"/>
                                  </p:stCondLst>
                                  <p:childTnLst>
                                    <p:animMotion origin="layout" path="M 0 0 L 0.2663 0.0000 L 0.2663 -0.1827 L -0.0638 -0.1827 L -0.0638 -0.3960 L -0.1538 -0.3960 L -0.1538 0.0000 L -0.0338 0.0000 E" pathEditMode="relative" ptsTypes="AAAAAAAA">
                                      <p:cBhvr>
                                        <p:cTn id="93" dur="4200" fill="hold"/>
                                        <p:tgtEl>
                                          <p:spTgt spid="6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94" presetID="1" presetClass="exit" presetSubtype="0" fill="hold" grpId="1" nodeType="withEffect">
                                  <p:stCondLst>
                                    <p:cond delay="600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6" presetID="1" presetClass="entr" presetSubtype="0" fill="hold" grpId="0" nodeType="withEffect">
                                  <p:stCondLst>
                                    <p:cond delay="2250"/>
                                  </p:stCondLst>
                                  <p:childTnLs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8" presetID="0" presetClass="path" presetSubtype="0" fill="hold" grpId="3" nodeType="withEffect">
                                  <p:stCondLst>
                                    <p:cond delay="2250"/>
                                  </p:stCondLst>
                                  <p:childTnLst>
                                    <p:animMotion origin="layout" path="M 0 0 L 0.2663 0.0000 L 0.2663 -0.1827 L -0.0638 -0.1827 L -0.0638 -0.3960 L -0.1538 -0.3960 L -0.1538 0.0000 L -0.0338 0.0000 E" pathEditMode="relative" ptsTypes="AAAAAAAA">
                                      <p:cBhvr>
                                        <p:cTn id="99" dur="4200" fill="hold"/>
                                        <p:tgtEl>
                                          <p:spTgt spid="6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00" presetID="1" presetClass="exit" presetSubtype="0" fill="hold" grpId="1" nodeType="withEffect">
                                  <p:stCondLst>
                                    <p:cond delay="645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2" presetID="1" presetClass="entr" presetSubtype="0" fill="hold" grpId="0" nodeType="withEffect">
                                  <p:stCondLst>
                                    <p:cond delay="2700"/>
                                  </p:stCondLst>
                                  <p:childTnLst>
                                    <p:set>
                                      <p:cBhvr>
                                        <p:cTn id="1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4" presetID="0" presetClass="path" presetSubtype="0" fill="hold" grpId="3" nodeType="withEffect">
                                  <p:stCondLst>
                                    <p:cond delay="2700"/>
                                  </p:stCondLst>
                                  <p:childTnLst>
                                    <p:animMotion origin="layout" path="M 0 0 L 0.2663 0.0000 L 0.2663 -0.1827 L -0.0638 -0.1827 L -0.0638 -0.3960 L -0.1538 -0.3960 L -0.1538 0.0000 L -0.0338 0.0000 E" pathEditMode="relative" ptsTypes="AAAAAAAA">
                                      <p:cBhvr>
                                        <p:cTn id="105" dur="4200" fill="hold"/>
                                        <p:tgtEl>
                                          <p:spTgt spid="6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06" presetID="1" presetClass="exit" presetSubtype="0" fill="hold" grpId="1" nodeType="withEffect">
                                  <p:stCondLst>
                                    <p:cond delay="6900"/>
                                  </p:stCondLst>
                                  <p:childTnLst>
                                    <p:set>
                                      <p:cBhvr>
                                        <p:cTn id="1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8" presetID="1" presetClass="entr" presetSubtype="0" fill="hold" grpId="0" nodeType="withEffect">
                                  <p:stCondLst>
                                    <p:cond delay="3150"/>
                                  </p:stCondLst>
                                  <p:childTnLst>
                                    <p:set>
                                      <p:cBhvr>
                                        <p:cTn id="1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0" presetID="0" presetClass="path" presetSubtype="0" fill="hold" grpId="3" nodeType="withEffect">
                                  <p:stCondLst>
                                    <p:cond delay="3150"/>
                                  </p:stCondLst>
                                  <p:childTnLst>
                                    <p:animMotion origin="layout" path="M 0 0 L 0.2663 0.0000 L 0.2663 -0.1827 L -0.0638 -0.1827 L -0.0638 -0.3960 L -0.1538 -0.3960 L -0.1538 0.0000 L -0.0338 0.0000 E" pathEditMode="relative" ptsTypes="AAAAAAAA">
                                      <p:cBhvr>
                                        <p:cTn id="111" dur="4200" fill="hold"/>
                                        <p:tgtEl>
                                          <p:spTgt spid="7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12" presetID="1" presetClass="exit" presetSubtype="0" fill="hold" grpId="1" nodeType="withEffect">
                                  <p:stCondLst>
                                    <p:cond delay="7350"/>
                                  </p:stCondLst>
                                  <p:childTnLst>
                                    <p:set>
                                      <p:cBhvr>
                                        <p:cTn id="1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4" presetID="1" presetClass="entr" presetSubtype="0" fill="hold" grpId="0" nodeType="withEffect">
                                  <p:stCondLst>
                                    <p:cond delay="3600"/>
                                  </p:stCondLst>
                                  <p:childTnLst>
                                    <p:set>
                                      <p:cBhvr>
                                        <p:cTn id="1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6" presetID="0" presetClass="path" presetSubtype="0" fill="hold" grpId="3" nodeType="withEffect">
                                  <p:stCondLst>
                                    <p:cond delay="3600"/>
                                  </p:stCondLst>
                                  <p:childTnLst>
                                    <p:animMotion origin="layout" path="M 0 0 L 0.2663 0.0000 L 0.2663 -0.1827 L -0.0638 -0.1827 L -0.0638 -0.3960 L -0.1538 -0.3960 L -0.1538 0.0000 L -0.0338 0.0000 E" pathEditMode="relative" ptsTypes="AAAAAAAA">
                                      <p:cBhvr>
                                        <p:cTn id="117" dur="4200" fill="hold"/>
                                        <p:tgtEl>
                                          <p:spTgt spid="7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18" presetID="1" presetClass="exit" presetSubtype="0" fill="hold" grpId="1" nodeType="withEffect">
                                  <p:stCondLst>
                                    <p:cond delay="7800"/>
                                  </p:stCondLst>
                                  <p:childTnLst>
                                    <p:set>
                                      <p:cBhvr>
                                        <p:cTn id="1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0" fill="hold">
                      <p:stCondLst>
                        <p:cond delay="indefinite"/>
                      </p:stCondLst>
                      <p:childTnLst>
                        <p:par>
                          <p:cTn id="121" fill="hold">
                            <p:stCondLst>
                              <p:cond delay="0"/>
                            </p:stCondLst>
                            <p:childTnLst>
                              <p:par>
                                <p:cTn id="122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6" dur="3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7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9" dur="4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0" presetID="1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2" presetID="0" presetClass="path" presetSubtype="0" fill="hold" grpId="3" nodeType="with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0 0 L 0.0000 0.0893 L 0.2835 0.0893 L 0.2835 -0.0933 L -0.0465 -0.0933 E" pathEditMode="relative" ptsTypes="AAAAA">
                                      <p:cBhvr>
                                        <p:cTn id="133" dur="2400" fill="hold"/>
                                        <p:tgtEl>
                                          <p:spTgt spid="7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34" presetID="1" presetClass="exit" presetSubtype="0" fill="hold" grpId="1" nodeType="withEffect">
                                  <p:stCondLst>
                                    <p:cond delay="2700"/>
                                  </p:stCondLst>
                                  <p:childTnLst>
                                    <p:set>
                                      <p:cBhvr>
                                        <p:cTn id="1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6" presetID="1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1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8" presetID="0" presetClass="path" presetSubtype="0" fill="hold" grpId="3" nodeType="withEffect">
                                  <p:stCondLst>
                                    <p:cond delay="700"/>
                                  </p:stCondLst>
                                  <p:childTnLst>
                                    <p:animMotion origin="layout" path="M 0 0 L 0.0000 0.0893 L 0.2835 0.0893 L 0.2835 -0.0933 L -0.0465 -0.0933 E" pathEditMode="relative" ptsTypes="AAAAA">
                                      <p:cBhvr>
                                        <p:cTn id="139" dur="2400" fill="hold"/>
                                        <p:tgtEl>
                                          <p:spTgt spid="7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40" presetID="1" presetClass="exit" presetSubtype="0" fill="hold" grpId="1" nodeType="withEffect">
                                  <p:stCondLst>
                                    <p:cond delay="3100"/>
                                  </p:stCondLst>
                                  <p:childTnLst>
                                    <p:set>
                                      <p:cBhvr>
                                        <p:cTn id="1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2" presetID="1" presetClass="entr" presetSubtype="0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1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4" presetID="0" presetClass="path" presetSubtype="0" fill="hold" grpId="3" nodeType="withEffect">
                                  <p:stCondLst>
                                    <p:cond delay="1100"/>
                                  </p:stCondLst>
                                  <p:childTnLst>
                                    <p:animMotion origin="layout" path="M 0 0 L 0.0000 0.0893 L 0.2835 0.0893 L 0.2835 -0.0933 L -0.0465 -0.0933 E" pathEditMode="relative" ptsTypes="AAAAA">
                                      <p:cBhvr>
                                        <p:cTn id="145" dur="2400" fill="hold"/>
                                        <p:tgtEl>
                                          <p:spTgt spid="7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46" presetID="1" presetClass="exit" presetSubtype="0" fill="hold" grpId="1" nodeType="withEffect">
                                  <p:stCondLst>
                                    <p:cond delay="3500"/>
                                  </p:stCondLst>
                                  <p:childTnLst>
                                    <p:set>
                                      <p:cBhvr>
                                        <p:cTn id="1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8" presetID="1" presetClass="entr" presetSubtype="0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1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0" presetID="0" presetClass="path" presetSubtype="0" fill="hold" grpId="3" nodeType="withEffect">
                                  <p:stCondLst>
                                    <p:cond delay="1500"/>
                                  </p:stCondLst>
                                  <p:childTnLst>
                                    <p:animMotion origin="layout" path="M 0 0 L 0.0000 0.0893 L 0.2835 0.0893 L 0.2835 -0.0933 L -0.0465 -0.0933 E" pathEditMode="relative" ptsTypes="AAAAA">
                                      <p:cBhvr>
                                        <p:cTn id="151" dur="2400" fill="hold"/>
                                        <p:tgtEl>
                                          <p:spTgt spid="7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52" presetID="1" presetClass="exit" presetSubtype="0" fill="hold" grpId="1" nodeType="withEffect">
                                  <p:stCondLst>
                                    <p:cond delay="3900"/>
                                  </p:stCondLst>
                                  <p:childTnLst>
                                    <p:set>
                                      <p:cBhvr>
                                        <p:cTn id="1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4" presetID="1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1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6" presetID="0" presetClass="path" presetSubtype="0" fill="hold" grpId="3" nodeType="withEffect">
                                  <p:stCondLst>
                                    <p:cond delay="600"/>
                                  </p:stCondLst>
                                  <p:childTnLst>
                                    <p:animMotion origin="layout" path="M 0 0 L 0.2663 0.0000 L 0.2663 -0.1827 L -0.0638 -0.1827 L -0.0638 -0.3960 L -0.1538 -0.3960 L -0.1538 0.0000 L -0.0338 0.0000 E" pathEditMode="relative" ptsTypes="AAAAAAAA">
                                      <p:cBhvr>
                                        <p:cTn id="157" dur="4200" fill="hold"/>
                                        <p:tgtEl>
                                          <p:spTgt spid="7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58" presetID="1" presetClass="exit" presetSubtype="0" fill="hold" grpId="1" nodeType="withEffect">
                                  <p:stCondLst>
                                    <p:cond delay="4800"/>
                                  </p:stCondLst>
                                  <p:childTnLst>
                                    <p:set>
                                      <p:cBhvr>
                                        <p:cTn id="1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0" presetID="1" presetClass="entr" presetSubtype="0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1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2" presetID="0" presetClass="path" presetSubtype="0" fill="hold" grpId="3" nodeType="withEffect">
                                  <p:stCondLst>
                                    <p:cond delay="1100"/>
                                  </p:stCondLst>
                                  <p:childTnLst>
                                    <p:animMotion origin="layout" path="M 0 0 L 0.2663 0.0000 L 0.2663 -0.1827 L -0.0638 -0.1827 L -0.0638 -0.3960 L -0.1538 -0.3960 L -0.1538 0.0000 L -0.0338 0.0000 E" pathEditMode="relative" ptsTypes="AAAAAAAA">
                                      <p:cBhvr>
                                        <p:cTn id="163" dur="4200" fill="hold"/>
                                        <p:tgtEl>
                                          <p:spTgt spid="7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64" presetID="1" presetClass="exit" presetSubtype="0" fill="hold" grpId="1" nodeType="withEffect">
                                  <p:stCondLst>
                                    <p:cond delay="5300"/>
                                  </p:stCondLst>
                                  <p:childTnLst>
                                    <p:set>
                                      <p:cBhvr>
                                        <p:cTn id="1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6" presetID="1" presetClass="entr" presetSubtype="0" fill="hold" grpId="0" nodeType="withEffect">
                                  <p:stCondLst>
                                    <p:cond delay="1600"/>
                                  </p:stCondLst>
                                  <p:childTnLst>
                                    <p:set>
                                      <p:cBhvr>
                                        <p:cTn id="1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8" presetID="0" presetClass="path" presetSubtype="0" fill="hold" grpId="3" nodeType="withEffect">
                                  <p:stCondLst>
                                    <p:cond delay="1600"/>
                                  </p:stCondLst>
                                  <p:childTnLst>
                                    <p:animMotion origin="layout" path="M 0 0 L 0.2663 0.0000 L 0.2663 -0.1827 L -0.0638 -0.1827 L -0.0638 -0.3960 L -0.1538 -0.3960 L -0.1538 0.0000 L -0.0338 0.0000 E" pathEditMode="relative" ptsTypes="AAAAAAAA">
                                      <p:cBhvr>
                                        <p:cTn id="169" dur="4200" fill="hold"/>
                                        <p:tgtEl>
                                          <p:spTgt spid="7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70" presetID="1" presetClass="exit" presetSubtype="0" fill="hold" grpId="1" nodeType="withEffect">
                                  <p:stCondLst>
                                    <p:cond delay="5800"/>
                                  </p:stCondLst>
                                  <p:childTnLst>
                                    <p:set>
                                      <p:cBhvr>
                                        <p:cTn id="1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2" presetID="1" presetClass="entr" presetSubtype="0" fill="hold" grpId="0" nodeType="withEffect">
                                  <p:stCondLst>
                                    <p:cond delay="2100"/>
                                  </p:stCondLst>
                                  <p:childTnLst>
                                    <p:set>
                                      <p:cBhvr>
                                        <p:cTn id="1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4" presetID="0" presetClass="path" presetSubtype="0" fill="hold" grpId="3" nodeType="withEffect">
                                  <p:stCondLst>
                                    <p:cond delay="2100"/>
                                  </p:stCondLst>
                                  <p:childTnLst>
                                    <p:animMotion origin="layout" path="M 0 0 L 0.2663 0.0000 L 0.2663 -0.1827 L -0.0638 -0.1827 L -0.0638 -0.3960 L -0.1538 -0.3960 L -0.1538 0.0000 L -0.0338 0.0000 E" pathEditMode="relative" ptsTypes="AAAAAAAA">
                                      <p:cBhvr>
                                        <p:cTn id="175" dur="4200" fill="hold"/>
                                        <p:tgtEl>
                                          <p:spTgt spid="7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76" presetID="1" presetClass="exit" presetSubtype="0" fill="hold" grpId="1" nodeType="withEffect">
                                  <p:stCondLst>
                                    <p:cond delay="6300"/>
                                  </p:stCondLst>
                                  <p:childTnLst>
                                    <p:set>
                                      <p:cBhvr>
                                        <p:cTn id="1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8" presetID="1" presetClass="entr" presetSubtype="0" fill="hold" grpId="0" nodeType="withEffect">
                                  <p:stCondLst>
                                    <p:cond delay="2600"/>
                                  </p:stCondLst>
                                  <p:childTnLst>
                                    <p:set>
                                      <p:cBhvr>
                                        <p:cTn id="1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0" presetID="0" presetClass="path" presetSubtype="0" fill="hold" grpId="3" nodeType="withEffect">
                                  <p:stCondLst>
                                    <p:cond delay="2600"/>
                                  </p:stCondLst>
                                  <p:childTnLst>
                                    <p:animMotion origin="layout" path="M 0 0 L 0.2663 0.0000 L 0.2663 -0.1827 L -0.0638 -0.1827 L -0.0638 -0.3960 L -0.1538 -0.3960 L -0.1538 0.0000 L -0.0338 0.0000 E" pathEditMode="relative" ptsTypes="AAAAAAAA">
                                      <p:cBhvr>
                                        <p:cTn id="181" dur="4200" fill="hold"/>
                                        <p:tgtEl>
                                          <p:spTgt spid="8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82" presetID="1" presetClass="exit" presetSubtype="0" fill="hold" grpId="1" nodeType="withEffect">
                                  <p:stCondLst>
                                    <p:cond delay="6800"/>
                                  </p:stCondLst>
                                  <p:childTnLst>
                                    <p:set>
                                      <p:cBhvr>
                                        <p:cTn id="1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4" presetID="1" presetClass="entr" presetSubtype="0" fill="hold" grpId="0" nodeType="withEffect">
                                  <p:stCondLst>
                                    <p:cond delay="3100"/>
                                  </p:stCondLst>
                                  <p:childTnLst>
                                    <p:set>
                                      <p:cBhvr>
                                        <p:cTn id="1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6" presetID="0" presetClass="path" presetSubtype="0" fill="hold" grpId="3" nodeType="withEffect">
                                  <p:stCondLst>
                                    <p:cond delay="3100"/>
                                  </p:stCondLst>
                                  <p:childTnLst>
                                    <p:animMotion origin="layout" path="M 0 0 L 0.2663 0.0000 L 0.2663 -0.1827 L -0.0638 -0.1827 L -0.0638 -0.3960 L -0.1538 -0.3960 L -0.1538 0.0000 L -0.0338 0.0000 E" pathEditMode="relative" ptsTypes="AAAAAAAA">
                                      <p:cBhvr>
                                        <p:cTn id="187" dur="4200" fill="hold"/>
                                        <p:tgtEl>
                                          <p:spTgt spid="8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88" presetID="1" presetClass="exit" presetSubtype="0" fill="hold" grpId="1" nodeType="withEffect">
                                  <p:stCondLst>
                                    <p:cond delay="7300"/>
                                  </p:stCondLst>
                                  <p:childTnLst>
                                    <p:set>
                                      <p:cBhvr>
                                        <p:cTn id="1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0" presetID="10" presetClass="entr" presetSubtype="0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1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2" dur="8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3" presetID="1" presetClass="exit" presetSubtype="0" fill="hold" grpId="1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1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5" presetID="10" presetClass="entr" presetSubtype="0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1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7" dur="4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8" presetID="10" presetClass="exit" presetSubtype="0" fill="hold" grpId="1" nodeType="withEffect">
                                  <p:stCondLst>
                                    <p:cond delay="20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99" dur="1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00" dur="1" fill="hold">
                                          <p:stCondLst>
                                            <p:cond delay="149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1" presetID="10" presetClass="exit" presetSubtype="0" fill="hold" grpId="1" nodeType="withEffect">
                                  <p:stCondLst>
                                    <p:cond delay="20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02" dur="1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03" dur="1" fill="hold">
                                          <p:stCondLst>
                                            <p:cond delay="1499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4" fill="hold">
                      <p:stCondLst>
                        <p:cond delay="indefinite"/>
                      </p:stCondLst>
                      <p:childTnLst>
                        <p:par>
                          <p:cTn id="205" fill="hold">
                            <p:stCondLst>
                              <p:cond delay="0"/>
                            </p:stCondLst>
                            <p:childTnLst>
                              <p:par>
                                <p:cTn id="206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0" dur="3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3" presetID="0" presetClass="path" presetSubtype="0" fill="hold" grpId="3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2663 0.0000 L 0.2663 -0.1827 L -0.0638 -0.1827 L -0.0638 -0.3960 L -0.1538 -0.3960 L -0.1538 0.0000 L -0.0338 0.0000 E" pathEditMode="relative" ptsTypes="AAAAAAAA">
                                      <p:cBhvr>
                                        <p:cTn id="214" dur="4200" fill="hold"/>
                                        <p:tgtEl>
                                          <p:spTgt spid="8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15" presetID="1" presetClass="exit" presetSubtype="0" fill="hold" grpId="1" nodeType="withEffect">
                                  <p:stCondLst>
                                    <p:cond delay="4200"/>
                                  </p:stCondLst>
                                  <p:childTnLst>
                                    <p:set>
                                      <p:cBhvr>
                                        <p:cTn id="2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7" presetID="1" presetClass="entr" presetSubtype="0" fill="hold" grpId="0" nodeType="with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2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9" presetID="0" presetClass="path" presetSubtype="0" fill="hold" grpId="3" nodeType="withEffect">
                                  <p:stCondLst>
                                    <p:cond delay="450"/>
                                  </p:stCondLst>
                                  <p:childTnLst>
                                    <p:animMotion origin="layout" path="M 0 0 L 0.2663 0.0000 L 0.2663 -0.1827 L -0.0638 -0.1827 L -0.0638 -0.3960 L -0.1538 -0.3960 L -0.1538 0.0000 L -0.0338 0.0000 E" pathEditMode="relative" ptsTypes="AAAAAAAA">
                                      <p:cBhvr>
                                        <p:cTn id="220" dur="4200" fill="hold"/>
                                        <p:tgtEl>
                                          <p:spTgt spid="8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21" presetID="1" presetClass="exit" presetSubtype="0" fill="hold" grpId="1" nodeType="withEffect">
                                  <p:stCondLst>
                                    <p:cond delay="4650"/>
                                  </p:stCondLst>
                                  <p:childTnLst>
                                    <p:set>
                                      <p:cBhvr>
                                        <p:cTn id="2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3" presetID="1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2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5" presetID="0" presetClass="path" presetSubtype="0" fill="hold" grpId="3" nodeType="withEffect">
                                  <p:stCondLst>
                                    <p:cond delay="900"/>
                                  </p:stCondLst>
                                  <p:childTnLst>
                                    <p:animMotion origin="layout" path="M 0 0 L 0.2663 0.0000 L 0.2663 -0.1827 L -0.0638 -0.1827 L -0.0638 -0.3960 L -0.1538 -0.3960 L -0.1538 0.0000 L -0.0338 0.0000 E" pathEditMode="relative" ptsTypes="AAAAAAAA">
                                      <p:cBhvr>
                                        <p:cTn id="226" dur="4200" fill="hold"/>
                                        <p:tgtEl>
                                          <p:spTgt spid="8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27" presetID="1" presetClass="exit" presetSubtype="0" fill="hold" grpId="1" nodeType="withEffect">
                                  <p:stCondLst>
                                    <p:cond delay="5100"/>
                                  </p:stCondLst>
                                  <p:childTnLst>
                                    <p:set>
                                      <p:cBhvr>
                                        <p:cTn id="2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9" presetID="1" presetClass="entr" presetSubtype="0" fill="hold" grpId="0" nodeType="withEffect">
                                  <p:stCondLst>
                                    <p:cond delay="1350"/>
                                  </p:stCondLst>
                                  <p:childTnLst>
                                    <p:set>
                                      <p:cBhvr>
                                        <p:cTn id="2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1" presetID="0" presetClass="path" presetSubtype="0" fill="hold" grpId="3" nodeType="withEffect">
                                  <p:stCondLst>
                                    <p:cond delay="1350"/>
                                  </p:stCondLst>
                                  <p:childTnLst>
                                    <p:animMotion origin="layout" path="M 0 0 L 0.2663 0.0000 L 0.2663 -0.1827 L -0.0638 -0.1827 L -0.0638 -0.3960 L -0.1538 -0.3960 L -0.1538 0.0000 L -0.0338 0.0000 E" pathEditMode="relative" ptsTypes="AAAAAAAA">
                                      <p:cBhvr>
                                        <p:cTn id="232" dur="4200" fill="hold"/>
                                        <p:tgtEl>
                                          <p:spTgt spid="8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33" presetID="1" presetClass="exit" presetSubtype="0" fill="hold" grpId="1" nodeType="withEffect">
                                  <p:stCondLst>
                                    <p:cond delay="5550"/>
                                  </p:stCondLst>
                                  <p:childTnLst>
                                    <p:set>
                                      <p:cBhvr>
                                        <p:cTn id="2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5" presetID="1" presetClass="entr" presetSubtype="0" fill="hold" grpId="0" nodeType="withEffect">
                                  <p:stCondLst>
                                    <p:cond delay="1800"/>
                                  </p:stCondLst>
                                  <p:childTnLst>
                                    <p:set>
                                      <p:cBhvr>
                                        <p:cTn id="2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7" presetID="0" presetClass="path" presetSubtype="0" fill="hold" grpId="3" nodeType="withEffect">
                                  <p:stCondLst>
                                    <p:cond delay="1800"/>
                                  </p:stCondLst>
                                  <p:childTnLst>
                                    <p:animMotion origin="layout" path="M 0 0 L 0.2663 0.0000 L 0.2663 -0.1827 L -0.0638 -0.1827 L -0.0638 -0.3960 L -0.1538 -0.3960 L -0.1538 0.0000 L -0.0338 0.0000 E" pathEditMode="relative" ptsTypes="AAAAAAAA">
                                      <p:cBhvr>
                                        <p:cTn id="238" dur="4200" fill="hold"/>
                                        <p:tgtEl>
                                          <p:spTgt spid="8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39" presetID="1" presetClass="exit" presetSubtype="0" fill="hold" grpId="1" nodeType="withEffect">
                                  <p:stCondLst>
                                    <p:cond delay="6000"/>
                                  </p:stCondLst>
                                  <p:childTnLst>
                                    <p:set>
                                      <p:cBhvr>
                                        <p:cTn id="2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1" presetID="1" presetClass="entr" presetSubtype="0" fill="hold" grpId="0" nodeType="withEffect">
                                  <p:stCondLst>
                                    <p:cond delay="2250"/>
                                  </p:stCondLst>
                                  <p:childTnLst>
                                    <p:set>
                                      <p:cBhvr>
                                        <p:cTn id="2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3" presetID="0" presetClass="path" presetSubtype="0" fill="hold" grpId="3" nodeType="withEffect">
                                  <p:stCondLst>
                                    <p:cond delay="2250"/>
                                  </p:stCondLst>
                                  <p:childTnLst>
                                    <p:animMotion origin="layout" path="M 0 0 L 0.2663 0.0000 L 0.2663 -0.1827 L -0.0638 -0.1827 L -0.0638 -0.3960 L -0.1538 -0.3960 L -0.1538 0.0000 L -0.0338 0.0000 E" pathEditMode="relative" ptsTypes="AAAAAAAA">
                                      <p:cBhvr>
                                        <p:cTn id="244" dur="4200" fill="hold"/>
                                        <p:tgtEl>
                                          <p:spTgt spid="8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45" presetID="1" presetClass="exit" presetSubtype="0" fill="hold" grpId="1" nodeType="withEffect">
                                  <p:stCondLst>
                                    <p:cond delay="6450"/>
                                  </p:stCondLst>
                                  <p:childTnLst>
                                    <p:set>
                                      <p:cBhvr>
                                        <p:cTn id="2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7" presetID="1" presetClass="entr" presetSubtype="0" fill="hold" grpId="0" nodeType="withEffect">
                                  <p:stCondLst>
                                    <p:cond delay="2700"/>
                                  </p:stCondLst>
                                  <p:childTnLst>
                                    <p:set>
                                      <p:cBhvr>
                                        <p:cTn id="2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9" presetID="0" presetClass="path" presetSubtype="0" fill="hold" grpId="3" nodeType="withEffect">
                                  <p:stCondLst>
                                    <p:cond delay="2700"/>
                                  </p:stCondLst>
                                  <p:childTnLst>
                                    <p:animMotion origin="layout" path="M 0 0 L 0.2663 0.0000 L 0.2663 -0.1827 L -0.0638 -0.1827 L -0.0638 -0.3960 L -0.1538 -0.3960 L -0.1538 0.0000 L -0.0338 0.0000 E" pathEditMode="relative" ptsTypes="AAAAAAAA">
                                      <p:cBhvr>
                                        <p:cTn id="250" dur="4200" fill="hold"/>
                                        <p:tgtEl>
                                          <p:spTgt spid="8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51" presetID="1" presetClass="exit" presetSubtype="0" fill="hold" grpId="1" nodeType="withEffect">
                                  <p:stCondLst>
                                    <p:cond delay="6900"/>
                                  </p:stCondLst>
                                  <p:childTnLst>
                                    <p:set>
                                      <p:cBhvr>
                                        <p:cTn id="2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3" presetID="1" presetClass="entr" presetSubtype="0" fill="hold" grpId="0" nodeType="withEffect">
                                  <p:stCondLst>
                                    <p:cond delay="3150"/>
                                  </p:stCondLst>
                                  <p:childTnLst>
                                    <p:set>
                                      <p:cBhvr>
                                        <p:cTn id="2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5" presetID="0" presetClass="path" presetSubtype="0" fill="hold" grpId="3" nodeType="withEffect">
                                  <p:stCondLst>
                                    <p:cond delay="3150"/>
                                  </p:stCondLst>
                                  <p:childTnLst>
                                    <p:animMotion origin="layout" path="M 0 0 L 0.2663 0.0000 L 0.2663 -0.1827 L -0.0638 -0.1827 L -0.0638 -0.3960 L -0.1538 -0.3960 L -0.1538 0.0000 L -0.0338 0.0000 E" pathEditMode="relative" ptsTypes="AAAAAAAA">
                                      <p:cBhvr>
                                        <p:cTn id="256" dur="4200" fill="hold"/>
                                        <p:tgtEl>
                                          <p:spTgt spid="8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57" presetID="1" presetClass="exit" presetSubtype="0" fill="hold" grpId="1" nodeType="withEffect">
                                  <p:stCondLst>
                                    <p:cond delay="7350"/>
                                  </p:stCondLst>
                                  <p:childTnLst>
                                    <p:set>
                                      <p:cBhvr>
                                        <p:cTn id="2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9" presetID="10" presetClass="exit" presetSubtype="0" fill="hold" grpId="1" nodeType="withEffect">
                                  <p:stCondLst>
                                    <p:cond delay="6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60" dur="9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61" dur="1" fill="hold">
                                          <p:stCondLst>
                                            <p:cond delay="899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62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2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4" dur="6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5" presetID="1" presetClass="exit" presetSubtype="0" fill="hold" grpId="1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2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67" presetID="10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2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9" dur="4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0" presetID="10" presetClass="exit" presetSubtype="0" fill="hold" grpId="1" nodeType="withEffect">
                                  <p:stCondLst>
                                    <p:cond delay="12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71" dur="1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72" dur="1" fill="hold">
                                          <p:stCondLst>
                                            <p:cond delay="14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3" presetID="10" presetClass="exit" presetSubtype="0" fill="hold" grpId="1" nodeType="withEffect">
                                  <p:stCondLst>
                                    <p:cond delay="12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74" dur="1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75" dur="1" fill="hold">
                                          <p:stCondLst>
                                            <p:cond delay="1499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6" presetID="0" presetClass="path" presetSubtype="0" fill="hold" grpId="3" nodeType="withEffect">
                                  <p:stCondLst>
                                    <p:cond delay="1000"/>
                                  </p:stCondLst>
                                  <p:childTnLst>
                                    <p:animMotion origin="layout" path="M 0 0 L 0.0000 0.1267 E" pathEditMode="relative" ptsTypes="AA">
                                      <p:cBhvr>
                                        <p:cTn id="277" dur="12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78" presetID="10" presetClass="exit" presetSubtype="0" fill="hold" grpId="1" nodeType="withEffect">
                                  <p:stCondLst>
                                    <p:cond delay="19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79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80" dur="1" fill="hold">
                                          <p:stCondLst>
                                            <p:cond delay="3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81" presetID="0" presetClass="path" presetSubtype="0" fill="hold" grpId="3" nodeType="withEffect">
                                  <p:stCondLst>
                                    <p:cond delay="1200"/>
                                  </p:stCondLst>
                                  <p:childTnLst>
                                    <p:animMotion origin="layout" path="M 0 0 L 0.0000 0.1267 E" pathEditMode="relative" ptsTypes="AA">
                                      <p:cBhvr>
                                        <p:cTn id="282" dur="12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83" presetID="10" presetClass="exit" presetSubtype="0" fill="hold" grpId="1" nodeType="withEffect">
                                  <p:stCondLst>
                                    <p:cond delay="21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84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85" dur="1" fill="hold">
                                          <p:stCondLst>
                                            <p:cond delay="399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86" presetID="0" presetClass="path" presetSubtype="0" fill="hold" grpId="3" nodeType="withEffect">
                                  <p:stCondLst>
                                    <p:cond delay="1400"/>
                                  </p:stCondLst>
                                  <p:childTnLst>
                                    <p:animMotion origin="layout" path="M 0 0 L 0.0000 0.1267 E" pathEditMode="relative" ptsTypes="AA">
                                      <p:cBhvr>
                                        <p:cTn id="287" dur="12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88" presetID="10" presetClass="exit" presetSubtype="0" fill="hold" grpId="1" nodeType="withEffect">
                                  <p:stCondLst>
                                    <p:cond delay="23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89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90" dur="1" fill="hold">
                                          <p:stCondLst>
                                            <p:cond delay="39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1" presetID="10" presetClass="exit" presetSubtype="0" fill="hold" grpId="1" nodeType="withEffect">
                                  <p:stCondLst>
                                    <p:cond delay="30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92" dur="9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93" dur="1" fill="hold">
                                          <p:stCondLst>
                                            <p:cond delay="899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4" presetID="10" presetClass="entr" presetSubtype="0" fill="hold" grpId="0" nodeType="withEffect">
                                  <p:stCondLst>
                                    <p:cond delay="3000"/>
                                  </p:stCondLst>
                                  <p:childTnLst>
                                    <p:set>
                                      <p:cBhvr>
                                        <p:cTn id="2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6" dur="6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7" fill="hold">
                      <p:stCondLst>
                        <p:cond delay="indefinite"/>
                      </p:stCondLst>
                      <p:childTnLst>
                        <p:par>
                          <p:cTn id="298" fill="hold">
                            <p:stCondLst>
                              <p:cond delay="0"/>
                            </p:stCondLst>
                            <p:childTnLst>
                              <p:par>
                                <p:cTn id="29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0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3" dur="3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4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06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7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09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0" presetID="1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3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2" presetID="0" presetClass="path" presetSubtype="0" fill="hold" grpId="3" nodeType="with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0 0 L 0.0000 -0.2667 L 0.0675 -0.2667 E" pathEditMode="relative" ptsTypes="AAA">
                                      <p:cBhvr>
                                        <p:cTn id="313" dur="1300" fill="hold"/>
                                        <p:tgtEl>
                                          <p:spTgt spid="9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14" presetID="1" presetClass="exit" presetSubtype="0" fill="hold" grpId="1" nodeType="withEffect">
                                  <p:stCondLst>
                                    <p:cond delay="1600"/>
                                  </p:stCondLst>
                                  <p:childTnLst>
                                    <p:set>
                                      <p:cBhvr>
                                        <p:cTn id="3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6" presetID="1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3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8" presetID="0" presetClass="path" presetSubtype="0" fill="hold" grpId="3" nodeType="withEffect">
                                  <p:stCondLst>
                                    <p:cond delay="600"/>
                                  </p:stCondLst>
                                  <p:childTnLst>
                                    <p:animMotion origin="layout" path="M 0 0 L 0.0000 -0.2667 L 0.0675 -0.2667 E" pathEditMode="relative" ptsTypes="AAA">
                                      <p:cBhvr>
                                        <p:cTn id="319" dur="1300" fill="hold"/>
                                        <p:tgtEl>
                                          <p:spTgt spid="9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20" presetID="1" presetClass="exit" presetSubtype="0" fill="hold" grpId="1" nodeType="withEffect">
                                  <p:stCondLst>
                                    <p:cond delay="1900"/>
                                  </p:stCondLst>
                                  <p:childTnLst>
                                    <p:set>
                                      <p:cBhvr>
                                        <p:cTn id="3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22" presetID="1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3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24" presetID="0" presetClass="path" presetSubtype="0" fill="hold" grpId="3" nodeType="withEffect">
                                  <p:stCondLst>
                                    <p:cond delay="900"/>
                                  </p:stCondLst>
                                  <p:childTnLst>
                                    <p:animMotion origin="layout" path="M 0 0 L 0.0000 -0.2667 L 0.0675 -0.2667 E" pathEditMode="relative" ptsTypes="AAA">
                                      <p:cBhvr>
                                        <p:cTn id="325" dur="1300" fill="hold"/>
                                        <p:tgtEl>
                                          <p:spTgt spid="9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26" presetID="1" presetClass="exit" presetSubtype="0" fill="hold" grpId="1" nodeType="withEffect">
                                  <p:stCondLst>
                                    <p:cond delay="2200"/>
                                  </p:stCondLst>
                                  <p:childTnLst>
                                    <p:set>
                                      <p:cBhvr>
                                        <p:cTn id="3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28" presetID="1" presetClass="entr" presetSubtype="0" fill="hold" grpId="0" nodeType="withEffect">
                                  <p:stCondLst>
                                    <p:cond delay="1200"/>
                                  </p:stCondLst>
                                  <p:childTnLst>
                                    <p:set>
                                      <p:cBhvr>
                                        <p:cTn id="3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0" presetID="0" presetClass="path" presetSubtype="0" fill="hold" grpId="3" nodeType="withEffect">
                                  <p:stCondLst>
                                    <p:cond delay="1200"/>
                                  </p:stCondLst>
                                  <p:childTnLst>
                                    <p:animMotion origin="layout" path="M 0 0 L 0.0000 -0.2667 L 0.0675 -0.2667 E" pathEditMode="relative" ptsTypes="AAA">
                                      <p:cBhvr>
                                        <p:cTn id="331" dur="1300" fill="hold"/>
                                        <p:tgtEl>
                                          <p:spTgt spid="9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32" presetID="1" presetClass="exit" presetSubtype="0" fill="hold" grpId="1" nodeType="withEffect">
                                  <p:stCondLst>
                                    <p:cond delay="2500"/>
                                  </p:stCondLst>
                                  <p:childTnLst>
                                    <p:set>
                                      <p:cBhvr>
                                        <p:cTn id="3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4" presetID="1" presetClass="entr" presetSubtype="0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3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6" presetID="0" presetClass="path" presetSubtype="0" fill="hold" grpId="3" nodeType="withEffect">
                                  <p:stCondLst>
                                    <p:cond delay="1500"/>
                                  </p:stCondLst>
                                  <p:childTnLst>
                                    <p:animMotion origin="layout" path="M 0 0 L 0.0000 -0.2667 L 0.0675 -0.2667 E" pathEditMode="relative" ptsTypes="AAA">
                                      <p:cBhvr>
                                        <p:cTn id="337" dur="1300" fill="hold"/>
                                        <p:tgtEl>
                                          <p:spTgt spid="9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38" presetID="1" presetClass="exit" presetSubtype="0" fill="hold" grpId="1" nodeType="withEffect">
                                  <p:stCondLst>
                                    <p:cond delay="2800"/>
                                  </p:stCondLst>
                                  <p:childTnLst>
                                    <p:set>
                                      <p:cBhvr>
                                        <p:cTn id="3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40" presetID="1" presetClass="entr" presetSubtype="0" fill="hold" grpId="0" nodeType="withEffect">
                                  <p:stCondLst>
                                    <p:cond delay="1800"/>
                                  </p:stCondLst>
                                  <p:childTnLst>
                                    <p:set>
                                      <p:cBhvr>
                                        <p:cTn id="3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42" presetID="0" presetClass="path" presetSubtype="0" fill="hold" grpId="3" nodeType="withEffect">
                                  <p:stCondLst>
                                    <p:cond delay="1800"/>
                                  </p:stCondLst>
                                  <p:childTnLst>
                                    <p:animMotion origin="layout" path="M 0 0 L 0.0000 -0.2667 L 0.0675 -0.2667 E" pathEditMode="relative" ptsTypes="AAA">
                                      <p:cBhvr>
                                        <p:cTn id="343" dur="1300" fill="hold"/>
                                        <p:tgtEl>
                                          <p:spTgt spid="9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44" presetID="1" presetClass="exit" presetSubtype="0" fill="hold" grpId="1" nodeType="withEffect">
                                  <p:stCondLst>
                                    <p:cond delay="3100"/>
                                  </p:stCondLst>
                                  <p:childTnLst>
                                    <p:set>
                                      <p:cBhvr>
                                        <p:cTn id="3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46" presetID="22" presetClass="entr" presetSubtype="4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3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48" dur="6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9" presetID="22" presetClass="entr" presetSubtype="4" fill="hold" grpId="0" nodeType="withEffect">
                                  <p:stCondLst>
                                    <p:cond delay="1900"/>
                                  </p:stCondLst>
                                  <p:childTnLst>
                                    <p:set>
                                      <p:cBhvr>
                                        <p:cTn id="3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51" dur="6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2" fill="hold">
                      <p:stCondLst>
                        <p:cond delay="indefinite"/>
                      </p:stCondLst>
                      <p:childTnLst>
                        <p:par>
                          <p:cTn id="353" fill="hold">
                            <p:stCondLst>
                              <p:cond delay="0"/>
                            </p:stCondLst>
                            <p:childTnLst>
                              <p:par>
                                <p:cTn id="354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8" dur="3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9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60" dur="12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61" dur="1" fill="hold">
                                          <p:stCondLst>
                                            <p:cond delay="119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62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63" dur="12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64" dur="1" fill="hold">
                                          <p:stCondLst>
                                            <p:cond delay="1199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65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66" dur="12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67" dur="1" fill="hold">
                                          <p:stCondLst>
                                            <p:cond delay="1199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68" presetID="1" presetClass="exit" presetSubtype="0" fill="hold" grpId="1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3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0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3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2" dur="4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3" fill="hold">
                            <p:stCondLst>
                              <p:cond delay="1200"/>
                            </p:stCondLst>
                            <p:childTnLst>
                              <p:par>
                                <p:cTn id="374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6" presetID="0" presetClass="path" presetSubtype="0" fill="hold" grpId="3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0.4467 E" pathEditMode="relative" ptsTypes="AA">
                                      <p:cBhvr>
                                        <p:cTn id="377" dur="1100" fill="hold"/>
                                        <p:tgtEl>
                                          <p:spTgt spid="9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78" presetID="10" presetClass="exit" presetSubtype="0" fill="hold" grpId="1" nodeType="withEffect">
                                  <p:stCondLst>
                                    <p:cond delay="10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79" dur="300"/>
                                        <p:tgtEl>
                                          <p:spTgt spid="9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8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1" fill="hold">
                            <p:stCondLst>
                              <p:cond delay="2500"/>
                            </p:stCondLst>
                            <p:childTnLst>
                              <p:par>
                                <p:cTn id="382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84" dur="500" fill="hold"/>
                                        <p:tgtEl>
                                          <p:spTgt spid="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85" dur="500" fill="hold"/>
                                        <p:tgtEl>
                                          <p:spTgt spid="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86" dur="500"/>
                                        <p:tgtEl>
                                          <p:spTgt spid="9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7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89" dur="500" fill="hold"/>
                                        <p:tgtEl>
                                          <p:spTgt spid="9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0" dur="500" fill="hold"/>
                                        <p:tgtEl>
                                          <p:spTgt spid="9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91" dur="500"/>
                                        <p:tgtEl>
                                          <p:spTgt spid="9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2" fill="hold">
                            <p:stCondLst>
                              <p:cond delay="3000"/>
                            </p:stCondLst>
                            <p:childTnLst>
                              <p:par>
                                <p:cTn id="393" presetID="6" presetClass="emph" presetSubtype="0" repeatCount="2000" fill="hold" grpId="2" nodeType="after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394" dur="400" autoRev="1" fill="hold"/>
                                        <p:tgtEl>
                                          <p:spTgt spid="97"/>
                                        </p:tgtEl>
                                      </p:cBhvr>
                                      <p:by x="108000" y="108000"/>
                                    </p:animScale>
                                  </p:childTnLst>
                                </p:cTn>
                              </p:par>
                              <p:par>
                                <p:cTn id="395" presetID="6" presetClass="emph" presetSubtype="0" repeatCount="200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396" dur="400" autoRev="1" fill="hold"/>
                                        <p:tgtEl>
                                          <p:spTgt spid="98"/>
                                        </p:tgtEl>
                                      </p:cBhvr>
                                      <p:by x="108000" y="108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5" grpId="0" animBg="1"/>
      <p:bldP spid="56" grpId="0" animBg="1"/>
      <p:bldP spid="56" grpId="1" animBg="1"/>
      <p:bldP spid="57" grpId="0" animBg="1"/>
      <p:bldP spid="32" grpId="0" animBg="1"/>
      <p:bldP spid="33" grpId="0" animBg="1"/>
      <p:bldP spid="34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57" grpId="1" animBg="1"/>
      <p:bldP spid="58" grpId="0" animBg="1"/>
      <p:bldP spid="63" grpId="0" animBg="1"/>
      <p:bldP spid="63" grpId="3" animBg="1"/>
      <p:bldP spid="63" grpId="1" animBg="1"/>
      <p:bldP spid="64" grpId="0" animBg="1"/>
      <p:bldP spid="64" grpId="3" animBg="1"/>
      <p:bldP spid="64" grpId="1" animBg="1"/>
      <p:bldP spid="65" grpId="0" animBg="1"/>
      <p:bldP spid="65" grpId="3" animBg="1"/>
      <p:bldP spid="65" grpId="1" animBg="1"/>
      <p:bldP spid="66" grpId="0" animBg="1"/>
      <p:bldP spid="66" grpId="3" animBg="1"/>
      <p:bldP spid="66" grpId="1" animBg="1"/>
      <p:bldP spid="67" grpId="0" animBg="1"/>
      <p:bldP spid="67" grpId="3" animBg="1"/>
      <p:bldP spid="67" grpId="1" animBg="1"/>
      <p:bldP spid="68" grpId="0" animBg="1"/>
      <p:bldP spid="68" grpId="3" animBg="1"/>
      <p:bldP spid="68" grpId="1" animBg="1"/>
      <p:bldP spid="69" grpId="0" animBg="1"/>
      <p:bldP spid="69" grpId="3" animBg="1"/>
      <p:bldP spid="69" grpId="1" animBg="1"/>
      <p:bldP spid="70" grpId="0" animBg="1"/>
      <p:bldP spid="70" grpId="3" animBg="1"/>
      <p:bldP spid="70" grpId="1" animBg="1"/>
      <p:bldP spid="71" grpId="0" animBg="1"/>
      <p:bldP spid="71" grpId="3" animBg="1"/>
      <p:bldP spid="71" grpId="1" animBg="1"/>
      <p:bldP spid="58" grpId="1" animBg="1"/>
      <p:bldP spid="59" grpId="0" animBg="1"/>
      <p:bldP spid="36" grpId="0" animBg="1"/>
      <p:bldP spid="72" grpId="0" animBg="1"/>
      <p:bldP spid="72" grpId="3" animBg="1"/>
      <p:bldP spid="72" grpId="1" animBg="1"/>
      <p:bldP spid="73" grpId="0" animBg="1"/>
      <p:bldP spid="73" grpId="3" animBg="1"/>
      <p:bldP spid="73" grpId="1" animBg="1"/>
      <p:bldP spid="74" grpId="0" animBg="1"/>
      <p:bldP spid="74" grpId="3" animBg="1"/>
      <p:bldP spid="74" grpId="1" animBg="1"/>
      <p:bldP spid="75" grpId="0" animBg="1"/>
      <p:bldP spid="75" grpId="3" animBg="1"/>
      <p:bldP spid="75" grpId="1" animBg="1"/>
      <p:bldP spid="76" grpId="0" animBg="1"/>
      <p:bldP spid="76" grpId="3" animBg="1"/>
      <p:bldP spid="76" grpId="1" animBg="1"/>
      <p:bldP spid="77" grpId="0" animBg="1"/>
      <p:bldP spid="77" grpId="3" animBg="1"/>
      <p:bldP spid="77" grpId="1" animBg="1"/>
      <p:bldP spid="78" grpId="0" animBg="1"/>
      <p:bldP spid="78" grpId="3" animBg="1"/>
      <p:bldP spid="78" grpId="1" animBg="1"/>
      <p:bldP spid="79" grpId="0" animBg="1"/>
      <p:bldP spid="79" grpId="3" animBg="1"/>
      <p:bldP spid="79" grpId="1" animBg="1"/>
      <p:bldP spid="80" grpId="0" animBg="1"/>
      <p:bldP spid="80" grpId="3" animBg="1"/>
      <p:bldP spid="80" grpId="1" animBg="1"/>
      <p:bldP spid="81" grpId="0" animBg="1"/>
      <p:bldP spid="81" grpId="3" animBg="1"/>
      <p:bldP spid="81" grpId="1" animBg="1"/>
      <p:bldP spid="50" grpId="0" animBg="1"/>
      <p:bldP spid="51" grpId="1" animBg="1"/>
      <p:bldP spid="52" grpId="0" animBg="1"/>
      <p:bldP spid="7" grpId="1" animBg="1"/>
      <p:bldP spid="15" grpId="1" animBg="1"/>
      <p:bldP spid="59" grpId="1" animBg="1"/>
      <p:bldP spid="60" grpId="0" animBg="1"/>
      <p:bldP spid="82" grpId="0" animBg="1"/>
      <p:bldP spid="82" grpId="3" animBg="1"/>
      <p:bldP spid="82" grpId="1" animBg="1"/>
      <p:bldP spid="83" grpId="0" animBg="1"/>
      <p:bldP spid="83" grpId="3" animBg="1"/>
      <p:bldP spid="83" grpId="1" animBg="1"/>
      <p:bldP spid="84" grpId="0" animBg="1"/>
      <p:bldP spid="84" grpId="3" animBg="1"/>
      <p:bldP spid="84" grpId="1" animBg="1"/>
      <p:bldP spid="85" grpId="0" animBg="1"/>
      <p:bldP spid="85" grpId="3" animBg="1"/>
      <p:bldP spid="85" grpId="1" animBg="1"/>
      <p:bldP spid="86" grpId="0" animBg="1"/>
      <p:bldP spid="86" grpId="3" animBg="1"/>
      <p:bldP spid="86" grpId="1" animBg="1"/>
      <p:bldP spid="87" grpId="0" animBg="1"/>
      <p:bldP spid="87" grpId="3" animBg="1"/>
      <p:bldP spid="87" grpId="1" animBg="1"/>
      <p:bldP spid="88" grpId="0" animBg="1"/>
      <p:bldP spid="88" grpId="3" animBg="1"/>
      <p:bldP spid="88" grpId="1" animBg="1"/>
      <p:bldP spid="89" grpId="0" animBg="1"/>
      <p:bldP spid="89" grpId="3" animBg="1"/>
      <p:bldP spid="89" grpId="1" animBg="1"/>
      <p:bldP spid="50" grpId="1" animBg="1"/>
      <p:bldP spid="49" grpId="0" animBg="1"/>
      <p:bldP spid="52" grpId="1" animBg="1"/>
      <p:bldP spid="53" grpId="0" animBg="1"/>
      <p:bldP spid="6" grpId="1" animBg="1"/>
      <p:bldP spid="14" grpId="1" animBg="1"/>
      <p:bldP spid="8" grpId="3" animBg="1"/>
      <p:bldP spid="8" grpId="1" animBg="1"/>
      <p:bldP spid="9" grpId="3" animBg="1"/>
      <p:bldP spid="9" grpId="1" animBg="1"/>
      <p:bldP spid="10" grpId="3" animBg="1"/>
      <p:bldP spid="10" grpId="1" animBg="1"/>
      <p:bldP spid="49" grpId="1" animBg="1"/>
      <p:bldP spid="48" grpId="0" animBg="1"/>
      <p:bldP spid="60" grpId="1" animBg="1"/>
      <p:bldP spid="61" grpId="0" animBg="1"/>
      <p:bldP spid="37" grpId="0" animBg="1"/>
      <p:bldP spid="38" grpId="0" animBg="1"/>
      <p:bldP spid="90" grpId="0" animBg="1"/>
      <p:bldP spid="90" grpId="3" animBg="1"/>
      <p:bldP spid="90" grpId="1" animBg="1"/>
      <p:bldP spid="91" grpId="0" animBg="1"/>
      <p:bldP spid="91" grpId="3" animBg="1"/>
      <p:bldP spid="91" grpId="1" animBg="1"/>
      <p:bldP spid="92" grpId="0" animBg="1"/>
      <p:bldP spid="92" grpId="3" animBg="1"/>
      <p:bldP spid="92" grpId="1" animBg="1"/>
      <p:bldP spid="93" grpId="0" animBg="1"/>
      <p:bldP spid="93" grpId="3" animBg="1"/>
      <p:bldP spid="93" grpId="1" animBg="1"/>
      <p:bldP spid="94" grpId="0" animBg="1"/>
      <p:bldP spid="94" grpId="3" animBg="1"/>
      <p:bldP spid="94" grpId="1" animBg="1"/>
      <p:bldP spid="95" grpId="0" animBg="1"/>
      <p:bldP spid="95" grpId="3" animBg="1"/>
      <p:bldP spid="95" grpId="1" animBg="1"/>
      <p:bldP spid="40" grpId="0" animBg="1"/>
      <p:bldP spid="41" grpId="0" animBg="1"/>
      <p:bldP spid="61" grpId="1" animBg="1"/>
      <p:bldP spid="62" grpId="0" animBg="1"/>
      <p:bldP spid="5" grpId="1" animBg="1"/>
      <p:bldP spid="13" grpId="1" animBg="1"/>
      <p:bldP spid="48" grpId="1" animBg="1"/>
      <p:bldP spid="53" grpId="1" animBg="1"/>
      <p:bldP spid="54" grpId="0" animBg="1"/>
      <p:bldP spid="96" grpId="0" animBg="1"/>
      <p:bldP spid="96" grpId="3" animBg="1"/>
      <p:bldP spid="96" grpId="1" animBg="1"/>
      <p:bldP spid="97" grpId="0" animBg="1"/>
      <p:bldP spid="98" grpId="0" animBg="1"/>
      <p:bldP spid="97" grpId="2" animBg="1"/>
      <p:bldP spid="98" grpId="2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47472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5F8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Chemical circulation – tanks &amp; heat-limited vessels</a:t>
            </a:r>
            <a:endParaRPr lang="en-US" sz="2800" dirty="0"/>
          </a:p>
        </p:txBody>
      </p:sp>
      <p:sp>
        <p:nvSpPr>
          <p:cNvPr id="3" name="s527"/>
          <p:cNvSpPr/>
          <p:nvPr/>
        </p:nvSpPr>
        <p:spPr>
          <a:xfrm>
            <a:off x="4572000" y="1874520"/>
            <a:ext cx="3108960" cy="2880360"/>
          </a:xfrm>
          <a:prstGeom prst="roundRect">
            <a:avLst>
              <a:gd name="adj" fmla="val 9524"/>
            </a:avLst>
          </a:prstGeom>
          <a:solidFill>
            <a:srgbClr val="BFDDF2"/>
          </a:solidFill>
          <a:ln w="25400">
            <a:solidFill>
              <a:srgbClr val="0C74BC"/>
            </a:solidFill>
            <a:prstDash val="solid"/>
          </a:ln>
        </p:spPr>
      </p:sp>
      <p:sp>
        <p:nvSpPr>
          <p:cNvPr id="4" name="s528"/>
          <p:cNvSpPr/>
          <p:nvPr/>
        </p:nvSpPr>
        <p:spPr>
          <a:xfrm>
            <a:off x="4945075" y="2039112"/>
            <a:ext cx="559613" cy="2551176"/>
          </a:xfrm>
          <a:prstGeom prst="roundRect">
            <a:avLst>
              <a:gd name="adj" fmla="val 50000"/>
            </a:avLst>
          </a:prstGeom>
          <a:solidFill>
            <a:srgbClr val="E3F0FA"/>
          </a:solidFill>
          <a:ln/>
        </p:spPr>
      </p:sp>
      <p:sp>
        <p:nvSpPr>
          <p:cNvPr id="5" name="s529"/>
          <p:cNvSpPr/>
          <p:nvPr/>
        </p:nvSpPr>
        <p:spPr>
          <a:xfrm>
            <a:off x="4572000" y="1874520"/>
            <a:ext cx="3108960" cy="2880360"/>
          </a:xfrm>
          <a:prstGeom prst="roundRect">
            <a:avLst>
              <a:gd name="adj" fmla="val 9524"/>
            </a:avLst>
          </a:prstGeom>
          <a:solidFill>
            <a:srgbClr val="A08467"/>
          </a:solidFill>
          <a:ln w="25400">
            <a:solidFill>
              <a:srgbClr val="94A3B8"/>
            </a:solidFill>
            <a:prstDash val="solid"/>
          </a:ln>
        </p:spPr>
      </p:sp>
      <p:sp>
        <p:nvSpPr>
          <p:cNvPr id="6" name="s530"/>
          <p:cNvSpPr/>
          <p:nvPr/>
        </p:nvSpPr>
        <p:spPr>
          <a:xfrm>
            <a:off x="4572000" y="1874520"/>
            <a:ext cx="3108960" cy="2880360"/>
          </a:xfrm>
          <a:prstGeom prst="roundRect">
            <a:avLst>
              <a:gd name="adj" fmla="val 9524"/>
            </a:avLst>
          </a:prstGeom>
          <a:solidFill>
            <a:srgbClr val="7A5C3E"/>
          </a:solidFill>
          <a:ln w="25400">
            <a:solidFill>
              <a:srgbClr val="94A3B8"/>
            </a:solidFill>
            <a:prstDash val="solid"/>
          </a:ln>
        </p:spPr>
      </p:sp>
      <p:sp>
        <p:nvSpPr>
          <p:cNvPr id="7" name="s531"/>
          <p:cNvSpPr/>
          <p:nvPr/>
        </p:nvSpPr>
        <p:spPr>
          <a:xfrm>
            <a:off x="4572000" y="1874520"/>
            <a:ext cx="3108960" cy="2880360"/>
          </a:xfrm>
          <a:prstGeom prst="roundRect">
            <a:avLst>
              <a:gd name="adj" fmla="val 9524"/>
            </a:avLst>
          </a:prstGeom>
          <a:solidFill>
            <a:srgbClr val="5C4630"/>
          </a:solidFill>
          <a:ln w="25400">
            <a:solidFill>
              <a:srgbClr val="94A3B8"/>
            </a:solidFill>
            <a:prstDash val="solid"/>
          </a:ln>
        </p:spPr>
      </p:sp>
      <p:sp>
        <p:nvSpPr>
          <p:cNvPr id="8" name="s532"/>
          <p:cNvSpPr/>
          <p:nvPr/>
        </p:nvSpPr>
        <p:spPr>
          <a:xfrm>
            <a:off x="6281928" y="2392985"/>
            <a:ext cx="91440" cy="691286"/>
          </a:xfrm>
          <a:prstGeom prst="roundRect">
            <a:avLst>
              <a:gd name="adj" fmla="val 50000"/>
            </a:avLst>
          </a:prstGeom>
          <a:solidFill>
            <a:srgbClr val="3E2F20"/>
          </a:solidFill>
          <a:ln/>
        </p:spPr>
      </p:sp>
      <p:sp>
        <p:nvSpPr>
          <p:cNvPr id="9" name="s533"/>
          <p:cNvSpPr/>
          <p:nvPr/>
        </p:nvSpPr>
        <p:spPr>
          <a:xfrm>
            <a:off x="6810451" y="3257093"/>
            <a:ext cx="91440" cy="576072"/>
          </a:xfrm>
          <a:prstGeom prst="roundRect">
            <a:avLst>
              <a:gd name="adj" fmla="val 50000"/>
            </a:avLst>
          </a:prstGeom>
          <a:solidFill>
            <a:srgbClr val="3E2F20"/>
          </a:solidFill>
          <a:ln/>
        </p:spPr>
      </p:sp>
      <p:sp>
        <p:nvSpPr>
          <p:cNvPr id="10" name="s534"/>
          <p:cNvSpPr/>
          <p:nvPr/>
        </p:nvSpPr>
        <p:spPr>
          <a:xfrm>
            <a:off x="5877763" y="3775558"/>
            <a:ext cx="91440" cy="460858"/>
          </a:xfrm>
          <a:prstGeom prst="roundRect">
            <a:avLst>
              <a:gd name="adj" fmla="val 50000"/>
            </a:avLst>
          </a:prstGeom>
          <a:solidFill>
            <a:srgbClr val="3E2F20"/>
          </a:solidFill>
          <a:ln/>
        </p:spPr>
      </p:sp>
      <p:sp>
        <p:nvSpPr>
          <p:cNvPr id="11" name="t535"/>
          <p:cNvSpPr txBox="1"/>
          <p:nvPr/>
        </p:nvSpPr>
        <p:spPr>
          <a:xfrm>
            <a:off x="4297680" y="477316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B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Tank / temperature-limited vessel</a:t>
            </a:r>
            <a:endParaRPr lang="en-US" sz="1100" dirty="0"/>
          </a:p>
        </p:txBody>
      </p:sp>
      <p:sp>
        <p:nvSpPr>
          <p:cNvPr id="12" name="t536"/>
          <p:cNvSpPr txBox="1"/>
          <p:nvPr/>
        </p:nvSpPr>
        <p:spPr>
          <a:xfrm>
            <a:off x="4297680" y="50292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5B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steam: lined, coated or low design temperature</a:t>
            </a:r>
            <a:endParaRPr lang="en-US" sz="1100" dirty="0"/>
          </a:p>
        </p:txBody>
      </p:sp>
      <p:sp>
        <p:nvSpPr>
          <p:cNvPr id="13" name="s537"/>
          <p:cNvSpPr/>
          <p:nvPr/>
        </p:nvSpPr>
        <p:spPr>
          <a:xfrm flipV="1">
            <a:off x="6949440" y="1280160"/>
            <a:ext cx="0" cy="594360"/>
          </a:xfrm>
          <a:prstGeom prst="line">
            <a:avLst/>
          </a:prstGeom>
          <a:noFill/>
          <a:ln w="38100">
            <a:solidFill>
              <a:srgbClr val="94A3B8"/>
            </a:solidFill>
            <a:prstDash val="solid"/>
            <a:tailEnd type="triangle"/>
          </a:ln>
        </p:spPr>
      </p:sp>
      <p:sp>
        <p:nvSpPr>
          <p:cNvPr id="14" name="t538"/>
          <p:cNvSpPr txBox="1"/>
          <p:nvPr/>
        </p:nvSpPr>
        <p:spPr>
          <a:xfrm>
            <a:off x="7086600" y="118872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5B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flare / closed vent</a:t>
            </a:r>
            <a:endParaRPr lang="en-US" sz="1100" dirty="0"/>
          </a:p>
        </p:txBody>
      </p:sp>
      <p:sp>
        <p:nvSpPr>
          <p:cNvPr id="15" name="s539"/>
          <p:cNvSpPr/>
          <p:nvPr/>
        </p:nvSpPr>
        <p:spPr>
          <a:xfrm>
            <a:off x="731520" y="3291840"/>
            <a:ext cx="1280160" cy="1280160"/>
          </a:xfrm>
          <a:prstGeom prst="roundRect">
            <a:avLst>
              <a:gd name="adj" fmla="val 10714"/>
            </a:avLst>
          </a:prstGeom>
          <a:solidFill>
            <a:srgbClr val="EAF6EC"/>
          </a:solidFill>
          <a:ln w="19050">
            <a:solidFill>
              <a:srgbClr val="3AB54A"/>
            </a:solidFill>
            <a:prstDash val="solid"/>
          </a:ln>
        </p:spPr>
      </p:sp>
      <p:sp>
        <p:nvSpPr>
          <p:cNvPr id="16" name="t540"/>
          <p:cNvSpPr txBox="1"/>
          <p:nvPr/>
        </p:nvSpPr>
        <p:spPr>
          <a:xfrm>
            <a:off x="548640" y="461772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B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Mixing tank</a:t>
            </a:r>
            <a:endParaRPr lang="en-US" sz="1100" dirty="0"/>
          </a:p>
        </p:txBody>
      </p:sp>
      <p:sp>
        <p:nvSpPr>
          <p:cNvPr id="17" name="s541"/>
          <p:cNvSpPr/>
          <p:nvPr/>
        </p:nvSpPr>
        <p:spPr>
          <a:xfrm>
            <a:off x="2743200" y="4983480"/>
            <a:ext cx="411480" cy="4114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94A3B8"/>
            </a:solidFill>
            <a:prstDash val="solid"/>
          </a:ln>
        </p:spPr>
      </p:sp>
      <p:sp>
        <p:nvSpPr>
          <p:cNvPr id="18" name="t542"/>
          <p:cNvSpPr txBox="1"/>
          <p:nvPr/>
        </p:nvSpPr>
        <p:spPr>
          <a:xfrm>
            <a:off x="2514600" y="541324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5B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Pump skid</a:t>
            </a:r>
            <a:endParaRPr lang="en-US" sz="1000" dirty="0"/>
          </a:p>
        </p:txBody>
      </p:sp>
      <p:sp>
        <p:nvSpPr>
          <p:cNvPr id="19" name="s543"/>
          <p:cNvSpPr/>
          <p:nvPr/>
        </p:nvSpPr>
        <p:spPr>
          <a:xfrm>
            <a:off x="1371600" y="4572000"/>
            <a:ext cx="0" cy="612648"/>
          </a:xfrm>
          <a:prstGeom prst="line">
            <a:avLst/>
          </a:prstGeom>
          <a:noFill/>
          <a:ln w="50800">
            <a:solidFill>
              <a:srgbClr val="3AB54A"/>
            </a:solidFill>
            <a:prstDash val="solid"/>
          </a:ln>
        </p:spPr>
      </p:sp>
      <p:sp>
        <p:nvSpPr>
          <p:cNvPr id="20" name="s544"/>
          <p:cNvSpPr/>
          <p:nvPr/>
        </p:nvSpPr>
        <p:spPr>
          <a:xfrm>
            <a:off x="1371600" y="5184648"/>
            <a:ext cx="1371600" cy="0"/>
          </a:xfrm>
          <a:prstGeom prst="line">
            <a:avLst/>
          </a:prstGeom>
          <a:noFill/>
          <a:ln w="50800">
            <a:solidFill>
              <a:srgbClr val="3AB54A"/>
            </a:solidFill>
            <a:prstDash val="solid"/>
          </a:ln>
        </p:spPr>
      </p:sp>
      <p:sp>
        <p:nvSpPr>
          <p:cNvPr id="21" name="s545"/>
          <p:cNvSpPr/>
          <p:nvPr/>
        </p:nvSpPr>
        <p:spPr>
          <a:xfrm>
            <a:off x="3154680" y="5184648"/>
            <a:ext cx="1051560" cy="0"/>
          </a:xfrm>
          <a:prstGeom prst="line">
            <a:avLst/>
          </a:prstGeom>
          <a:noFill/>
          <a:ln w="50800">
            <a:solidFill>
              <a:srgbClr val="3AB54A"/>
            </a:solidFill>
            <a:prstDash val="solid"/>
          </a:ln>
        </p:spPr>
      </p:sp>
      <p:sp>
        <p:nvSpPr>
          <p:cNvPr id="22" name="s546"/>
          <p:cNvSpPr/>
          <p:nvPr/>
        </p:nvSpPr>
        <p:spPr>
          <a:xfrm flipV="1">
            <a:off x="4206240" y="4389120"/>
            <a:ext cx="0" cy="795528"/>
          </a:xfrm>
          <a:prstGeom prst="line">
            <a:avLst/>
          </a:prstGeom>
          <a:noFill/>
          <a:ln w="50800">
            <a:solidFill>
              <a:srgbClr val="3AB54A"/>
            </a:solidFill>
            <a:prstDash val="solid"/>
          </a:ln>
        </p:spPr>
      </p:sp>
      <p:sp>
        <p:nvSpPr>
          <p:cNvPr id="23" name="s547"/>
          <p:cNvSpPr/>
          <p:nvPr/>
        </p:nvSpPr>
        <p:spPr>
          <a:xfrm>
            <a:off x="4206240" y="4389120"/>
            <a:ext cx="365760" cy="0"/>
          </a:xfrm>
          <a:prstGeom prst="line">
            <a:avLst/>
          </a:prstGeom>
          <a:noFill/>
          <a:ln w="50800">
            <a:solidFill>
              <a:srgbClr val="3AB54A"/>
            </a:solidFill>
            <a:prstDash val="solid"/>
            <a:tailEnd type="triangle"/>
          </a:ln>
        </p:spPr>
      </p:sp>
      <p:sp>
        <p:nvSpPr>
          <p:cNvPr id="24" name="s548"/>
          <p:cNvSpPr/>
          <p:nvPr/>
        </p:nvSpPr>
        <p:spPr>
          <a:xfrm flipH="1">
            <a:off x="1371600" y="2377440"/>
            <a:ext cx="3200400" cy="0"/>
          </a:xfrm>
          <a:prstGeom prst="line">
            <a:avLst/>
          </a:prstGeom>
          <a:noFill/>
          <a:ln w="50800">
            <a:solidFill>
              <a:srgbClr val="3AB54A"/>
            </a:solidFill>
            <a:prstDash val="solid"/>
          </a:ln>
        </p:spPr>
      </p:sp>
      <p:sp>
        <p:nvSpPr>
          <p:cNvPr id="25" name="s549"/>
          <p:cNvSpPr/>
          <p:nvPr/>
        </p:nvSpPr>
        <p:spPr>
          <a:xfrm>
            <a:off x="1371600" y="2377440"/>
            <a:ext cx="0" cy="914400"/>
          </a:xfrm>
          <a:prstGeom prst="line">
            <a:avLst/>
          </a:prstGeom>
          <a:noFill/>
          <a:ln w="50800">
            <a:solidFill>
              <a:srgbClr val="3AB54A"/>
            </a:solidFill>
            <a:prstDash val="solid"/>
            <a:tailEnd type="triangle"/>
          </a:ln>
        </p:spPr>
      </p:sp>
      <p:sp>
        <p:nvSpPr>
          <p:cNvPr id="26" name="s550"/>
          <p:cNvSpPr/>
          <p:nvPr/>
        </p:nvSpPr>
        <p:spPr>
          <a:xfrm>
            <a:off x="8412480" y="1417320"/>
            <a:ext cx="3200400" cy="2514600"/>
          </a:xfrm>
          <a:prstGeom prst="roundRect">
            <a:avLst>
              <a:gd name="adj" fmla="val 4364"/>
            </a:avLst>
          </a:prstGeom>
          <a:solidFill>
            <a:srgbClr val="F3F7FA"/>
          </a:solidFill>
          <a:ln w="12700">
            <a:solidFill>
              <a:srgbClr val="E1E8EF"/>
            </a:solidFill>
            <a:prstDash val="solid"/>
          </a:ln>
        </p:spPr>
      </p:sp>
      <p:sp>
        <p:nvSpPr>
          <p:cNvPr id="27" name="t551"/>
          <p:cNvSpPr txBox="1"/>
          <p:nvPr/>
        </p:nvSpPr>
        <p:spPr>
          <a:xfrm>
            <a:off x="8595360" y="1527048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2E8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RETURN-LINE MONITORING</a:t>
            </a:r>
            <a:endParaRPr lang="en-US" sz="1200" dirty="0"/>
          </a:p>
        </p:txBody>
      </p:sp>
      <p:sp>
        <p:nvSpPr>
          <p:cNvPr id="28" name="t552"/>
          <p:cNvSpPr txBox="1"/>
          <p:nvPr/>
        </p:nvSpPr>
        <p:spPr>
          <a:xfrm>
            <a:off x="8595360" y="192024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H₂S</a:t>
            </a:r>
            <a:endParaRPr lang="en-US" sz="1400" dirty="0"/>
          </a:p>
        </p:txBody>
      </p:sp>
      <p:sp>
        <p:nvSpPr>
          <p:cNvPr id="29" name="t553"/>
          <p:cNvSpPr txBox="1"/>
          <p:nvPr/>
        </p:nvSpPr>
        <p:spPr>
          <a:xfrm>
            <a:off x="9784080" y="192024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</a:t>
            </a:r>
            <a:endParaRPr lang="en-US" sz="1300" dirty="0"/>
          </a:p>
        </p:txBody>
      </p:sp>
      <p:sp>
        <p:nvSpPr>
          <p:cNvPr id="30" name="t554"/>
          <p:cNvSpPr txBox="1"/>
          <p:nvPr/>
        </p:nvSpPr>
        <p:spPr>
          <a:xfrm>
            <a:off x="9784080" y="192024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8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 ✓</a:t>
            </a:r>
            <a:endParaRPr lang="en-US" sz="1300" dirty="0"/>
          </a:p>
        </p:txBody>
      </p:sp>
      <p:sp>
        <p:nvSpPr>
          <p:cNvPr id="31" name="t555"/>
          <p:cNvSpPr txBox="1"/>
          <p:nvPr/>
        </p:nvSpPr>
        <p:spPr>
          <a:xfrm>
            <a:off x="8595360" y="237744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</a:t>
            </a:r>
            <a:endParaRPr lang="en-US" sz="1400" dirty="0"/>
          </a:p>
        </p:txBody>
      </p:sp>
      <p:sp>
        <p:nvSpPr>
          <p:cNvPr id="32" name="t556"/>
          <p:cNvSpPr txBox="1"/>
          <p:nvPr/>
        </p:nvSpPr>
        <p:spPr>
          <a:xfrm>
            <a:off x="9784080" y="237744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Off-spec</a:t>
            </a:r>
            <a:endParaRPr lang="en-US" sz="1300" dirty="0"/>
          </a:p>
        </p:txBody>
      </p:sp>
      <p:sp>
        <p:nvSpPr>
          <p:cNvPr id="33" name="t557"/>
          <p:cNvSpPr txBox="1"/>
          <p:nvPr/>
        </p:nvSpPr>
        <p:spPr>
          <a:xfrm>
            <a:off x="9784080" y="237744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8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Neutral ✓</a:t>
            </a:r>
            <a:endParaRPr lang="en-US" sz="1300" dirty="0"/>
          </a:p>
        </p:txBody>
      </p:sp>
      <p:sp>
        <p:nvSpPr>
          <p:cNvPr id="34" name="t558"/>
          <p:cNvSpPr txBox="1"/>
          <p:nvPr/>
        </p:nvSpPr>
        <p:spPr>
          <a:xfrm>
            <a:off x="8595360" y="283464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Iron (Fe)</a:t>
            </a:r>
            <a:endParaRPr lang="en-US" sz="1400" dirty="0"/>
          </a:p>
        </p:txBody>
      </p:sp>
      <p:sp>
        <p:nvSpPr>
          <p:cNvPr id="35" name="t559"/>
          <p:cNvSpPr txBox="1"/>
          <p:nvPr/>
        </p:nvSpPr>
        <p:spPr>
          <a:xfrm>
            <a:off x="9784080" y="283464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Rising</a:t>
            </a:r>
            <a:endParaRPr lang="en-US" sz="1300" dirty="0"/>
          </a:p>
        </p:txBody>
      </p:sp>
      <p:sp>
        <p:nvSpPr>
          <p:cNvPr id="36" name="t560"/>
          <p:cNvSpPr txBox="1"/>
          <p:nvPr/>
        </p:nvSpPr>
        <p:spPr>
          <a:xfrm>
            <a:off x="9784080" y="283464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8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Stable ✓</a:t>
            </a:r>
            <a:endParaRPr lang="en-US" sz="1300" dirty="0"/>
          </a:p>
        </p:txBody>
      </p:sp>
      <p:sp>
        <p:nvSpPr>
          <p:cNvPr id="37" name="t561"/>
          <p:cNvSpPr txBox="1"/>
          <p:nvPr/>
        </p:nvSpPr>
        <p:spPr>
          <a:xfrm>
            <a:off x="8595360" y="329184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 test</a:t>
            </a:r>
            <a:endParaRPr lang="en-US" sz="1400" dirty="0"/>
          </a:p>
        </p:txBody>
      </p:sp>
      <p:sp>
        <p:nvSpPr>
          <p:cNvPr id="38" name="t562"/>
          <p:cNvSpPr txBox="1"/>
          <p:nvPr/>
        </p:nvSpPr>
        <p:spPr>
          <a:xfrm>
            <a:off x="9784080" y="329184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Above limit</a:t>
            </a:r>
            <a:endParaRPr lang="en-US" sz="1300" dirty="0"/>
          </a:p>
        </p:txBody>
      </p:sp>
      <p:sp>
        <p:nvSpPr>
          <p:cNvPr id="39" name="t563"/>
          <p:cNvSpPr txBox="1"/>
          <p:nvPr/>
        </p:nvSpPr>
        <p:spPr>
          <a:xfrm>
            <a:off x="9784080" y="329184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8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OK ✓</a:t>
            </a:r>
            <a:endParaRPr lang="en-US" sz="1300" dirty="0"/>
          </a:p>
        </p:txBody>
      </p:sp>
      <p:sp>
        <p:nvSpPr>
          <p:cNvPr id="40" name="s564"/>
          <p:cNvSpPr/>
          <p:nvPr/>
        </p:nvSpPr>
        <p:spPr>
          <a:xfrm>
            <a:off x="7680960" y="4526280"/>
            <a:ext cx="2331720" cy="0"/>
          </a:xfrm>
          <a:prstGeom prst="line">
            <a:avLst/>
          </a:prstGeom>
          <a:noFill/>
          <a:ln w="38100">
            <a:solidFill>
              <a:srgbClr val="94A3B8"/>
            </a:solidFill>
            <a:prstDash val="solid"/>
            <a:tailEnd type="triangle"/>
          </a:ln>
        </p:spPr>
      </p:sp>
      <p:sp>
        <p:nvSpPr>
          <p:cNvPr id="41" name="s565"/>
          <p:cNvSpPr/>
          <p:nvPr/>
        </p:nvSpPr>
        <p:spPr>
          <a:xfrm>
            <a:off x="10012680" y="4114800"/>
            <a:ext cx="1371600" cy="1051560"/>
          </a:xfrm>
          <a:prstGeom prst="rect">
            <a:avLst/>
          </a:prstGeom>
          <a:solidFill>
            <a:srgbClr val="EEF2F6"/>
          </a:solidFill>
          <a:ln w="19050">
            <a:solidFill>
              <a:srgbClr val="94A3B8"/>
            </a:solidFill>
            <a:prstDash val="solid"/>
          </a:ln>
        </p:spPr>
      </p:sp>
      <p:sp>
        <p:nvSpPr>
          <p:cNvPr id="42" name="s566"/>
          <p:cNvSpPr/>
          <p:nvPr/>
        </p:nvSpPr>
        <p:spPr>
          <a:xfrm>
            <a:off x="10058400" y="4846320"/>
            <a:ext cx="1280160" cy="274320"/>
          </a:xfrm>
          <a:prstGeom prst="rect">
            <a:avLst/>
          </a:prstGeom>
          <a:solidFill>
            <a:srgbClr val="B8A68F"/>
          </a:solidFill>
          <a:ln/>
        </p:spPr>
      </p:sp>
      <p:sp>
        <p:nvSpPr>
          <p:cNvPr id="43" name="s567"/>
          <p:cNvSpPr/>
          <p:nvPr/>
        </p:nvSpPr>
        <p:spPr>
          <a:xfrm>
            <a:off x="10058400" y="4480560"/>
            <a:ext cx="1280160" cy="365760"/>
          </a:xfrm>
          <a:prstGeom prst="rect">
            <a:avLst/>
          </a:prstGeom>
          <a:solidFill>
            <a:srgbClr val="B8A68F"/>
          </a:solidFill>
          <a:ln/>
        </p:spPr>
      </p:sp>
      <p:sp>
        <p:nvSpPr>
          <p:cNvPr id="44" name="t568"/>
          <p:cNvSpPr txBox="1"/>
          <p:nvPr/>
        </p:nvSpPr>
        <p:spPr>
          <a:xfrm>
            <a:off x="9646920" y="519379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B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EFFLUENT TANK</a:t>
            </a:r>
            <a:endParaRPr lang="en-US" sz="1100" dirty="0"/>
          </a:p>
        </p:txBody>
      </p:sp>
      <p:sp>
        <p:nvSpPr>
          <p:cNvPr id="45" name="s569"/>
          <p:cNvSpPr/>
          <p:nvPr/>
        </p:nvSpPr>
        <p:spPr>
          <a:xfrm>
            <a:off x="548640" y="5852160"/>
            <a:ext cx="10515600" cy="713232"/>
          </a:xfrm>
          <a:prstGeom prst="roundRect">
            <a:avLst>
              <a:gd name="adj" fmla="val 25641"/>
            </a:avLst>
          </a:prstGeom>
          <a:solidFill>
            <a:srgbClr val="EAF3FA"/>
          </a:solidFill>
          <a:ln/>
        </p:spPr>
      </p:sp>
      <p:sp>
        <p:nvSpPr>
          <p:cNvPr id="46" name="t570"/>
          <p:cNvSpPr txBox="1"/>
          <p:nvPr/>
        </p:nvSpPr>
        <p:spPr>
          <a:xfrm>
            <a:off x="777240" y="5852160"/>
            <a:ext cx="100584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  Tanks and temperature-limited vessels (lined, coated, low design temperature) cannot be steamed.</a:t>
            </a:r>
            <a:endParaRPr lang="en-US" sz="1400" dirty="0"/>
          </a:p>
        </p:txBody>
      </p:sp>
      <p:sp>
        <p:nvSpPr>
          <p:cNvPr id="47" name="t571"/>
          <p:cNvSpPr txBox="1"/>
          <p:nvPr/>
        </p:nvSpPr>
        <p:spPr>
          <a:xfrm>
            <a:off x="777240" y="5852160"/>
            <a:ext cx="100584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  A temporary circulation skid is set up: mixing tank and pump, hosed to the equipment.</a:t>
            </a:r>
            <a:endParaRPr lang="en-US" sz="1400" dirty="0"/>
          </a:p>
        </p:txBody>
      </p:sp>
      <p:sp>
        <p:nvSpPr>
          <p:cNvPr id="48" name="t572"/>
          <p:cNvSpPr txBox="1"/>
          <p:nvPr/>
        </p:nvSpPr>
        <p:spPr>
          <a:xfrm>
            <a:off x="777240" y="5852160"/>
            <a:ext cx="100584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  Decon solution is circulated continuously through the equipment and back to the mixing tank.</a:t>
            </a:r>
            <a:endParaRPr lang="en-US" sz="1400" dirty="0"/>
          </a:p>
        </p:txBody>
      </p:sp>
      <p:sp>
        <p:nvSpPr>
          <p:cNvPr id="49" name="t573"/>
          <p:cNvSpPr txBox="1"/>
          <p:nvPr/>
        </p:nvSpPr>
        <p:spPr>
          <a:xfrm>
            <a:off x="777240" y="5852160"/>
            <a:ext cx="100584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  H₂S is converted into stable compounds and FeS is oxidised; LEL / benzene vapours are vented to the flare.</a:t>
            </a:r>
            <a:endParaRPr lang="en-US" sz="1400" dirty="0"/>
          </a:p>
        </p:txBody>
      </p:sp>
      <p:sp>
        <p:nvSpPr>
          <p:cNvPr id="50" name="t574"/>
          <p:cNvSpPr txBox="1"/>
          <p:nvPr/>
        </p:nvSpPr>
        <p:spPr>
          <a:xfrm>
            <a:off x="777240" y="5852160"/>
            <a:ext cx="100584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  The return line is monitored until H₂S is low, pH is neutral and the iron level is stable.</a:t>
            </a:r>
            <a:endParaRPr lang="en-US" sz="1400" dirty="0"/>
          </a:p>
        </p:txBody>
      </p:sp>
      <p:sp>
        <p:nvSpPr>
          <p:cNvPr id="51" name="t575"/>
          <p:cNvSpPr txBox="1"/>
          <p:nvPr/>
        </p:nvSpPr>
        <p:spPr>
          <a:xfrm>
            <a:off x="777240" y="5852160"/>
            <a:ext cx="100584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  The solution is drained to the effluent tank and a neutralising rinse follows.</a:t>
            </a:r>
            <a:endParaRPr lang="en-US" sz="1400" dirty="0"/>
          </a:p>
        </p:txBody>
      </p:sp>
      <p:sp>
        <p:nvSpPr>
          <p:cNvPr id="52" name="t576"/>
          <p:cNvSpPr txBox="1"/>
          <p:nvPr/>
        </p:nvSpPr>
        <p:spPr>
          <a:xfrm>
            <a:off x="777240" y="5852160"/>
            <a:ext cx="100584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  Gas tests confirm the entry criteria – safe entry.</a:t>
            </a:r>
            <a:endParaRPr lang="en-US" sz="1400" dirty="0"/>
          </a:p>
        </p:txBody>
      </p:sp>
      <p:sp>
        <p:nvSpPr>
          <p:cNvPr id="53" name="tag577"/>
          <p:cNvSpPr/>
          <p:nvPr/>
        </p:nvSpPr>
        <p:spPr>
          <a:xfrm>
            <a:off x="5029200" y="2240280"/>
            <a:ext cx="914400" cy="329184"/>
          </a:xfrm>
          <a:prstGeom prst="roundRect">
            <a:avLst>
              <a:gd name="adj" fmla="val 50000"/>
            </a:avLst>
          </a:prstGeom>
          <a:solidFill>
            <a:srgbClr val="C039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H₂S</a:t>
            </a:r>
            <a:endParaRPr lang="en-US" sz="1200" dirty="0"/>
          </a:p>
        </p:txBody>
      </p:sp>
      <p:sp>
        <p:nvSpPr>
          <p:cNvPr id="54" name="tag578"/>
          <p:cNvSpPr/>
          <p:nvPr/>
        </p:nvSpPr>
        <p:spPr>
          <a:xfrm>
            <a:off x="6126480" y="2240280"/>
            <a:ext cx="914400" cy="329184"/>
          </a:xfrm>
          <a:prstGeom prst="roundRect">
            <a:avLst>
              <a:gd name="adj" fmla="val 50000"/>
            </a:avLst>
          </a:prstGeom>
          <a:solidFill>
            <a:srgbClr val="E67E2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Benzene</a:t>
            </a:r>
            <a:endParaRPr lang="en-US" sz="1200" dirty="0"/>
          </a:p>
        </p:txBody>
      </p:sp>
      <p:sp>
        <p:nvSpPr>
          <p:cNvPr id="55" name="s579"/>
          <p:cNvSpPr/>
          <p:nvPr/>
        </p:nvSpPr>
        <p:spPr>
          <a:xfrm>
            <a:off x="4965192" y="3840480"/>
            <a:ext cx="1042416" cy="457200"/>
          </a:xfrm>
          <a:prstGeom prst="roundRect">
            <a:avLst>
              <a:gd name="adj" fmla="val 50000"/>
            </a:avLst>
          </a:prstGeom>
          <a:solidFill>
            <a:srgbClr val="FF8C1A">
              <a:alpha val="45000"/>
            </a:srgbClr>
          </a:solidFill>
          <a:ln w="25400">
            <a:solidFill>
              <a:srgbClr val="FF8C1A"/>
            </a:solidFill>
            <a:prstDash val="solid"/>
          </a:ln>
        </p:spPr>
      </p:sp>
      <p:sp>
        <p:nvSpPr>
          <p:cNvPr id="56" name="tag580"/>
          <p:cNvSpPr/>
          <p:nvPr/>
        </p:nvSpPr>
        <p:spPr>
          <a:xfrm>
            <a:off x="5029200" y="3904488"/>
            <a:ext cx="914400" cy="329184"/>
          </a:xfrm>
          <a:prstGeom prst="roundRect">
            <a:avLst>
              <a:gd name="adj" fmla="val 50000"/>
            </a:avLst>
          </a:prstGeom>
          <a:solidFill>
            <a:srgbClr val="6B728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FeS</a:t>
            </a:r>
            <a:endParaRPr lang="en-US" sz="1200" dirty="0"/>
          </a:p>
        </p:txBody>
      </p:sp>
      <p:sp>
        <p:nvSpPr>
          <p:cNvPr id="57" name="tag581"/>
          <p:cNvSpPr/>
          <p:nvPr/>
        </p:nvSpPr>
        <p:spPr>
          <a:xfrm>
            <a:off x="4937760" y="2240280"/>
            <a:ext cx="1097280" cy="329184"/>
          </a:xfrm>
          <a:prstGeom prst="roundRect">
            <a:avLst>
              <a:gd name="adj" fmla="val 50000"/>
            </a:avLst>
          </a:prstGeom>
          <a:solidFill>
            <a:srgbClr val="8E9AA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stable salt</a:t>
            </a:r>
            <a:endParaRPr lang="en-US" sz="1200" dirty="0"/>
          </a:p>
        </p:txBody>
      </p:sp>
      <p:sp>
        <p:nvSpPr>
          <p:cNvPr id="58" name="tag582"/>
          <p:cNvSpPr/>
          <p:nvPr/>
        </p:nvSpPr>
        <p:spPr>
          <a:xfrm>
            <a:off x="4937760" y="3904488"/>
            <a:ext cx="1097280" cy="329184"/>
          </a:xfrm>
          <a:prstGeom prst="roundRect">
            <a:avLst>
              <a:gd name="adj" fmla="val 50000"/>
            </a:avLst>
          </a:prstGeom>
          <a:solidFill>
            <a:srgbClr val="A0522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iron oxide</a:t>
            </a:r>
            <a:endParaRPr lang="en-US" sz="1200" dirty="0"/>
          </a:p>
        </p:txBody>
      </p:sp>
      <p:sp>
        <p:nvSpPr>
          <p:cNvPr id="59" name="s583"/>
          <p:cNvSpPr/>
          <p:nvPr/>
        </p:nvSpPr>
        <p:spPr>
          <a:xfrm>
            <a:off x="1280160" y="4480560"/>
            <a:ext cx="182880" cy="182880"/>
          </a:xfrm>
          <a:prstGeom prst="ellipse">
            <a:avLst/>
          </a:prstGeom>
          <a:solidFill>
            <a:srgbClr val="3AB54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60" name="s584"/>
          <p:cNvSpPr/>
          <p:nvPr/>
        </p:nvSpPr>
        <p:spPr>
          <a:xfrm>
            <a:off x="1280160" y="4480560"/>
            <a:ext cx="182880" cy="182880"/>
          </a:xfrm>
          <a:prstGeom prst="ellipse">
            <a:avLst/>
          </a:prstGeom>
          <a:solidFill>
            <a:srgbClr val="3AB54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61" name="s585"/>
          <p:cNvSpPr/>
          <p:nvPr/>
        </p:nvSpPr>
        <p:spPr>
          <a:xfrm>
            <a:off x="1280160" y="4480560"/>
            <a:ext cx="182880" cy="182880"/>
          </a:xfrm>
          <a:prstGeom prst="ellipse">
            <a:avLst/>
          </a:prstGeom>
          <a:solidFill>
            <a:srgbClr val="3AB54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62" name="s586"/>
          <p:cNvSpPr/>
          <p:nvPr/>
        </p:nvSpPr>
        <p:spPr>
          <a:xfrm>
            <a:off x="1280160" y="4480560"/>
            <a:ext cx="182880" cy="182880"/>
          </a:xfrm>
          <a:prstGeom prst="ellipse">
            <a:avLst/>
          </a:prstGeom>
          <a:solidFill>
            <a:srgbClr val="3AB54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63" name="s587"/>
          <p:cNvSpPr/>
          <p:nvPr/>
        </p:nvSpPr>
        <p:spPr>
          <a:xfrm>
            <a:off x="1280160" y="4480560"/>
            <a:ext cx="182880" cy="182880"/>
          </a:xfrm>
          <a:prstGeom prst="ellipse">
            <a:avLst/>
          </a:prstGeom>
          <a:solidFill>
            <a:srgbClr val="3AB54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64" name="s588"/>
          <p:cNvSpPr/>
          <p:nvPr/>
        </p:nvSpPr>
        <p:spPr>
          <a:xfrm>
            <a:off x="1280160" y="4480560"/>
            <a:ext cx="182880" cy="182880"/>
          </a:xfrm>
          <a:prstGeom prst="ellipse">
            <a:avLst/>
          </a:prstGeom>
          <a:solidFill>
            <a:srgbClr val="3AB54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65" name="s589"/>
          <p:cNvSpPr/>
          <p:nvPr/>
        </p:nvSpPr>
        <p:spPr>
          <a:xfrm>
            <a:off x="1280160" y="4480560"/>
            <a:ext cx="182880" cy="182880"/>
          </a:xfrm>
          <a:prstGeom prst="ellipse">
            <a:avLst/>
          </a:prstGeom>
          <a:solidFill>
            <a:srgbClr val="3AB54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66" name="s590"/>
          <p:cNvSpPr/>
          <p:nvPr/>
        </p:nvSpPr>
        <p:spPr>
          <a:xfrm>
            <a:off x="1280160" y="4480560"/>
            <a:ext cx="182880" cy="182880"/>
          </a:xfrm>
          <a:prstGeom prst="ellipse">
            <a:avLst/>
          </a:prstGeom>
          <a:solidFill>
            <a:srgbClr val="3AB54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67" name="s591"/>
          <p:cNvSpPr/>
          <p:nvPr/>
        </p:nvSpPr>
        <p:spPr>
          <a:xfrm>
            <a:off x="1280160" y="4480560"/>
            <a:ext cx="182880" cy="182880"/>
          </a:xfrm>
          <a:prstGeom prst="ellipse">
            <a:avLst/>
          </a:prstGeom>
          <a:solidFill>
            <a:srgbClr val="3AB54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68" name="s592"/>
          <p:cNvSpPr/>
          <p:nvPr/>
        </p:nvSpPr>
        <p:spPr>
          <a:xfrm>
            <a:off x="1280160" y="4480560"/>
            <a:ext cx="182880" cy="182880"/>
          </a:xfrm>
          <a:prstGeom prst="ellipse">
            <a:avLst/>
          </a:prstGeom>
          <a:solidFill>
            <a:srgbClr val="3AB54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69" name="s593"/>
          <p:cNvSpPr/>
          <p:nvPr/>
        </p:nvSpPr>
        <p:spPr>
          <a:xfrm>
            <a:off x="1280160" y="4480560"/>
            <a:ext cx="182880" cy="182880"/>
          </a:xfrm>
          <a:prstGeom prst="ellipse">
            <a:avLst/>
          </a:prstGeom>
          <a:solidFill>
            <a:srgbClr val="3AB54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0" name="s594"/>
          <p:cNvSpPr/>
          <p:nvPr/>
        </p:nvSpPr>
        <p:spPr>
          <a:xfrm>
            <a:off x="1280160" y="4480560"/>
            <a:ext cx="182880" cy="182880"/>
          </a:xfrm>
          <a:prstGeom prst="ellipse">
            <a:avLst/>
          </a:prstGeom>
          <a:solidFill>
            <a:srgbClr val="3AB54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1" name="s595"/>
          <p:cNvSpPr/>
          <p:nvPr/>
        </p:nvSpPr>
        <p:spPr>
          <a:xfrm>
            <a:off x="1280160" y="4480560"/>
            <a:ext cx="182880" cy="182880"/>
          </a:xfrm>
          <a:prstGeom prst="ellipse">
            <a:avLst/>
          </a:prstGeom>
          <a:solidFill>
            <a:srgbClr val="3AB54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2" name="s596"/>
          <p:cNvSpPr/>
          <p:nvPr/>
        </p:nvSpPr>
        <p:spPr>
          <a:xfrm>
            <a:off x="1280160" y="4480560"/>
            <a:ext cx="182880" cy="182880"/>
          </a:xfrm>
          <a:prstGeom prst="ellipse">
            <a:avLst/>
          </a:prstGeom>
          <a:solidFill>
            <a:srgbClr val="3AB54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3" name="s597"/>
          <p:cNvSpPr/>
          <p:nvPr/>
        </p:nvSpPr>
        <p:spPr>
          <a:xfrm>
            <a:off x="1280160" y="4480560"/>
            <a:ext cx="182880" cy="182880"/>
          </a:xfrm>
          <a:prstGeom prst="ellipse">
            <a:avLst/>
          </a:prstGeom>
          <a:solidFill>
            <a:srgbClr val="3AB54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4" name="s598"/>
          <p:cNvSpPr/>
          <p:nvPr/>
        </p:nvSpPr>
        <p:spPr>
          <a:xfrm>
            <a:off x="1280160" y="4480560"/>
            <a:ext cx="182880" cy="182880"/>
          </a:xfrm>
          <a:prstGeom prst="ellipse">
            <a:avLst/>
          </a:prstGeom>
          <a:solidFill>
            <a:srgbClr val="3AB54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5" name="s599"/>
          <p:cNvSpPr/>
          <p:nvPr/>
        </p:nvSpPr>
        <p:spPr>
          <a:xfrm>
            <a:off x="1280160" y="4480560"/>
            <a:ext cx="182880" cy="182880"/>
          </a:xfrm>
          <a:prstGeom prst="ellipse">
            <a:avLst/>
          </a:prstGeom>
          <a:solidFill>
            <a:srgbClr val="3AB54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6" name="s600"/>
          <p:cNvSpPr/>
          <p:nvPr/>
        </p:nvSpPr>
        <p:spPr>
          <a:xfrm>
            <a:off x="1280160" y="4480560"/>
            <a:ext cx="182880" cy="182880"/>
          </a:xfrm>
          <a:prstGeom prst="ellipse">
            <a:avLst/>
          </a:prstGeom>
          <a:solidFill>
            <a:srgbClr val="3AB54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7" name="s601"/>
          <p:cNvSpPr/>
          <p:nvPr/>
        </p:nvSpPr>
        <p:spPr>
          <a:xfrm>
            <a:off x="1280160" y="4480560"/>
            <a:ext cx="182880" cy="182880"/>
          </a:xfrm>
          <a:prstGeom prst="ellipse">
            <a:avLst/>
          </a:prstGeom>
          <a:solidFill>
            <a:srgbClr val="3AB54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8" name="s602"/>
          <p:cNvSpPr/>
          <p:nvPr/>
        </p:nvSpPr>
        <p:spPr>
          <a:xfrm>
            <a:off x="1280160" y="4480560"/>
            <a:ext cx="182880" cy="182880"/>
          </a:xfrm>
          <a:prstGeom prst="ellipse">
            <a:avLst/>
          </a:prstGeom>
          <a:solidFill>
            <a:srgbClr val="3AB54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9" name="s603"/>
          <p:cNvSpPr/>
          <p:nvPr/>
        </p:nvSpPr>
        <p:spPr>
          <a:xfrm>
            <a:off x="1280160" y="4480560"/>
            <a:ext cx="182880" cy="182880"/>
          </a:xfrm>
          <a:prstGeom prst="ellipse">
            <a:avLst/>
          </a:prstGeom>
          <a:solidFill>
            <a:srgbClr val="3AB54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0" name="s604"/>
          <p:cNvSpPr/>
          <p:nvPr/>
        </p:nvSpPr>
        <p:spPr>
          <a:xfrm>
            <a:off x="7406640" y="4434840"/>
            <a:ext cx="182880" cy="182880"/>
          </a:xfrm>
          <a:prstGeom prst="ellipse">
            <a:avLst/>
          </a:prstGeom>
          <a:solidFill>
            <a:srgbClr val="8E9AA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1" name="s605"/>
          <p:cNvSpPr/>
          <p:nvPr/>
        </p:nvSpPr>
        <p:spPr>
          <a:xfrm>
            <a:off x="7406640" y="4434840"/>
            <a:ext cx="182880" cy="182880"/>
          </a:xfrm>
          <a:prstGeom prst="ellipse">
            <a:avLst/>
          </a:prstGeom>
          <a:solidFill>
            <a:srgbClr val="8E9AA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2" name="s606"/>
          <p:cNvSpPr/>
          <p:nvPr/>
        </p:nvSpPr>
        <p:spPr>
          <a:xfrm>
            <a:off x="7406640" y="4434840"/>
            <a:ext cx="182880" cy="182880"/>
          </a:xfrm>
          <a:prstGeom prst="ellipse">
            <a:avLst/>
          </a:prstGeom>
          <a:solidFill>
            <a:srgbClr val="8E9AA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3" name="s607"/>
          <p:cNvSpPr/>
          <p:nvPr/>
        </p:nvSpPr>
        <p:spPr>
          <a:xfrm>
            <a:off x="7406640" y="4434840"/>
            <a:ext cx="182880" cy="182880"/>
          </a:xfrm>
          <a:prstGeom prst="ellipse">
            <a:avLst/>
          </a:prstGeom>
          <a:solidFill>
            <a:srgbClr val="8E9AA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4" name="s608"/>
          <p:cNvSpPr/>
          <p:nvPr/>
        </p:nvSpPr>
        <p:spPr>
          <a:xfrm>
            <a:off x="7406640" y="4434840"/>
            <a:ext cx="182880" cy="182880"/>
          </a:xfrm>
          <a:prstGeom prst="ellipse">
            <a:avLst/>
          </a:prstGeom>
          <a:solidFill>
            <a:srgbClr val="8E9AA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5" name="s609"/>
          <p:cNvSpPr/>
          <p:nvPr/>
        </p:nvSpPr>
        <p:spPr>
          <a:xfrm>
            <a:off x="4820717" y="1965960"/>
            <a:ext cx="2611526" cy="164592"/>
          </a:xfrm>
          <a:prstGeom prst="roundRect">
            <a:avLst>
              <a:gd name="adj" fmla="val 50000"/>
            </a:avLst>
          </a:prstGeom>
          <a:solidFill>
            <a:srgbClr val="FFFFFF">
              <a:alpha val="65000"/>
            </a:srgbClr>
          </a:solidFill>
          <a:ln/>
        </p:spPr>
      </p:sp>
      <p:sp>
        <p:nvSpPr>
          <p:cNvPr id="86" name="s610"/>
          <p:cNvSpPr/>
          <p:nvPr/>
        </p:nvSpPr>
        <p:spPr>
          <a:xfrm>
            <a:off x="4572000" y="5321808"/>
            <a:ext cx="3108960" cy="640080"/>
          </a:xfrm>
          <a:prstGeom prst="roundRect">
            <a:avLst>
              <a:gd name="adj" fmla="val 50000"/>
            </a:avLst>
          </a:prstGeom>
          <a:solidFill>
            <a:srgbClr val="3AB54A"/>
          </a:solidFill>
          <a:ln/>
        </p:spPr>
      </p:sp>
      <p:sp>
        <p:nvSpPr>
          <p:cNvPr id="87" name="t611"/>
          <p:cNvSpPr txBox="1"/>
          <p:nvPr/>
        </p:nvSpPr>
        <p:spPr>
          <a:xfrm>
            <a:off x="4572000" y="5321808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READY FOR SAFE ENTRY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708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6" presetClass="emph" presetSubtype="0" repeatCount="3000" fill="hold" grpId="2" nodeType="withEffect">
                                  <p:stCondLst>
                                    <p:cond delay="400"/>
                                  </p:stCondLst>
                                  <p:childTnLst>
                                    <p:animScale>
                                      <p:cBhvr>
                                        <p:cTn id="12" dur="500" autoRev="1" fill="hold"/>
                                        <p:tgtEl>
                                          <p:spTgt spid="55"/>
                                        </p:tgtEl>
                                      </p:cBhvr>
                                      <p:by x="108000" y="108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3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7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7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7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7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" dur="7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7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7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7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7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7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8" dur="7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" dur="7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700"/>
                            </p:stCondLst>
                            <p:childTnLst>
                              <p:par>
                                <p:cTn id="41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3" dur="2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950"/>
                            </p:stCondLst>
                            <p:childTnLst>
                              <p:par>
                                <p:cTn id="4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2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8" fill="hold">
                            <p:stCondLst>
                              <p:cond delay="1200"/>
                            </p:stCondLst>
                            <p:childTnLst>
                              <p:par>
                                <p:cTn id="4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1" dur="2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" fill="hold">
                            <p:stCondLst>
                              <p:cond delay="1450"/>
                            </p:stCondLst>
                            <p:childTnLst>
                              <p:par>
                                <p:cTn id="5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5" dur="2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6" fill="hold">
                            <p:stCondLst>
                              <p:cond delay="1700"/>
                            </p:stCondLst>
                            <p:childTnLst>
                              <p:par>
                                <p:cTn id="57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59" dur="2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0" fill="hold">
                            <p:stCondLst>
                              <p:cond delay="1950"/>
                            </p:stCondLst>
                            <p:childTnLst>
                              <p:par>
                                <p:cTn id="6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3" dur="2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4" fill="hold">
                            <p:stCondLst>
                              <p:cond delay="2200"/>
                            </p:stCondLst>
                            <p:childTnLst>
                              <p:par>
                                <p:cTn id="65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67" dur="2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3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7" presetID="0" presetClass="path" presetSubtype="0" fill="hold" grpId="3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0.0893 L 0.2325 0.0893 L 0.2325 -0.0267 L 0.3075 -0.0267 L 0.3075 -0.3200 L 0.0000 -0.3200 L 0.0000 -0.1867 E" pathEditMode="relative" ptsTypes="AAAAAAAA">
                                      <p:cBhvr>
                                        <p:cTn id="78" dur="4200" fill="hold"/>
                                        <p:tgtEl>
                                          <p:spTgt spid="5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79" presetID="1" presetClass="exit" presetSubtype="0" fill="hold" grpId="1" nodeType="withEffect">
                                  <p:stCondLst>
                                    <p:cond delay="420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1" presetID="1" presetClass="entr" presetSubtype="0" fill="hold" grpId="0" nodeType="with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3" presetID="0" presetClass="path" presetSubtype="0" fill="hold" grpId="3" nodeType="withEffect">
                                  <p:stCondLst>
                                    <p:cond delay="450"/>
                                  </p:stCondLst>
                                  <p:childTnLst>
                                    <p:animMotion origin="layout" path="M 0 0 L 0.0000 0.0893 L 0.2325 0.0893 L 0.2325 -0.0267 L 0.3075 -0.0267 L 0.3075 -0.3200 L 0.0000 -0.3200 L 0.0000 -0.1867 E" pathEditMode="relative" ptsTypes="AAAAAAAA">
                                      <p:cBhvr>
                                        <p:cTn id="84" dur="4200" fill="hold"/>
                                        <p:tgtEl>
                                          <p:spTgt spid="6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85" presetID="1" presetClass="exit" presetSubtype="0" fill="hold" grpId="1" nodeType="withEffect">
                                  <p:stCondLst>
                                    <p:cond delay="465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7" presetID="1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9" presetID="0" presetClass="path" presetSubtype="0" fill="hold" grpId="3" nodeType="withEffect">
                                  <p:stCondLst>
                                    <p:cond delay="900"/>
                                  </p:stCondLst>
                                  <p:childTnLst>
                                    <p:animMotion origin="layout" path="M 0 0 L 0.0000 0.0893 L 0.2325 0.0893 L 0.2325 -0.0267 L 0.3075 -0.0267 L 0.3075 -0.3200 L 0.0000 -0.3200 L 0.0000 -0.1867 E" pathEditMode="relative" ptsTypes="AAAAAAAA">
                                      <p:cBhvr>
                                        <p:cTn id="90" dur="4200" fill="hold"/>
                                        <p:tgtEl>
                                          <p:spTgt spid="6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91" presetID="1" presetClass="exit" presetSubtype="0" fill="hold" grpId="1" nodeType="withEffect">
                                  <p:stCondLst>
                                    <p:cond delay="510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3" presetID="1" presetClass="entr" presetSubtype="0" fill="hold" grpId="0" nodeType="withEffect">
                                  <p:stCondLst>
                                    <p:cond delay="135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5" presetID="0" presetClass="path" presetSubtype="0" fill="hold" grpId="3" nodeType="withEffect">
                                  <p:stCondLst>
                                    <p:cond delay="1350"/>
                                  </p:stCondLst>
                                  <p:childTnLst>
                                    <p:animMotion origin="layout" path="M 0 0 L 0.0000 0.0893 L 0.2325 0.0893 L 0.2325 -0.0267 L 0.3075 -0.0267 L 0.3075 -0.3200 L 0.0000 -0.3200 L 0.0000 -0.1867 E" pathEditMode="relative" ptsTypes="AAAAAAAA">
                                      <p:cBhvr>
                                        <p:cTn id="96" dur="4200" fill="hold"/>
                                        <p:tgtEl>
                                          <p:spTgt spid="6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97" presetID="1" presetClass="exit" presetSubtype="0" fill="hold" grpId="1" nodeType="withEffect">
                                  <p:stCondLst>
                                    <p:cond delay="555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9" presetID="1" presetClass="entr" presetSubtype="0" fill="hold" grpId="0" nodeType="withEffect">
                                  <p:stCondLst>
                                    <p:cond delay="180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1" presetID="0" presetClass="path" presetSubtype="0" fill="hold" grpId="3" nodeType="withEffect">
                                  <p:stCondLst>
                                    <p:cond delay="1800"/>
                                  </p:stCondLst>
                                  <p:childTnLst>
                                    <p:animMotion origin="layout" path="M 0 0 L 0.0000 0.0893 L 0.2325 0.0893 L 0.2325 -0.0267 L 0.3075 -0.0267 L 0.3075 -0.3200 L 0.0000 -0.3200 L 0.0000 -0.1867 E" pathEditMode="relative" ptsTypes="AAAAAAAA">
                                      <p:cBhvr>
                                        <p:cTn id="102" dur="4200" fill="hold"/>
                                        <p:tgtEl>
                                          <p:spTgt spid="6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03" presetID="1" presetClass="exit" presetSubtype="0" fill="hold" grpId="1" nodeType="withEffect">
                                  <p:stCondLst>
                                    <p:cond delay="600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5" presetID="1" presetClass="entr" presetSubtype="0" fill="hold" grpId="0" nodeType="withEffect">
                                  <p:stCondLst>
                                    <p:cond delay="225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7" presetID="0" presetClass="path" presetSubtype="0" fill="hold" grpId="3" nodeType="withEffect">
                                  <p:stCondLst>
                                    <p:cond delay="2250"/>
                                  </p:stCondLst>
                                  <p:childTnLst>
                                    <p:animMotion origin="layout" path="M 0 0 L 0.0000 0.0893 L 0.2325 0.0893 L 0.2325 -0.0267 L 0.3075 -0.0267 L 0.3075 -0.3200 L 0.0000 -0.3200 L 0.0000 -0.1867 E" pathEditMode="relative" ptsTypes="AAAAAAAA">
                                      <p:cBhvr>
                                        <p:cTn id="108" dur="4200" fill="hold"/>
                                        <p:tgtEl>
                                          <p:spTgt spid="6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09" presetID="1" presetClass="exit" presetSubtype="0" fill="hold" grpId="1" nodeType="withEffect">
                                  <p:stCondLst>
                                    <p:cond delay="645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1" presetID="1" presetClass="entr" presetSubtype="0" fill="hold" grpId="0" nodeType="withEffect">
                                  <p:stCondLst>
                                    <p:cond delay="2700"/>
                                  </p:stCondLst>
                                  <p:childTnLst>
                                    <p:set>
                                      <p:cBhvr>
                                        <p:cTn id="1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3" presetID="0" presetClass="path" presetSubtype="0" fill="hold" grpId="3" nodeType="withEffect">
                                  <p:stCondLst>
                                    <p:cond delay="2700"/>
                                  </p:stCondLst>
                                  <p:childTnLst>
                                    <p:animMotion origin="layout" path="M 0 0 L 0.0000 0.0893 L 0.2325 0.0893 L 0.2325 -0.0267 L 0.3075 -0.0267 L 0.3075 -0.3200 L 0.0000 -0.3200 L 0.0000 -0.1867 E" pathEditMode="relative" ptsTypes="AAAAAAAA">
                                      <p:cBhvr>
                                        <p:cTn id="114" dur="4200" fill="hold"/>
                                        <p:tgtEl>
                                          <p:spTgt spid="6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15" presetID="1" presetClass="exit" presetSubtype="0" fill="hold" grpId="1" nodeType="withEffect">
                                  <p:stCondLst>
                                    <p:cond delay="690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7" presetID="1" presetClass="entr" presetSubtype="0" fill="hold" grpId="0" nodeType="withEffect">
                                  <p:stCondLst>
                                    <p:cond delay="315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9" presetID="0" presetClass="path" presetSubtype="0" fill="hold" grpId="3" nodeType="withEffect">
                                  <p:stCondLst>
                                    <p:cond delay="3150"/>
                                  </p:stCondLst>
                                  <p:childTnLst>
                                    <p:animMotion origin="layout" path="M 0 0 L 0.0000 0.0893 L 0.2325 0.0893 L 0.2325 -0.0267 L 0.3075 -0.0267 L 0.3075 -0.3200 L 0.0000 -0.3200 L 0.0000 -0.1867 E" pathEditMode="relative" ptsTypes="AAAAAAAA">
                                      <p:cBhvr>
                                        <p:cTn id="120" dur="4200" fill="hold"/>
                                        <p:tgtEl>
                                          <p:spTgt spid="6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21" presetID="1" presetClass="exit" presetSubtype="0" fill="hold" grpId="1" nodeType="withEffect">
                                  <p:stCondLst>
                                    <p:cond delay="7350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3" presetID="1" presetClass="entr" presetSubtype="0" fill="hold" grpId="0" nodeType="withEffect">
                                  <p:stCondLst>
                                    <p:cond delay="3600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5" presetID="0" presetClass="path" presetSubtype="0" fill="hold" grpId="3" nodeType="withEffect">
                                  <p:stCondLst>
                                    <p:cond delay="3600"/>
                                  </p:stCondLst>
                                  <p:childTnLst>
                                    <p:animMotion origin="layout" path="M 0 0 L 0.0000 0.0893 L 0.2325 0.0893 L 0.2325 -0.0267 L 0.3075 -0.0267 L 0.3075 -0.3200 L 0.0000 -0.3200 L 0.0000 -0.1867 E" pathEditMode="relative" ptsTypes="AAAAAAAA">
                                      <p:cBhvr>
                                        <p:cTn id="126" dur="4200" fill="hold"/>
                                        <p:tgtEl>
                                          <p:spTgt spid="6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27" presetID="1" presetClass="exit" presetSubtype="0" fill="hold" grpId="1" nodeType="withEffect">
                                  <p:stCondLst>
                                    <p:cond delay="7800"/>
                                  </p:stCondLst>
                                  <p:childTnLst>
                                    <p:set>
                                      <p:cBhvr>
                                        <p:cTn id="1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9" fill="hold">
                      <p:stCondLst>
                        <p:cond delay="indefinite"/>
                      </p:stCondLst>
                      <p:childTnLst>
                        <p:par>
                          <p:cTn id="130" fill="hold">
                            <p:stCondLst>
                              <p:cond delay="0"/>
                            </p:stCondLst>
                            <p:childTnLst>
                              <p:par>
                                <p:cTn id="131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5" dur="3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6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8" presetID="0" presetClass="path" presetSubtype="0" fill="hold" grpId="3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0.0893 L 0.2325 0.0893 L 0.2325 -0.0267 L 0.3075 -0.0267 L 0.3075 -0.3200 L 0.0000 -0.3200 L 0.0000 -0.1867 E" pathEditMode="relative" ptsTypes="AAAAAAAA">
                                      <p:cBhvr>
                                        <p:cTn id="139" dur="4200" fill="hold"/>
                                        <p:tgtEl>
                                          <p:spTgt spid="6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40" presetID="1" presetClass="exit" presetSubtype="0" fill="hold" grpId="1" nodeType="withEffect">
                                  <p:stCondLst>
                                    <p:cond delay="4200"/>
                                  </p:stCondLst>
                                  <p:childTnLst>
                                    <p:set>
                                      <p:cBhvr>
                                        <p:cTn id="1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2" presetID="1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4" presetID="0" presetClass="path" presetSubtype="0" fill="hold" grpId="3" nodeType="withEffect">
                                  <p:stCondLst>
                                    <p:cond delay="500"/>
                                  </p:stCondLst>
                                  <p:childTnLst>
                                    <p:animMotion origin="layout" path="M 0 0 L 0.0000 0.0893 L 0.2325 0.0893 L 0.2325 -0.0267 L 0.3075 -0.0267 L 0.3075 -0.3200 L 0.0000 -0.3200 L 0.0000 -0.1867 E" pathEditMode="relative" ptsTypes="AAAAAAAA">
                                      <p:cBhvr>
                                        <p:cTn id="145" dur="4200" fill="hold"/>
                                        <p:tgtEl>
                                          <p:spTgt spid="6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46" presetID="1" presetClass="exit" presetSubtype="0" fill="hold" grpId="1" nodeType="withEffect">
                                  <p:stCondLst>
                                    <p:cond delay="4700"/>
                                  </p:stCondLst>
                                  <p:childTnLst>
                                    <p:set>
                                      <p:cBhvr>
                                        <p:cTn id="1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8" presetID="1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0" presetID="0" presetClass="path" presetSubtype="0" fill="hold" grpId="3" nodeType="withEffect">
                                  <p:stCondLst>
                                    <p:cond delay="1000"/>
                                  </p:stCondLst>
                                  <p:childTnLst>
                                    <p:animMotion origin="layout" path="M 0 0 L 0.0000 0.0893 L 0.2325 0.0893 L 0.2325 -0.0267 L 0.3075 -0.0267 L 0.3075 -0.3200 L 0.0000 -0.3200 L 0.0000 -0.1867 E" pathEditMode="relative" ptsTypes="AAAAAAAA">
                                      <p:cBhvr>
                                        <p:cTn id="151" dur="4200" fill="hold"/>
                                        <p:tgtEl>
                                          <p:spTgt spid="7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52" presetID="1" presetClass="exit" presetSubtype="0" fill="hold" grpId="1" nodeType="withEffect">
                                  <p:stCondLst>
                                    <p:cond delay="5200"/>
                                  </p:stCondLst>
                                  <p:childTnLst>
                                    <p:set>
                                      <p:cBhvr>
                                        <p:cTn id="1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4" presetID="1" presetClass="entr" presetSubtype="0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1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6" presetID="0" presetClass="path" presetSubtype="0" fill="hold" grpId="3" nodeType="withEffect">
                                  <p:stCondLst>
                                    <p:cond delay="1500"/>
                                  </p:stCondLst>
                                  <p:childTnLst>
                                    <p:animMotion origin="layout" path="M 0 0 L 0.0000 0.0893 L 0.2325 0.0893 L 0.2325 -0.0267 L 0.3075 -0.0267 L 0.3075 -0.3200 L 0.0000 -0.3200 L 0.0000 -0.1867 E" pathEditMode="relative" ptsTypes="AAAAAAAA">
                                      <p:cBhvr>
                                        <p:cTn id="157" dur="4200" fill="hold"/>
                                        <p:tgtEl>
                                          <p:spTgt spid="7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58" presetID="1" presetClass="exit" presetSubtype="0" fill="hold" grpId="1" nodeType="withEffect">
                                  <p:stCondLst>
                                    <p:cond delay="5700"/>
                                  </p:stCondLst>
                                  <p:childTnLst>
                                    <p:set>
                                      <p:cBhvr>
                                        <p:cTn id="1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0" presetID="1" presetClass="entr" presetSubtype="0" fill="hold" grpId="0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1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2" presetID="0" presetClass="path" presetSubtype="0" fill="hold" grpId="3" nodeType="withEffect">
                                  <p:stCondLst>
                                    <p:cond delay="2000"/>
                                  </p:stCondLst>
                                  <p:childTnLst>
                                    <p:animMotion origin="layout" path="M 0 0 L 0.0000 0.0893 L 0.2325 0.0893 L 0.2325 -0.0267 L 0.3075 -0.0267 L 0.3075 -0.3200 L 0.0000 -0.3200 L 0.0000 -0.1867 E" pathEditMode="relative" ptsTypes="AAAAAAAA">
                                      <p:cBhvr>
                                        <p:cTn id="163" dur="4200" fill="hold"/>
                                        <p:tgtEl>
                                          <p:spTgt spid="7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64" presetID="1" presetClass="exit" presetSubtype="0" fill="hold" grpId="1" nodeType="withEffect">
                                  <p:stCondLst>
                                    <p:cond delay="6200"/>
                                  </p:stCondLst>
                                  <p:childTnLst>
                                    <p:set>
                                      <p:cBhvr>
                                        <p:cTn id="1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6" presetID="1" presetClass="entr" presetSubtype="0" fill="hold" grpId="0" nodeType="withEffect">
                                  <p:stCondLst>
                                    <p:cond delay="2500"/>
                                  </p:stCondLst>
                                  <p:childTnLst>
                                    <p:set>
                                      <p:cBhvr>
                                        <p:cTn id="1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8" presetID="0" presetClass="path" presetSubtype="0" fill="hold" grpId="3" nodeType="withEffect">
                                  <p:stCondLst>
                                    <p:cond delay="2500"/>
                                  </p:stCondLst>
                                  <p:childTnLst>
                                    <p:animMotion origin="layout" path="M 0 0 L 0.0000 0.0893 L 0.2325 0.0893 L 0.2325 -0.0267 L 0.3075 -0.0267 L 0.3075 -0.3200 L 0.0000 -0.3200 L 0.0000 -0.1867 E" pathEditMode="relative" ptsTypes="AAAAAAAA">
                                      <p:cBhvr>
                                        <p:cTn id="169" dur="4200" fill="hold"/>
                                        <p:tgtEl>
                                          <p:spTgt spid="7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70" presetID="1" presetClass="exit" presetSubtype="0" fill="hold" grpId="1" nodeType="withEffect">
                                  <p:stCondLst>
                                    <p:cond delay="6700"/>
                                  </p:stCondLst>
                                  <p:childTnLst>
                                    <p:set>
                                      <p:cBhvr>
                                        <p:cTn id="1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2" presetID="6" presetClass="emph" presetSubtype="0" repeatCount="200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173" dur="300" autoRev="1" fill="hold"/>
                                        <p:tgtEl>
                                          <p:spTgt spid="53"/>
                                        </p:tgtEl>
                                      </p:cBhvr>
                                      <p:by x="120000" y="120000"/>
                                    </p:animScale>
                                  </p:childTnLst>
                                </p:cTn>
                              </p:par>
                              <p:par>
                                <p:cTn id="174" presetID="10" presetClass="exit" presetSubtype="0" fill="hold" grpId="1" nodeType="withEffect">
                                  <p:stCondLst>
                                    <p:cond delay="7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75" dur="4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76" dur="1" fill="hold">
                                          <p:stCondLst>
                                            <p:cond delay="399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7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1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9" dur="4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0" presetID="10" presetClass="exit" presetSubtype="0" fill="hold" grpId="1" nodeType="withEffect">
                                  <p:stCondLst>
                                    <p:cond delay="12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81" dur="5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8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3" presetID="10" presetClass="exit" presetSubtype="0" fill="hold" grpId="1" nodeType="withEffect">
                                  <p:stCondLst>
                                    <p:cond delay="12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84" dur="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8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6" presetID="10" presetClass="entr" presetSubtype="0" fill="hold" grpId="0" nodeType="withEffect">
                                  <p:stCondLst>
                                    <p:cond delay="1200"/>
                                  </p:stCondLst>
                                  <p:childTnLst>
                                    <p:set>
                                      <p:cBhvr>
                                        <p:cTn id="1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8" dur="5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9" presetID="0" presetClass="path" presetSubtype="0" fill="hold" grpId="3" nodeType="withEffect">
                                  <p:stCondLst>
                                    <p:cond delay="1500"/>
                                  </p:stCondLst>
                                  <p:childTnLst>
                                    <p:animMotion origin="layout" path="M 0 0 L 0.0675 -0.1200 L 0.0675 -0.1867 E" pathEditMode="relative" ptsTypes="AAA">
                                      <p:cBhvr>
                                        <p:cTn id="190" dur="1400" fill="hold"/>
                                        <p:tgtEl>
                                          <p:spTgt spid="5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91" presetID="10" presetClass="exit" presetSubtype="0" fill="hold" grpId="1" nodeType="withEffect">
                                  <p:stCondLst>
                                    <p:cond delay="29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92" dur="4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93" dur="1" fill="hold">
                                          <p:stCondLst>
                                            <p:cond delay="399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4" presetID="10" presetClass="exit" presetSubtype="0" fill="hold" grpId="1" nodeType="withEffect">
                                  <p:stCondLst>
                                    <p:cond delay="18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95" dur="1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96" dur="1" fill="hold">
                                          <p:stCondLst>
                                            <p:cond delay="149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7" fill="hold">
                      <p:stCondLst>
                        <p:cond delay="indefinite"/>
                      </p:stCondLst>
                      <p:childTnLst>
                        <p:par>
                          <p:cTn id="198" fill="hold">
                            <p:stCondLst>
                              <p:cond delay="0"/>
                            </p:stCondLst>
                            <p:childTnLst>
                              <p:par>
                                <p:cTn id="19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3" dur="3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6" presetID="0" presetClass="path" presetSubtype="0" fill="hold" grpId="3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0.0893 L 0.2325 0.0893 L 0.2325 -0.0267 L 0.3075 -0.0267 L 0.3075 -0.3200 L 0.0000 -0.3200 L 0.0000 -0.1867 E" pathEditMode="relative" ptsTypes="AAAAAAAA">
                                      <p:cBhvr>
                                        <p:cTn id="207" dur="4200" fill="hold"/>
                                        <p:tgtEl>
                                          <p:spTgt spid="7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08" presetID="1" presetClass="exit" presetSubtype="0" fill="hold" grpId="1" nodeType="withEffect">
                                  <p:stCondLst>
                                    <p:cond delay="4200"/>
                                  </p:stCondLst>
                                  <p:childTnLst>
                                    <p:set>
                                      <p:cBhvr>
                                        <p:cTn id="2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0" presetID="1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2" presetID="0" presetClass="path" presetSubtype="0" fill="hold" grpId="3" nodeType="withEffect">
                                  <p:stCondLst>
                                    <p:cond delay="500"/>
                                  </p:stCondLst>
                                  <p:childTnLst>
                                    <p:animMotion origin="layout" path="M 0 0 L 0.0000 0.0893 L 0.2325 0.0893 L 0.2325 -0.0267 L 0.3075 -0.0267 L 0.3075 -0.3200 L 0.0000 -0.3200 L 0.0000 -0.1867 E" pathEditMode="relative" ptsTypes="AAAAAAAA">
                                      <p:cBhvr>
                                        <p:cTn id="213" dur="4200" fill="hold"/>
                                        <p:tgtEl>
                                          <p:spTgt spid="7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14" presetID="1" presetClass="exit" presetSubtype="0" fill="hold" grpId="1" nodeType="withEffect">
                                  <p:stCondLst>
                                    <p:cond delay="4700"/>
                                  </p:stCondLst>
                                  <p:childTnLst>
                                    <p:set>
                                      <p:cBhvr>
                                        <p:cTn id="2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6" presetID="1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2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8" presetID="0" presetClass="path" presetSubtype="0" fill="hold" grpId="3" nodeType="withEffect">
                                  <p:stCondLst>
                                    <p:cond delay="1000"/>
                                  </p:stCondLst>
                                  <p:childTnLst>
                                    <p:animMotion origin="layout" path="M 0 0 L 0.0000 0.0893 L 0.2325 0.0893 L 0.2325 -0.0267 L 0.3075 -0.0267 L 0.3075 -0.3200 L 0.0000 -0.3200 L 0.0000 -0.1867 E" pathEditMode="relative" ptsTypes="AAAAAAAA">
                                      <p:cBhvr>
                                        <p:cTn id="219" dur="4200" fill="hold"/>
                                        <p:tgtEl>
                                          <p:spTgt spid="7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20" presetID="1" presetClass="exit" presetSubtype="0" fill="hold" grpId="1" nodeType="withEffect">
                                  <p:stCondLst>
                                    <p:cond delay="5200"/>
                                  </p:stCondLst>
                                  <p:childTnLst>
                                    <p:set>
                                      <p:cBhvr>
                                        <p:cTn id="2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2" presetID="1" presetClass="entr" presetSubtype="0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2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4" presetID="0" presetClass="path" presetSubtype="0" fill="hold" grpId="3" nodeType="withEffect">
                                  <p:stCondLst>
                                    <p:cond delay="1500"/>
                                  </p:stCondLst>
                                  <p:childTnLst>
                                    <p:animMotion origin="layout" path="M 0 0 L 0.0000 0.0893 L 0.2325 0.0893 L 0.2325 -0.0267 L 0.3075 -0.0267 L 0.3075 -0.3200 L 0.0000 -0.3200 L 0.0000 -0.1867 E" pathEditMode="relative" ptsTypes="AAAAAAAA">
                                      <p:cBhvr>
                                        <p:cTn id="225" dur="4200" fill="hold"/>
                                        <p:tgtEl>
                                          <p:spTgt spid="7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26" presetID="1" presetClass="exit" presetSubtype="0" fill="hold" grpId="1" nodeType="withEffect">
                                  <p:stCondLst>
                                    <p:cond delay="5700"/>
                                  </p:stCondLst>
                                  <p:childTnLst>
                                    <p:set>
                                      <p:cBhvr>
                                        <p:cTn id="2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8" presetID="1" presetClass="entr" presetSubtype="0" fill="hold" grpId="0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2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0" presetID="0" presetClass="path" presetSubtype="0" fill="hold" grpId="3" nodeType="withEffect">
                                  <p:stCondLst>
                                    <p:cond delay="2000"/>
                                  </p:stCondLst>
                                  <p:childTnLst>
                                    <p:animMotion origin="layout" path="M 0 0 L 0.0000 0.0893 L 0.2325 0.0893 L 0.2325 -0.0267 L 0.3075 -0.0267 L 0.3075 -0.3200 L 0.0000 -0.3200 L 0.0000 -0.1867 E" pathEditMode="relative" ptsTypes="AAAAAAAA">
                                      <p:cBhvr>
                                        <p:cTn id="231" dur="4200" fill="hold"/>
                                        <p:tgtEl>
                                          <p:spTgt spid="7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32" presetID="1" presetClass="exit" presetSubtype="0" fill="hold" grpId="1" nodeType="withEffect">
                                  <p:stCondLst>
                                    <p:cond delay="6200"/>
                                  </p:stCondLst>
                                  <p:childTnLst>
                                    <p:set>
                                      <p:cBhvr>
                                        <p:cTn id="2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4" presetID="1" presetClass="entr" presetSubtype="0" fill="hold" grpId="0" nodeType="withEffect">
                                  <p:stCondLst>
                                    <p:cond delay="2500"/>
                                  </p:stCondLst>
                                  <p:childTnLst>
                                    <p:set>
                                      <p:cBhvr>
                                        <p:cTn id="2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6" presetID="0" presetClass="path" presetSubtype="0" fill="hold" grpId="3" nodeType="withEffect">
                                  <p:stCondLst>
                                    <p:cond delay="2500"/>
                                  </p:stCondLst>
                                  <p:childTnLst>
                                    <p:animMotion origin="layout" path="M 0 0 L 0.0000 0.0893 L 0.2325 0.0893 L 0.2325 -0.0267 L 0.3075 -0.0267 L 0.3075 -0.3200 L 0.0000 -0.3200 L 0.0000 -0.1867 E" pathEditMode="relative" ptsTypes="AAAAAAAA">
                                      <p:cBhvr>
                                        <p:cTn id="237" dur="4200" fill="hold"/>
                                        <p:tgtEl>
                                          <p:spTgt spid="7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38" presetID="1" presetClass="exit" presetSubtype="0" fill="hold" grpId="1" nodeType="withEffect">
                                  <p:stCondLst>
                                    <p:cond delay="6700"/>
                                  </p:stCondLst>
                                  <p:childTnLst>
                                    <p:set>
                                      <p:cBhvr>
                                        <p:cTn id="2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0" presetID="1" presetClass="exit" presetSubtype="0" fill="hold" grpId="1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2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2" presetID="53" presetClass="entr" presetSubtype="16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2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44" dur="4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5" dur="4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46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7" presetID="1" presetClass="exit" presetSubtype="0" fill="hold" grpId="1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2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9" presetID="53" presetClass="entr" presetSubtype="16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2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51" dur="4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52" dur="4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53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4" presetID="1" presetClass="exit" presetSubtype="0" fill="hold" grpId="1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2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6" presetID="53" presetClass="entr" presetSubtype="16" fill="hold" grpId="0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2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58" dur="4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59" dur="4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60" dur="4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1" presetID="10" presetClass="exit" presetSubtype="0" fill="hold" grpId="1" nodeType="withEffect">
                                  <p:stCondLst>
                                    <p:cond delay="10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62" dur="1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63" dur="1" fill="hold">
                                          <p:stCondLst>
                                            <p:cond delay="14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64" presetID="0" presetClass="path" presetSubtype="0" fill="hold" grpId="3" nodeType="withEffect">
                                  <p:stCondLst>
                                    <p:cond delay="800"/>
                                  </p:stCondLst>
                                  <p:childTnLst>
                                    <p:animMotion origin="layout" path="M 0 0 L 0.0000 0.1050 E" pathEditMode="relative" ptsTypes="AA">
                                      <p:cBhvr>
                                        <p:cTn id="265" dur="12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66" presetID="10" presetClass="exit" presetSubtype="0" fill="hold" grpId="1" nodeType="withEffect">
                                  <p:stCondLst>
                                    <p:cond delay="17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67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68" dur="1" fill="hold">
                                          <p:stCondLst>
                                            <p:cond delay="3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69" presetID="0" presetClass="path" presetSubtype="0" fill="hold" grpId="3" nodeType="withEffect">
                                  <p:stCondLst>
                                    <p:cond delay="1000"/>
                                  </p:stCondLst>
                                  <p:childTnLst>
                                    <p:animMotion origin="layout" path="M 0 0 L 0.0000 0.1050 E" pathEditMode="relative" ptsTypes="AA">
                                      <p:cBhvr>
                                        <p:cTn id="270" dur="12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71" presetID="10" presetClass="exit" presetSubtype="0" fill="hold" grpId="1" nodeType="withEffect">
                                  <p:stCondLst>
                                    <p:cond delay="19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72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73" dur="1" fill="hold">
                                          <p:stCondLst>
                                            <p:cond delay="399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4" presetID="0" presetClass="path" presetSubtype="0" fill="hold" grpId="3" nodeType="withEffect">
                                  <p:stCondLst>
                                    <p:cond delay="1200"/>
                                  </p:stCondLst>
                                  <p:childTnLst>
                                    <p:animMotion origin="layout" path="M 0 0 L 0.0000 0.1050 E" pathEditMode="relative" ptsTypes="AA">
                                      <p:cBhvr>
                                        <p:cTn id="275" dur="12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76" presetID="10" presetClass="exit" presetSubtype="0" fill="hold" grpId="1" nodeType="withEffect">
                                  <p:stCondLst>
                                    <p:cond delay="21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77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78" dur="1" fill="hold">
                                          <p:stCondLst>
                                            <p:cond delay="39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9" fill="hold">
                      <p:stCondLst>
                        <p:cond delay="indefinite"/>
                      </p:stCondLst>
                      <p:childTnLst>
                        <p:par>
                          <p:cTn id="280" fill="hold">
                            <p:stCondLst>
                              <p:cond delay="0"/>
                            </p:stCondLst>
                            <p:childTnLst>
                              <p:par>
                                <p:cTn id="281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8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5" dur="3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6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87" dur="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8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89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90" dur="5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9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2" presetID="1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2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4" presetID="0" presetClass="path" presetSubtype="0" fill="hold" grpId="3" nodeType="withEffect">
                                  <p:stCondLst>
                                    <p:cond delay="200"/>
                                  </p:stCondLst>
                                  <p:childTnLst>
                                    <p:animMotion origin="layout" path="M 0 0 L 0.2250 0.0000 E" pathEditMode="relative" ptsTypes="AA">
                                      <p:cBhvr>
                                        <p:cTn id="295" dur="1200" fill="hold"/>
                                        <p:tgtEl>
                                          <p:spTgt spid="8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96" presetID="1" presetClass="exit" presetSubtype="0" fill="hold" grpId="1" nodeType="with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2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8" presetID="1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00" presetID="0" presetClass="path" presetSubtype="0" fill="hold" grpId="3" nodeType="withEffect">
                                  <p:stCondLst>
                                    <p:cond delay="500"/>
                                  </p:stCondLst>
                                  <p:childTnLst>
                                    <p:animMotion origin="layout" path="M 0 0 L 0.2250 0.0000 E" pathEditMode="relative" ptsTypes="AA">
                                      <p:cBhvr>
                                        <p:cTn id="301" dur="1200" fill="hold"/>
                                        <p:tgtEl>
                                          <p:spTgt spid="8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02" presetID="1" presetClass="exit" presetSubtype="0" fill="hold" grpId="1" nodeType="withEffect">
                                  <p:stCondLst>
                                    <p:cond delay="1700"/>
                                  </p:stCondLst>
                                  <p:childTnLst>
                                    <p:set>
                                      <p:cBhvr>
                                        <p:cTn id="3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04" presetID="1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3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06" presetID="0" presetClass="path" presetSubtype="0" fill="hold" grpId="3" nodeType="withEffect">
                                  <p:stCondLst>
                                    <p:cond delay="800"/>
                                  </p:stCondLst>
                                  <p:childTnLst>
                                    <p:animMotion origin="layout" path="M 0 0 L 0.2250 0.0000 E" pathEditMode="relative" ptsTypes="AA">
                                      <p:cBhvr>
                                        <p:cTn id="307" dur="1200" fill="hold"/>
                                        <p:tgtEl>
                                          <p:spTgt spid="8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08" presetID="1" presetClass="exit" presetSubtype="0" fill="hold" grpId="1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3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0" presetID="1" presetClass="entr" presetSubtype="0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3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2" presetID="0" presetClass="path" presetSubtype="0" fill="hold" grpId="3" nodeType="withEffect">
                                  <p:stCondLst>
                                    <p:cond delay="1100"/>
                                  </p:stCondLst>
                                  <p:childTnLst>
                                    <p:animMotion origin="layout" path="M 0 0 L 0.2250 0.0000 E" pathEditMode="relative" ptsTypes="AA">
                                      <p:cBhvr>
                                        <p:cTn id="313" dur="1200" fill="hold"/>
                                        <p:tgtEl>
                                          <p:spTgt spid="8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14" presetID="1" presetClass="exit" presetSubtype="0" fill="hold" grpId="1" nodeType="withEffect">
                                  <p:stCondLst>
                                    <p:cond delay="2300"/>
                                  </p:stCondLst>
                                  <p:childTnLst>
                                    <p:set>
                                      <p:cBhvr>
                                        <p:cTn id="3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6" presetID="1" presetClass="entr" presetSubtype="0" fill="hold" grpId="0" nodeType="with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3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8" presetID="0" presetClass="path" presetSubtype="0" fill="hold" grpId="3" nodeType="withEffect">
                                  <p:stCondLst>
                                    <p:cond delay="1400"/>
                                  </p:stCondLst>
                                  <p:childTnLst>
                                    <p:animMotion origin="layout" path="M 0 0 L 0.2250 0.0000 E" pathEditMode="relative" ptsTypes="AA">
                                      <p:cBhvr>
                                        <p:cTn id="319" dur="1200" fill="hold"/>
                                        <p:tgtEl>
                                          <p:spTgt spid="8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20" presetID="1" presetClass="exit" presetSubtype="0" fill="hold" grpId="1" nodeType="withEffect">
                                  <p:stCondLst>
                                    <p:cond delay="2600"/>
                                  </p:stCondLst>
                                  <p:childTnLst>
                                    <p:set>
                                      <p:cBhvr>
                                        <p:cTn id="3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22" presetID="22" presetClass="entr" presetSubtype="4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3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24" dur="6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5" presetID="22" presetClass="entr" presetSubtype="4" fill="hold" grpId="0" nodeType="withEffect">
                                  <p:stCondLst>
                                    <p:cond delay="1600"/>
                                  </p:stCondLst>
                                  <p:childTnLst>
                                    <p:set>
                                      <p:cBhvr>
                                        <p:cTn id="3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27" dur="6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8" presetID="10" presetClass="exit" presetSubtype="0" fill="hold" grpId="1" nodeType="withEffect">
                                  <p:stCondLst>
                                    <p:cond delay="12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29" dur="12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30" dur="1" fill="hold">
                                          <p:stCondLst>
                                            <p:cond delay="119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1" fill="hold">
                            <p:stCondLst>
                              <p:cond delay="3100"/>
                            </p:stCondLst>
                            <p:childTnLst>
                              <p:par>
                                <p:cTn id="332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4" presetID="0" presetClass="path" presetSubtype="0" fill="hold" grpId="3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0.3600 E" pathEditMode="relative" ptsTypes="AA">
                                      <p:cBhvr>
                                        <p:cTn id="335" dur="1100" fill="hold"/>
                                        <p:tgtEl>
                                          <p:spTgt spid="8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36" presetID="10" presetClass="exit" presetSubtype="0" fill="hold" grpId="1" nodeType="withEffect">
                                  <p:stCondLst>
                                    <p:cond delay="10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37" dur="300"/>
                                        <p:tgtEl>
                                          <p:spTgt spid="8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3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9" fill="hold">
                      <p:stCondLst>
                        <p:cond delay="indefinite"/>
                      </p:stCondLst>
                      <p:childTnLst>
                        <p:par>
                          <p:cTn id="340" fill="hold">
                            <p:stCondLst>
                              <p:cond delay="0"/>
                            </p:stCondLst>
                            <p:childTnLst>
                              <p:par>
                                <p:cTn id="341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4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5" dur="3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6" presetID="1" presetClass="exit" presetSubtype="0" fill="hold" grpId="1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3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48" presetID="53" presetClass="entr" presetSubtype="16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3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50" dur="4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51" dur="4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52" dur="4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3" fill="hold">
                            <p:stCondLst>
                              <p:cond delay="800"/>
                            </p:stCondLst>
                            <p:childTnLst>
                              <p:par>
                                <p:cTn id="354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56" dur="500" fill="hold"/>
                                        <p:tgtEl>
                                          <p:spTgt spid="8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57" dur="500" fill="hold"/>
                                        <p:tgtEl>
                                          <p:spTgt spid="8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58" dur="500"/>
                                        <p:tgtEl>
                                          <p:spTgt spid="8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9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61" dur="500" fill="hold"/>
                                        <p:tgtEl>
                                          <p:spTgt spid="8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62" dur="500" fill="hold"/>
                                        <p:tgtEl>
                                          <p:spTgt spid="8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63" dur="500"/>
                                        <p:tgtEl>
                                          <p:spTgt spid="8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4" fill="hold">
                            <p:stCondLst>
                              <p:cond delay="1300"/>
                            </p:stCondLst>
                            <p:childTnLst>
                              <p:par>
                                <p:cTn id="365" presetID="6" presetClass="emph" presetSubtype="0" repeatCount="2000" fill="hold" grpId="2" nodeType="after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366" dur="400" autoRev="1" fill="hold"/>
                                        <p:tgtEl>
                                          <p:spTgt spid="86"/>
                                        </p:tgtEl>
                                      </p:cBhvr>
                                      <p:by x="108000" y="108000"/>
                                    </p:animScale>
                                  </p:childTnLst>
                                </p:cTn>
                              </p:par>
                              <p:par>
                                <p:cTn id="367" presetID="6" presetClass="emph" presetSubtype="0" repeatCount="200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368" dur="400" autoRev="1" fill="hold"/>
                                        <p:tgtEl>
                                          <p:spTgt spid="87"/>
                                        </p:tgtEl>
                                      </p:cBhvr>
                                      <p:by x="108000" y="108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5" grpId="0" animBg="1"/>
      <p:bldP spid="46" grpId="0" animBg="1"/>
      <p:bldP spid="55" grpId="2" animBg="1"/>
      <p:bldP spid="46" grpId="1" animBg="1"/>
      <p:bldP spid="47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47" grpId="1" animBg="1"/>
      <p:bldP spid="48" grpId="0" animBg="1"/>
      <p:bldP spid="59" grpId="0" animBg="1"/>
      <p:bldP spid="59" grpId="3" animBg="1"/>
      <p:bldP spid="59" grpId="1" animBg="1"/>
      <p:bldP spid="60" grpId="0" animBg="1"/>
      <p:bldP spid="60" grpId="3" animBg="1"/>
      <p:bldP spid="60" grpId="1" animBg="1"/>
      <p:bldP spid="61" grpId="0" animBg="1"/>
      <p:bldP spid="61" grpId="3" animBg="1"/>
      <p:bldP spid="61" grpId="1" animBg="1"/>
      <p:bldP spid="62" grpId="0" animBg="1"/>
      <p:bldP spid="62" grpId="3" animBg="1"/>
      <p:bldP spid="62" grpId="1" animBg="1"/>
      <p:bldP spid="63" grpId="0" animBg="1"/>
      <p:bldP spid="63" grpId="3" animBg="1"/>
      <p:bldP spid="63" grpId="1" animBg="1"/>
      <p:bldP spid="64" grpId="0" animBg="1"/>
      <p:bldP spid="64" grpId="3" animBg="1"/>
      <p:bldP spid="64" grpId="1" animBg="1"/>
      <p:bldP spid="65" grpId="0" animBg="1"/>
      <p:bldP spid="65" grpId="3" animBg="1"/>
      <p:bldP spid="65" grpId="1" animBg="1"/>
      <p:bldP spid="66" grpId="0" animBg="1"/>
      <p:bldP spid="66" grpId="3" animBg="1"/>
      <p:bldP spid="66" grpId="1" animBg="1"/>
      <p:bldP spid="67" grpId="0" animBg="1"/>
      <p:bldP spid="67" grpId="3" animBg="1"/>
      <p:bldP spid="67" grpId="1" animBg="1"/>
      <p:bldP spid="48" grpId="1" animBg="1"/>
      <p:bldP spid="49" grpId="0" animBg="1"/>
      <p:bldP spid="68" grpId="0" animBg="1"/>
      <p:bldP spid="68" grpId="3" animBg="1"/>
      <p:bldP spid="68" grpId="1" animBg="1"/>
      <p:bldP spid="69" grpId="0" animBg="1"/>
      <p:bldP spid="69" grpId="3" animBg="1"/>
      <p:bldP spid="69" grpId="1" animBg="1"/>
      <p:bldP spid="70" grpId="0" animBg="1"/>
      <p:bldP spid="70" grpId="3" animBg="1"/>
      <p:bldP spid="70" grpId="1" animBg="1"/>
      <p:bldP spid="71" grpId="0" animBg="1"/>
      <p:bldP spid="71" grpId="3" animBg="1"/>
      <p:bldP spid="71" grpId="1" animBg="1"/>
      <p:bldP spid="72" grpId="0" animBg="1"/>
      <p:bldP spid="72" grpId="3" animBg="1"/>
      <p:bldP spid="72" grpId="1" animBg="1"/>
      <p:bldP spid="73" grpId="0" animBg="1"/>
      <p:bldP spid="73" grpId="3" animBg="1"/>
      <p:bldP spid="73" grpId="1" animBg="1"/>
      <p:bldP spid="53" grpId="2" animBg="1"/>
      <p:bldP spid="53" grpId="1" animBg="1"/>
      <p:bldP spid="57" grpId="0" animBg="1"/>
      <p:bldP spid="55" grpId="1" animBg="1"/>
      <p:bldP spid="56" grpId="1" animBg="1"/>
      <p:bldP spid="58" grpId="0" animBg="1"/>
      <p:bldP spid="54" grpId="3" animBg="1"/>
      <p:bldP spid="54" grpId="1" animBg="1"/>
      <p:bldP spid="7" grpId="1" animBg="1"/>
      <p:bldP spid="49" grpId="1" animBg="1"/>
      <p:bldP spid="50" grpId="0" animBg="1"/>
      <p:bldP spid="74" grpId="0" animBg="1"/>
      <p:bldP spid="74" grpId="3" animBg="1"/>
      <p:bldP spid="74" grpId="1" animBg="1"/>
      <p:bldP spid="75" grpId="0" animBg="1"/>
      <p:bldP spid="75" grpId="3" animBg="1"/>
      <p:bldP spid="75" grpId="1" animBg="1"/>
      <p:bldP spid="76" grpId="0" animBg="1"/>
      <p:bldP spid="76" grpId="3" animBg="1"/>
      <p:bldP spid="76" grpId="1" animBg="1"/>
      <p:bldP spid="77" grpId="0" animBg="1"/>
      <p:bldP spid="77" grpId="3" animBg="1"/>
      <p:bldP spid="77" grpId="1" animBg="1"/>
      <p:bldP spid="78" grpId="0" animBg="1"/>
      <p:bldP spid="78" grpId="3" animBg="1"/>
      <p:bldP spid="78" grpId="1" animBg="1"/>
      <p:bldP spid="79" grpId="0" animBg="1"/>
      <p:bldP spid="79" grpId="3" animBg="1"/>
      <p:bldP spid="79" grpId="1" animBg="1"/>
      <p:bldP spid="29" grpId="1" animBg="1"/>
      <p:bldP spid="30" grpId="0" animBg="1"/>
      <p:bldP spid="32" grpId="1" animBg="1"/>
      <p:bldP spid="33" grpId="0" animBg="1"/>
      <p:bldP spid="35" grpId="1" animBg="1"/>
      <p:bldP spid="36" grpId="0" animBg="1"/>
      <p:bldP spid="6" grpId="1" animBg="1"/>
      <p:bldP spid="8" grpId="3" animBg="1"/>
      <p:bldP spid="8" grpId="1" animBg="1"/>
      <p:bldP spid="9" grpId="3" animBg="1"/>
      <p:bldP spid="9" grpId="1" animBg="1"/>
      <p:bldP spid="10" grpId="3" animBg="1"/>
      <p:bldP spid="10" grpId="1" animBg="1"/>
      <p:bldP spid="50" grpId="1" animBg="1"/>
      <p:bldP spid="51" grpId="0" animBg="1"/>
      <p:bldP spid="57" grpId="1" animBg="1"/>
      <p:bldP spid="58" grpId="1" animBg="1"/>
      <p:bldP spid="80" grpId="0" animBg="1"/>
      <p:bldP spid="80" grpId="3" animBg="1"/>
      <p:bldP spid="80" grpId="1" animBg="1"/>
      <p:bldP spid="81" grpId="0" animBg="1"/>
      <p:bldP spid="81" grpId="3" animBg="1"/>
      <p:bldP spid="81" grpId="1" animBg="1"/>
      <p:bldP spid="82" grpId="0" animBg="1"/>
      <p:bldP spid="82" grpId="3" animBg="1"/>
      <p:bldP spid="82" grpId="1" animBg="1"/>
      <p:bldP spid="83" grpId="0" animBg="1"/>
      <p:bldP spid="83" grpId="3" animBg="1"/>
      <p:bldP spid="83" grpId="1" animBg="1"/>
      <p:bldP spid="84" grpId="0" animBg="1"/>
      <p:bldP spid="84" grpId="3" animBg="1"/>
      <p:bldP spid="84" grpId="1" animBg="1"/>
      <p:bldP spid="42" grpId="0" animBg="1"/>
      <p:bldP spid="43" grpId="0" animBg="1"/>
      <p:bldP spid="5" grpId="1" animBg="1"/>
      <p:bldP spid="85" grpId="0" animBg="1"/>
      <p:bldP spid="85" grpId="3" animBg="1"/>
      <p:bldP spid="85" grpId="1" animBg="1"/>
      <p:bldP spid="51" grpId="1" animBg="1"/>
      <p:bldP spid="52" grpId="0" animBg="1"/>
      <p:bldP spid="38" grpId="1" animBg="1"/>
      <p:bldP spid="39" grpId="0" animBg="1"/>
      <p:bldP spid="86" grpId="0" animBg="1"/>
      <p:bldP spid="87" grpId="0" animBg="1"/>
      <p:bldP spid="86" grpId="2" animBg="1"/>
      <p:bldP spid="87" grpId="2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47472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5F8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Packing pre- &amp; post-treatment – packed columns</a:t>
            </a:r>
            <a:endParaRPr lang="en-US" sz="2800" dirty="0"/>
          </a:p>
        </p:txBody>
      </p:sp>
      <p:sp>
        <p:nvSpPr>
          <p:cNvPr id="3" name="ph0"/>
          <p:cNvSpPr/>
          <p:nvPr/>
        </p:nvSpPr>
        <p:spPr>
          <a:xfrm>
            <a:off x="548640" y="1417320"/>
            <a:ext cx="3017520" cy="347472"/>
          </a:xfrm>
          <a:prstGeom prst="roundRect">
            <a:avLst>
              <a:gd name="adj" fmla="val 50000"/>
            </a:avLst>
          </a:prstGeom>
          <a:solidFill>
            <a:srgbClr val="F3F7FA"/>
          </a:solidFill>
          <a:ln w="12700">
            <a:solidFill>
              <a:srgbClr val="E1E8E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B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  PRE-TREATMENT</a:t>
            </a:r>
            <a:endParaRPr lang="en-US" sz="1200" dirty="0"/>
          </a:p>
        </p:txBody>
      </p:sp>
      <p:sp>
        <p:nvSpPr>
          <p:cNvPr id="4" name="tag612"/>
          <p:cNvSpPr/>
          <p:nvPr/>
        </p:nvSpPr>
        <p:spPr>
          <a:xfrm>
            <a:off x="548640" y="1417320"/>
            <a:ext cx="3017520" cy="329184"/>
          </a:xfrm>
          <a:prstGeom prst="roundRect">
            <a:avLst>
              <a:gd name="adj" fmla="val 50000"/>
            </a:avLst>
          </a:prstGeom>
          <a:solidFill>
            <a:srgbClr val="3AB54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  PRE-TREATMENT</a:t>
            </a:r>
            <a:endParaRPr lang="en-US" sz="1200" dirty="0"/>
          </a:p>
        </p:txBody>
      </p:sp>
      <p:sp>
        <p:nvSpPr>
          <p:cNvPr id="5" name="ph1"/>
          <p:cNvSpPr/>
          <p:nvPr/>
        </p:nvSpPr>
        <p:spPr>
          <a:xfrm>
            <a:off x="548640" y="1856232"/>
            <a:ext cx="3017520" cy="347472"/>
          </a:xfrm>
          <a:prstGeom prst="roundRect">
            <a:avLst>
              <a:gd name="adj" fmla="val 50000"/>
            </a:avLst>
          </a:prstGeom>
          <a:solidFill>
            <a:srgbClr val="F3F7FA"/>
          </a:solidFill>
          <a:ln w="12700">
            <a:solidFill>
              <a:srgbClr val="E1E8E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B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  VAPOUR-PHASE</a:t>
            </a:r>
            <a:endParaRPr lang="en-US" sz="1200" dirty="0"/>
          </a:p>
        </p:txBody>
      </p:sp>
      <p:sp>
        <p:nvSpPr>
          <p:cNvPr id="6" name="tag613"/>
          <p:cNvSpPr/>
          <p:nvPr/>
        </p:nvSpPr>
        <p:spPr>
          <a:xfrm>
            <a:off x="548640" y="1856232"/>
            <a:ext cx="3017520" cy="329184"/>
          </a:xfrm>
          <a:prstGeom prst="roundRect">
            <a:avLst>
              <a:gd name="adj" fmla="val 50000"/>
            </a:avLst>
          </a:prstGeom>
          <a:solidFill>
            <a:srgbClr val="0C74B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  VAPOUR-PHASE</a:t>
            </a:r>
            <a:endParaRPr lang="en-US" sz="1200" dirty="0"/>
          </a:p>
        </p:txBody>
      </p:sp>
      <p:sp>
        <p:nvSpPr>
          <p:cNvPr id="7" name="ph2"/>
          <p:cNvSpPr/>
          <p:nvPr/>
        </p:nvSpPr>
        <p:spPr>
          <a:xfrm>
            <a:off x="548640" y="2295144"/>
            <a:ext cx="3017520" cy="347472"/>
          </a:xfrm>
          <a:prstGeom prst="roundRect">
            <a:avLst>
              <a:gd name="adj" fmla="val 50000"/>
            </a:avLst>
          </a:prstGeom>
          <a:solidFill>
            <a:srgbClr val="F3F7FA"/>
          </a:solidFill>
          <a:ln w="12700">
            <a:solidFill>
              <a:srgbClr val="E1E8E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B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  POST-TREATMENT</a:t>
            </a:r>
            <a:endParaRPr lang="en-US" sz="1200" dirty="0"/>
          </a:p>
        </p:txBody>
      </p:sp>
      <p:sp>
        <p:nvSpPr>
          <p:cNvPr id="8" name="tag614"/>
          <p:cNvSpPr/>
          <p:nvPr/>
        </p:nvSpPr>
        <p:spPr>
          <a:xfrm>
            <a:off x="548640" y="2295144"/>
            <a:ext cx="3017520" cy="329184"/>
          </a:xfrm>
          <a:prstGeom prst="roundRect">
            <a:avLst>
              <a:gd name="adj" fmla="val 50000"/>
            </a:avLst>
          </a:prstGeom>
          <a:solidFill>
            <a:srgbClr val="3AB54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  POST-TREATMENT</a:t>
            </a:r>
            <a:endParaRPr lang="en-US" sz="1200" dirty="0"/>
          </a:p>
        </p:txBody>
      </p:sp>
      <p:sp>
        <p:nvSpPr>
          <p:cNvPr id="9" name="s615"/>
          <p:cNvSpPr/>
          <p:nvPr/>
        </p:nvSpPr>
        <p:spPr>
          <a:xfrm>
            <a:off x="4937760" y="1691640"/>
            <a:ext cx="1280160" cy="3611880"/>
          </a:xfrm>
          <a:prstGeom prst="roundRect">
            <a:avLst>
              <a:gd name="adj" fmla="val 50000"/>
            </a:avLst>
          </a:prstGeom>
          <a:solidFill>
            <a:srgbClr val="EEF2F6"/>
          </a:solidFill>
          <a:ln w="25400">
            <a:solidFill>
              <a:srgbClr val="0C74BC"/>
            </a:solidFill>
            <a:prstDash val="solid"/>
          </a:ln>
        </p:spPr>
      </p:sp>
      <p:sp>
        <p:nvSpPr>
          <p:cNvPr id="10" name="s616"/>
          <p:cNvSpPr/>
          <p:nvPr/>
        </p:nvSpPr>
        <p:spPr>
          <a:xfrm>
            <a:off x="5029200" y="2103120"/>
            <a:ext cx="1097280" cy="685800"/>
          </a:xfrm>
          <a:prstGeom prst="rect">
            <a:avLst/>
          </a:prstGeom>
          <a:solidFill>
            <a:srgbClr val="C9B9A3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11" name="s617"/>
          <p:cNvSpPr/>
          <p:nvPr/>
        </p:nvSpPr>
        <p:spPr>
          <a:xfrm>
            <a:off x="5029200" y="2103120"/>
            <a:ext cx="219456" cy="685800"/>
          </a:xfrm>
          <a:prstGeom prst="line">
            <a:avLst/>
          </a:prstGeom>
          <a:noFill/>
          <a:ln w="9525">
            <a:solidFill>
              <a:srgbClr val="9C8A70"/>
            </a:solidFill>
            <a:prstDash val="solid"/>
          </a:ln>
        </p:spPr>
      </p:sp>
      <p:sp>
        <p:nvSpPr>
          <p:cNvPr id="12" name="s618"/>
          <p:cNvSpPr/>
          <p:nvPr/>
        </p:nvSpPr>
        <p:spPr>
          <a:xfrm>
            <a:off x="5248656" y="2103120"/>
            <a:ext cx="219456" cy="685800"/>
          </a:xfrm>
          <a:prstGeom prst="line">
            <a:avLst/>
          </a:prstGeom>
          <a:noFill/>
          <a:ln w="9525">
            <a:solidFill>
              <a:srgbClr val="9C8A70"/>
            </a:solidFill>
            <a:prstDash val="solid"/>
          </a:ln>
        </p:spPr>
      </p:sp>
      <p:sp>
        <p:nvSpPr>
          <p:cNvPr id="13" name="s619"/>
          <p:cNvSpPr/>
          <p:nvPr/>
        </p:nvSpPr>
        <p:spPr>
          <a:xfrm>
            <a:off x="5468112" y="2103120"/>
            <a:ext cx="219456" cy="685800"/>
          </a:xfrm>
          <a:prstGeom prst="line">
            <a:avLst/>
          </a:prstGeom>
          <a:noFill/>
          <a:ln w="9525">
            <a:solidFill>
              <a:srgbClr val="9C8A70"/>
            </a:solidFill>
            <a:prstDash val="solid"/>
          </a:ln>
        </p:spPr>
      </p:sp>
      <p:sp>
        <p:nvSpPr>
          <p:cNvPr id="14" name="s620"/>
          <p:cNvSpPr/>
          <p:nvPr/>
        </p:nvSpPr>
        <p:spPr>
          <a:xfrm>
            <a:off x="5687568" y="2103120"/>
            <a:ext cx="219456" cy="685800"/>
          </a:xfrm>
          <a:prstGeom prst="line">
            <a:avLst/>
          </a:prstGeom>
          <a:noFill/>
          <a:ln w="9525">
            <a:solidFill>
              <a:srgbClr val="9C8A70"/>
            </a:solidFill>
            <a:prstDash val="solid"/>
          </a:ln>
        </p:spPr>
      </p:sp>
      <p:sp>
        <p:nvSpPr>
          <p:cNvPr id="15" name="s621"/>
          <p:cNvSpPr/>
          <p:nvPr/>
        </p:nvSpPr>
        <p:spPr>
          <a:xfrm>
            <a:off x="5907024" y="2103120"/>
            <a:ext cx="219456" cy="685800"/>
          </a:xfrm>
          <a:prstGeom prst="line">
            <a:avLst/>
          </a:prstGeom>
          <a:noFill/>
          <a:ln w="9525">
            <a:solidFill>
              <a:srgbClr val="9C8A70"/>
            </a:solidFill>
            <a:prstDash val="solid"/>
          </a:ln>
        </p:spPr>
      </p:sp>
      <p:sp>
        <p:nvSpPr>
          <p:cNvPr id="16" name="s622"/>
          <p:cNvSpPr/>
          <p:nvPr/>
        </p:nvSpPr>
        <p:spPr>
          <a:xfrm>
            <a:off x="5029200" y="2103120"/>
            <a:ext cx="1097280" cy="685800"/>
          </a:xfrm>
          <a:prstGeom prst="rect">
            <a:avLst/>
          </a:prstGeom>
          <a:solidFill>
            <a:srgbClr val="7A5C3E">
              <a:alpha val="85000"/>
            </a:srgbClr>
          </a:solidFill>
          <a:ln w="12700">
            <a:solidFill>
              <a:srgbClr val="5C4630"/>
            </a:solidFill>
            <a:prstDash val="solid"/>
          </a:ln>
        </p:spPr>
      </p:sp>
      <p:sp>
        <p:nvSpPr>
          <p:cNvPr id="17" name="s623"/>
          <p:cNvSpPr/>
          <p:nvPr/>
        </p:nvSpPr>
        <p:spPr>
          <a:xfrm>
            <a:off x="4974336" y="2066544"/>
            <a:ext cx="1207008" cy="758952"/>
          </a:xfrm>
          <a:prstGeom prst="rect">
            <a:avLst/>
          </a:prstGeom>
          <a:solidFill>
            <a:srgbClr val="3AB54A">
              <a:alpha val="30000"/>
            </a:srgbClr>
          </a:solidFill>
          <a:ln w="31750">
            <a:solidFill>
              <a:srgbClr val="3AB54A"/>
            </a:solidFill>
            <a:prstDash val="solid"/>
          </a:ln>
        </p:spPr>
      </p:sp>
      <p:sp>
        <p:nvSpPr>
          <p:cNvPr id="18" name="s624"/>
          <p:cNvSpPr/>
          <p:nvPr/>
        </p:nvSpPr>
        <p:spPr>
          <a:xfrm>
            <a:off x="4956048" y="2057400"/>
            <a:ext cx="1243584" cy="777240"/>
          </a:xfrm>
          <a:prstGeom prst="rect">
            <a:avLst/>
          </a:prstGeom>
          <a:solidFill>
            <a:srgbClr val="FF8C1A">
              <a:alpha val="55000"/>
            </a:srgbClr>
          </a:solidFill>
          <a:ln w="25400">
            <a:solidFill>
              <a:srgbClr val="FF8C1A"/>
            </a:solidFill>
            <a:prstDash val="solid"/>
          </a:ln>
        </p:spPr>
      </p:sp>
      <p:sp>
        <p:nvSpPr>
          <p:cNvPr id="19" name="s625"/>
          <p:cNvSpPr/>
          <p:nvPr/>
        </p:nvSpPr>
        <p:spPr>
          <a:xfrm>
            <a:off x="5029200" y="3063240"/>
            <a:ext cx="1097280" cy="685800"/>
          </a:xfrm>
          <a:prstGeom prst="rect">
            <a:avLst/>
          </a:prstGeom>
          <a:solidFill>
            <a:srgbClr val="C9B9A3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20" name="s626"/>
          <p:cNvSpPr/>
          <p:nvPr/>
        </p:nvSpPr>
        <p:spPr>
          <a:xfrm>
            <a:off x="5029200" y="3063240"/>
            <a:ext cx="219456" cy="685800"/>
          </a:xfrm>
          <a:prstGeom prst="line">
            <a:avLst/>
          </a:prstGeom>
          <a:noFill/>
          <a:ln w="9525">
            <a:solidFill>
              <a:srgbClr val="9C8A70"/>
            </a:solidFill>
            <a:prstDash val="solid"/>
          </a:ln>
        </p:spPr>
      </p:sp>
      <p:sp>
        <p:nvSpPr>
          <p:cNvPr id="21" name="s627"/>
          <p:cNvSpPr/>
          <p:nvPr/>
        </p:nvSpPr>
        <p:spPr>
          <a:xfrm>
            <a:off x="5248656" y="3063240"/>
            <a:ext cx="219456" cy="685800"/>
          </a:xfrm>
          <a:prstGeom prst="line">
            <a:avLst/>
          </a:prstGeom>
          <a:noFill/>
          <a:ln w="9525">
            <a:solidFill>
              <a:srgbClr val="9C8A70"/>
            </a:solidFill>
            <a:prstDash val="solid"/>
          </a:ln>
        </p:spPr>
      </p:sp>
      <p:sp>
        <p:nvSpPr>
          <p:cNvPr id="22" name="s628"/>
          <p:cNvSpPr/>
          <p:nvPr/>
        </p:nvSpPr>
        <p:spPr>
          <a:xfrm>
            <a:off x="5468112" y="3063240"/>
            <a:ext cx="219456" cy="685800"/>
          </a:xfrm>
          <a:prstGeom prst="line">
            <a:avLst/>
          </a:prstGeom>
          <a:noFill/>
          <a:ln w="9525">
            <a:solidFill>
              <a:srgbClr val="9C8A70"/>
            </a:solidFill>
            <a:prstDash val="solid"/>
          </a:ln>
        </p:spPr>
      </p:sp>
      <p:sp>
        <p:nvSpPr>
          <p:cNvPr id="23" name="s629"/>
          <p:cNvSpPr/>
          <p:nvPr/>
        </p:nvSpPr>
        <p:spPr>
          <a:xfrm>
            <a:off x="5687568" y="3063240"/>
            <a:ext cx="219456" cy="685800"/>
          </a:xfrm>
          <a:prstGeom prst="line">
            <a:avLst/>
          </a:prstGeom>
          <a:noFill/>
          <a:ln w="9525">
            <a:solidFill>
              <a:srgbClr val="9C8A70"/>
            </a:solidFill>
            <a:prstDash val="solid"/>
          </a:ln>
        </p:spPr>
      </p:sp>
      <p:sp>
        <p:nvSpPr>
          <p:cNvPr id="24" name="s630"/>
          <p:cNvSpPr/>
          <p:nvPr/>
        </p:nvSpPr>
        <p:spPr>
          <a:xfrm>
            <a:off x="5907024" y="3063240"/>
            <a:ext cx="219456" cy="685800"/>
          </a:xfrm>
          <a:prstGeom prst="line">
            <a:avLst/>
          </a:prstGeom>
          <a:noFill/>
          <a:ln w="9525">
            <a:solidFill>
              <a:srgbClr val="9C8A70"/>
            </a:solidFill>
            <a:prstDash val="solid"/>
          </a:ln>
        </p:spPr>
      </p:sp>
      <p:sp>
        <p:nvSpPr>
          <p:cNvPr id="25" name="s631"/>
          <p:cNvSpPr/>
          <p:nvPr/>
        </p:nvSpPr>
        <p:spPr>
          <a:xfrm>
            <a:off x="5029200" y="3063240"/>
            <a:ext cx="1097280" cy="685800"/>
          </a:xfrm>
          <a:prstGeom prst="rect">
            <a:avLst/>
          </a:prstGeom>
          <a:solidFill>
            <a:srgbClr val="7A5C3E">
              <a:alpha val="85000"/>
            </a:srgbClr>
          </a:solidFill>
          <a:ln w="12700">
            <a:solidFill>
              <a:srgbClr val="5C4630"/>
            </a:solidFill>
            <a:prstDash val="solid"/>
          </a:ln>
        </p:spPr>
      </p:sp>
      <p:sp>
        <p:nvSpPr>
          <p:cNvPr id="26" name="s632"/>
          <p:cNvSpPr/>
          <p:nvPr/>
        </p:nvSpPr>
        <p:spPr>
          <a:xfrm>
            <a:off x="4974336" y="3026664"/>
            <a:ext cx="1207008" cy="758952"/>
          </a:xfrm>
          <a:prstGeom prst="rect">
            <a:avLst/>
          </a:prstGeom>
          <a:solidFill>
            <a:srgbClr val="3AB54A">
              <a:alpha val="30000"/>
            </a:srgbClr>
          </a:solidFill>
          <a:ln w="31750">
            <a:solidFill>
              <a:srgbClr val="3AB54A"/>
            </a:solidFill>
            <a:prstDash val="solid"/>
          </a:ln>
        </p:spPr>
      </p:sp>
      <p:sp>
        <p:nvSpPr>
          <p:cNvPr id="27" name="s633"/>
          <p:cNvSpPr/>
          <p:nvPr/>
        </p:nvSpPr>
        <p:spPr>
          <a:xfrm>
            <a:off x="4956048" y="3017520"/>
            <a:ext cx="1243584" cy="777240"/>
          </a:xfrm>
          <a:prstGeom prst="rect">
            <a:avLst/>
          </a:prstGeom>
          <a:solidFill>
            <a:srgbClr val="FF8C1A">
              <a:alpha val="55000"/>
            </a:srgbClr>
          </a:solidFill>
          <a:ln w="25400">
            <a:solidFill>
              <a:srgbClr val="FF8C1A"/>
            </a:solidFill>
            <a:prstDash val="solid"/>
          </a:ln>
        </p:spPr>
      </p:sp>
      <p:sp>
        <p:nvSpPr>
          <p:cNvPr id="28" name="s634"/>
          <p:cNvSpPr/>
          <p:nvPr/>
        </p:nvSpPr>
        <p:spPr>
          <a:xfrm>
            <a:off x="5029200" y="4023360"/>
            <a:ext cx="1097280" cy="685800"/>
          </a:xfrm>
          <a:prstGeom prst="rect">
            <a:avLst/>
          </a:prstGeom>
          <a:solidFill>
            <a:srgbClr val="C9B9A3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29" name="s635"/>
          <p:cNvSpPr/>
          <p:nvPr/>
        </p:nvSpPr>
        <p:spPr>
          <a:xfrm>
            <a:off x="5029200" y="4023360"/>
            <a:ext cx="219456" cy="685800"/>
          </a:xfrm>
          <a:prstGeom prst="line">
            <a:avLst/>
          </a:prstGeom>
          <a:noFill/>
          <a:ln w="9525">
            <a:solidFill>
              <a:srgbClr val="9C8A70"/>
            </a:solidFill>
            <a:prstDash val="solid"/>
          </a:ln>
        </p:spPr>
      </p:sp>
      <p:sp>
        <p:nvSpPr>
          <p:cNvPr id="30" name="s636"/>
          <p:cNvSpPr/>
          <p:nvPr/>
        </p:nvSpPr>
        <p:spPr>
          <a:xfrm>
            <a:off x="5248656" y="4023360"/>
            <a:ext cx="219456" cy="685800"/>
          </a:xfrm>
          <a:prstGeom prst="line">
            <a:avLst/>
          </a:prstGeom>
          <a:noFill/>
          <a:ln w="9525">
            <a:solidFill>
              <a:srgbClr val="9C8A70"/>
            </a:solidFill>
            <a:prstDash val="solid"/>
          </a:ln>
        </p:spPr>
      </p:sp>
      <p:sp>
        <p:nvSpPr>
          <p:cNvPr id="31" name="s637"/>
          <p:cNvSpPr/>
          <p:nvPr/>
        </p:nvSpPr>
        <p:spPr>
          <a:xfrm>
            <a:off x="5468112" y="4023360"/>
            <a:ext cx="219456" cy="685800"/>
          </a:xfrm>
          <a:prstGeom prst="line">
            <a:avLst/>
          </a:prstGeom>
          <a:noFill/>
          <a:ln w="9525">
            <a:solidFill>
              <a:srgbClr val="9C8A70"/>
            </a:solidFill>
            <a:prstDash val="solid"/>
          </a:ln>
        </p:spPr>
      </p:sp>
      <p:sp>
        <p:nvSpPr>
          <p:cNvPr id="32" name="s638"/>
          <p:cNvSpPr/>
          <p:nvPr/>
        </p:nvSpPr>
        <p:spPr>
          <a:xfrm>
            <a:off x="5687568" y="4023360"/>
            <a:ext cx="219456" cy="685800"/>
          </a:xfrm>
          <a:prstGeom prst="line">
            <a:avLst/>
          </a:prstGeom>
          <a:noFill/>
          <a:ln w="9525">
            <a:solidFill>
              <a:srgbClr val="9C8A70"/>
            </a:solidFill>
            <a:prstDash val="solid"/>
          </a:ln>
        </p:spPr>
      </p:sp>
      <p:sp>
        <p:nvSpPr>
          <p:cNvPr id="33" name="s639"/>
          <p:cNvSpPr/>
          <p:nvPr/>
        </p:nvSpPr>
        <p:spPr>
          <a:xfrm>
            <a:off x="5907024" y="4023360"/>
            <a:ext cx="219456" cy="685800"/>
          </a:xfrm>
          <a:prstGeom prst="line">
            <a:avLst/>
          </a:prstGeom>
          <a:noFill/>
          <a:ln w="9525">
            <a:solidFill>
              <a:srgbClr val="9C8A70"/>
            </a:solidFill>
            <a:prstDash val="solid"/>
          </a:ln>
        </p:spPr>
      </p:sp>
      <p:sp>
        <p:nvSpPr>
          <p:cNvPr id="34" name="s640"/>
          <p:cNvSpPr/>
          <p:nvPr/>
        </p:nvSpPr>
        <p:spPr>
          <a:xfrm>
            <a:off x="5029200" y="4023360"/>
            <a:ext cx="1097280" cy="685800"/>
          </a:xfrm>
          <a:prstGeom prst="rect">
            <a:avLst/>
          </a:prstGeom>
          <a:solidFill>
            <a:srgbClr val="7A5C3E">
              <a:alpha val="85000"/>
            </a:srgbClr>
          </a:solidFill>
          <a:ln w="12700">
            <a:solidFill>
              <a:srgbClr val="5C4630"/>
            </a:solidFill>
            <a:prstDash val="solid"/>
          </a:ln>
        </p:spPr>
      </p:sp>
      <p:sp>
        <p:nvSpPr>
          <p:cNvPr id="35" name="s641"/>
          <p:cNvSpPr/>
          <p:nvPr/>
        </p:nvSpPr>
        <p:spPr>
          <a:xfrm>
            <a:off x="4974336" y="3986784"/>
            <a:ext cx="1207008" cy="758952"/>
          </a:xfrm>
          <a:prstGeom prst="rect">
            <a:avLst/>
          </a:prstGeom>
          <a:solidFill>
            <a:srgbClr val="3AB54A">
              <a:alpha val="30000"/>
            </a:srgbClr>
          </a:solidFill>
          <a:ln w="31750">
            <a:solidFill>
              <a:srgbClr val="3AB54A"/>
            </a:solidFill>
            <a:prstDash val="solid"/>
          </a:ln>
        </p:spPr>
      </p:sp>
      <p:sp>
        <p:nvSpPr>
          <p:cNvPr id="36" name="s642"/>
          <p:cNvSpPr/>
          <p:nvPr/>
        </p:nvSpPr>
        <p:spPr>
          <a:xfrm>
            <a:off x="4956048" y="3977640"/>
            <a:ext cx="1243584" cy="777240"/>
          </a:xfrm>
          <a:prstGeom prst="rect">
            <a:avLst/>
          </a:prstGeom>
          <a:solidFill>
            <a:srgbClr val="FF8C1A">
              <a:alpha val="55000"/>
            </a:srgbClr>
          </a:solidFill>
          <a:ln w="25400">
            <a:solidFill>
              <a:srgbClr val="FF8C1A"/>
            </a:solidFill>
            <a:prstDash val="solid"/>
          </a:ln>
        </p:spPr>
      </p:sp>
      <p:sp>
        <p:nvSpPr>
          <p:cNvPr id="37" name="t643"/>
          <p:cNvSpPr txBox="1"/>
          <p:nvPr/>
        </p:nvSpPr>
        <p:spPr>
          <a:xfrm>
            <a:off x="4663440" y="532180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B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Packed column</a:t>
            </a:r>
            <a:endParaRPr lang="en-US" sz="1100" dirty="0"/>
          </a:p>
        </p:txBody>
      </p:sp>
      <p:sp>
        <p:nvSpPr>
          <p:cNvPr id="38" name="s644"/>
          <p:cNvSpPr/>
          <p:nvPr/>
        </p:nvSpPr>
        <p:spPr>
          <a:xfrm>
            <a:off x="3931920" y="1417320"/>
            <a:ext cx="1645920" cy="0"/>
          </a:xfrm>
          <a:prstGeom prst="line">
            <a:avLst/>
          </a:prstGeom>
          <a:noFill/>
          <a:ln w="50800">
            <a:solidFill>
              <a:srgbClr val="3AB54A"/>
            </a:solidFill>
            <a:prstDash val="solid"/>
          </a:ln>
        </p:spPr>
      </p:sp>
      <p:sp>
        <p:nvSpPr>
          <p:cNvPr id="39" name="s645"/>
          <p:cNvSpPr/>
          <p:nvPr/>
        </p:nvSpPr>
        <p:spPr>
          <a:xfrm>
            <a:off x="5577840" y="1417320"/>
            <a:ext cx="0" cy="274320"/>
          </a:xfrm>
          <a:prstGeom prst="line">
            <a:avLst/>
          </a:prstGeom>
          <a:noFill/>
          <a:ln w="50800">
            <a:solidFill>
              <a:srgbClr val="3AB54A"/>
            </a:solidFill>
            <a:prstDash val="solid"/>
            <a:tailEnd type="triangle"/>
          </a:ln>
        </p:spPr>
      </p:sp>
      <p:sp>
        <p:nvSpPr>
          <p:cNvPr id="40" name="t646"/>
          <p:cNvSpPr txBox="1"/>
          <p:nvPr/>
        </p:nvSpPr>
        <p:spPr>
          <a:xfrm>
            <a:off x="3657600" y="1115568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2E8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PRE-TREAT CHEMISTRY</a:t>
            </a:r>
            <a:endParaRPr lang="en-US" sz="1200" dirty="0"/>
          </a:p>
        </p:txBody>
      </p:sp>
      <p:sp>
        <p:nvSpPr>
          <p:cNvPr id="41" name="t647"/>
          <p:cNvSpPr txBox="1"/>
          <p:nvPr/>
        </p:nvSpPr>
        <p:spPr>
          <a:xfrm>
            <a:off x="3657600" y="1115568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2E8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OXIDISER SOLUTION</a:t>
            </a:r>
            <a:endParaRPr lang="en-US" sz="1200" dirty="0"/>
          </a:p>
        </p:txBody>
      </p:sp>
      <p:sp>
        <p:nvSpPr>
          <p:cNvPr id="42" name="s648"/>
          <p:cNvSpPr/>
          <p:nvPr/>
        </p:nvSpPr>
        <p:spPr>
          <a:xfrm>
            <a:off x="3840480" y="4846320"/>
            <a:ext cx="1097280" cy="0"/>
          </a:xfrm>
          <a:prstGeom prst="line">
            <a:avLst/>
          </a:prstGeom>
          <a:noFill/>
          <a:ln w="50800">
            <a:solidFill>
              <a:srgbClr val="0C74BC"/>
            </a:solidFill>
            <a:prstDash val="solid"/>
            <a:tailEnd type="triangle"/>
          </a:ln>
        </p:spPr>
      </p:sp>
      <p:sp>
        <p:nvSpPr>
          <p:cNvPr id="43" name="t649"/>
          <p:cNvSpPr txBox="1"/>
          <p:nvPr/>
        </p:nvSpPr>
        <p:spPr>
          <a:xfrm>
            <a:off x="3840480" y="455371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C74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STEAM</a:t>
            </a:r>
            <a:endParaRPr lang="en-US" sz="1200" dirty="0"/>
          </a:p>
        </p:txBody>
      </p:sp>
      <p:sp>
        <p:nvSpPr>
          <p:cNvPr id="44" name="s650"/>
          <p:cNvSpPr/>
          <p:nvPr/>
        </p:nvSpPr>
        <p:spPr>
          <a:xfrm flipV="1">
            <a:off x="5897880" y="1463040"/>
            <a:ext cx="0" cy="274320"/>
          </a:xfrm>
          <a:prstGeom prst="line">
            <a:avLst/>
          </a:prstGeom>
          <a:noFill/>
          <a:ln w="38100">
            <a:solidFill>
              <a:srgbClr val="94A3B8"/>
            </a:solidFill>
            <a:prstDash val="solid"/>
          </a:ln>
        </p:spPr>
      </p:sp>
      <p:sp>
        <p:nvSpPr>
          <p:cNvPr id="45" name="s651"/>
          <p:cNvSpPr/>
          <p:nvPr/>
        </p:nvSpPr>
        <p:spPr>
          <a:xfrm>
            <a:off x="5897880" y="1463040"/>
            <a:ext cx="2697480" cy="0"/>
          </a:xfrm>
          <a:prstGeom prst="line">
            <a:avLst/>
          </a:prstGeom>
          <a:noFill/>
          <a:ln w="38100">
            <a:solidFill>
              <a:srgbClr val="94A3B8"/>
            </a:solidFill>
            <a:prstDash val="solid"/>
          </a:ln>
        </p:spPr>
      </p:sp>
      <p:sp>
        <p:nvSpPr>
          <p:cNvPr id="46" name="s652"/>
          <p:cNvSpPr/>
          <p:nvPr/>
        </p:nvSpPr>
        <p:spPr>
          <a:xfrm>
            <a:off x="8595360" y="1463040"/>
            <a:ext cx="0" cy="640080"/>
          </a:xfrm>
          <a:prstGeom prst="line">
            <a:avLst/>
          </a:prstGeom>
          <a:noFill/>
          <a:ln w="38100">
            <a:solidFill>
              <a:srgbClr val="94A3B8"/>
            </a:solidFill>
            <a:prstDash val="solid"/>
          </a:ln>
        </p:spPr>
      </p:sp>
      <p:sp>
        <p:nvSpPr>
          <p:cNvPr id="47" name="s653"/>
          <p:cNvSpPr/>
          <p:nvPr/>
        </p:nvSpPr>
        <p:spPr>
          <a:xfrm>
            <a:off x="8595360" y="2103120"/>
            <a:ext cx="182880" cy="0"/>
          </a:xfrm>
          <a:prstGeom prst="line">
            <a:avLst/>
          </a:prstGeom>
          <a:noFill/>
          <a:ln w="38100">
            <a:solidFill>
              <a:srgbClr val="94A3B8"/>
            </a:solidFill>
            <a:prstDash val="solid"/>
            <a:tailEnd type="triangle"/>
          </a:ln>
        </p:spPr>
      </p:sp>
      <p:sp>
        <p:nvSpPr>
          <p:cNvPr id="48" name="s654"/>
          <p:cNvSpPr/>
          <p:nvPr/>
        </p:nvSpPr>
        <p:spPr>
          <a:xfrm>
            <a:off x="8778240" y="1737360"/>
            <a:ext cx="182880" cy="1188720"/>
          </a:xfrm>
          <a:prstGeom prst="rect">
            <a:avLst/>
          </a:prstGeom>
          <a:solidFill>
            <a:srgbClr val="B4C2D3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49" name="s655"/>
          <p:cNvSpPr/>
          <p:nvPr/>
        </p:nvSpPr>
        <p:spPr>
          <a:xfrm>
            <a:off x="8650224" y="1234440"/>
            <a:ext cx="438912" cy="548640"/>
          </a:xfrm>
          <a:prstGeom prst="ellipse">
            <a:avLst/>
          </a:prstGeom>
          <a:solidFill>
            <a:srgbClr val="F7C548"/>
          </a:solidFill>
          <a:ln/>
        </p:spPr>
      </p:sp>
      <p:sp>
        <p:nvSpPr>
          <p:cNvPr id="50" name="s656"/>
          <p:cNvSpPr/>
          <p:nvPr/>
        </p:nvSpPr>
        <p:spPr>
          <a:xfrm>
            <a:off x="8741664" y="1444752"/>
            <a:ext cx="256032" cy="329184"/>
          </a:xfrm>
          <a:prstGeom prst="ellipse">
            <a:avLst/>
          </a:prstGeom>
          <a:solidFill>
            <a:srgbClr val="FF8C1A"/>
          </a:solidFill>
          <a:ln/>
        </p:spPr>
      </p:sp>
      <p:sp>
        <p:nvSpPr>
          <p:cNvPr id="51" name="t657"/>
          <p:cNvSpPr txBox="1"/>
          <p:nvPr/>
        </p:nvSpPr>
        <p:spPr>
          <a:xfrm>
            <a:off x="8321040" y="297180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B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FLARE /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5B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CLOSED VENT</a:t>
            </a:r>
            <a:endParaRPr lang="en-US" sz="1100" dirty="0"/>
          </a:p>
        </p:txBody>
      </p:sp>
      <p:sp>
        <p:nvSpPr>
          <p:cNvPr id="52" name="tag658"/>
          <p:cNvSpPr/>
          <p:nvPr/>
        </p:nvSpPr>
        <p:spPr>
          <a:xfrm>
            <a:off x="6400800" y="2286000"/>
            <a:ext cx="1828800" cy="329184"/>
          </a:xfrm>
          <a:prstGeom prst="roundRect">
            <a:avLst>
              <a:gd name="adj" fmla="val 50000"/>
            </a:avLst>
          </a:prstGeom>
          <a:solidFill>
            <a:srgbClr val="3AB54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Packing pre-wetted</a:t>
            </a:r>
            <a:endParaRPr lang="en-US" sz="1200" dirty="0"/>
          </a:p>
        </p:txBody>
      </p:sp>
      <p:sp>
        <p:nvSpPr>
          <p:cNvPr id="53" name="tag659"/>
          <p:cNvSpPr/>
          <p:nvPr/>
        </p:nvSpPr>
        <p:spPr>
          <a:xfrm>
            <a:off x="6400800" y="3246120"/>
            <a:ext cx="1828800" cy="329184"/>
          </a:xfrm>
          <a:prstGeom prst="roundRect">
            <a:avLst>
              <a:gd name="adj" fmla="val 50000"/>
            </a:avLst>
          </a:prstGeom>
          <a:solidFill>
            <a:srgbClr val="3AB54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Packing pre-wetted</a:t>
            </a:r>
            <a:endParaRPr lang="en-US" sz="1200" dirty="0"/>
          </a:p>
        </p:txBody>
      </p:sp>
      <p:sp>
        <p:nvSpPr>
          <p:cNvPr id="54" name="tag660"/>
          <p:cNvSpPr/>
          <p:nvPr/>
        </p:nvSpPr>
        <p:spPr>
          <a:xfrm>
            <a:off x="6400800" y="4206240"/>
            <a:ext cx="1828800" cy="329184"/>
          </a:xfrm>
          <a:prstGeom prst="roundRect">
            <a:avLst>
              <a:gd name="adj" fmla="val 50000"/>
            </a:avLst>
          </a:prstGeom>
          <a:solidFill>
            <a:srgbClr val="3AB54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Packing pre-wetted</a:t>
            </a:r>
            <a:endParaRPr lang="en-US" sz="1200" dirty="0"/>
          </a:p>
        </p:txBody>
      </p:sp>
      <p:sp>
        <p:nvSpPr>
          <p:cNvPr id="55" name="tag661"/>
          <p:cNvSpPr/>
          <p:nvPr/>
        </p:nvSpPr>
        <p:spPr>
          <a:xfrm>
            <a:off x="6400800" y="2286000"/>
            <a:ext cx="1188720" cy="329184"/>
          </a:xfrm>
          <a:prstGeom prst="roundRect">
            <a:avLst>
              <a:gd name="adj" fmla="val 50000"/>
            </a:avLst>
          </a:prstGeom>
          <a:solidFill>
            <a:srgbClr val="E67E2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Benzene</a:t>
            </a:r>
            <a:endParaRPr lang="en-US" sz="1200" dirty="0"/>
          </a:p>
        </p:txBody>
      </p:sp>
      <p:sp>
        <p:nvSpPr>
          <p:cNvPr id="56" name="tag662"/>
          <p:cNvSpPr/>
          <p:nvPr/>
        </p:nvSpPr>
        <p:spPr>
          <a:xfrm>
            <a:off x="6400800" y="3246120"/>
            <a:ext cx="1188720" cy="329184"/>
          </a:xfrm>
          <a:prstGeom prst="roundRect">
            <a:avLst>
              <a:gd name="adj" fmla="val 50000"/>
            </a:avLst>
          </a:prstGeom>
          <a:solidFill>
            <a:srgbClr val="D4A017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LEL</a:t>
            </a:r>
            <a:endParaRPr lang="en-US" sz="1200" dirty="0"/>
          </a:p>
        </p:txBody>
      </p:sp>
      <p:sp>
        <p:nvSpPr>
          <p:cNvPr id="57" name="tag663"/>
          <p:cNvSpPr/>
          <p:nvPr/>
        </p:nvSpPr>
        <p:spPr>
          <a:xfrm>
            <a:off x="6400800" y="2286000"/>
            <a:ext cx="1828800" cy="329184"/>
          </a:xfrm>
          <a:prstGeom prst="roundRect">
            <a:avLst>
              <a:gd name="adj" fmla="val 50000"/>
            </a:avLst>
          </a:prstGeom>
          <a:solidFill>
            <a:srgbClr val="A0522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FeS → iron oxide</a:t>
            </a:r>
            <a:endParaRPr lang="en-US" sz="1200" dirty="0"/>
          </a:p>
        </p:txBody>
      </p:sp>
      <p:sp>
        <p:nvSpPr>
          <p:cNvPr id="58" name="tag664"/>
          <p:cNvSpPr/>
          <p:nvPr/>
        </p:nvSpPr>
        <p:spPr>
          <a:xfrm>
            <a:off x="6400800" y="3246120"/>
            <a:ext cx="1828800" cy="329184"/>
          </a:xfrm>
          <a:prstGeom prst="roundRect">
            <a:avLst>
              <a:gd name="adj" fmla="val 50000"/>
            </a:avLst>
          </a:prstGeom>
          <a:solidFill>
            <a:srgbClr val="A0522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FeS → iron oxide</a:t>
            </a:r>
            <a:endParaRPr lang="en-US" sz="1200" dirty="0"/>
          </a:p>
        </p:txBody>
      </p:sp>
      <p:sp>
        <p:nvSpPr>
          <p:cNvPr id="59" name="tag665"/>
          <p:cNvSpPr/>
          <p:nvPr/>
        </p:nvSpPr>
        <p:spPr>
          <a:xfrm>
            <a:off x="6400800" y="4206240"/>
            <a:ext cx="1828800" cy="329184"/>
          </a:xfrm>
          <a:prstGeom prst="roundRect">
            <a:avLst>
              <a:gd name="adj" fmla="val 50000"/>
            </a:avLst>
          </a:prstGeom>
          <a:solidFill>
            <a:srgbClr val="A0522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FeS → iron oxide</a:t>
            </a:r>
            <a:endParaRPr lang="en-US" sz="1200" dirty="0"/>
          </a:p>
        </p:txBody>
      </p:sp>
      <p:sp>
        <p:nvSpPr>
          <p:cNvPr id="60" name="s666"/>
          <p:cNvSpPr/>
          <p:nvPr/>
        </p:nvSpPr>
        <p:spPr>
          <a:xfrm>
            <a:off x="6400800" y="4617720"/>
            <a:ext cx="566928" cy="502920"/>
          </a:xfrm>
          <a:prstGeom prst="triangle">
            <a:avLst/>
          </a:prstGeom>
          <a:solidFill>
            <a:srgbClr val="F7C548"/>
          </a:solidFill>
          <a:ln w="19050">
            <a:solidFill>
              <a:srgbClr val="FF8C1A"/>
            </a:solidFill>
            <a:prstDash val="solid"/>
          </a:ln>
        </p:spPr>
      </p:sp>
      <p:sp>
        <p:nvSpPr>
          <p:cNvPr id="61" name="t667"/>
          <p:cNvSpPr txBox="1"/>
          <p:nvPr/>
        </p:nvSpPr>
        <p:spPr>
          <a:xfrm>
            <a:off x="6400800" y="4709160"/>
            <a:ext cx="566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1800" dirty="0"/>
          </a:p>
        </p:txBody>
      </p:sp>
      <p:sp>
        <p:nvSpPr>
          <p:cNvPr id="62" name="t668"/>
          <p:cNvSpPr txBox="1"/>
          <p:nvPr/>
        </p:nvSpPr>
        <p:spPr>
          <a:xfrm>
            <a:off x="7086600" y="4572000"/>
            <a:ext cx="1965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Pyrophoric FeS left on the packing – ignites in air</a:t>
            </a:r>
            <a:endParaRPr lang="en-US" sz="1300" dirty="0"/>
          </a:p>
        </p:txBody>
      </p:sp>
      <p:sp>
        <p:nvSpPr>
          <p:cNvPr id="63" name="s669"/>
          <p:cNvSpPr/>
          <p:nvPr/>
        </p:nvSpPr>
        <p:spPr>
          <a:xfrm>
            <a:off x="5577840" y="5303520"/>
            <a:ext cx="0" cy="228600"/>
          </a:xfrm>
          <a:prstGeom prst="line">
            <a:avLst/>
          </a:prstGeom>
          <a:noFill/>
          <a:ln w="38100">
            <a:solidFill>
              <a:srgbClr val="94A3B8"/>
            </a:solidFill>
            <a:prstDash val="solid"/>
          </a:ln>
        </p:spPr>
      </p:sp>
      <p:sp>
        <p:nvSpPr>
          <p:cNvPr id="64" name="s670"/>
          <p:cNvSpPr/>
          <p:nvPr/>
        </p:nvSpPr>
        <p:spPr>
          <a:xfrm>
            <a:off x="5577840" y="5532120"/>
            <a:ext cx="3200400" cy="0"/>
          </a:xfrm>
          <a:prstGeom prst="line">
            <a:avLst/>
          </a:prstGeom>
          <a:noFill/>
          <a:ln w="38100">
            <a:solidFill>
              <a:srgbClr val="94A3B8"/>
            </a:solidFill>
            <a:prstDash val="solid"/>
          </a:ln>
        </p:spPr>
      </p:sp>
      <p:sp>
        <p:nvSpPr>
          <p:cNvPr id="65" name="s671"/>
          <p:cNvSpPr/>
          <p:nvPr/>
        </p:nvSpPr>
        <p:spPr>
          <a:xfrm flipV="1">
            <a:off x="8778240" y="5074920"/>
            <a:ext cx="0" cy="457200"/>
          </a:xfrm>
          <a:prstGeom prst="line">
            <a:avLst/>
          </a:prstGeom>
          <a:noFill/>
          <a:ln w="38100">
            <a:solidFill>
              <a:srgbClr val="94A3B8"/>
            </a:solidFill>
            <a:prstDash val="solid"/>
          </a:ln>
        </p:spPr>
      </p:sp>
      <p:sp>
        <p:nvSpPr>
          <p:cNvPr id="66" name="s672"/>
          <p:cNvSpPr/>
          <p:nvPr/>
        </p:nvSpPr>
        <p:spPr>
          <a:xfrm>
            <a:off x="8778240" y="5074920"/>
            <a:ext cx="365760" cy="0"/>
          </a:xfrm>
          <a:prstGeom prst="line">
            <a:avLst/>
          </a:prstGeom>
          <a:noFill/>
          <a:ln w="38100">
            <a:solidFill>
              <a:srgbClr val="94A3B8"/>
            </a:solidFill>
            <a:prstDash val="solid"/>
            <a:tailEnd type="triangle"/>
          </a:ln>
        </p:spPr>
      </p:sp>
      <p:sp>
        <p:nvSpPr>
          <p:cNvPr id="67" name="s673"/>
          <p:cNvSpPr/>
          <p:nvPr/>
        </p:nvSpPr>
        <p:spPr>
          <a:xfrm>
            <a:off x="9144000" y="4343400"/>
            <a:ext cx="1371600" cy="1097280"/>
          </a:xfrm>
          <a:prstGeom prst="rect">
            <a:avLst/>
          </a:prstGeom>
          <a:solidFill>
            <a:srgbClr val="EEF2F6"/>
          </a:solidFill>
          <a:ln w="19050">
            <a:solidFill>
              <a:srgbClr val="94A3B8"/>
            </a:solidFill>
            <a:prstDash val="solid"/>
          </a:ln>
        </p:spPr>
      </p:sp>
      <p:sp>
        <p:nvSpPr>
          <p:cNvPr id="68" name="s674"/>
          <p:cNvSpPr/>
          <p:nvPr/>
        </p:nvSpPr>
        <p:spPr>
          <a:xfrm>
            <a:off x="9189720" y="5120640"/>
            <a:ext cx="1280160" cy="274320"/>
          </a:xfrm>
          <a:prstGeom prst="rect">
            <a:avLst/>
          </a:prstGeom>
          <a:solidFill>
            <a:srgbClr val="B8A68F"/>
          </a:solidFill>
          <a:ln/>
        </p:spPr>
      </p:sp>
      <p:sp>
        <p:nvSpPr>
          <p:cNvPr id="69" name="s675"/>
          <p:cNvSpPr/>
          <p:nvPr/>
        </p:nvSpPr>
        <p:spPr>
          <a:xfrm>
            <a:off x="9189720" y="4754880"/>
            <a:ext cx="1280160" cy="365760"/>
          </a:xfrm>
          <a:prstGeom prst="rect">
            <a:avLst/>
          </a:prstGeom>
          <a:solidFill>
            <a:srgbClr val="B8A68F"/>
          </a:solidFill>
          <a:ln/>
        </p:spPr>
      </p:sp>
      <p:sp>
        <p:nvSpPr>
          <p:cNvPr id="70" name="t676"/>
          <p:cNvSpPr txBox="1"/>
          <p:nvPr/>
        </p:nvSpPr>
        <p:spPr>
          <a:xfrm>
            <a:off x="8778240" y="546811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B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EFFLUENT TANK</a:t>
            </a:r>
            <a:endParaRPr lang="en-US" sz="1100" dirty="0"/>
          </a:p>
        </p:txBody>
      </p:sp>
      <p:sp>
        <p:nvSpPr>
          <p:cNvPr id="71" name="s677"/>
          <p:cNvSpPr/>
          <p:nvPr/>
        </p:nvSpPr>
        <p:spPr>
          <a:xfrm>
            <a:off x="548640" y="2880360"/>
            <a:ext cx="3017520" cy="1737360"/>
          </a:xfrm>
          <a:prstGeom prst="roundRect">
            <a:avLst>
              <a:gd name="adj" fmla="val 6316"/>
            </a:avLst>
          </a:prstGeom>
          <a:solidFill>
            <a:srgbClr val="F3F7FA"/>
          </a:solidFill>
          <a:ln w="12700">
            <a:solidFill>
              <a:srgbClr val="E1E8EF"/>
            </a:solidFill>
            <a:prstDash val="solid"/>
          </a:ln>
        </p:spPr>
      </p:sp>
      <p:sp>
        <p:nvSpPr>
          <p:cNvPr id="72" name="t678"/>
          <p:cNvSpPr txBox="1"/>
          <p:nvPr/>
        </p:nvSpPr>
        <p:spPr>
          <a:xfrm>
            <a:off x="731520" y="299008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2E8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 TEST AT MANWAY</a:t>
            </a:r>
            <a:endParaRPr lang="en-US" sz="1200" dirty="0"/>
          </a:p>
        </p:txBody>
      </p:sp>
      <p:sp>
        <p:nvSpPr>
          <p:cNvPr id="73" name="t679"/>
          <p:cNvSpPr txBox="1"/>
          <p:nvPr/>
        </p:nvSpPr>
        <p:spPr>
          <a:xfrm>
            <a:off x="731520" y="3383280"/>
            <a:ext cx="1005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LEL</a:t>
            </a:r>
            <a:endParaRPr lang="en-US" sz="1400" dirty="0"/>
          </a:p>
        </p:txBody>
      </p:sp>
      <p:sp>
        <p:nvSpPr>
          <p:cNvPr id="74" name="t680"/>
          <p:cNvSpPr txBox="1"/>
          <p:nvPr/>
        </p:nvSpPr>
        <p:spPr>
          <a:xfrm>
            <a:off x="1737360" y="3383280"/>
            <a:ext cx="1737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above limit</a:t>
            </a:r>
            <a:endParaRPr lang="en-US" sz="1300" dirty="0"/>
          </a:p>
        </p:txBody>
      </p:sp>
      <p:sp>
        <p:nvSpPr>
          <p:cNvPr id="75" name="t681"/>
          <p:cNvSpPr txBox="1"/>
          <p:nvPr/>
        </p:nvSpPr>
        <p:spPr>
          <a:xfrm>
            <a:off x="1737360" y="3383280"/>
            <a:ext cx="1737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8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OK</a:t>
            </a:r>
            <a:endParaRPr lang="en-US" sz="1300" dirty="0"/>
          </a:p>
        </p:txBody>
      </p:sp>
      <p:sp>
        <p:nvSpPr>
          <p:cNvPr id="76" name="t682"/>
          <p:cNvSpPr txBox="1"/>
          <p:nvPr/>
        </p:nvSpPr>
        <p:spPr>
          <a:xfrm>
            <a:off x="731520" y="3794760"/>
            <a:ext cx="1005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H₂S</a:t>
            </a:r>
            <a:endParaRPr lang="en-US" sz="1400" dirty="0"/>
          </a:p>
        </p:txBody>
      </p:sp>
      <p:sp>
        <p:nvSpPr>
          <p:cNvPr id="77" name="t683"/>
          <p:cNvSpPr txBox="1"/>
          <p:nvPr/>
        </p:nvSpPr>
        <p:spPr>
          <a:xfrm>
            <a:off x="1737360" y="3794760"/>
            <a:ext cx="1737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above limit</a:t>
            </a:r>
            <a:endParaRPr lang="en-US" sz="1300" dirty="0"/>
          </a:p>
        </p:txBody>
      </p:sp>
      <p:sp>
        <p:nvSpPr>
          <p:cNvPr id="78" name="t684"/>
          <p:cNvSpPr txBox="1"/>
          <p:nvPr/>
        </p:nvSpPr>
        <p:spPr>
          <a:xfrm>
            <a:off x="1737360" y="3794760"/>
            <a:ext cx="1737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8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OK</a:t>
            </a:r>
            <a:endParaRPr lang="en-US" sz="1300" dirty="0"/>
          </a:p>
        </p:txBody>
      </p:sp>
      <p:sp>
        <p:nvSpPr>
          <p:cNvPr id="79" name="t685"/>
          <p:cNvSpPr txBox="1"/>
          <p:nvPr/>
        </p:nvSpPr>
        <p:spPr>
          <a:xfrm>
            <a:off x="731520" y="4206240"/>
            <a:ext cx="1005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Benzene</a:t>
            </a:r>
            <a:endParaRPr lang="en-US" sz="1400" dirty="0"/>
          </a:p>
        </p:txBody>
      </p:sp>
      <p:sp>
        <p:nvSpPr>
          <p:cNvPr id="80" name="t686"/>
          <p:cNvSpPr txBox="1"/>
          <p:nvPr/>
        </p:nvSpPr>
        <p:spPr>
          <a:xfrm>
            <a:off x="1737360" y="4206240"/>
            <a:ext cx="1737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above limit</a:t>
            </a:r>
            <a:endParaRPr lang="en-US" sz="1300" dirty="0"/>
          </a:p>
        </p:txBody>
      </p:sp>
      <p:sp>
        <p:nvSpPr>
          <p:cNvPr id="81" name="t687"/>
          <p:cNvSpPr txBox="1"/>
          <p:nvPr/>
        </p:nvSpPr>
        <p:spPr>
          <a:xfrm>
            <a:off x="1737360" y="4206240"/>
            <a:ext cx="1737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8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OK</a:t>
            </a:r>
            <a:endParaRPr lang="en-US" sz="1300" dirty="0"/>
          </a:p>
        </p:txBody>
      </p:sp>
      <p:sp>
        <p:nvSpPr>
          <p:cNvPr id="82" name="s688"/>
          <p:cNvSpPr/>
          <p:nvPr/>
        </p:nvSpPr>
        <p:spPr>
          <a:xfrm>
            <a:off x="548640" y="5852160"/>
            <a:ext cx="10515600" cy="713232"/>
          </a:xfrm>
          <a:prstGeom prst="roundRect">
            <a:avLst>
              <a:gd name="adj" fmla="val 25641"/>
            </a:avLst>
          </a:prstGeom>
          <a:solidFill>
            <a:srgbClr val="EAF3FA"/>
          </a:solidFill>
          <a:ln/>
        </p:spPr>
      </p:sp>
      <p:sp>
        <p:nvSpPr>
          <p:cNvPr id="83" name="t689"/>
          <p:cNvSpPr txBox="1"/>
          <p:nvPr/>
        </p:nvSpPr>
        <p:spPr>
          <a:xfrm>
            <a:off x="777240" y="5852160"/>
            <a:ext cx="100584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  Packed beds hold hydrocarbon film and pyrophoric iron sulphide deep inside the packing geometry.</a:t>
            </a:r>
            <a:endParaRPr lang="en-US" sz="1400" dirty="0"/>
          </a:p>
        </p:txBody>
      </p:sp>
      <p:sp>
        <p:nvSpPr>
          <p:cNvPr id="84" name="t690"/>
          <p:cNvSpPr txBox="1"/>
          <p:nvPr/>
        </p:nvSpPr>
        <p:spPr>
          <a:xfrm>
            <a:off x="777240" y="5852160"/>
            <a:ext cx="100584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  PRE-TREATMENT: decon chemistry is fed from the top and coats every surface of the packing.</a:t>
            </a:r>
            <a:endParaRPr lang="en-US" sz="1400" dirty="0"/>
          </a:p>
        </p:txBody>
      </p:sp>
      <p:sp>
        <p:nvSpPr>
          <p:cNvPr id="85" name="t691"/>
          <p:cNvSpPr txBox="1"/>
          <p:nvPr/>
        </p:nvSpPr>
        <p:spPr>
          <a:xfrm>
            <a:off x="777240" y="5852160"/>
            <a:ext cx="100584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  With the packing pre-wetted, the vapour-phase that follows reaches deep into every bed.</a:t>
            </a:r>
            <a:endParaRPr lang="en-US" sz="1400" dirty="0"/>
          </a:p>
        </p:txBody>
      </p:sp>
      <p:sp>
        <p:nvSpPr>
          <p:cNvPr id="86" name="t692"/>
          <p:cNvSpPr txBox="1"/>
          <p:nvPr/>
        </p:nvSpPr>
        <p:spPr>
          <a:xfrm>
            <a:off x="777240" y="5852160"/>
            <a:ext cx="100584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  VAPOUR-PHASE: steam carries the chemistry up through the beds – LEL and benzene go to flare.</a:t>
            </a:r>
            <a:endParaRPr lang="en-US" sz="1400" dirty="0"/>
          </a:p>
        </p:txBody>
      </p:sp>
      <p:sp>
        <p:nvSpPr>
          <p:cNvPr id="87" name="t693"/>
          <p:cNvSpPr txBox="1"/>
          <p:nvPr/>
        </p:nvSpPr>
        <p:spPr>
          <a:xfrm>
            <a:off x="777240" y="5852160"/>
            <a:ext cx="100584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  Pyrophoric FeS can remain on the packing – it would self-heat once the column is opened.</a:t>
            </a:r>
            <a:endParaRPr lang="en-US" sz="1400" dirty="0"/>
          </a:p>
        </p:txBody>
      </p:sp>
      <p:sp>
        <p:nvSpPr>
          <p:cNvPr id="88" name="t694"/>
          <p:cNvSpPr txBox="1"/>
          <p:nvPr/>
        </p:nvSpPr>
        <p:spPr>
          <a:xfrm>
            <a:off x="777240" y="5852160"/>
            <a:ext cx="100584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  POST-TREATMENT: an oxidiser wash trickles through each bed – FeS becomes stable iron oxide.</a:t>
            </a:r>
            <a:endParaRPr lang="en-US" sz="1400" dirty="0"/>
          </a:p>
        </p:txBody>
      </p:sp>
      <p:sp>
        <p:nvSpPr>
          <p:cNvPr id="89" name="t695"/>
          <p:cNvSpPr txBox="1"/>
          <p:nvPr/>
        </p:nvSpPr>
        <p:spPr>
          <a:xfrm>
            <a:off x="777240" y="5852160"/>
            <a:ext cx="100584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  The spent wash drains to the effluent tank.</a:t>
            </a:r>
            <a:endParaRPr lang="en-US" sz="1400" dirty="0"/>
          </a:p>
        </p:txBody>
      </p:sp>
      <p:sp>
        <p:nvSpPr>
          <p:cNvPr id="90" name="t696"/>
          <p:cNvSpPr txBox="1"/>
          <p:nvPr/>
        </p:nvSpPr>
        <p:spPr>
          <a:xfrm>
            <a:off x="777240" y="5852160"/>
            <a:ext cx="100584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  Gas tests pass – the column is safe to open and the packing safe to unload.</a:t>
            </a:r>
            <a:endParaRPr lang="en-US" sz="1400" dirty="0"/>
          </a:p>
        </p:txBody>
      </p:sp>
      <p:sp>
        <p:nvSpPr>
          <p:cNvPr id="91" name="s697"/>
          <p:cNvSpPr/>
          <p:nvPr/>
        </p:nvSpPr>
        <p:spPr>
          <a:xfrm>
            <a:off x="5093208" y="1709928"/>
            <a:ext cx="146304" cy="146304"/>
          </a:xfrm>
          <a:prstGeom prst="ellipse">
            <a:avLst/>
          </a:prstGeom>
          <a:solidFill>
            <a:srgbClr val="3AB54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92" name="s698"/>
          <p:cNvSpPr/>
          <p:nvPr/>
        </p:nvSpPr>
        <p:spPr>
          <a:xfrm>
            <a:off x="5294376" y="1709928"/>
            <a:ext cx="146304" cy="146304"/>
          </a:xfrm>
          <a:prstGeom prst="ellipse">
            <a:avLst/>
          </a:prstGeom>
          <a:solidFill>
            <a:srgbClr val="3AB54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93" name="s699"/>
          <p:cNvSpPr/>
          <p:nvPr/>
        </p:nvSpPr>
        <p:spPr>
          <a:xfrm>
            <a:off x="5495544" y="1709928"/>
            <a:ext cx="146304" cy="146304"/>
          </a:xfrm>
          <a:prstGeom prst="ellipse">
            <a:avLst/>
          </a:prstGeom>
          <a:solidFill>
            <a:srgbClr val="3AB54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94" name="s700"/>
          <p:cNvSpPr/>
          <p:nvPr/>
        </p:nvSpPr>
        <p:spPr>
          <a:xfrm>
            <a:off x="5696712" y="1709928"/>
            <a:ext cx="146304" cy="146304"/>
          </a:xfrm>
          <a:prstGeom prst="ellipse">
            <a:avLst/>
          </a:prstGeom>
          <a:solidFill>
            <a:srgbClr val="3AB54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95" name="s701"/>
          <p:cNvSpPr/>
          <p:nvPr/>
        </p:nvSpPr>
        <p:spPr>
          <a:xfrm>
            <a:off x="5897880" y="1709928"/>
            <a:ext cx="146304" cy="146304"/>
          </a:xfrm>
          <a:prstGeom prst="ellipse">
            <a:avLst/>
          </a:prstGeom>
          <a:solidFill>
            <a:srgbClr val="3AB54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96" name="s702"/>
          <p:cNvSpPr/>
          <p:nvPr/>
        </p:nvSpPr>
        <p:spPr>
          <a:xfrm>
            <a:off x="5093208" y="1709928"/>
            <a:ext cx="146304" cy="146304"/>
          </a:xfrm>
          <a:prstGeom prst="ellipse">
            <a:avLst/>
          </a:prstGeom>
          <a:solidFill>
            <a:srgbClr val="3AB54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97" name="s703"/>
          <p:cNvSpPr/>
          <p:nvPr/>
        </p:nvSpPr>
        <p:spPr>
          <a:xfrm>
            <a:off x="5294376" y="1709928"/>
            <a:ext cx="146304" cy="146304"/>
          </a:xfrm>
          <a:prstGeom prst="ellipse">
            <a:avLst/>
          </a:prstGeom>
          <a:solidFill>
            <a:srgbClr val="3AB54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98" name="s704"/>
          <p:cNvSpPr/>
          <p:nvPr/>
        </p:nvSpPr>
        <p:spPr>
          <a:xfrm>
            <a:off x="5495544" y="1709928"/>
            <a:ext cx="146304" cy="146304"/>
          </a:xfrm>
          <a:prstGeom prst="ellipse">
            <a:avLst/>
          </a:prstGeom>
          <a:solidFill>
            <a:srgbClr val="3AB54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99" name="s705"/>
          <p:cNvSpPr/>
          <p:nvPr/>
        </p:nvSpPr>
        <p:spPr>
          <a:xfrm>
            <a:off x="5696712" y="1709928"/>
            <a:ext cx="146304" cy="146304"/>
          </a:xfrm>
          <a:prstGeom prst="ellipse">
            <a:avLst/>
          </a:prstGeom>
          <a:solidFill>
            <a:srgbClr val="3AB54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0" name="s706"/>
          <p:cNvSpPr/>
          <p:nvPr/>
        </p:nvSpPr>
        <p:spPr>
          <a:xfrm>
            <a:off x="5897880" y="1709928"/>
            <a:ext cx="146304" cy="146304"/>
          </a:xfrm>
          <a:prstGeom prst="ellipse">
            <a:avLst/>
          </a:prstGeom>
          <a:solidFill>
            <a:srgbClr val="3AB54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1" name="s707"/>
          <p:cNvSpPr/>
          <p:nvPr/>
        </p:nvSpPr>
        <p:spPr>
          <a:xfrm>
            <a:off x="5038344" y="4764024"/>
            <a:ext cx="164592" cy="164592"/>
          </a:xfrm>
          <a:prstGeom prst="ellipse">
            <a:avLst/>
          </a:prstGeom>
          <a:solidFill>
            <a:srgbClr val="0C74BC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2" name="s708"/>
          <p:cNvSpPr/>
          <p:nvPr/>
        </p:nvSpPr>
        <p:spPr>
          <a:xfrm>
            <a:off x="5340096" y="4764024"/>
            <a:ext cx="164592" cy="164592"/>
          </a:xfrm>
          <a:prstGeom prst="ellipse">
            <a:avLst/>
          </a:prstGeom>
          <a:solidFill>
            <a:srgbClr val="0C74BC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3" name="s709"/>
          <p:cNvSpPr/>
          <p:nvPr/>
        </p:nvSpPr>
        <p:spPr>
          <a:xfrm>
            <a:off x="5641848" y="4764024"/>
            <a:ext cx="164592" cy="164592"/>
          </a:xfrm>
          <a:prstGeom prst="ellipse">
            <a:avLst/>
          </a:prstGeom>
          <a:solidFill>
            <a:srgbClr val="0C74BC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4" name="s710"/>
          <p:cNvSpPr/>
          <p:nvPr/>
        </p:nvSpPr>
        <p:spPr>
          <a:xfrm>
            <a:off x="5943600" y="4764024"/>
            <a:ext cx="164592" cy="164592"/>
          </a:xfrm>
          <a:prstGeom prst="ellipse">
            <a:avLst/>
          </a:prstGeom>
          <a:solidFill>
            <a:srgbClr val="0C74BC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5" name="s711"/>
          <p:cNvSpPr/>
          <p:nvPr/>
        </p:nvSpPr>
        <p:spPr>
          <a:xfrm>
            <a:off x="5038344" y="4764024"/>
            <a:ext cx="164592" cy="164592"/>
          </a:xfrm>
          <a:prstGeom prst="ellipse">
            <a:avLst/>
          </a:prstGeom>
          <a:solidFill>
            <a:srgbClr val="0C74BC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6" name="s712"/>
          <p:cNvSpPr/>
          <p:nvPr/>
        </p:nvSpPr>
        <p:spPr>
          <a:xfrm>
            <a:off x="5340096" y="4764024"/>
            <a:ext cx="164592" cy="164592"/>
          </a:xfrm>
          <a:prstGeom prst="ellipse">
            <a:avLst/>
          </a:prstGeom>
          <a:solidFill>
            <a:srgbClr val="0C74BC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7" name="s713"/>
          <p:cNvSpPr/>
          <p:nvPr/>
        </p:nvSpPr>
        <p:spPr>
          <a:xfrm>
            <a:off x="5641848" y="4764024"/>
            <a:ext cx="164592" cy="164592"/>
          </a:xfrm>
          <a:prstGeom prst="ellipse">
            <a:avLst/>
          </a:prstGeom>
          <a:solidFill>
            <a:srgbClr val="0C74BC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8" name="s714"/>
          <p:cNvSpPr/>
          <p:nvPr/>
        </p:nvSpPr>
        <p:spPr>
          <a:xfrm>
            <a:off x="5943600" y="4764024"/>
            <a:ext cx="164592" cy="164592"/>
          </a:xfrm>
          <a:prstGeom prst="ellipse">
            <a:avLst/>
          </a:prstGeom>
          <a:solidFill>
            <a:srgbClr val="0C74BC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9" name="s715"/>
          <p:cNvSpPr/>
          <p:nvPr/>
        </p:nvSpPr>
        <p:spPr>
          <a:xfrm>
            <a:off x="5038344" y="4764024"/>
            <a:ext cx="164592" cy="164592"/>
          </a:xfrm>
          <a:prstGeom prst="ellipse">
            <a:avLst/>
          </a:prstGeom>
          <a:solidFill>
            <a:srgbClr val="0C74BC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10" name="s716"/>
          <p:cNvSpPr/>
          <p:nvPr/>
        </p:nvSpPr>
        <p:spPr>
          <a:xfrm>
            <a:off x="5340096" y="4764024"/>
            <a:ext cx="164592" cy="164592"/>
          </a:xfrm>
          <a:prstGeom prst="ellipse">
            <a:avLst/>
          </a:prstGeom>
          <a:solidFill>
            <a:srgbClr val="0C74BC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11" name="s717"/>
          <p:cNvSpPr/>
          <p:nvPr/>
        </p:nvSpPr>
        <p:spPr>
          <a:xfrm>
            <a:off x="5641848" y="4764024"/>
            <a:ext cx="164592" cy="164592"/>
          </a:xfrm>
          <a:prstGeom prst="ellipse">
            <a:avLst/>
          </a:prstGeom>
          <a:solidFill>
            <a:srgbClr val="0C74BC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12" name="s718"/>
          <p:cNvSpPr/>
          <p:nvPr/>
        </p:nvSpPr>
        <p:spPr>
          <a:xfrm>
            <a:off x="5943600" y="4764024"/>
            <a:ext cx="164592" cy="164592"/>
          </a:xfrm>
          <a:prstGeom prst="ellipse">
            <a:avLst/>
          </a:prstGeom>
          <a:solidFill>
            <a:srgbClr val="0C74BC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13" name="s719"/>
          <p:cNvSpPr/>
          <p:nvPr/>
        </p:nvSpPr>
        <p:spPr>
          <a:xfrm>
            <a:off x="5093208" y="1709928"/>
            <a:ext cx="146304" cy="146304"/>
          </a:xfrm>
          <a:prstGeom prst="ellipse">
            <a:avLst/>
          </a:prstGeom>
          <a:solidFill>
            <a:srgbClr val="3AB54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14" name="s720"/>
          <p:cNvSpPr/>
          <p:nvPr/>
        </p:nvSpPr>
        <p:spPr>
          <a:xfrm>
            <a:off x="5294376" y="1709928"/>
            <a:ext cx="146304" cy="146304"/>
          </a:xfrm>
          <a:prstGeom prst="ellipse">
            <a:avLst/>
          </a:prstGeom>
          <a:solidFill>
            <a:srgbClr val="3AB54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15" name="s721"/>
          <p:cNvSpPr/>
          <p:nvPr/>
        </p:nvSpPr>
        <p:spPr>
          <a:xfrm>
            <a:off x="5495544" y="1709928"/>
            <a:ext cx="146304" cy="146304"/>
          </a:xfrm>
          <a:prstGeom prst="ellipse">
            <a:avLst/>
          </a:prstGeom>
          <a:solidFill>
            <a:srgbClr val="3AB54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16" name="s722"/>
          <p:cNvSpPr/>
          <p:nvPr/>
        </p:nvSpPr>
        <p:spPr>
          <a:xfrm>
            <a:off x="5696712" y="1709928"/>
            <a:ext cx="146304" cy="146304"/>
          </a:xfrm>
          <a:prstGeom prst="ellipse">
            <a:avLst/>
          </a:prstGeom>
          <a:solidFill>
            <a:srgbClr val="3AB54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17" name="s723"/>
          <p:cNvSpPr/>
          <p:nvPr/>
        </p:nvSpPr>
        <p:spPr>
          <a:xfrm>
            <a:off x="5897880" y="1709928"/>
            <a:ext cx="146304" cy="146304"/>
          </a:xfrm>
          <a:prstGeom prst="ellipse">
            <a:avLst/>
          </a:prstGeom>
          <a:solidFill>
            <a:srgbClr val="3AB54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18" name="s724"/>
          <p:cNvSpPr/>
          <p:nvPr/>
        </p:nvSpPr>
        <p:spPr>
          <a:xfrm>
            <a:off x="5093208" y="1709928"/>
            <a:ext cx="146304" cy="146304"/>
          </a:xfrm>
          <a:prstGeom prst="ellipse">
            <a:avLst/>
          </a:prstGeom>
          <a:solidFill>
            <a:srgbClr val="3AB54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19" name="s725"/>
          <p:cNvSpPr/>
          <p:nvPr/>
        </p:nvSpPr>
        <p:spPr>
          <a:xfrm>
            <a:off x="5294376" y="1709928"/>
            <a:ext cx="146304" cy="146304"/>
          </a:xfrm>
          <a:prstGeom prst="ellipse">
            <a:avLst/>
          </a:prstGeom>
          <a:solidFill>
            <a:srgbClr val="3AB54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0" name="s726"/>
          <p:cNvSpPr/>
          <p:nvPr/>
        </p:nvSpPr>
        <p:spPr>
          <a:xfrm>
            <a:off x="5495544" y="1709928"/>
            <a:ext cx="146304" cy="146304"/>
          </a:xfrm>
          <a:prstGeom prst="ellipse">
            <a:avLst/>
          </a:prstGeom>
          <a:solidFill>
            <a:srgbClr val="3AB54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1" name="s727"/>
          <p:cNvSpPr/>
          <p:nvPr/>
        </p:nvSpPr>
        <p:spPr>
          <a:xfrm>
            <a:off x="5696712" y="1709928"/>
            <a:ext cx="146304" cy="146304"/>
          </a:xfrm>
          <a:prstGeom prst="ellipse">
            <a:avLst/>
          </a:prstGeom>
          <a:solidFill>
            <a:srgbClr val="3AB54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2" name="s728"/>
          <p:cNvSpPr/>
          <p:nvPr/>
        </p:nvSpPr>
        <p:spPr>
          <a:xfrm>
            <a:off x="5897880" y="1709928"/>
            <a:ext cx="146304" cy="146304"/>
          </a:xfrm>
          <a:prstGeom prst="ellipse">
            <a:avLst/>
          </a:prstGeom>
          <a:solidFill>
            <a:srgbClr val="3AB54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3" name="s729"/>
          <p:cNvSpPr/>
          <p:nvPr/>
        </p:nvSpPr>
        <p:spPr>
          <a:xfrm>
            <a:off x="5477256" y="4928616"/>
            <a:ext cx="201168" cy="201168"/>
          </a:xfrm>
          <a:prstGeom prst="ellipse">
            <a:avLst/>
          </a:prstGeom>
          <a:solidFill>
            <a:srgbClr val="A0522D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4" name="s730"/>
          <p:cNvSpPr/>
          <p:nvPr/>
        </p:nvSpPr>
        <p:spPr>
          <a:xfrm>
            <a:off x="5477256" y="4928616"/>
            <a:ext cx="201168" cy="201168"/>
          </a:xfrm>
          <a:prstGeom prst="ellipse">
            <a:avLst/>
          </a:prstGeom>
          <a:solidFill>
            <a:srgbClr val="A0522D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5" name="s731"/>
          <p:cNvSpPr/>
          <p:nvPr/>
        </p:nvSpPr>
        <p:spPr>
          <a:xfrm>
            <a:off x="5477256" y="4928616"/>
            <a:ext cx="201168" cy="201168"/>
          </a:xfrm>
          <a:prstGeom prst="ellipse">
            <a:avLst/>
          </a:prstGeom>
          <a:solidFill>
            <a:srgbClr val="A0522D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6" name="s732"/>
          <p:cNvSpPr/>
          <p:nvPr/>
        </p:nvSpPr>
        <p:spPr>
          <a:xfrm>
            <a:off x="5477256" y="4928616"/>
            <a:ext cx="201168" cy="201168"/>
          </a:xfrm>
          <a:prstGeom prst="ellipse">
            <a:avLst/>
          </a:prstGeom>
          <a:solidFill>
            <a:srgbClr val="A0522D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7" name="s733"/>
          <p:cNvSpPr/>
          <p:nvPr/>
        </p:nvSpPr>
        <p:spPr>
          <a:xfrm>
            <a:off x="5477256" y="4928616"/>
            <a:ext cx="201168" cy="201168"/>
          </a:xfrm>
          <a:prstGeom prst="ellipse">
            <a:avLst/>
          </a:prstGeom>
          <a:solidFill>
            <a:srgbClr val="A0522D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8" name="s734"/>
          <p:cNvSpPr/>
          <p:nvPr/>
        </p:nvSpPr>
        <p:spPr>
          <a:xfrm>
            <a:off x="548640" y="4846320"/>
            <a:ext cx="3017520" cy="640080"/>
          </a:xfrm>
          <a:prstGeom prst="roundRect">
            <a:avLst>
              <a:gd name="adj" fmla="val 50000"/>
            </a:avLst>
          </a:prstGeom>
          <a:solidFill>
            <a:srgbClr val="3AB54A"/>
          </a:solidFill>
          <a:ln/>
        </p:spPr>
      </p:sp>
      <p:sp>
        <p:nvSpPr>
          <p:cNvPr id="129" name="t735"/>
          <p:cNvSpPr txBox="1"/>
          <p:nvPr/>
        </p:nvSpPr>
        <p:spPr>
          <a:xfrm>
            <a:off x="548640" y="4846320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SAFE TO OPEN &amp; UNLOAD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708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6" presetClass="emph" presetSubtype="0" repeatCount="2000" fill="hold" grpId="2" nodeType="withEffect">
                                  <p:stCondLst>
                                    <p:cond delay="300"/>
                                  </p:stCondLst>
                                  <p:childTnLst>
                                    <p:animScale>
                                      <p:cBhvr>
                                        <p:cTn id="12" dur="500" autoRev="1" fill="hold"/>
                                        <p:tgtEl>
                                          <p:spTgt spid="16"/>
                                        </p:tgtEl>
                                      </p:cBhvr>
                                      <p:by x="104000" y="104000"/>
                                    </p:animScale>
                                  </p:childTnLst>
                                </p:cTn>
                              </p:par>
                              <p:par>
                                <p:cTn id="13" presetID="6" presetClass="emph" presetSubtype="0" repeatCount="2000" fill="hold" grpId="2" nodeType="withEffect">
                                  <p:stCondLst>
                                    <p:cond delay="300"/>
                                  </p:stCondLst>
                                  <p:childTnLst>
                                    <p:animScale>
                                      <p:cBhvr>
                                        <p:cTn id="14" dur="500" autoRev="1" fill="hold"/>
                                        <p:tgtEl>
                                          <p:spTgt spid="25"/>
                                        </p:tgtEl>
                                      </p:cBhvr>
                                      <p:by x="104000" y="104000"/>
                                    </p:animScale>
                                  </p:childTnLst>
                                </p:cTn>
                              </p:par>
                              <p:par>
                                <p:cTn id="15" presetID="6" presetClass="emph" presetSubtype="0" repeatCount="2000" fill="hold" grpId="2" nodeType="withEffect">
                                  <p:stCondLst>
                                    <p:cond delay="300"/>
                                  </p:stCondLst>
                                  <p:childTnLst>
                                    <p:animScale>
                                      <p:cBhvr>
                                        <p:cTn id="16" dur="500" autoRev="1" fill="hold"/>
                                        <p:tgtEl>
                                          <p:spTgt spid="34"/>
                                        </p:tgtEl>
                                      </p:cBhvr>
                                      <p:by x="104000" y="104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00"/>
                                        <p:tgtEl>
                                          <p:spTgt spid="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4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4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22" presetClass="entr" presetSubtype="4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5" dur="4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8" presetID="0" presetClass="path" presetSubtype="0" fill="hold" grpId="3" nodeType="withEffect">
                                  <p:stCondLst>
                                    <p:cond delay="900"/>
                                  </p:stCondLst>
                                  <p:childTnLst>
                                    <p:animMotion origin="layout" path="M 0 0 L 0.0000 0.4600 E" pathEditMode="relative" ptsTypes="AA">
                                      <p:cBhvr>
                                        <p:cTn id="39" dur="2200" fill="hold"/>
                                        <p:tgtEl>
                                          <p:spTgt spid="9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40" presetID="1" presetClass="exit" presetSubtype="0" fill="hold" grpId="1" nodeType="withEffect">
                                  <p:stCondLst>
                                    <p:cond delay="310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2" presetID="1" presetClass="entr" presetSubtype="0" fill="hold" grpId="0" nodeType="withEffect">
                                  <p:stCondLst>
                                    <p:cond delay="112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4" presetID="0" presetClass="path" presetSubtype="0" fill="hold" grpId="3" nodeType="withEffect">
                                  <p:stCondLst>
                                    <p:cond delay="1120"/>
                                  </p:stCondLst>
                                  <p:childTnLst>
                                    <p:animMotion origin="layout" path="M 0 0 L 0.0000 0.4600 E" pathEditMode="relative" ptsTypes="AA">
                                      <p:cBhvr>
                                        <p:cTn id="45" dur="2200" fill="hold"/>
                                        <p:tgtEl>
                                          <p:spTgt spid="9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46" presetID="1" presetClass="exit" presetSubtype="0" fill="hold" grpId="1" nodeType="withEffect">
                                  <p:stCondLst>
                                    <p:cond delay="332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8" presetID="1" presetClass="entr" presetSubtype="0" fill="hold" grpId="0" nodeType="withEffect">
                                  <p:stCondLst>
                                    <p:cond delay="134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0" presetID="0" presetClass="path" presetSubtype="0" fill="hold" grpId="3" nodeType="withEffect">
                                  <p:stCondLst>
                                    <p:cond delay="1340"/>
                                  </p:stCondLst>
                                  <p:childTnLst>
                                    <p:animMotion origin="layout" path="M 0 0 L 0.0000 0.4600 E" pathEditMode="relative" ptsTypes="AA">
                                      <p:cBhvr>
                                        <p:cTn id="51" dur="2200" fill="hold"/>
                                        <p:tgtEl>
                                          <p:spTgt spid="9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52" presetID="1" presetClass="exit" presetSubtype="0" fill="hold" grpId="1" nodeType="withEffect">
                                  <p:stCondLst>
                                    <p:cond delay="354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4" presetID="1" presetClass="entr" presetSubtype="0" fill="hold" grpId="0" nodeType="withEffect">
                                  <p:stCondLst>
                                    <p:cond delay="156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6" presetID="0" presetClass="path" presetSubtype="0" fill="hold" grpId="3" nodeType="withEffect">
                                  <p:stCondLst>
                                    <p:cond delay="1560"/>
                                  </p:stCondLst>
                                  <p:childTnLst>
                                    <p:animMotion origin="layout" path="M 0 0 L 0.0000 0.4600 E" pathEditMode="relative" ptsTypes="AA">
                                      <p:cBhvr>
                                        <p:cTn id="57" dur="2200" fill="hold"/>
                                        <p:tgtEl>
                                          <p:spTgt spid="9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58" presetID="1" presetClass="exit" presetSubtype="0" fill="hold" grpId="1" nodeType="withEffect">
                                  <p:stCondLst>
                                    <p:cond delay="376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0" presetID="1" presetClass="entr" presetSubtype="0" fill="hold" grpId="0" nodeType="withEffect">
                                  <p:stCondLst>
                                    <p:cond delay="178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2" presetID="0" presetClass="path" presetSubtype="0" fill="hold" grpId="3" nodeType="withEffect">
                                  <p:stCondLst>
                                    <p:cond delay="1780"/>
                                  </p:stCondLst>
                                  <p:childTnLst>
                                    <p:animMotion origin="layout" path="M 0 0 L 0.0000 0.4600 E" pathEditMode="relative" ptsTypes="AA">
                                      <p:cBhvr>
                                        <p:cTn id="63" dur="2200" fill="hold"/>
                                        <p:tgtEl>
                                          <p:spTgt spid="9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64" presetID="1" presetClass="exit" presetSubtype="0" fill="hold" grpId="1" nodeType="withEffect">
                                  <p:stCondLst>
                                    <p:cond delay="398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6" presetID="1" presetClass="entr" presetSubtype="0" fill="hold" grpId="0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8" presetID="0" presetClass="path" presetSubtype="0" fill="hold" grpId="3" nodeType="withEffect">
                                  <p:stCondLst>
                                    <p:cond delay="2000"/>
                                  </p:stCondLst>
                                  <p:childTnLst>
                                    <p:animMotion origin="layout" path="M 0 0 L 0.0000 0.4600 E" pathEditMode="relative" ptsTypes="AA">
                                      <p:cBhvr>
                                        <p:cTn id="69" dur="2200" fill="hold"/>
                                        <p:tgtEl>
                                          <p:spTgt spid="9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70" presetID="1" presetClass="exit" presetSubtype="0" fill="hold" grpId="1" nodeType="withEffect">
                                  <p:stCondLst>
                                    <p:cond delay="420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2" presetID="1" presetClass="entr" presetSubtype="0" fill="hold" grpId="0" nodeType="withEffect">
                                  <p:stCondLst>
                                    <p:cond delay="222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4" presetID="0" presetClass="path" presetSubtype="0" fill="hold" grpId="3" nodeType="withEffect">
                                  <p:stCondLst>
                                    <p:cond delay="2220"/>
                                  </p:stCondLst>
                                  <p:childTnLst>
                                    <p:animMotion origin="layout" path="M 0 0 L 0.0000 0.4600 E" pathEditMode="relative" ptsTypes="AA">
                                      <p:cBhvr>
                                        <p:cTn id="75" dur="2200" fill="hold"/>
                                        <p:tgtEl>
                                          <p:spTgt spid="9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76" presetID="1" presetClass="exit" presetSubtype="0" fill="hold" grpId="1" nodeType="withEffect">
                                  <p:stCondLst>
                                    <p:cond delay="442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8" presetID="1" presetClass="entr" presetSubtype="0" fill="hold" grpId="0" nodeType="withEffect">
                                  <p:stCondLst>
                                    <p:cond delay="244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0" presetID="0" presetClass="path" presetSubtype="0" fill="hold" grpId="3" nodeType="withEffect">
                                  <p:stCondLst>
                                    <p:cond delay="2440"/>
                                  </p:stCondLst>
                                  <p:childTnLst>
                                    <p:animMotion origin="layout" path="M 0 0 L 0.0000 0.4600 E" pathEditMode="relative" ptsTypes="AA">
                                      <p:cBhvr>
                                        <p:cTn id="81" dur="2200" fill="hold"/>
                                        <p:tgtEl>
                                          <p:spTgt spid="9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82" presetID="1" presetClass="exit" presetSubtype="0" fill="hold" grpId="1" nodeType="withEffect">
                                  <p:stCondLst>
                                    <p:cond delay="464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4" presetID="1" presetClass="entr" presetSubtype="0" fill="hold" grpId="0" nodeType="withEffect">
                                  <p:stCondLst>
                                    <p:cond delay="266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6" presetID="0" presetClass="path" presetSubtype="0" fill="hold" grpId="3" nodeType="withEffect">
                                  <p:stCondLst>
                                    <p:cond delay="2660"/>
                                  </p:stCondLst>
                                  <p:childTnLst>
                                    <p:animMotion origin="layout" path="M 0 0 L 0.0000 0.4600 E" pathEditMode="relative" ptsTypes="AA">
                                      <p:cBhvr>
                                        <p:cTn id="87" dur="2200" fill="hold"/>
                                        <p:tgtEl>
                                          <p:spTgt spid="9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88" presetID="1" presetClass="exit" presetSubtype="0" fill="hold" grpId="1" nodeType="withEffect">
                                  <p:stCondLst>
                                    <p:cond delay="486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0" presetID="1" presetClass="entr" presetSubtype="0" fill="hold" grpId="0" nodeType="withEffect">
                                  <p:stCondLst>
                                    <p:cond delay="288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2" presetID="0" presetClass="path" presetSubtype="0" fill="hold" grpId="3" nodeType="withEffect">
                                  <p:stCondLst>
                                    <p:cond delay="2880"/>
                                  </p:stCondLst>
                                  <p:childTnLst>
                                    <p:animMotion origin="layout" path="M 0 0 L 0.0000 0.4600 E" pathEditMode="relative" ptsTypes="AA">
                                      <p:cBhvr>
                                        <p:cTn id="93" dur="2200" fill="hold"/>
                                        <p:tgtEl>
                                          <p:spTgt spid="10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94" presetID="1" presetClass="exit" presetSubtype="0" fill="hold" grpId="1" nodeType="withEffect">
                                  <p:stCondLst>
                                    <p:cond delay="508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6" presetID="10" presetClass="entr" presetSubtype="0" fill="hold" grpId="0" nodeType="with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8" dur="6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9" presetID="42" presetClass="entr" presetSubtype="0" fill="hold" grpId="0" nodeType="with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1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2" dur="500" fill="hold"/>
                                        <p:tgtEl>
                                          <p:spTgt spid="5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3" dur="500" fill="hold"/>
                                        <p:tgtEl>
                                          <p:spTgt spid="5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4" presetID="10" presetClass="entr" presetSubtype="0" fill="hold" grpId="0" nodeType="withEffect">
                                  <p:stCondLst>
                                    <p:cond delay="210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6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7" presetID="42" presetClass="entr" presetSubtype="0" fill="hold" grpId="0" nodeType="withEffect">
                                  <p:stCondLst>
                                    <p:cond delay="210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9" dur="5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0" dur="500" fill="hold"/>
                                        <p:tgtEl>
                                          <p:spTgt spid="5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1" dur="500" fill="hold"/>
                                        <p:tgtEl>
                                          <p:spTgt spid="5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2" presetID="10" presetClass="entr" presetSubtype="0" fill="hold" grpId="0" nodeType="withEffect">
                                  <p:stCondLst>
                                    <p:cond delay="2800"/>
                                  </p:stCondLst>
                                  <p:childTnLst>
                                    <p:set>
                                      <p:cBhvr>
                                        <p:cTn id="1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4" dur="6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5" presetID="42" presetClass="entr" presetSubtype="0" fill="hold" grpId="0" nodeType="withEffect">
                                  <p:stCondLst>
                                    <p:cond delay="280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7" dur="5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8" dur="500" fill="hold"/>
                                        <p:tgtEl>
                                          <p:spTgt spid="5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9" dur="500" fill="hold"/>
                                        <p:tgtEl>
                                          <p:spTgt spid="5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0" fill="hold">
                      <p:stCondLst>
                        <p:cond delay="indefinite"/>
                      </p:stCondLst>
                      <p:childTnLst>
                        <p:par>
                          <p:cTn id="121" fill="hold">
                            <p:stCondLst>
                              <p:cond delay="0"/>
                            </p:stCondLst>
                            <p:childTnLst>
                              <p:par>
                                <p:cTn id="122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6" dur="300"/>
                                        <p:tgtEl>
                                          <p:spTgt spid="8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7" presetID="6" presetClass="emph" presetSubtype="0" repeatCount="200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128" dur="450" autoRev="1" fill="hold"/>
                                        <p:tgtEl>
                                          <p:spTgt spid="17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129" presetID="6" presetClass="emph" presetSubtype="0" repeatCount="200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130" dur="450" autoRev="1" fill="hold"/>
                                        <p:tgtEl>
                                          <p:spTgt spid="26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131" presetID="6" presetClass="emph" presetSubtype="0" repeatCount="200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132" dur="450" autoRev="1" fill="hold"/>
                                        <p:tgtEl>
                                          <p:spTgt spid="35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3" fill="hold">
                      <p:stCondLst>
                        <p:cond delay="indefinite"/>
                      </p:stCondLst>
                      <p:childTnLst>
                        <p:par>
                          <p:cTn id="134" fill="hold">
                            <p:stCondLst>
                              <p:cond delay="0"/>
                            </p:stCondLst>
                            <p:childTnLst>
                              <p:par>
                                <p:cTn id="135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9" dur="300"/>
                                        <p:tgtEl>
                                          <p:spTgt spid="8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0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41" dur="4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42" dur="1" fill="hold">
                                          <p:stCondLst>
                                            <p:cond delay="399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3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44" dur="4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45" dur="1" fill="hold">
                                          <p:stCondLst>
                                            <p:cond delay="399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6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47" dur="4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48" dur="1" fill="hold">
                                          <p:stCondLst>
                                            <p:cond delay="399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9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50" dur="4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51" dur="1" fill="hold">
                                          <p:stCondLst>
                                            <p:cond delay="399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2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53" dur="4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54" dur="1" fill="hold">
                                          <p:stCondLst>
                                            <p:cond delay="399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7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8" presetID="22" presetClass="entr" presetSubtype="8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0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1" presetID="22" presetClass="entr" presetSubtype="8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3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4" presetID="1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1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6" presetID="0" presetClass="path" presetSubtype="0" fill="hold" grpId="3" nodeType="withEffect">
                                  <p:stCondLst>
                                    <p:cond delay="700"/>
                                  </p:stCondLst>
                                  <p:childTnLst>
                                    <p:animMotion origin="layout" path="M 0 0 L 0.0000 -0.4333 E" pathEditMode="relative" ptsTypes="AA">
                                      <p:cBhvr>
                                        <p:cTn id="167" dur="1800" fill="hold"/>
                                        <p:tgtEl>
                                          <p:spTgt spid="10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68" presetID="1" presetClass="exit" presetSubtype="0" fill="hold" grpId="1" nodeType="withEffect">
                                  <p:stCondLst>
                                    <p:cond delay="2500"/>
                                  </p:stCondLst>
                                  <p:childTnLst>
                                    <p:set>
                                      <p:cBhvr>
                                        <p:cTn id="1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0" presetID="1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1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2" presetID="0" presetClass="path" presetSubtype="0" fill="hold" grpId="3" nodeType="withEffect">
                                  <p:stCondLst>
                                    <p:cond delay="900"/>
                                  </p:stCondLst>
                                  <p:childTnLst>
                                    <p:animMotion origin="layout" path="M 0 0 L 0.0000 -0.4333 E" pathEditMode="relative" ptsTypes="AA">
                                      <p:cBhvr>
                                        <p:cTn id="173" dur="1800" fill="hold"/>
                                        <p:tgtEl>
                                          <p:spTgt spid="10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74" presetID="1" presetClass="exit" presetSubtype="0" fill="hold" grpId="1" nodeType="withEffect">
                                  <p:stCondLst>
                                    <p:cond delay="2700"/>
                                  </p:stCondLst>
                                  <p:childTnLst>
                                    <p:set>
                                      <p:cBhvr>
                                        <p:cTn id="1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6" presetID="1" presetClass="entr" presetSubtype="0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1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8" presetID="0" presetClass="path" presetSubtype="0" fill="hold" grpId="3" nodeType="withEffect">
                                  <p:stCondLst>
                                    <p:cond delay="1100"/>
                                  </p:stCondLst>
                                  <p:childTnLst>
                                    <p:animMotion origin="layout" path="M 0 0 L 0.0000 -0.4333 E" pathEditMode="relative" ptsTypes="AA">
                                      <p:cBhvr>
                                        <p:cTn id="179" dur="1800" fill="hold"/>
                                        <p:tgtEl>
                                          <p:spTgt spid="10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80" presetID="1" presetClass="exit" presetSubtype="0" fill="hold" grpId="1" nodeType="withEffect">
                                  <p:stCondLst>
                                    <p:cond delay="2900"/>
                                  </p:stCondLst>
                                  <p:childTnLst>
                                    <p:set>
                                      <p:cBhvr>
                                        <p:cTn id="1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2" presetID="1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1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4" presetID="0" presetClass="path" presetSubtype="0" fill="hold" grpId="3" nodeType="withEffect">
                                  <p:stCondLst>
                                    <p:cond delay="1300"/>
                                  </p:stCondLst>
                                  <p:childTnLst>
                                    <p:animMotion origin="layout" path="M 0 0 L 0.0000 -0.4333 E" pathEditMode="relative" ptsTypes="AA">
                                      <p:cBhvr>
                                        <p:cTn id="185" dur="1800" fill="hold"/>
                                        <p:tgtEl>
                                          <p:spTgt spid="10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86" presetID="1" presetClass="exit" presetSubtype="0" fill="hold" grpId="1" nodeType="withEffect">
                                  <p:stCondLst>
                                    <p:cond delay="3100"/>
                                  </p:stCondLst>
                                  <p:childTnLst>
                                    <p:set>
                                      <p:cBhvr>
                                        <p:cTn id="1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8" presetID="1" presetClass="entr" presetSubtype="0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1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0" presetID="0" presetClass="path" presetSubtype="0" fill="hold" grpId="3" nodeType="withEffect">
                                  <p:stCondLst>
                                    <p:cond delay="1500"/>
                                  </p:stCondLst>
                                  <p:childTnLst>
                                    <p:animMotion origin="layout" path="M 0 0 L 0.0000 -0.4333 E" pathEditMode="relative" ptsTypes="AA">
                                      <p:cBhvr>
                                        <p:cTn id="191" dur="1800" fill="hold"/>
                                        <p:tgtEl>
                                          <p:spTgt spid="10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92" presetID="1" presetClass="exit" presetSubtype="0" fill="hold" grpId="1" nodeType="withEffect">
                                  <p:stCondLst>
                                    <p:cond delay="3300"/>
                                  </p:stCondLst>
                                  <p:childTnLst>
                                    <p:set>
                                      <p:cBhvr>
                                        <p:cTn id="1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4" presetID="1" presetClass="entr" presetSubtype="0" fill="hold" grpId="0" nodeType="withEffect">
                                  <p:stCondLst>
                                    <p:cond delay="1700"/>
                                  </p:stCondLst>
                                  <p:childTnLst>
                                    <p:set>
                                      <p:cBhvr>
                                        <p:cTn id="1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6" presetID="0" presetClass="path" presetSubtype="0" fill="hold" grpId="3" nodeType="withEffect">
                                  <p:stCondLst>
                                    <p:cond delay="1700"/>
                                  </p:stCondLst>
                                  <p:childTnLst>
                                    <p:animMotion origin="layout" path="M 0 0 L 0.0000 -0.4333 E" pathEditMode="relative" ptsTypes="AA">
                                      <p:cBhvr>
                                        <p:cTn id="197" dur="1800" fill="hold"/>
                                        <p:tgtEl>
                                          <p:spTgt spid="10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98" presetID="1" presetClass="exit" presetSubtype="0" fill="hold" grpId="1" nodeType="withEffect">
                                  <p:stCondLst>
                                    <p:cond delay="3500"/>
                                  </p:stCondLst>
                                  <p:childTnLst>
                                    <p:set>
                                      <p:cBhvr>
                                        <p:cTn id="1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0" presetID="1" presetClass="entr" presetSubtype="0" fill="hold" grpId="0" nodeType="withEffect">
                                  <p:stCondLst>
                                    <p:cond delay="1900"/>
                                  </p:stCondLst>
                                  <p:childTnLst>
                                    <p:set>
                                      <p:cBhvr>
                                        <p:cTn id="2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2" presetID="0" presetClass="path" presetSubtype="0" fill="hold" grpId="3" nodeType="withEffect">
                                  <p:stCondLst>
                                    <p:cond delay="1900"/>
                                  </p:stCondLst>
                                  <p:childTnLst>
                                    <p:animMotion origin="layout" path="M 0 0 L 0.0000 -0.4333 E" pathEditMode="relative" ptsTypes="AA">
                                      <p:cBhvr>
                                        <p:cTn id="203" dur="1800" fill="hold"/>
                                        <p:tgtEl>
                                          <p:spTgt spid="10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04" presetID="1" presetClass="exit" presetSubtype="0" fill="hold" grpId="1" nodeType="withEffect">
                                  <p:stCondLst>
                                    <p:cond delay="3700"/>
                                  </p:stCondLst>
                                  <p:childTnLst>
                                    <p:set>
                                      <p:cBhvr>
                                        <p:cTn id="2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6" presetID="1" presetClass="entr" presetSubtype="0" fill="hold" grpId="0" nodeType="withEffect">
                                  <p:stCondLst>
                                    <p:cond delay="2100"/>
                                  </p:stCondLst>
                                  <p:childTnLst>
                                    <p:set>
                                      <p:cBhvr>
                                        <p:cTn id="2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8" presetID="0" presetClass="path" presetSubtype="0" fill="hold" grpId="3" nodeType="withEffect">
                                  <p:stCondLst>
                                    <p:cond delay="2100"/>
                                  </p:stCondLst>
                                  <p:childTnLst>
                                    <p:animMotion origin="layout" path="M 0 0 L 0.0000 -0.4333 E" pathEditMode="relative" ptsTypes="AA">
                                      <p:cBhvr>
                                        <p:cTn id="209" dur="1800" fill="hold"/>
                                        <p:tgtEl>
                                          <p:spTgt spid="10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10" presetID="1" presetClass="exit" presetSubtype="0" fill="hold" grpId="1" nodeType="withEffect">
                                  <p:stCondLst>
                                    <p:cond delay="3900"/>
                                  </p:stCondLst>
                                  <p:childTnLst>
                                    <p:set>
                                      <p:cBhvr>
                                        <p:cTn id="2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2" presetID="1" presetClass="entr" presetSubtype="0" fill="hold" grpId="0" nodeType="withEffect">
                                  <p:stCondLst>
                                    <p:cond delay="2300"/>
                                  </p:stCondLst>
                                  <p:childTnLst>
                                    <p:set>
                                      <p:cBhvr>
                                        <p:cTn id="2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4" presetID="0" presetClass="path" presetSubtype="0" fill="hold" grpId="3" nodeType="withEffect">
                                  <p:stCondLst>
                                    <p:cond delay="2300"/>
                                  </p:stCondLst>
                                  <p:childTnLst>
                                    <p:animMotion origin="layout" path="M 0 0 L 0.0000 -0.4333 E" pathEditMode="relative" ptsTypes="AA">
                                      <p:cBhvr>
                                        <p:cTn id="215" dur="1800" fill="hold"/>
                                        <p:tgtEl>
                                          <p:spTgt spid="10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16" presetID="1" presetClass="exit" presetSubtype="0" fill="hold" grpId="1" nodeType="withEffect">
                                  <p:stCondLst>
                                    <p:cond delay="4100"/>
                                  </p:stCondLst>
                                  <p:childTnLst>
                                    <p:set>
                                      <p:cBhvr>
                                        <p:cTn id="2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8" presetID="1" presetClass="entr" presetSubtype="0" fill="hold" grpId="0" nodeType="withEffect">
                                  <p:stCondLst>
                                    <p:cond delay="2500"/>
                                  </p:stCondLst>
                                  <p:childTnLst>
                                    <p:set>
                                      <p:cBhvr>
                                        <p:cTn id="2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0" presetID="0" presetClass="path" presetSubtype="0" fill="hold" grpId="3" nodeType="withEffect">
                                  <p:stCondLst>
                                    <p:cond delay="2500"/>
                                  </p:stCondLst>
                                  <p:childTnLst>
                                    <p:animMotion origin="layout" path="M 0 0 L 0.0000 -0.4333 E" pathEditMode="relative" ptsTypes="AA">
                                      <p:cBhvr>
                                        <p:cTn id="221" dur="1800" fill="hold"/>
                                        <p:tgtEl>
                                          <p:spTgt spid="1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22" presetID="1" presetClass="exit" presetSubtype="0" fill="hold" grpId="1" nodeType="withEffect">
                                  <p:stCondLst>
                                    <p:cond delay="4300"/>
                                  </p:stCondLst>
                                  <p:childTnLst>
                                    <p:set>
                                      <p:cBhvr>
                                        <p:cTn id="2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4" presetID="1" presetClass="entr" presetSubtype="0" fill="hold" grpId="0" nodeType="withEffect">
                                  <p:stCondLst>
                                    <p:cond delay="2700"/>
                                  </p:stCondLst>
                                  <p:childTnLst>
                                    <p:set>
                                      <p:cBhvr>
                                        <p:cTn id="2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6" presetID="0" presetClass="path" presetSubtype="0" fill="hold" grpId="3" nodeType="withEffect">
                                  <p:stCondLst>
                                    <p:cond delay="2700"/>
                                  </p:stCondLst>
                                  <p:childTnLst>
                                    <p:animMotion origin="layout" path="M 0 0 L 0.0000 -0.4333 E" pathEditMode="relative" ptsTypes="AA">
                                      <p:cBhvr>
                                        <p:cTn id="227" dur="1800" fill="hold"/>
                                        <p:tgtEl>
                                          <p:spTgt spid="1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28" presetID="1" presetClass="exit" presetSubtype="0" fill="hold" grpId="1" nodeType="withEffect">
                                  <p:stCondLst>
                                    <p:cond delay="4500"/>
                                  </p:stCondLst>
                                  <p:childTnLst>
                                    <p:set>
                                      <p:cBhvr>
                                        <p:cTn id="2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0" presetID="1" presetClass="entr" presetSubtype="0" fill="hold" grpId="0" nodeType="withEffect">
                                  <p:stCondLst>
                                    <p:cond delay="2900"/>
                                  </p:stCondLst>
                                  <p:childTnLst>
                                    <p:set>
                                      <p:cBhvr>
                                        <p:cTn id="2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2" presetID="0" presetClass="path" presetSubtype="0" fill="hold" grpId="3" nodeType="withEffect">
                                  <p:stCondLst>
                                    <p:cond delay="2900"/>
                                  </p:stCondLst>
                                  <p:childTnLst>
                                    <p:animMotion origin="layout" path="M 0 0 L 0.0000 -0.4333 E" pathEditMode="relative" ptsTypes="AA">
                                      <p:cBhvr>
                                        <p:cTn id="233" dur="1800" fill="hold"/>
                                        <p:tgtEl>
                                          <p:spTgt spid="1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34" presetID="1" presetClass="exit" presetSubtype="0" fill="hold" grpId="1" nodeType="withEffect">
                                  <p:stCondLst>
                                    <p:cond delay="4700"/>
                                  </p:stCondLst>
                                  <p:childTnLst>
                                    <p:set>
                                      <p:cBhvr>
                                        <p:cTn id="2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6" presetID="10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2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8" dur="4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9" presetID="10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2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1" dur="4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2" presetID="22" presetClass="entr" presetSubtype="1" fill="hold" grpId="0" nodeType="withEffect">
                                  <p:stCondLst>
                                    <p:cond delay="1200"/>
                                  </p:stCondLst>
                                  <p:childTnLst>
                                    <p:set>
                                      <p:cBhvr>
                                        <p:cTn id="2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44" dur="3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5" presetID="22" presetClass="entr" presetSubtype="8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2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7" dur="3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8" presetID="22" presetClass="entr" presetSubtype="4" fill="hold" grpId="0" nodeType="withEffect">
                                  <p:stCondLst>
                                    <p:cond delay="1800"/>
                                  </p:stCondLst>
                                  <p:childTnLst>
                                    <p:set>
                                      <p:cBhvr>
                                        <p:cTn id="2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50" dur="3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1" presetID="22" presetClass="entr" presetSubtype="8" fill="hold" grpId="0" nodeType="withEffect">
                                  <p:stCondLst>
                                    <p:cond delay="2100"/>
                                  </p:stCondLst>
                                  <p:childTnLst>
                                    <p:set>
                                      <p:cBhvr>
                                        <p:cTn id="2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3" dur="3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4" presetID="0" presetClass="path" presetSubtype="0" fill="hold" grpId="3" nodeType="withEffect">
                                  <p:stCondLst>
                                    <p:cond delay="2600"/>
                                  </p:stCondLst>
                                  <p:childTnLst>
                                    <p:animMotion origin="layout" path="M 0 0 L -0.0413 -0.1200 L 0.1725 -0.1400 L 0.1950 -0.0533 E" pathEditMode="relative" ptsTypes="AAAA">
                                      <p:cBhvr>
                                        <p:cTn id="255" dur="1500" fill="hold"/>
                                        <p:tgtEl>
                                          <p:spTgt spid="5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56" presetID="10" presetClass="exit" presetSubtype="0" fill="hold" grpId="1" nodeType="withEffect">
                                  <p:stCondLst>
                                    <p:cond delay="40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57" dur="3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5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9" presetID="0" presetClass="path" presetSubtype="0" fill="hold" grpId="3" nodeType="withEffect">
                                  <p:stCondLst>
                                    <p:cond delay="3100"/>
                                  </p:stCondLst>
                                  <p:childTnLst>
                                    <p:animMotion origin="layout" path="M 0 0 L -0.0413 -0.2600 L 0.1725 -0.2800 L 0.1950 -0.1933 E" pathEditMode="relative" ptsTypes="AAAA">
                                      <p:cBhvr>
                                        <p:cTn id="260" dur="1500" fill="hold"/>
                                        <p:tgtEl>
                                          <p:spTgt spid="5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61" presetID="10" presetClass="exit" presetSubtype="0" fill="hold" grpId="1" nodeType="withEffect">
                                  <p:stCondLst>
                                    <p:cond delay="45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62" dur="3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63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64" presetID="6" presetClass="emph" presetSubtype="0" repeatCount="3000" fill="hold" grpId="2" nodeType="withEffect">
                                  <p:stCondLst>
                                    <p:cond delay="3800"/>
                                  </p:stCondLst>
                                  <p:childTnLst>
                                    <p:animScale>
                                      <p:cBhvr>
                                        <p:cTn id="265" dur="350" autoRev="1" fill="hold"/>
                                        <p:tgtEl>
                                          <p:spTgt spid="49"/>
                                        </p:tgtEl>
                                      </p:cBhvr>
                                      <p:by x="125000" y="125000"/>
                                    </p:animScale>
                                  </p:childTnLst>
                                </p:cTn>
                              </p:par>
                              <p:par>
                                <p:cTn id="266" presetID="6" presetClass="emph" presetSubtype="0" repeatCount="3000" fill="hold" grpId="2" nodeType="withEffect">
                                  <p:stCondLst>
                                    <p:cond delay="3800"/>
                                  </p:stCondLst>
                                  <p:childTnLst>
                                    <p:animScale>
                                      <p:cBhvr>
                                        <p:cTn id="267" dur="350" autoRev="1" fill="hold"/>
                                        <p:tgtEl>
                                          <p:spTgt spid="50"/>
                                        </p:tgtEl>
                                      </p:cBhvr>
                                      <p:by x="125000" y="125000"/>
                                    </p:animScale>
                                  </p:childTnLst>
                                </p:cTn>
                              </p:par>
                              <p:par>
                                <p:cTn id="268" presetID="10" presetClass="exit" presetSubtype="0" fill="hold" grpId="1" nodeType="withEffect">
                                  <p:stCondLst>
                                    <p:cond delay="24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69" dur="8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70" dur="1" fill="hold">
                                          <p:stCondLst>
                                            <p:cond delay="799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1" presetID="10" presetClass="exit" presetSubtype="0" fill="hold" grpId="1" nodeType="withEffect">
                                  <p:stCondLst>
                                    <p:cond delay="31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72" dur="8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73" dur="1" fill="hold">
                                          <p:stCondLst>
                                            <p:cond delay="799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4" presetID="10" presetClass="exit" presetSubtype="0" fill="hold" grpId="1" nodeType="withEffect">
                                  <p:stCondLst>
                                    <p:cond delay="38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75" dur="8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76" dur="1" fill="hold">
                                          <p:stCondLst>
                                            <p:cond delay="799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7" presetID="10" presetClass="exit" presetSubtype="0" fill="hold" grpId="1" nodeType="withEffect">
                                  <p:stCondLst>
                                    <p:cond delay="24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78" dur="8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79" dur="1" fill="hold">
                                          <p:stCondLst>
                                            <p:cond delay="799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80" presetID="10" presetClass="exit" presetSubtype="0" fill="hold" grpId="1" nodeType="withEffect">
                                  <p:stCondLst>
                                    <p:cond delay="31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81" dur="8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82" dur="1" fill="hold">
                                          <p:stCondLst>
                                            <p:cond delay="799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83" presetID="10" presetClass="exit" presetSubtype="0" fill="hold" grpId="1" nodeType="withEffect">
                                  <p:stCondLst>
                                    <p:cond delay="38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84" dur="8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85" dur="1" fill="hold">
                                          <p:stCondLst>
                                            <p:cond delay="799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86" presetID="1" presetClass="exit" presetSubtype="0" fill="hold" grpId="1" nodeType="withEffect">
                                  <p:stCondLst>
                                    <p:cond delay="4600"/>
                                  </p:stCondLst>
                                  <p:childTnLst>
                                    <p:set>
                                      <p:cBhvr>
                                        <p:cTn id="2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88" presetID="53" presetClass="entr" presetSubtype="16" fill="hold" grpId="0" nodeType="withEffect">
                                  <p:stCondLst>
                                    <p:cond delay="4600"/>
                                  </p:stCondLst>
                                  <p:childTnLst>
                                    <p:set>
                                      <p:cBhvr>
                                        <p:cTn id="2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90" dur="400" fill="hold"/>
                                        <p:tgtEl>
                                          <p:spTgt spid="7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1" dur="400" fill="hold"/>
                                        <p:tgtEl>
                                          <p:spTgt spid="7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92" dur="400"/>
                                        <p:tgtEl>
                                          <p:spTgt spid="7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3" presetID="1" presetClass="exit" presetSubtype="0" fill="hold" grpId="1" nodeType="withEffect">
                                  <p:stCondLst>
                                    <p:cond delay="5000"/>
                                  </p:stCondLst>
                                  <p:childTnLst>
                                    <p:set>
                                      <p:cBhvr>
                                        <p:cTn id="2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5" presetID="53" presetClass="entr" presetSubtype="16" fill="hold" grpId="0" nodeType="withEffect">
                                  <p:stCondLst>
                                    <p:cond delay="5000"/>
                                  </p:stCondLst>
                                  <p:childTnLst>
                                    <p:set>
                                      <p:cBhvr>
                                        <p:cTn id="2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97" dur="400" fill="hold"/>
                                        <p:tgtEl>
                                          <p:spTgt spid="7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8" dur="400" fill="hold"/>
                                        <p:tgtEl>
                                          <p:spTgt spid="7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99" dur="400"/>
                                        <p:tgtEl>
                                          <p:spTgt spid="7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0" presetID="1" presetClass="exit" presetSubtype="0" fill="hold" grpId="1" nodeType="withEffect">
                                  <p:stCondLst>
                                    <p:cond delay="5400"/>
                                  </p:stCondLst>
                                  <p:childTnLst>
                                    <p:set>
                                      <p:cBhvr>
                                        <p:cTn id="3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02" presetID="53" presetClass="entr" presetSubtype="16" fill="hold" grpId="0" nodeType="withEffect">
                                  <p:stCondLst>
                                    <p:cond delay="5400"/>
                                  </p:stCondLst>
                                  <p:childTnLst>
                                    <p:set>
                                      <p:cBhvr>
                                        <p:cTn id="3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04" dur="400" fill="hold"/>
                                        <p:tgtEl>
                                          <p:spTgt spid="8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5" dur="400" fill="hold"/>
                                        <p:tgtEl>
                                          <p:spTgt spid="8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06" dur="400"/>
                                        <p:tgtEl>
                                          <p:spTgt spid="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7" fill="hold">
                      <p:stCondLst>
                        <p:cond delay="indefinite"/>
                      </p:stCondLst>
                      <p:childTnLst>
                        <p:par>
                          <p:cTn id="308" fill="hold">
                            <p:stCondLst>
                              <p:cond delay="0"/>
                            </p:stCondLst>
                            <p:childTnLst>
                              <p:par>
                                <p:cTn id="30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3" dur="300"/>
                                        <p:tgtEl>
                                          <p:spTgt spid="8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6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9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2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3" fill="hold">
                            <p:stCondLst>
                              <p:cond delay="500"/>
                            </p:stCondLst>
                            <p:childTnLst>
                              <p:par>
                                <p:cTn id="324" presetID="6" presetClass="emph" presetSubtype="0" repeatCount="3000" fill="hold" grpId="2" nodeType="after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325" dur="450" autoRev="1" fill="hold"/>
                                        <p:tgtEl>
                                          <p:spTgt spid="18"/>
                                        </p:tgtEl>
                                      </p:cBhvr>
                                      <p:by x="104000" y="104000"/>
                                    </p:animScale>
                                  </p:childTnLst>
                                </p:cTn>
                              </p:par>
                              <p:par>
                                <p:cTn id="326" presetID="6" presetClass="emph" presetSubtype="0" repeatCount="300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327" dur="450" autoRev="1" fill="hold"/>
                                        <p:tgtEl>
                                          <p:spTgt spid="27"/>
                                        </p:tgtEl>
                                      </p:cBhvr>
                                      <p:by x="104000" y="104000"/>
                                    </p:animScale>
                                  </p:childTnLst>
                                </p:cTn>
                              </p:par>
                              <p:par>
                                <p:cTn id="328" presetID="6" presetClass="emph" presetSubtype="0" repeatCount="300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329" dur="450" autoRev="1" fill="hold"/>
                                        <p:tgtEl>
                                          <p:spTgt spid="36"/>
                                        </p:tgtEl>
                                      </p:cBhvr>
                                      <p:by x="104000" y="104000"/>
                                    </p:animScale>
                                  </p:childTnLst>
                                </p:cTn>
                              </p:par>
                              <p:par>
                                <p:cTn id="330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32" dur="500" fill="hold"/>
                                        <p:tgtEl>
                                          <p:spTgt spid="6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33" dur="500" fill="hold"/>
                                        <p:tgtEl>
                                          <p:spTgt spid="6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34" dur="5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5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37" dur="500" fill="hold"/>
                                        <p:tgtEl>
                                          <p:spTgt spid="6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38" dur="500" fill="hold"/>
                                        <p:tgtEl>
                                          <p:spTgt spid="6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39" dur="5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0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42" dur="500" fill="hold"/>
                                        <p:tgtEl>
                                          <p:spTgt spid="6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3" dur="500" fill="hold"/>
                                        <p:tgtEl>
                                          <p:spTgt spid="6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44" dur="5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5" fill="hold">
                      <p:stCondLst>
                        <p:cond delay="indefinite"/>
                      </p:stCondLst>
                      <p:childTnLst>
                        <p:par>
                          <p:cTn id="346" fill="hold">
                            <p:stCondLst>
                              <p:cond delay="0"/>
                            </p:stCondLst>
                            <p:childTnLst>
                              <p:par>
                                <p:cTn id="34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4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1" dur="300"/>
                                        <p:tgtEl>
                                          <p:spTgt spid="8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2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53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54" dur="1" fill="hold">
                                          <p:stCondLst>
                                            <p:cond delay="3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7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0" dur="4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1" presetID="1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3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63" presetID="0" presetClass="path" presetSubtype="0" fill="hold" grpId="3" nodeType="withEffect">
                                  <p:stCondLst>
                                    <p:cond delay="400"/>
                                  </p:stCondLst>
                                  <p:childTnLst>
                                    <p:animMotion origin="layout" path="M 0 0 L 0.0000 0.4600 E" pathEditMode="relative" ptsTypes="AA">
                                      <p:cBhvr>
                                        <p:cTn id="364" dur="2200" fill="hold"/>
                                        <p:tgtEl>
                                          <p:spTgt spid="11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65" presetID="1" presetClass="exit" presetSubtype="0" fill="hold" grpId="1" nodeType="withEffect">
                                  <p:stCondLst>
                                    <p:cond delay="2600"/>
                                  </p:stCondLst>
                                  <p:childTnLst>
                                    <p:set>
                                      <p:cBhvr>
                                        <p:cTn id="3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67" presetID="1" presetClass="entr" presetSubtype="0" fill="hold" grpId="0" nodeType="withEffect">
                                  <p:stCondLst>
                                    <p:cond delay="620"/>
                                  </p:stCondLst>
                                  <p:childTnLst>
                                    <p:set>
                                      <p:cBhvr>
                                        <p:cTn id="3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69" presetID="0" presetClass="path" presetSubtype="0" fill="hold" grpId="3" nodeType="withEffect">
                                  <p:stCondLst>
                                    <p:cond delay="620"/>
                                  </p:stCondLst>
                                  <p:childTnLst>
                                    <p:animMotion origin="layout" path="M 0 0 L 0.0000 0.4600 E" pathEditMode="relative" ptsTypes="AA">
                                      <p:cBhvr>
                                        <p:cTn id="370" dur="2200" fill="hold"/>
                                        <p:tgtEl>
                                          <p:spTgt spid="11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71" presetID="1" presetClass="exit" presetSubtype="0" fill="hold" grpId="1" nodeType="withEffect">
                                  <p:stCondLst>
                                    <p:cond delay="2820"/>
                                  </p:stCondLst>
                                  <p:childTnLst>
                                    <p:set>
                                      <p:cBhvr>
                                        <p:cTn id="3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3" presetID="1" presetClass="entr" presetSubtype="0" fill="hold" grpId="0" nodeType="withEffect">
                                  <p:stCondLst>
                                    <p:cond delay="840"/>
                                  </p:stCondLst>
                                  <p:childTnLst>
                                    <p:set>
                                      <p:cBhvr>
                                        <p:cTn id="3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5" presetID="0" presetClass="path" presetSubtype="0" fill="hold" grpId="3" nodeType="withEffect">
                                  <p:stCondLst>
                                    <p:cond delay="840"/>
                                  </p:stCondLst>
                                  <p:childTnLst>
                                    <p:animMotion origin="layout" path="M 0 0 L 0.0000 0.4600 E" pathEditMode="relative" ptsTypes="AA">
                                      <p:cBhvr>
                                        <p:cTn id="376" dur="2200" fill="hold"/>
                                        <p:tgtEl>
                                          <p:spTgt spid="11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77" presetID="1" presetClass="exit" presetSubtype="0" fill="hold" grpId="1" nodeType="withEffect">
                                  <p:stCondLst>
                                    <p:cond delay="3040"/>
                                  </p:stCondLst>
                                  <p:childTnLst>
                                    <p:set>
                                      <p:cBhvr>
                                        <p:cTn id="3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9" presetID="1" presetClass="entr" presetSubtype="0" fill="hold" grpId="0" nodeType="withEffect">
                                  <p:stCondLst>
                                    <p:cond delay="1060"/>
                                  </p:stCondLst>
                                  <p:childTnLst>
                                    <p:set>
                                      <p:cBhvr>
                                        <p:cTn id="3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81" presetID="0" presetClass="path" presetSubtype="0" fill="hold" grpId="3" nodeType="withEffect">
                                  <p:stCondLst>
                                    <p:cond delay="1060"/>
                                  </p:stCondLst>
                                  <p:childTnLst>
                                    <p:animMotion origin="layout" path="M 0 0 L 0.0000 0.4600 E" pathEditMode="relative" ptsTypes="AA">
                                      <p:cBhvr>
                                        <p:cTn id="382" dur="2200" fill="hold"/>
                                        <p:tgtEl>
                                          <p:spTgt spid="11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83" presetID="1" presetClass="exit" presetSubtype="0" fill="hold" grpId="1" nodeType="withEffect">
                                  <p:stCondLst>
                                    <p:cond delay="3260"/>
                                  </p:stCondLst>
                                  <p:childTnLst>
                                    <p:set>
                                      <p:cBhvr>
                                        <p:cTn id="3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85" presetID="1" presetClass="entr" presetSubtype="0" fill="hold" grpId="0" nodeType="withEffect">
                                  <p:stCondLst>
                                    <p:cond delay="1280"/>
                                  </p:stCondLst>
                                  <p:childTnLst>
                                    <p:set>
                                      <p:cBhvr>
                                        <p:cTn id="3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87" presetID="0" presetClass="path" presetSubtype="0" fill="hold" grpId="3" nodeType="withEffect">
                                  <p:stCondLst>
                                    <p:cond delay="1280"/>
                                  </p:stCondLst>
                                  <p:childTnLst>
                                    <p:animMotion origin="layout" path="M 0 0 L 0.0000 0.4600 E" pathEditMode="relative" ptsTypes="AA">
                                      <p:cBhvr>
                                        <p:cTn id="388" dur="2200" fill="hold"/>
                                        <p:tgtEl>
                                          <p:spTgt spid="11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89" presetID="1" presetClass="exit" presetSubtype="0" fill="hold" grpId="1" nodeType="withEffect">
                                  <p:stCondLst>
                                    <p:cond delay="3480"/>
                                  </p:stCondLst>
                                  <p:childTnLst>
                                    <p:set>
                                      <p:cBhvr>
                                        <p:cTn id="3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1" presetID="1" presetClass="entr" presetSubtype="0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3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3" presetID="0" presetClass="path" presetSubtype="0" fill="hold" grpId="3" nodeType="withEffect">
                                  <p:stCondLst>
                                    <p:cond delay="1500"/>
                                  </p:stCondLst>
                                  <p:childTnLst>
                                    <p:animMotion origin="layout" path="M 0 0 L 0.0000 0.4600 E" pathEditMode="relative" ptsTypes="AA">
                                      <p:cBhvr>
                                        <p:cTn id="394" dur="2200" fill="hold"/>
                                        <p:tgtEl>
                                          <p:spTgt spid="11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95" presetID="1" presetClass="exit" presetSubtype="0" fill="hold" grpId="1" nodeType="withEffect">
                                  <p:stCondLst>
                                    <p:cond delay="3700"/>
                                  </p:stCondLst>
                                  <p:childTnLst>
                                    <p:set>
                                      <p:cBhvr>
                                        <p:cTn id="3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7" presetID="1" presetClass="entr" presetSubtype="0" fill="hold" grpId="0" nodeType="withEffect">
                                  <p:stCondLst>
                                    <p:cond delay="1720"/>
                                  </p:stCondLst>
                                  <p:childTnLst>
                                    <p:set>
                                      <p:cBhvr>
                                        <p:cTn id="3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9" presetID="0" presetClass="path" presetSubtype="0" fill="hold" grpId="3" nodeType="withEffect">
                                  <p:stCondLst>
                                    <p:cond delay="1720"/>
                                  </p:stCondLst>
                                  <p:childTnLst>
                                    <p:animMotion origin="layout" path="M 0 0 L 0.0000 0.4600 E" pathEditMode="relative" ptsTypes="AA">
                                      <p:cBhvr>
                                        <p:cTn id="400" dur="2200" fill="hold"/>
                                        <p:tgtEl>
                                          <p:spTgt spid="11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401" presetID="1" presetClass="exit" presetSubtype="0" fill="hold" grpId="1" nodeType="withEffect">
                                  <p:stCondLst>
                                    <p:cond delay="3920"/>
                                  </p:stCondLst>
                                  <p:childTnLst>
                                    <p:set>
                                      <p:cBhvr>
                                        <p:cTn id="4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03" presetID="1" presetClass="entr" presetSubtype="0" fill="hold" grpId="0" nodeType="withEffect">
                                  <p:stCondLst>
                                    <p:cond delay="1940"/>
                                  </p:stCondLst>
                                  <p:childTnLst>
                                    <p:set>
                                      <p:cBhvr>
                                        <p:cTn id="4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05" presetID="0" presetClass="path" presetSubtype="0" fill="hold" grpId="3" nodeType="withEffect">
                                  <p:stCondLst>
                                    <p:cond delay="1940"/>
                                  </p:stCondLst>
                                  <p:childTnLst>
                                    <p:animMotion origin="layout" path="M 0 0 L 0.0000 0.4600 E" pathEditMode="relative" ptsTypes="AA">
                                      <p:cBhvr>
                                        <p:cTn id="406" dur="2200" fill="hold"/>
                                        <p:tgtEl>
                                          <p:spTgt spid="12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407" presetID="1" presetClass="exit" presetSubtype="0" fill="hold" grpId="1" nodeType="withEffect">
                                  <p:stCondLst>
                                    <p:cond delay="4140"/>
                                  </p:stCondLst>
                                  <p:childTnLst>
                                    <p:set>
                                      <p:cBhvr>
                                        <p:cTn id="4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09" presetID="1" presetClass="entr" presetSubtype="0" fill="hold" grpId="0" nodeType="withEffect">
                                  <p:stCondLst>
                                    <p:cond delay="2160"/>
                                  </p:stCondLst>
                                  <p:childTnLst>
                                    <p:set>
                                      <p:cBhvr>
                                        <p:cTn id="4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1" presetID="0" presetClass="path" presetSubtype="0" fill="hold" grpId="3" nodeType="withEffect">
                                  <p:stCondLst>
                                    <p:cond delay="2160"/>
                                  </p:stCondLst>
                                  <p:childTnLst>
                                    <p:animMotion origin="layout" path="M 0 0 L 0.0000 0.4600 E" pathEditMode="relative" ptsTypes="AA">
                                      <p:cBhvr>
                                        <p:cTn id="412" dur="2200" fill="hold"/>
                                        <p:tgtEl>
                                          <p:spTgt spid="12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413" presetID="1" presetClass="exit" presetSubtype="0" fill="hold" grpId="1" nodeType="withEffect">
                                  <p:stCondLst>
                                    <p:cond delay="4360"/>
                                  </p:stCondLst>
                                  <p:childTnLst>
                                    <p:set>
                                      <p:cBhvr>
                                        <p:cTn id="4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5" presetID="1" presetClass="entr" presetSubtype="0" fill="hold" grpId="0" nodeType="withEffect">
                                  <p:stCondLst>
                                    <p:cond delay="2380"/>
                                  </p:stCondLst>
                                  <p:childTnLst>
                                    <p:set>
                                      <p:cBhvr>
                                        <p:cTn id="4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7" presetID="0" presetClass="path" presetSubtype="0" fill="hold" grpId="3" nodeType="withEffect">
                                  <p:stCondLst>
                                    <p:cond delay="2380"/>
                                  </p:stCondLst>
                                  <p:childTnLst>
                                    <p:animMotion origin="layout" path="M 0 0 L 0.0000 0.4600 E" pathEditMode="relative" ptsTypes="AA">
                                      <p:cBhvr>
                                        <p:cTn id="418" dur="2200" fill="hold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419" presetID="1" presetClass="exit" presetSubtype="0" fill="hold" grpId="1" nodeType="withEffect">
                                  <p:stCondLst>
                                    <p:cond delay="4580"/>
                                  </p:stCondLst>
                                  <p:childTnLst>
                                    <p:set>
                                      <p:cBhvr>
                                        <p:cTn id="4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21" presetID="10" presetClass="exit" presetSubtype="0" fill="hold" grpId="1" nodeType="withEffect">
                                  <p:stCondLst>
                                    <p:cond delay="8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22" dur="5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2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24" presetID="10" presetClass="exit" presetSubtype="0" fill="hold" grpId="1" nodeType="withEffect">
                                  <p:stCondLst>
                                    <p:cond delay="8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25" dur="5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2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27" presetID="10" presetClass="exit" presetSubtype="0" fill="hold" grpId="1" nodeType="withEffect">
                                  <p:stCondLst>
                                    <p:cond delay="8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28" dur="5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2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0" presetID="10" presetClass="exit" presetSubtype="0" fill="hold" grpId="1" nodeType="withEffect">
                                  <p:stCondLst>
                                    <p:cond delay="10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31" dur="7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32" dur="1" fill="hold">
                                          <p:stCondLst>
                                            <p:cond delay="699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3" presetID="42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4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5" dur="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36" dur="500" fill="hold"/>
                                        <p:tgtEl>
                                          <p:spTgt spid="5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37" dur="500" fill="hold"/>
                                        <p:tgtEl>
                                          <p:spTgt spid="5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38" presetID="10" presetClass="exit" presetSubtype="0" fill="hold" grpId="1" nodeType="withEffect">
                                  <p:stCondLst>
                                    <p:cond delay="19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39" dur="7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40" dur="1" fill="hold">
                                          <p:stCondLst>
                                            <p:cond delay="699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41" presetID="42" presetClass="entr" presetSubtype="0" fill="hold" grpId="0" nodeType="withEffect">
                                  <p:stCondLst>
                                    <p:cond delay="1900"/>
                                  </p:stCondLst>
                                  <p:childTnLst>
                                    <p:set>
                                      <p:cBhvr>
                                        <p:cTn id="4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3" dur="5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44" dur="500" fill="hold"/>
                                        <p:tgtEl>
                                          <p:spTgt spid="5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5" dur="500" fill="hold"/>
                                        <p:tgtEl>
                                          <p:spTgt spid="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46" presetID="10" presetClass="exit" presetSubtype="0" fill="hold" grpId="1" nodeType="withEffect">
                                  <p:stCondLst>
                                    <p:cond delay="28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47" dur="7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48" dur="1" fill="hold">
                                          <p:stCondLst>
                                            <p:cond delay="699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49" presetID="42" presetClass="entr" presetSubtype="0" fill="hold" grpId="0" nodeType="withEffect">
                                  <p:stCondLst>
                                    <p:cond delay="2800"/>
                                  </p:stCondLst>
                                  <p:childTnLst>
                                    <p:set>
                                      <p:cBhvr>
                                        <p:cTn id="4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1" dur="5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52" dur="500" fill="hold"/>
                                        <p:tgtEl>
                                          <p:spTgt spid="5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53" dur="500" fill="hold"/>
                                        <p:tgtEl>
                                          <p:spTgt spid="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4" fill="hold">
                      <p:stCondLst>
                        <p:cond delay="indefinite"/>
                      </p:stCondLst>
                      <p:childTnLst>
                        <p:par>
                          <p:cTn id="455" fill="hold">
                            <p:stCondLst>
                              <p:cond delay="0"/>
                            </p:stCondLst>
                            <p:childTnLst>
                              <p:par>
                                <p:cTn id="456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0" dur="300"/>
                                        <p:tgtEl>
                                          <p:spTgt spid="8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1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62" dur="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6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64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65" dur="5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6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67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68" dur="5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6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0" presetID="1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4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2" presetID="0" presetClass="path" presetSubtype="0" fill="hold" grpId="3" nodeType="with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0 0 L 0.0000 0.0733 L 0.2625 0.0733 L 0.2625 0.0067 L 0.3113 0.0067 E" pathEditMode="relative" ptsTypes="AAAAA">
                                      <p:cBhvr>
                                        <p:cTn id="473" dur="1800" fill="hold"/>
                                        <p:tgtEl>
                                          <p:spTgt spid="12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474" presetID="1" presetClass="exit" presetSubtype="0" fill="hold" grpId="1" nodeType="withEffect">
                                  <p:stCondLst>
                                    <p:cond delay="2100"/>
                                  </p:stCondLst>
                                  <p:childTnLst>
                                    <p:set>
                                      <p:cBhvr>
                                        <p:cTn id="4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6" presetID="1" presetClass="entr" presetSubtype="0" fill="hold" grpId="0" nodeType="withEffect">
                                  <p:stCondLst>
                                    <p:cond delay="550"/>
                                  </p:stCondLst>
                                  <p:childTnLst>
                                    <p:set>
                                      <p:cBhvr>
                                        <p:cTn id="4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8" presetID="0" presetClass="path" presetSubtype="0" fill="hold" grpId="3" nodeType="withEffect">
                                  <p:stCondLst>
                                    <p:cond delay="550"/>
                                  </p:stCondLst>
                                  <p:childTnLst>
                                    <p:animMotion origin="layout" path="M 0 0 L 0.0000 0.0733 L 0.2625 0.0733 L 0.2625 0.0067 L 0.3113 0.0067 E" pathEditMode="relative" ptsTypes="AAAAA">
                                      <p:cBhvr>
                                        <p:cTn id="479" dur="1800" fill="hold"/>
                                        <p:tgtEl>
                                          <p:spTgt spid="12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480" presetID="1" presetClass="exit" presetSubtype="0" fill="hold" grpId="1" nodeType="withEffect">
                                  <p:stCondLst>
                                    <p:cond delay="2350"/>
                                  </p:stCondLst>
                                  <p:childTnLst>
                                    <p:set>
                                      <p:cBhvr>
                                        <p:cTn id="4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82" presetID="1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4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84" presetID="0" presetClass="path" presetSubtype="0" fill="hold" grpId="3" nodeType="withEffect">
                                  <p:stCondLst>
                                    <p:cond delay="800"/>
                                  </p:stCondLst>
                                  <p:childTnLst>
                                    <p:animMotion origin="layout" path="M 0 0 L 0.0000 0.0733 L 0.2625 0.0733 L 0.2625 0.0067 L 0.3113 0.0067 E" pathEditMode="relative" ptsTypes="AAAAA">
                                      <p:cBhvr>
                                        <p:cTn id="485" dur="1800" fill="hold"/>
                                        <p:tgtEl>
                                          <p:spTgt spid="12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486" presetID="1" presetClass="exit" presetSubtype="0" fill="hold" grpId="1" nodeType="withEffect">
                                  <p:stCondLst>
                                    <p:cond delay="2600"/>
                                  </p:stCondLst>
                                  <p:childTnLst>
                                    <p:set>
                                      <p:cBhvr>
                                        <p:cTn id="4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88" presetID="1" presetClass="entr" presetSubtype="0" fill="hold" grpId="0" nodeType="withEffect">
                                  <p:stCondLst>
                                    <p:cond delay="1050"/>
                                  </p:stCondLst>
                                  <p:childTnLst>
                                    <p:set>
                                      <p:cBhvr>
                                        <p:cTn id="4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0" presetID="0" presetClass="path" presetSubtype="0" fill="hold" grpId="3" nodeType="withEffect">
                                  <p:stCondLst>
                                    <p:cond delay="1050"/>
                                  </p:stCondLst>
                                  <p:childTnLst>
                                    <p:animMotion origin="layout" path="M 0 0 L 0.0000 0.0733 L 0.2625 0.0733 L 0.2625 0.0067 L 0.3113 0.0067 E" pathEditMode="relative" ptsTypes="AAAAA">
                                      <p:cBhvr>
                                        <p:cTn id="491" dur="1800" fill="hold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492" presetID="1" presetClass="exit" presetSubtype="0" fill="hold" grpId="1" nodeType="withEffect">
                                  <p:stCondLst>
                                    <p:cond delay="2850"/>
                                  </p:stCondLst>
                                  <p:childTnLst>
                                    <p:set>
                                      <p:cBhvr>
                                        <p:cTn id="4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4" presetID="1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4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6" presetID="0" presetClass="path" presetSubtype="0" fill="hold" grpId="3" nodeType="withEffect">
                                  <p:stCondLst>
                                    <p:cond delay="1300"/>
                                  </p:stCondLst>
                                  <p:childTnLst>
                                    <p:animMotion origin="layout" path="M 0 0 L 0.0000 0.0733 L 0.2625 0.0733 L 0.2625 0.0067 L 0.3113 0.0067 E" pathEditMode="relative" ptsTypes="AAAAA">
                                      <p:cBhvr>
                                        <p:cTn id="497" dur="1800" fill="hold"/>
                                        <p:tgtEl>
                                          <p:spTgt spid="12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498" presetID="1" presetClass="exit" presetSubtype="0" fill="hold" grpId="1" nodeType="withEffect">
                                  <p:stCondLst>
                                    <p:cond delay="3100"/>
                                  </p:stCondLst>
                                  <p:childTnLst>
                                    <p:set>
                                      <p:cBhvr>
                                        <p:cTn id="4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00" presetID="22" presetClass="entr" presetSubtype="4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5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502" dur="600"/>
                                        <p:tgtEl>
                                          <p:spTgt spid="6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3" presetID="22" presetClass="entr" presetSubtype="4" fill="hold" grpId="0" nodeType="withEffect">
                                  <p:stCondLst>
                                    <p:cond delay="2200"/>
                                  </p:stCondLst>
                                  <p:childTnLst>
                                    <p:set>
                                      <p:cBhvr>
                                        <p:cTn id="5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505" dur="600"/>
                                        <p:tgtEl>
                                          <p:spTgt spid="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6" fill="hold">
                      <p:stCondLst>
                        <p:cond delay="indefinite"/>
                      </p:stCondLst>
                      <p:childTnLst>
                        <p:par>
                          <p:cTn id="507" fill="hold">
                            <p:stCondLst>
                              <p:cond delay="0"/>
                            </p:stCondLst>
                            <p:childTnLst>
                              <p:par>
                                <p:cTn id="508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2" dur="300"/>
                                        <p:tgtEl>
                                          <p:spTgt spid="9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3" fill="hold">
                            <p:stCondLst>
                              <p:cond delay="500"/>
                            </p:stCondLst>
                            <p:childTnLst>
                              <p:par>
                                <p:cTn id="514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16" dur="500" fill="hold"/>
                                        <p:tgtEl>
                                          <p:spTgt spid="12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17" dur="500" fill="hold"/>
                                        <p:tgtEl>
                                          <p:spTgt spid="12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18" dur="500"/>
                                        <p:tgtEl>
                                          <p:spTgt spid="1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9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21" dur="500" fill="hold"/>
                                        <p:tgtEl>
                                          <p:spTgt spid="12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22" dur="500" fill="hold"/>
                                        <p:tgtEl>
                                          <p:spTgt spid="12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23" dur="500"/>
                                        <p:tgtEl>
                                          <p:spTgt spid="1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4" fill="hold">
                            <p:stCondLst>
                              <p:cond delay="1000"/>
                            </p:stCondLst>
                            <p:childTnLst>
                              <p:par>
                                <p:cTn id="525" presetID="6" presetClass="emph" presetSubtype="0" repeatCount="2000" fill="hold" grpId="2" nodeType="after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526" dur="400" autoRev="1" fill="hold"/>
                                        <p:tgtEl>
                                          <p:spTgt spid="128"/>
                                        </p:tgtEl>
                                      </p:cBhvr>
                                      <p:by x="108000" y="108000"/>
                                    </p:animScale>
                                  </p:childTnLst>
                                </p:cTn>
                              </p:par>
                              <p:par>
                                <p:cTn id="527" presetID="6" presetClass="emph" presetSubtype="0" repeatCount="200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528" dur="400" autoRev="1" fill="hold"/>
                                        <p:tgtEl>
                                          <p:spTgt spid="129"/>
                                        </p:tgtEl>
                                      </p:cBhvr>
                                      <p:by x="108000" y="108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2" grpId="0" animBg="1"/>
      <p:bldP spid="83" grpId="0" animBg="1"/>
      <p:bldP spid="16" grpId="2" animBg="1"/>
      <p:bldP spid="25" grpId="2" animBg="1"/>
      <p:bldP spid="34" grpId="2" animBg="1"/>
      <p:bldP spid="83" grpId="1" animBg="1"/>
      <p:bldP spid="84" grpId="0" animBg="1"/>
      <p:bldP spid="4" grpId="0" animBg="1"/>
      <p:bldP spid="40" grpId="0" animBg="1"/>
      <p:bldP spid="38" grpId="0" animBg="1"/>
      <p:bldP spid="39" grpId="0" animBg="1"/>
      <p:bldP spid="91" grpId="0" animBg="1"/>
      <p:bldP spid="91" grpId="3" animBg="1"/>
      <p:bldP spid="91" grpId="1" animBg="1"/>
      <p:bldP spid="92" grpId="0" animBg="1"/>
      <p:bldP spid="92" grpId="3" animBg="1"/>
      <p:bldP spid="92" grpId="1" animBg="1"/>
      <p:bldP spid="93" grpId="0" animBg="1"/>
      <p:bldP spid="93" grpId="3" animBg="1"/>
      <p:bldP spid="93" grpId="1" animBg="1"/>
      <p:bldP spid="94" grpId="0" animBg="1"/>
      <p:bldP spid="94" grpId="3" animBg="1"/>
      <p:bldP spid="94" grpId="1" animBg="1"/>
      <p:bldP spid="95" grpId="0" animBg="1"/>
      <p:bldP spid="95" grpId="3" animBg="1"/>
      <p:bldP spid="95" grpId="1" animBg="1"/>
      <p:bldP spid="96" grpId="0" animBg="1"/>
      <p:bldP spid="96" grpId="3" animBg="1"/>
      <p:bldP spid="96" grpId="1" animBg="1"/>
      <p:bldP spid="97" grpId="0" animBg="1"/>
      <p:bldP spid="97" grpId="3" animBg="1"/>
      <p:bldP spid="97" grpId="1" animBg="1"/>
      <p:bldP spid="98" grpId="0" animBg="1"/>
      <p:bldP spid="98" grpId="3" animBg="1"/>
      <p:bldP spid="98" grpId="1" animBg="1"/>
      <p:bldP spid="99" grpId="0" animBg="1"/>
      <p:bldP spid="99" grpId="3" animBg="1"/>
      <p:bldP spid="99" grpId="1" animBg="1"/>
      <p:bldP spid="100" grpId="0" animBg="1"/>
      <p:bldP spid="100" grpId="3" animBg="1"/>
      <p:bldP spid="100" grpId="1" animBg="1"/>
      <p:bldP spid="17" grpId="0" animBg="1"/>
      <p:bldP spid="52" grpId="0" animBg="1"/>
      <p:bldP spid="26" grpId="0" animBg="1"/>
      <p:bldP spid="53" grpId="0" animBg="1"/>
      <p:bldP spid="35" grpId="0" animBg="1"/>
      <p:bldP spid="54" grpId="0" animBg="1"/>
      <p:bldP spid="84" grpId="1" animBg="1"/>
      <p:bldP spid="85" grpId="0" animBg="1"/>
      <p:bldP spid="17" grpId="2" animBg="1"/>
      <p:bldP spid="26" grpId="2" animBg="1"/>
      <p:bldP spid="35" grpId="2" animBg="1"/>
      <p:bldP spid="85" grpId="1" animBg="1"/>
      <p:bldP spid="86" grpId="0" animBg="1"/>
      <p:bldP spid="4" grpId="1" animBg="1"/>
      <p:bldP spid="40" grpId="1" animBg="1"/>
      <p:bldP spid="52" grpId="1" animBg="1"/>
      <p:bldP spid="53" grpId="1" animBg="1"/>
      <p:bldP spid="54" grpId="1" animBg="1"/>
      <p:bldP spid="6" grpId="0" animBg="1"/>
      <p:bldP spid="42" grpId="0" animBg="1"/>
      <p:bldP spid="43" grpId="0" animBg="1"/>
      <p:bldP spid="101" grpId="0" animBg="1"/>
      <p:bldP spid="101" grpId="3" animBg="1"/>
      <p:bldP spid="101" grpId="1" animBg="1"/>
      <p:bldP spid="102" grpId="0" animBg="1"/>
      <p:bldP spid="102" grpId="3" animBg="1"/>
      <p:bldP spid="102" grpId="1" animBg="1"/>
      <p:bldP spid="103" grpId="0" animBg="1"/>
      <p:bldP spid="103" grpId="3" animBg="1"/>
      <p:bldP spid="103" grpId="1" animBg="1"/>
      <p:bldP spid="104" grpId="0" animBg="1"/>
      <p:bldP spid="104" grpId="3" animBg="1"/>
      <p:bldP spid="104" grpId="1" animBg="1"/>
      <p:bldP spid="105" grpId="0" animBg="1"/>
      <p:bldP spid="105" grpId="3" animBg="1"/>
      <p:bldP spid="105" grpId="1" animBg="1"/>
      <p:bldP spid="106" grpId="0" animBg="1"/>
      <p:bldP spid="106" grpId="3" animBg="1"/>
      <p:bldP spid="106" grpId="1" animBg="1"/>
      <p:bldP spid="107" grpId="0" animBg="1"/>
      <p:bldP spid="107" grpId="3" animBg="1"/>
      <p:bldP spid="107" grpId="1" animBg="1"/>
      <p:bldP spid="108" grpId="0" animBg="1"/>
      <p:bldP spid="108" grpId="3" animBg="1"/>
      <p:bldP spid="108" grpId="1" animBg="1"/>
      <p:bldP spid="109" grpId="0" animBg="1"/>
      <p:bldP spid="109" grpId="3" animBg="1"/>
      <p:bldP spid="109" grpId="1" animBg="1"/>
      <p:bldP spid="110" grpId="0" animBg="1"/>
      <p:bldP spid="110" grpId="3" animBg="1"/>
      <p:bldP spid="110" grpId="1" animBg="1"/>
      <p:bldP spid="111" grpId="0" animBg="1"/>
      <p:bldP spid="111" grpId="3" animBg="1"/>
      <p:bldP spid="111" grpId="1" animBg="1"/>
      <p:bldP spid="112" grpId="0" animBg="1"/>
      <p:bldP spid="112" grpId="3" animBg="1"/>
      <p:bldP spid="112" grpId="1" animBg="1"/>
      <p:bldP spid="55" grpId="0" animBg="1"/>
      <p:bldP spid="56" grpId="0" animBg="1"/>
      <p:bldP spid="44" grpId="0" animBg="1"/>
      <p:bldP spid="45" grpId="0" animBg="1"/>
      <p:bldP spid="46" grpId="0" animBg="1"/>
      <p:bldP spid="47" grpId="0" animBg="1"/>
      <p:bldP spid="55" grpId="3" animBg="1"/>
      <p:bldP spid="55" grpId="1" animBg="1"/>
      <p:bldP spid="56" grpId="3" animBg="1"/>
      <p:bldP spid="56" grpId="1" animBg="1"/>
      <p:bldP spid="49" grpId="2" animBg="1"/>
      <p:bldP spid="50" grpId="2" animBg="1"/>
      <p:bldP spid="16" grpId="1" animBg="1"/>
      <p:bldP spid="25" grpId="1" animBg="1"/>
      <p:bldP spid="34" grpId="1" animBg="1"/>
      <p:bldP spid="17" grpId="1" animBg="1"/>
      <p:bldP spid="26" grpId="1" animBg="1"/>
      <p:bldP spid="35" grpId="1" animBg="1"/>
      <p:bldP spid="74" grpId="1" animBg="1"/>
      <p:bldP spid="75" grpId="0" animBg="1"/>
      <p:bldP spid="77" grpId="1" animBg="1"/>
      <p:bldP spid="78" grpId="0" animBg="1"/>
      <p:bldP spid="80" grpId="1" animBg="1"/>
      <p:bldP spid="81" grpId="0" animBg="1"/>
      <p:bldP spid="86" grpId="1" animBg="1"/>
      <p:bldP spid="87" grpId="0" animBg="1"/>
      <p:bldP spid="18" grpId="0" animBg="1"/>
      <p:bldP spid="27" grpId="0" animBg="1"/>
      <p:bldP spid="36" grpId="0" animBg="1"/>
      <p:bldP spid="18" grpId="2" animBg="1"/>
      <p:bldP spid="27" grpId="2" animBg="1"/>
      <p:bldP spid="36" grpId="2" animBg="1"/>
      <p:bldP spid="60" grpId="0" animBg="1"/>
      <p:bldP spid="61" grpId="0" animBg="1"/>
      <p:bldP spid="62" grpId="0" animBg="1"/>
      <p:bldP spid="87" grpId="1" animBg="1"/>
      <p:bldP spid="88" grpId="0" animBg="1"/>
      <p:bldP spid="6" grpId="1" animBg="1"/>
      <p:bldP spid="8" grpId="0" animBg="1"/>
      <p:bldP spid="41" grpId="0" animBg="1"/>
      <p:bldP spid="113" grpId="0" animBg="1"/>
      <p:bldP spid="113" grpId="3" animBg="1"/>
      <p:bldP spid="113" grpId="1" animBg="1"/>
      <p:bldP spid="114" grpId="0" animBg="1"/>
      <p:bldP spid="114" grpId="3" animBg="1"/>
      <p:bldP spid="114" grpId="1" animBg="1"/>
      <p:bldP spid="115" grpId="0" animBg="1"/>
      <p:bldP spid="115" grpId="3" animBg="1"/>
      <p:bldP spid="115" grpId="1" animBg="1"/>
      <p:bldP spid="116" grpId="0" animBg="1"/>
      <p:bldP spid="116" grpId="3" animBg="1"/>
      <p:bldP spid="116" grpId="1" animBg="1"/>
      <p:bldP spid="117" grpId="0" animBg="1"/>
      <p:bldP spid="117" grpId="3" animBg="1"/>
      <p:bldP spid="117" grpId="1" animBg="1"/>
      <p:bldP spid="118" grpId="0" animBg="1"/>
      <p:bldP spid="118" grpId="3" animBg="1"/>
      <p:bldP spid="118" grpId="1" animBg="1"/>
      <p:bldP spid="119" grpId="0" animBg="1"/>
      <p:bldP spid="119" grpId="3" animBg="1"/>
      <p:bldP spid="119" grpId="1" animBg="1"/>
      <p:bldP spid="120" grpId="0" animBg="1"/>
      <p:bldP spid="120" grpId="3" animBg="1"/>
      <p:bldP spid="120" grpId="1" animBg="1"/>
      <p:bldP spid="121" grpId="0" animBg="1"/>
      <p:bldP spid="121" grpId="3" animBg="1"/>
      <p:bldP spid="121" grpId="1" animBg="1"/>
      <p:bldP spid="122" grpId="0" animBg="1"/>
      <p:bldP spid="122" grpId="3" animBg="1"/>
      <p:bldP spid="122" grpId="1" animBg="1"/>
      <p:bldP spid="60" grpId="1" animBg="1"/>
      <p:bldP spid="61" grpId="1" animBg="1"/>
      <p:bldP spid="62" grpId="1" animBg="1"/>
      <p:bldP spid="18" grpId="1" animBg="1"/>
      <p:bldP spid="57" grpId="0" animBg="1"/>
      <p:bldP spid="27" grpId="1" animBg="1"/>
      <p:bldP spid="58" grpId="0" animBg="1"/>
      <p:bldP spid="36" grpId="1" animBg="1"/>
      <p:bldP spid="59" grpId="0" animBg="1"/>
      <p:bldP spid="88" grpId="1" animBg="1"/>
      <p:bldP spid="89" grpId="0" animBg="1"/>
      <p:bldP spid="57" grpId="1" animBg="1"/>
      <p:bldP spid="58" grpId="1" animBg="1"/>
      <p:bldP spid="59" grpId="1" animBg="1"/>
      <p:bldP spid="123" grpId="0" animBg="1"/>
      <p:bldP spid="123" grpId="3" animBg="1"/>
      <p:bldP spid="123" grpId="1" animBg="1"/>
      <p:bldP spid="124" grpId="0" animBg="1"/>
      <p:bldP spid="124" grpId="3" animBg="1"/>
      <p:bldP spid="124" grpId="1" animBg="1"/>
      <p:bldP spid="125" grpId="0" animBg="1"/>
      <p:bldP spid="125" grpId="3" animBg="1"/>
      <p:bldP spid="125" grpId="1" animBg="1"/>
      <p:bldP spid="126" grpId="0" animBg="1"/>
      <p:bldP spid="126" grpId="3" animBg="1"/>
      <p:bldP spid="126" grpId="1" animBg="1"/>
      <p:bldP spid="127" grpId="0" animBg="1"/>
      <p:bldP spid="127" grpId="3" animBg="1"/>
      <p:bldP spid="127" grpId="1" animBg="1"/>
      <p:bldP spid="68" grpId="0" animBg="1"/>
      <p:bldP spid="69" grpId="0" animBg="1"/>
      <p:bldP spid="89" grpId="1" animBg="1"/>
      <p:bldP spid="90" grpId="0" animBg="1"/>
      <p:bldP spid="128" grpId="0" animBg="1"/>
      <p:bldP spid="129" grpId="0" animBg="1"/>
      <p:bldP spid="128" grpId="2" animBg="1"/>
      <p:bldP spid="129" grpId="2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47472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5F8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Tank decontamination – gamma-jet circulation</a:t>
            </a:r>
            <a:endParaRPr lang="en-US" sz="2800" dirty="0"/>
          </a:p>
        </p:txBody>
      </p:sp>
      <p:sp>
        <p:nvSpPr>
          <p:cNvPr id="3" name="s736"/>
          <p:cNvSpPr/>
          <p:nvPr/>
        </p:nvSpPr>
        <p:spPr>
          <a:xfrm>
            <a:off x="3840480" y="4892040"/>
            <a:ext cx="4206240" cy="457200"/>
          </a:xfrm>
          <a:prstGeom prst="ellipse">
            <a:avLst/>
          </a:prstGeom>
          <a:solidFill>
            <a:srgbClr val="DDE5EE"/>
          </a:solidFill>
          <a:ln w="19050">
            <a:solidFill>
              <a:srgbClr val="94A3B8"/>
            </a:solidFill>
            <a:prstDash val="solid"/>
          </a:ln>
        </p:spPr>
      </p:sp>
      <p:sp>
        <p:nvSpPr>
          <p:cNvPr id="4" name="s737"/>
          <p:cNvSpPr/>
          <p:nvPr/>
        </p:nvSpPr>
        <p:spPr>
          <a:xfrm>
            <a:off x="3840480" y="2240280"/>
            <a:ext cx="4206240" cy="2880360"/>
          </a:xfrm>
          <a:prstGeom prst="roundRect">
            <a:avLst>
              <a:gd name="adj" fmla="val 1587"/>
            </a:avLst>
          </a:prstGeom>
          <a:solidFill>
            <a:srgbClr val="BFDDF2"/>
          </a:solidFill>
          <a:ln w="25400">
            <a:solidFill>
              <a:srgbClr val="0C74BC"/>
            </a:solidFill>
            <a:prstDash val="solid"/>
          </a:ln>
        </p:spPr>
      </p:sp>
      <p:sp>
        <p:nvSpPr>
          <p:cNvPr id="5" name="s738"/>
          <p:cNvSpPr/>
          <p:nvPr/>
        </p:nvSpPr>
        <p:spPr>
          <a:xfrm>
            <a:off x="4345229" y="2267712"/>
            <a:ext cx="757123" cy="2825496"/>
          </a:xfrm>
          <a:prstGeom prst="roundRect">
            <a:avLst>
              <a:gd name="adj" fmla="val 50000"/>
            </a:avLst>
          </a:prstGeom>
          <a:solidFill>
            <a:srgbClr val="E3F0FA"/>
          </a:solidFill>
          <a:ln/>
        </p:spPr>
      </p:sp>
      <p:sp>
        <p:nvSpPr>
          <p:cNvPr id="6" name="s739"/>
          <p:cNvSpPr/>
          <p:nvPr/>
        </p:nvSpPr>
        <p:spPr>
          <a:xfrm>
            <a:off x="3840480" y="2240280"/>
            <a:ext cx="4206240" cy="2880360"/>
          </a:xfrm>
          <a:prstGeom prst="roundRect">
            <a:avLst>
              <a:gd name="adj" fmla="val 1587"/>
            </a:avLst>
          </a:prstGeom>
          <a:solidFill>
            <a:srgbClr val="A08467"/>
          </a:solidFill>
          <a:ln w="25400">
            <a:solidFill>
              <a:srgbClr val="94A3B8"/>
            </a:solidFill>
            <a:prstDash val="solid"/>
          </a:ln>
        </p:spPr>
      </p:sp>
      <p:sp>
        <p:nvSpPr>
          <p:cNvPr id="7" name="s740"/>
          <p:cNvSpPr/>
          <p:nvPr/>
        </p:nvSpPr>
        <p:spPr>
          <a:xfrm>
            <a:off x="3840480" y="2240280"/>
            <a:ext cx="4206240" cy="2880360"/>
          </a:xfrm>
          <a:prstGeom prst="roundRect">
            <a:avLst>
              <a:gd name="adj" fmla="val 1587"/>
            </a:avLst>
          </a:prstGeom>
          <a:solidFill>
            <a:srgbClr val="7A5C3E"/>
          </a:solidFill>
          <a:ln w="25400">
            <a:solidFill>
              <a:srgbClr val="94A3B8"/>
            </a:solidFill>
            <a:prstDash val="solid"/>
          </a:ln>
        </p:spPr>
      </p:sp>
      <p:sp>
        <p:nvSpPr>
          <p:cNvPr id="8" name="s741"/>
          <p:cNvSpPr/>
          <p:nvPr/>
        </p:nvSpPr>
        <p:spPr>
          <a:xfrm>
            <a:off x="3840480" y="2240280"/>
            <a:ext cx="4206240" cy="2880360"/>
          </a:xfrm>
          <a:prstGeom prst="roundRect">
            <a:avLst>
              <a:gd name="adj" fmla="val 1587"/>
            </a:avLst>
          </a:prstGeom>
          <a:solidFill>
            <a:srgbClr val="5C4630"/>
          </a:solidFill>
          <a:ln w="25400">
            <a:solidFill>
              <a:srgbClr val="94A3B8"/>
            </a:solidFill>
            <a:prstDash val="solid"/>
          </a:ln>
        </p:spPr>
      </p:sp>
      <p:sp>
        <p:nvSpPr>
          <p:cNvPr id="9" name="s742"/>
          <p:cNvSpPr/>
          <p:nvPr/>
        </p:nvSpPr>
        <p:spPr>
          <a:xfrm>
            <a:off x="3840480" y="2011680"/>
            <a:ext cx="4206240" cy="457200"/>
          </a:xfrm>
          <a:prstGeom prst="ellipse">
            <a:avLst/>
          </a:prstGeom>
          <a:solidFill>
            <a:srgbClr val="DDE5EE"/>
          </a:solidFill>
          <a:ln w="19050">
            <a:solidFill>
              <a:srgbClr val="94A3B8"/>
            </a:solidFill>
            <a:prstDash val="solid"/>
          </a:ln>
        </p:spPr>
      </p:sp>
      <p:sp>
        <p:nvSpPr>
          <p:cNvPr id="10" name="s743"/>
          <p:cNvSpPr/>
          <p:nvPr/>
        </p:nvSpPr>
        <p:spPr>
          <a:xfrm>
            <a:off x="3886200" y="4343400"/>
            <a:ext cx="4114800" cy="731520"/>
          </a:xfrm>
          <a:prstGeom prst="rect">
            <a:avLst/>
          </a:prstGeom>
          <a:solidFill>
            <a:srgbClr val="5C4630"/>
          </a:solidFill>
          <a:ln/>
        </p:spPr>
      </p:sp>
      <p:sp>
        <p:nvSpPr>
          <p:cNvPr id="11" name="s744"/>
          <p:cNvSpPr/>
          <p:nvPr/>
        </p:nvSpPr>
        <p:spPr>
          <a:xfrm>
            <a:off x="3886200" y="4800600"/>
            <a:ext cx="4114800" cy="274320"/>
          </a:xfrm>
          <a:prstGeom prst="rect">
            <a:avLst/>
          </a:prstGeom>
          <a:solidFill>
            <a:srgbClr val="7A5C3E"/>
          </a:solidFill>
          <a:ln/>
        </p:spPr>
      </p:sp>
      <p:sp>
        <p:nvSpPr>
          <p:cNvPr id="12" name="t745"/>
          <p:cNvSpPr txBox="1"/>
          <p:nvPr/>
        </p:nvSpPr>
        <p:spPr>
          <a:xfrm>
            <a:off x="5029200" y="537667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B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Storage tank</a:t>
            </a:r>
            <a:endParaRPr lang="en-US" sz="1100" dirty="0"/>
          </a:p>
        </p:txBody>
      </p:sp>
      <p:sp>
        <p:nvSpPr>
          <p:cNvPr id="13" name="s746"/>
          <p:cNvSpPr/>
          <p:nvPr/>
        </p:nvSpPr>
        <p:spPr>
          <a:xfrm>
            <a:off x="5943600" y="1737360"/>
            <a:ext cx="0" cy="1600200"/>
          </a:xfrm>
          <a:prstGeom prst="line">
            <a:avLst/>
          </a:prstGeom>
          <a:noFill/>
          <a:ln w="38100">
            <a:solidFill>
              <a:srgbClr val="0C74BC"/>
            </a:solidFill>
            <a:prstDash val="solid"/>
          </a:ln>
        </p:spPr>
      </p:sp>
      <p:sp>
        <p:nvSpPr>
          <p:cNvPr id="14" name="s747"/>
          <p:cNvSpPr/>
          <p:nvPr/>
        </p:nvSpPr>
        <p:spPr>
          <a:xfrm flipH="1" flipV="1">
            <a:off x="3977640" y="2743200"/>
            <a:ext cx="1965960" cy="822960"/>
          </a:xfrm>
          <a:prstGeom prst="line">
            <a:avLst/>
          </a:prstGeom>
          <a:noFill/>
          <a:ln w="31750">
            <a:solidFill>
              <a:srgbClr val="9CCBEC"/>
            </a:solidFill>
            <a:prstDash val="solid"/>
          </a:ln>
        </p:spPr>
      </p:sp>
      <p:sp>
        <p:nvSpPr>
          <p:cNvPr id="15" name="s748"/>
          <p:cNvSpPr/>
          <p:nvPr/>
        </p:nvSpPr>
        <p:spPr>
          <a:xfrm flipH="1">
            <a:off x="3977640" y="3566160"/>
            <a:ext cx="1965960" cy="274320"/>
          </a:xfrm>
          <a:prstGeom prst="line">
            <a:avLst/>
          </a:prstGeom>
          <a:noFill/>
          <a:ln w="31750">
            <a:solidFill>
              <a:srgbClr val="9CCBEC"/>
            </a:solidFill>
            <a:prstDash val="solid"/>
          </a:ln>
        </p:spPr>
      </p:sp>
      <p:sp>
        <p:nvSpPr>
          <p:cNvPr id="16" name="s749"/>
          <p:cNvSpPr/>
          <p:nvPr/>
        </p:nvSpPr>
        <p:spPr>
          <a:xfrm flipH="1">
            <a:off x="4114800" y="3566160"/>
            <a:ext cx="1828800" cy="1280160"/>
          </a:xfrm>
          <a:prstGeom prst="line">
            <a:avLst/>
          </a:prstGeom>
          <a:noFill/>
          <a:ln w="31750">
            <a:solidFill>
              <a:srgbClr val="9CCBEC"/>
            </a:solidFill>
            <a:prstDash val="solid"/>
          </a:ln>
        </p:spPr>
      </p:sp>
      <p:sp>
        <p:nvSpPr>
          <p:cNvPr id="17" name="s750"/>
          <p:cNvSpPr/>
          <p:nvPr/>
        </p:nvSpPr>
        <p:spPr>
          <a:xfrm flipH="1">
            <a:off x="5120640" y="3566160"/>
            <a:ext cx="822960" cy="1417320"/>
          </a:xfrm>
          <a:prstGeom prst="line">
            <a:avLst/>
          </a:prstGeom>
          <a:noFill/>
          <a:ln w="31750">
            <a:solidFill>
              <a:srgbClr val="9CCBEC"/>
            </a:solidFill>
            <a:prstDash val="solid"/>
          </a:ln>
        </p:spPr>
      </p:sp>
      <p:sp>
        <p:nvSpPr>
          <p:cNvPr id="18" name="s751"/>
          <p:cNvSpPr/>
          <p:nvPr/>
        </p:nvSpPr>
        <p:spPr>
          <a:xfrm>
            <a:off x="5943600" y="3566160"/>
            <a:ext cx="822960" cy="1417320"/>
          </a:xfrm>
          <a:prstGeom prst="line">
            <a:avLst/>
          </a:prstGeom>
          <a:noFill/>
          <a:ln w="31750">
            <a:solidFill>
              <a:srgbClr val="9CCBEC"/>
            </a:solidFill>
            <a:prstDash val="solid"/>
          </a:ln>
        </p:spPr>
      </p:sp>
      <p:sp>
        <p:nvSpPr>
          <p:cNvPr id="19" name="s752"/>
          <p:cNvSpPr/>
          <p:nvPr/>
        </p:nvSpPr>
        <p:spPr>
          <a:xfrm>
            <a:off x="5943600" y="3566160"/>
            <a:ext cx="1828800" cy="1280160"/>
          </a:xfrm>
          <a:prstGeom prst="line">
            <a:avLst/>
          </a:prstGeom>
          <a:noFill/>
          <a:ln w="31750">
            <a:solidFill>
              <a:srgbClr val="9CCBEC"/>
            </a:solidFill>
            <a:prstDash val="solid"/>
          </a:ln>
        </p:spPr>
      </p:sp>
      <p:sp>
        <p:nvSpPr>
          <p:cNvPr id="20" name="s753"/>
          <p:cNvSpPr/>
          <p:nvPr/>
        </p:nvSpPr>
        <p:spPr>
          <a:xfrm>
            <a:off x="5943600" y="3566160"/>
            <a:ext cx="1965960" cy="274320"/>
          </a:xfrm>
          <a:prstGeom prst="line">
            <a:avLst/>
          </a:prstGeom>
          <a:noFill/>
          <a:ln w="31750">
            <a:solidFill>
              <a:srgbClr val="9CCBEC"/>
            </a:solidFill>
            <a:prstDash val="solid"/>
          </a:ln>
        </p:spPr>
      </p:sp>
      <p:sp>
        <p:nvSpPr>
          <p:cNvPr id="21" name="s754"/>
          <p:cNvSpPr/>
          <p:nvPr/>
        </p:nvSpPr>
        <p:spPr>
          <a:xfrm flipV="1">
            <a:off x="5943600" y="2743200"/>
            <a:ext cx="1965960" cy="822960"/>
          </a:xfrm>
          <a:prstGeom prst="line">
            <a:avLst/>
          </a:prstGeom>
          <a:noFill/>
          <a:ln w="31750">
            <a:solidFill>
              <a:srgbClr val="9CCBEC"/>
            </a:solidFill>
            <a:prstDash val="solid"/>
          </a:ln>
        </p:spPr>
      </p:sp>
      <p:sp>
        <p:nvSpPr>
          <p:cNvPr id="22" name="s755"/>
          <p:cNvSpPr/>
          <p:nvPr/>
        </p:nvSpPr>
        <p:spPr>
          <a:xfrm flipH="1" flipV="1">
            <a:off x="4846320" y="2377440"/>
            <a:ext cx="1097280" cy="1188720"/>
          </a:xfrm>
          <a:prstGeom prst="line">
            <a:avLst/>
          </a:prstGeom>
          <a:noFill/>
          <a:ln w="31750">
            <a:solidFill>
              <a:srgbClr val="9CCBEC"/>
            </a:solidFill>
            <a:prstDash val="solid"/>
          </a:ln>
        </p:spPr>
      </p:sp>
      <p:sp>
        <p:nvSpPr>
          <p:cNvPr id="23" name="s756"/>
          <p:cNvSpPr/>
          <p:nvPr/>
        </p:nvSpPr>
        <p:spPr>
          <a:xfrm flipV="1">
            <a:off x="5943600" y="2377440"/>
            <a:ext cx="1097280" cy="1188720"/>
          </a:xfrm>
          <a:prstGeom prst="line">
            <a:avLst/>
          </a:prstGeom>
          <a:noFill/>
          <a:ln w="31750">
            <a:solidFill>
              <a:srgbClr val="9CCBEC"/>
            </a:solidFill>
            <a:prstDash val="solid"/>
          </a:ln>
        </p:spPr>
      </p:sp>
      <p:sp>
        <p:nvSpPr>
          <p:cNvPr id="24" name="s757"/>
          <p:cNvSpPr/>
          <p:nvPr/>
        </p:nvSpPr>
        <p:spPr>
          <a:xfrm>
            <a:off x="5833872" y="3456432"/>
            <a:ext cx="219456" cy="219456"/>
          </a:xfrm>
          <a:prstGeom prst="ellipse">
            <a:avLst/>
          </a:prstGeom>
          <a:solidFill>
            <a:srgbClr val="0C74BC"/>
          </a:solidFill>
          <a:ln/>
        </p:spPr>
      </p:sp>
      <p:sp>
        <p:nvSpPr>
          <p:cNvPr id="25" name="t758"/>
          <p:cNvSpPr txBox="1"/>
          <p:nvPr/>
        </p:nvSpPr>
        <p:spPr>
          <a:xfrm>
            <a:off x="5029200" y="446227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Gamma-jet nozzle</a:t>
            </a:r>
            <a:endParaRPr lang="en-US" sz="1100" dirty="0"/>
          </a:p>
        </p:txBody>
      </p:sp>
      <p:sp>
        <p:nvSpPr>
          <p:cNvPr id="26" name="s759"/>
          <p:cNvSpPr/>
          <p:nvPr/>
        </p:nvSpPr>
        <p:spPr>
          <a:xfrm flipV="1">
            <a:off x="4572000" y="1691640"/>
            <a:ext cx="0" cy="411480"/>
          </a:xfrm>
          <a:prstGeom prst="line">
            <a:avLst/>
          </a:prstGeom>
          <a:noFill/>
          <a:ln w="38100">
            <a:solidFill>
              <a:srgbClr val="94A3B8"/>
            </a:solidFill>
            <a:prstDash val="solid"/>
          </a:ln>
        </p:spPr>
      </p:sp>
      <p:sp>
        <p:nvSpPr>
          <p:cNvPr id="27" name="s760"/>
          <p:cNvSpPr/>
          <p:nvPr/>
        </p:nvSpPr>
        <p:spPr>
          <a:xfrm flipH="1">
            <a:off x="3108960" y="1691640"/>
            <a:ext cx="1463040" cy="0"/>
          </a:xfrm>
          <a:prstGeom prst="line">
            <a:avLst/>
          </a:prstGeom>
          <a:noFill/>
          <a:ln w="38100">
            <a:solidFill>
              <a:srgbClr val="94A3B8"/>
            </a:solidFill>
            <a:prstDash val="solid"/>
            <a:tailEnd type="triangle"/>
          </a:ln>
        </p:spPr>
      </p:sp>
      <p:sp>
        <p:nvSpPr>
          <p:cNvPr id="28" name="s761"/>
          <p:cNvSpPr/>
          <p:nvPr/>
        </p:nvSpPr>
        <p:spPr>
          <a:xfrm>
            <a:off x="2377440" y="1463040"/>
            <a:ext cx="731520" cy="822960"/>
          </a:xfrm>
          <a:prstGeom prst="roundRect">
            <a:avLst>
              <a:gd name="adj" fmla="val 15000"/>
            </a:avLst>
          </a:prstGeom>
          <a:solidFill>
            <a:srgbClr val="4A5560"/>
          </a:solidFill>
          <a:ln w="12700">
            <a:solidFill>
              <a:srgbClr val="1F3A52"/>
            </a:solidFill>
            <a:prstDash val="solid"/>
          </a:ln>
        </p:spPr>
      </p:sp>
      <p:sp>
        <p:nvSpPr>
          <p:cNvPr id="29" name="s762"/>
          <p:cNvSpPr/>
          <p:nvPr/>
        </p:nvSpPr>
        <p:spPr>
          <a:xfrm>
            <a:off x="2468880" y="1645920"/>
            <a:ext cx="548640" cy="0"/>
          </a:xfrm>
          <a:prstGeom prst="line">
            <a:avLst/>
          </a:prstGeom>
          <a:noFill/>
          <a:ln w="12700">
            <a:solidFill>
              <a:srgbClr val="7C8794"/>
            </a:solidFill>
            <a:prstDash val="solid"/>
          </a:ln>
        </p:spPr>
      </p:sp>
      <p:sp>
        <p:nvSpPr>
          <p:cNvPr id="30" name="s763"/>
          <p:cNvSpPr/>
          <p:nvPr/>
        </p:nvSpPr>
        <p:spPr>
          <a:xfrm>
            <a:off x="2468880" y="1874520"/>
            <a:ext cx="548640" cy="0"/>
          </a:xfrm>
          <a:prstGeom prst="line">
            <a:avLst/>
          </a:prstGeom>
          <a:noFill/>
          <a:ln w="12700">
            <a:solidFill>
              <a:srgbClr val="7C8794"/>
            </a:solidFill>
            <a:prstDash val="solid"/>
          </a:ln>
        </p:spPr>
      </p:sp>
      <p:sp>
        <p:nvSpPr>
          <p:cNvPr id="31" name="s764"/>
          <p:cNvSpPr/>
          <p:nvPr/>
        </p:nvSpPr>
        <p:spPr>
          <a:xfrm>
            <a:off x="2468880" y="2103120"/>
            <a:ext cx="548640" cy="0"/>
          </a:xfrm>
          <a:prstGeom prst="line">
            <a:avLst/>
          </a:prstGeom>
          <a:noFill/>
          <a:ln w="12700">
            <a:solidFill>
              <a:srgbClr val="7C8794"/>
            </a:solidFill>
            <a:prstDash val="solid"/>
          </a:ln>
        </p:spPr>
      </p:sp>
      <p:sp>
        <p:nvSpPr>
          <p:cNvPr id="32" name="t765"/>
          <p:cNvSpPr txBox="1"/>
          <p:nvPr/>
        </p:nvSpPr>
        <p:spPr>
          <a:xfrm>
            <a:off x="2011680" y="233172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B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CARBON FILTER</a:t>
            </a:r>
            <a:endParaRPr lang="en-US" sz="1100" dirty="0"/>
          </a:p>
        </p:txBody>
      </p:sp>
      <p:sp>
        <p:nvSpPr>
          <p:cNvPr id="33" name="s766"/>
          <p:cNvSpPr/>
          <p:nvPr/>
        </p:nvSpPr>
        <p:spPr>
          <a:xfrm flipV="1">
            <a:off x="2743200" y="1188720"/>
            <a:ext cx="0" cy="274320"/>
          </a:xfrm>
          <a:prstGeom prst="line">
            <a:avLst/>
          </a:prstGeom>
          <a:noFill/>
          <a:ln w="31750">
            <a:solidFill>
              <a:srgbClr val="3AB54A"/>
            </a:solidFill>
            <a:prstDash val="solid"/>
            <a:tailEnd type="triangle"/>
          </a:ln>
        </p:spPr>
      </p:sp>
      <p:sp>
        <p:nvSpPr>
          <p:cNvPr id="34" name="t767"/>
          <p:cNvSpPr txBox="1"/>
          <p:nvPr/>
        </p:nvSpPr>
        <p:spPr>
          <a:xfrm>
            <a:off x="2834640" y="1115568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E8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treated vent</a:t>
            </a:r>
            <a:endParaRPr lang="en-US" sz="1000" dirty="0"/>
          </a:p>
        </p:txBody>
      </p:sp>
      <p:sp>
        <p:nvSpPr>
          <p:cNvPr id="35" name="s768"/>
          <p:cNvSpPr/>
          <p:nvPr/>
        </p:nvSpPr>
        <p:spPr>
          <a:xfrm>
            <a:off x="8046720" y="4892040"/>
            <a:ext cx="548640" cy="0"/>
          </a:xfrm>
          <a:prstGeom prst="line">
            <a:avLst/>
          </a:prstGeom>
          <a:noFill/>
          <a:ln w="50800">
            <a:solidFill>
              <a:srgbClr val="7A5C3E"/>
            </a:solidFill>
            <a:prstDash val="solid"/>
            <a:tailEnd type="triangle"/>
          </a:ln>
        </p:spPr>
      </p:sp>
      <p:sp>
        <p:nvSpPr>
          <p:cNvPr id="36" name="s769"/>
          <p:cNvSpPr/>
          <p:nvPr/>
        </p:nvSpPr>
        <p:spPr>
          <a:xfrm>
            <a:off x="8595360" y="466344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F3A52"/>
            </a:solidFill>
            <a:prstDash val="solid"/>
          </a:ln>
        </p:spPr>
      </p:sp>
      <p:sp>
        <p:nvSpPr>
          <p:cNvPr id="37" name="t770"/>
          <p:cNvSpPr txBox="1"/>
          <p:nvPr/>
        </p:nvSpPr>
        <p:spPr>
          <a:xfrm>
            <a:off x="8046720" y="513892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5B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Vacuum pump</a:t>
            </a:r>
            <a:endParaRPr lang="en-US" sz="1000" dirty="0"/>
          </a:p>
        </p:txBody>
      </p:sp>
      <p:sp>
        <p:nvSpPr>
          <p:cNvPr id="38" name="s771"/>
          <p:cNvSpPr/>
          <p:nvPr/>
        </p:nvSpPr>
        <p:spPr>
          <a:xfrm>
            <a:off x="9052560" y="4892040"/>
            <a:ext cx="365760" cy="0"/>
          </a:xfrm>
          <a:prstGeom prst="line">
            <a:avLst/>
          </a:prstGeom>
          <a:noFill/>
          <a:ln w="50800">
            <a:solidFill>
              <a:srgbClr val="7A5C3E"/>
            </a:solidFill>
            <a:prstDash val="solid"/>
            <a:tailEnd type="triangle"/>
          </a:ln>
        </p:spPr>
      </p:sp>
      <p:sp>
        <p:nvSpPr>
          <p:cNvPr id="39" name="s772"/>
          <p:cNvSpPr/>
          <p:nvPr/>
        </p:nvSpPr>
        <p:spPr>
          <a:xfrm>
            <a:off x="9418320" y="4160520"/>
            <a:ext cx="1371600" cy="1051560"/>
          </a:xfrm>
          <a:prstGeom prst="rect">
            <a:avLst/>
          </a:prstGeom>
          <a:solidFill>
            <a:srgbClr val="EEF2F6"/>
          </a:solidFill>
          <a:ln w="19050">
            <a:solidFill>
              <a:srgbClr val="94A3B8"/>
            </a:solidFill>
            <a:prstDash val="solid"/>
          </a:ln>
        </p:spPr>
      </p:sp>
      <p:sp>
        <p:nvSpPr>
          <p:cNvPr id="40" name="s773"/>
          <p:cNvSpPr/>
          <p:nvPr/>
        </p:nvSpPr>
        <p:spPr>
          <a:xfrm>
            <a:off x="9464040" y="4892040"/>
            <a:ext cx="1280160" cy="274320"/>
          </a:xfrm>
          <a:prstGeom prst="rect">
            <a:avLst/>
          </a:prstGeom>
          <a:solidFill>
            <a:srgbClr val="5C4630"/>
          </a:solidFill>
          <a:ln/>
        </p:spPr>
      </p:sp>
      <p:sp>
        <p:nvSpPr>
          <p:cNvPr id="41" name="s774"/>
          <p:cNvSpPr/>
          <p:nvPr/>
        </p:nvSpPr>
        <p:spPr>
          <a:xfrm>
            <a:off x="9464040" y="4526280"/>
            <a:ext cx="1280160" cy="365760"/>
          </a:xfrm>
          <a:prstGeom prst="rect">
            <a:avLst/>
          </a:prstGeom>
          <a:solidFill>
            <a:srgbClr val="5C4630"/>
          </a:solidFill>
          <a:ln/>
        </p:spPr>
      </p:sp>
      <p:sp>
        <p:nvSpPr>
          <p:cNvPr id="42" name="t775"/>
          <p:cNvSpPr txBox="1"/>
          <p:nvPr/>
        </p:nvSpPr>
        <p:spPr>
          <a:xfrm>
            <a:off x="9052560" y="523951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B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SLUDGE → DISPOSAL</a:t>
            </a:r>
            <a:endParaRPr lang="en-US" sz="1100" dirty="0"/>
          </a:p>
        </p:txBody>
      </p:sp>
      <p:sp>
        <p:nvSpPr>
          <p:cNvPr id="43" name="s776"/>
          <p:cNvSpPr/>
          <p:nvPr/>
        </p:nvSpPr>
        <p:spPr>
          <a:xfrm>
            <a:off x="8046720" y="4023360"/>
            <a:ext cx="1005840" cy="0"/>
          </a:xfrm>
          <a:prstGeom prst="line">
            <a:avLst/>
          </a:prstGeom>
          <a:noFill/>
          <a:ln w="50800">
            <a:solidFill>
              <a:srgbClr val="0C74BC"/>
            </a:solidFill>
            <a:prstDash val="solid"/>
            <a:tailEnd type="triangle"/>
          </a:ln>
        </p:spPr>
      </p:sp>
      <p:sp>
        <p:nvSpPr>
          <p:cNvPr id="44" name="s777"/>
          <p:cNvSpPr/>
          <p:nvPr/>
        </p:nvSpPr>
        <p:spPr>
          <a:xfrm>
            <a:off x="9052560" y="37947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C74BC"/>
            </a:solidFill>
            <a:prstDash val="solid"/>
          </a:ln>
        </p:spPr>
      </p:sp>
      <p:sp>
        <p:nvSpPr>
          <p:cNvPr id="45" name="t778"/>
          <p:cNvSpPr txBox="1"/>
          <p:nvPr/>
        </p:nvSpPr>
        <p:spPr>
          <a:xfrm>
            <a:off x="8503920" y="352044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C74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Circulation pump</a:t>
            </a:r>
            <a:endParaRPr lang="en-US" sz="1000" dirty="0"/>
          </a:p>
        </p:txBody>
      </p:sp>
      <p:sp>
        <p:nvSpPr>
          <p:cNvPr id="46" name="s779"/>
          <p:cNvSpPr/>
          <p:nvPr/>
        </p:nvSpPr>
        <p:spPr>
          <a:xfrm flipV="1">
            <a:off x="9281160" y="1508760"/>
            <a:ext cx="0" cy="2286000"/>
          </a:xfrm>
          <a:prstGeom prst="line">
            <a:avLst/>
          </a:prstGeom>
          <a:noFill/>
          <a:ln w="50800">
            <a:solidFill>
              <a:srgbClr val="0C74BC"/>
            </a:solidFill>
            <a:prstDash val="solid"/>
          </a:ln>
        </p:spPr>
      </p:sp>
      <p:sp>
        <p:nvSpPr>
          <p:cNvPr id="47" name="s780"/>
          <p:cNvSpPr/>
          <p:nvPr/>
        </p:nvSpPr>
        <p:spPr>
          <a:xfrm flipH="1">
            <a:off x="5943600" y="1508760"/>
            <a:ext cx="3337560" cy="0"/>
          </a:xfrm>
          <a:prstGeom prst="line">
            <a:avLst/>
          </a:prstGeom>
          <a:noFill/>
          <a:ln w="50800">
            <a:solidFill>
              <a:srgbClr val="0C74BC"/>
            </a:solidFill>
            <a:prstDash val="solid"/>
          </a:ln>
        </p:spPr>
      </p:sp>
      <p:sp>
        <p:nvSpPr>
          <p:cNvPr id="48" name="s781"/>
          <p:cNvSpPr/>
          <p:nvPr/>
        </p:nvSpPr>
        <p:spPr>
          <a:xfrm>
            <a:off x="5943600" y="1508760"/>
            <a:ext cx="0" cy="228600"/>
          </a:xfrm>
          <a:prstGeom prst="line">
            <a:avLst/>
          </a:prstGeom>
          <a:noFill/>
          <a:ln w="50800">
            <a:solidFill>
              <a:srgbClr val="0C74BC"/>
            </a:solidFill>
            <a:prstDash val="solid"/>
            <a:tailEnd type="triangle"/>
          </a:ln>
        </p:spPr>
      </p:sp>
      <p:sp>
        <p:nvSpPr>
          <p:cNvPr id="49" name="t782"/>
          <p:cNvSpPr txBox="1"/>
          <p:nvPr/>
        </p:nvSpPr>
        <p:spPr>
          <a:xfrm>
            <a:off x="6035040" y="118872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C74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Recirculated wash water + chemistry</a:t>
            </a:r>
            <a:endParaRPr lang="en-US" sz="1100" dirty="0"/>
          </a:p>
        </p:txBody>
      </p:sp>
      <p:sp>
        <p:nvSpPr>
          <p:cNvPr id="50" name="s783"/>
          <p:cNvSpPr/>
          <p:nvPr/>
        </p:nvSpPr>
        <p:spPr>
          <a:xfrm flipH="1">
            <a:off x="9281160" y="1920240"/>
            <a:ext cx="1325880" cy="0"/>
          </a:xfrm>
          <a:prstGeom prst="line">
            <a:avLst/>
          </a:prstGeom>
          <a:noFill/>
          <a:ln w="38100">
            <a:solidFill>
              <a:srgbClr val="3AB54A"/>
            </a:solidFill>
            <a:prstDash val="solid"/>
            <a:tailEnd type="triangle"/>
          </a:ln>
        </p:spPr>
      </p:sp>
      <p:sp>
        <p:nvSpPr>
          <p:cNvPr id="51" name="t784"/>
          <p:cNvSpPr txBox="1"/>
          <p:nvPr/>
        </p:nvSpPr>
        <p:spPr>
          <a:xfrm>
            <a:off x="9509760" y="1627632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E8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DECON CHEMISTRY</a:t>
            </a:r>
            <a:endParaRPr lang="en-US" sz="1000" dirty="0"/>
          </a:p>
        </p:txBody>
      </p:sp>
      <p:sp>
        <p:nvSpPr>
          <p:cNvPr id="52" name="s785"/>
          <p:cNvSpPr/>
          <p:nvPr/>
        </p:nvSpPr>
        <p:spPr>
          <a:xfrm>
            <a:off x="9509760" y="4023360"/>
            <a:ext cx="548640" cy="0"/>
          </a:xfrm>
          <a:prstGeom prst="line">
            <a:avLst/>
          </a:prstGeom>
          <a:noFill/>
          <a:ln w="38100">
            <a:solidFill>
              <a:srgbClr val="94A3B8"/>
            </a:solidFill>
            <a:prstDash val="solid"/>
          </a:ln>
        </p:spPr>
      </p:sp>
      <p:sp>
        <p:nvSpPr>
          <p:cNvPr id="53" name="s786"/>
          <p:cNvSpPr/>
          <p:nvPr/>
        </p:nvSpPr>
        <p:spPr>
          <a:xfrm flipV="1">
            <a:off x="10058400" y="3291840"/>
            <a:ext cx="0" cy="731520"/>
          </a:xfrm>
          <a:prstGeom prst="line">
            <a:avLst/>
          </a:prstGeom>
          <a:noFill/>
          <a:ln w="38100">
            <a:solidFill>
              <a:srgbClr val="94A3B8"/>
            </a:solidFill>
            <a:prstDash val="solid"/>
          </a:ln>
        </p:spPr>
      </p:sp>
      <p:sp>
        <p:nvSpPr>
          <p:cNvPr id="54" name="s787"/>
          <p:cNvSpPr/>
          <p:nvPr/>
        </p:nvSpPr>
        <p:spPr>
          <a:xfrm>
            <a:off x="10058400" y="3291840"/>
            <a:ext cx="182880" cy="0"/>
          </a:xfrm>
          <a:prstGeom prst="line">
            <a:avLst/>
          </a:prstGeom>
          <a:noFill/>
          <a:ln w="38100">
            <a:solidFill>
              <a:srgbClr val="94A3B8"/>
            </a:solidFill>
            <a:prstDash val="solid"/>
            <a:tailEnd type="triangle"/>
          </a:ln>
        </p:spPr>
      </p:sp>
      <p:sp>
        <p:nvSpPr>
          <p:cNvPr id="55" name="s788"/>
          <p:cNvSpPr/>
          <p:nvPr/>
        </p:nvSpPr>
        <p:spPr>
          <a:xfrm>
            <a:off x="10241280" y="2606040"/>
            <a:ext cx="1188720" cy="914400"/>
          </a:xfrm>
          <a:prstGeom prst="rect">
            <a:avLst/>
          </a:prstGeom>
          <a:solidFill>
            <a:srgbClr val="EEF2F6"/>
          </a:solidFill>
          <a:ln w="19050">
            <a:solidFill>
              <a:srgbClr val="94A3B8"/>
            </a:solidFill>
            <a:prstDash val="solid"/>
          </a:ln>
        </p:spPr>
      </p:sp>
      <p:sp>
        <p:nvSpPr>
          <p:cNvPr id="56" name="s789"/>
          <p:cNvSpPr/>
          <p:nvPr/>
        </p:nvSpPr>
        <p:spPr>
          <a:xfrm>
            <a:off x="10287000" y="3200400"/>
            <a:ext cx="1097280" cy="274320"/>
          </a:xfrm>
          <a:prstGeom prst="rect">
            <a:avLst/>
          </a:prstGeom>
          <a:solidFill>
            <a:srgbClr val="B8A68F"/>
          </a:solidFill>
          <a:ln/>
        </p:spPr>
      </p:sp>
      <p:sp>
        <p:nvSpPr>
          <p:cNvPr id="57" name="s790"/>
          <p:cNvSpPr/>
          <p:nvPr/>
        </p:nvSpPr>
        <p:spPr>
          <a:xfrm>
            <a:off x="10287000" y="2834640"/>
            <a:ext cx="1097280" cy="365760"/>
          </a:xfrm>
          <a:prstGeom prst="rect">
            <a:avLst/>
          </a:prstGeom>
          <a:solidFill>
            <a:srgbClr val="B8A68F"/>
          </a:solidFill>
          <a:ln/>
        </p:spPr>
      </p:sp>
      <p:sp>
        <p:nvSpPr>
          <p:cNvPr id="58" name="t791"/>
          <p:cNvSpPr txBox="1"/>
          <p:nvPr/>
        </p:nvSpPr>
        <p:spPr>
          <a:xfrm>
            <a:off x="9875520" y="3547872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B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EFFLUENT TANK</a:t>
            </a:r>
            <a:endParaRPr lang="en-US" sz="1100" dirty="0"/>
          </a:p>
        </p:txBody>
      </p:sp>
      <p:sp>
        <p:nvSpPr>
          <p:cNvPr id="59" name="s792"/>
          <p:cNvSpPr/>
          <p:nvPr/>
        </p:nvSpPr>
        <p:spPr>
          <a:xfrm>
            <a:off x="548640" y="3063240"/>
            <a:ext cx="2743200" cy="1737360"/>
          </a:xfrm>
          <a:prstGeom prst="roundRect">
            <a:avLst>
              <a:gd name="adj" fmla="val 6316"/>
            </a:avLst>
          </a:prstGeom>
          <a:solidFill>
            <a:srgbClr val="F3F7FA"/>
          </a:solidFill>
          <a:ln w="12700">
            <a:solidFill>
              <a:srgbClr val="E1E8EF"/>
            </a:solidFill>
            <a:prstDash val="solid"/>
          </a:ln>
        </p:spPr>
      </p:sp>
      <p:sp>
        <p:nvSpPr>
          <p:cNvPr id="60" name="t793"/>
          <p:cNvSpPr txBox="1"/>
          <p:nvPr/>
        </p:nvSpPr>
        <p:spPr>
          <a:xfrm>
            <a:off x="731520" y="3172968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2E8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 TEST AT MANWAY</a:t>
            </a:r>
            <a:endParaRPr lang="en-US" sz="1200" dirty="0"/>
          </a:p>
        </p:txBody>
      </p:sp>
      <p:sp>
        <p:nvSpPr>
          <p:cNvPr id="61" name="t794"/>
          <p:cNvSpPr txBox="1"/>
          <p:nvPr/>
        </p:nvSpPr>
        <p:spPr>
          <a:xfrm>
            <a:off x="731520" y="3566160"/>
            <a:ext cx="1005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LEL</a:t>
            </a:r>
            <a:endParaRPr lang="en-US" sz="1400" dirty="0"/>
          </a:p>
        </p:txBody>
      </p:sp>
      <p:sp>
        <p:nvSpPr>
          <p:cNvPr id="62" name="t795"/>
          <p:cNvSpPr txBox="1"/>
          <p:nvPr/>
        </p:nvSpPr>
        <p:spPr>
          <a:xfrm>
            <a:off x="1737360" y="3566160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above limit</a:t>
            </a:r>
            <a:endParaRPr lang="en-US" sz="1300" dirty="0"/>
          </a:p>
        </p:txBody>
      </p:sp>
      <p:sp>
        <p:nvSpPr>
          <p:cNvPr id="63" name="t796"/>
          <p:cNvSpPr txBox="1"/>
          <p:nvPr/>
        </p:nvSpPr>
        <p:spPr>
          <a:xfrm>
            <a:off x="1737360" y="3566160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8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OK</a:t>
            </a:r>
            <a:endParaRPr lang="en-US" sz="1300" dirty="0"/>
          </a:p>
        </p:txBody>
      </p:sp>
      <p:sp>
        <p:nvSpPr>
          <p:cNvPr id="64" name="t797"/>
          <p:cNvSpPr txBox="1"/>
          <p:nvPr/>
        </p:nvSpPr>
        <p:spPr>
          <a:xfrm>
            <a:off x="731520" y="3977640"/>
            <a:ext cx="1005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H₂S</a:t>
            </a:r>
            <a:endParaRPr lang="en-US" sz="1400" dirty="0"/>
          </a:p>
        </p:txBody>
      </p:sp>
      <p:sp>
        <p:nvSpPr>
          <p:cNvPr id="65" name="t798"/>
          <p:cNvSpPr txBox="1"/>
          <p:nvPr/>
        </p:nvSpPr>
        <p:spPr>
          <a:xfrm>
            <a:off x="1737360" y="3977640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above limit</a:t>
            </a:r>
            <a:endParaRPr lang="en-US" sz="1300" dirty="0"/>
          </a:p>
        </p:txBody>
      </p:sp>
      <p:sp>
        <p:nvSpPr>
          <p:cNvPr id="66" name="t799"/>
          <p:cNvSpPr txBox="1"/>
          <p:nvPr/>
        </p:nvSpPr>
        <p:spPr>
          <a:xfrm>
            <a:off x="1737360" y="3977640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8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OK</a:t>
            </a:r>
            <a:endParaRPr lang="en-US" sz="1300" dirty="0"/>
          </a:p>
        </p:txBody>
      </p:sp>
      <p:sp>
        <p:nvSpPr>
          <p:cNvPr id="67" name="t800"/>
          <p:cNvSpPr txBox="1"/>
          <p:nvPr/>
        </p:nvSpPr>
        <p:spPr>
          <a:xfrm>
            <a:off x="731520" y="4389120"/>
            <a:ext cx="1005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Benzene</a:t>
            </a:r>
            <a:endParaRPr lang="en-US" sz="1400" dirty="0"/>
          </a:p>
        </p:txBody>
      </p:sp>
      <p:sp>
        <p:nvSpPr>
          <p:cNvPr id="68" name="t801"/>
          <p:cNvSpPr txBox="1"/>
          <p:nvPr/>
        </p:nvSpPr>
        <p:spPr>
          <a:xfrm>
            <a:off x="1737360" y="4389120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above limit</a:t>
            </a:r>
            <a:endParaRPr lang="en-US" sz="1300" dirty="0"/>
          </a:p>
        </p:txBody>
      </p:sp>
      <p:sp>
        <p:nvSpPr>
          <p:cNvPr id="69" name="t802"/>
          <p:cNvSpPr txBox="1"/>
          <p:nvPr/>
        </p:nvSpPr>
        <p:spPr>
          <a:xfrm>
            <a:off x="1737360" y="4389120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8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OK</a:t>
            </a:r>
            <a:endParaRPr lang="en-US" sz="1300" dirty="0"/>
          </a:p>
        </p:txBody>
      </p:sp>
      <p:sp>
        <p:nvSpPr>
          <p:cNvPr id="70" name="s803"/>
          <p:cNvSpPr/>
          <p:nvPr/>
        </p:nvSpPr>
        <p:spPr>
          <a:xfrm>
            <a:off x="548640" y="5852160"/>
            <a:ext cx="10515600" cy="713232"/>
          </a:xfrm>
          <a:prstGeom prst="roundRect">
            <a:avLst>
              <a:gd name="adj" fmla="val 25641"/>
            </a:avLst>
          </a:prstGeom>
          <a:solidFill>
            <a:srgbClr val="EAF3FA"/>
          </a:solidFill>
          <a:ln/>
        </p:spPr>
      </p:sp>
      <p:sp>
        <p:nvSpPr>
          <p:cNvPr id="71" name="t804"/>
          <p:cNvSpPr txBox="1"/>
          <p:nvPr/>
        </p:nvSpPr>
        <p:spPr>
          <a:xfrm>
            <a:off x="777240" y="5852160"/>
            <a:ext cx="100584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  Crude and product tanks: bottom sludge, and benzene, LEL and H₂S in the vapour space – entry is not allowed.</a:t>
            </a:r>
            <a:endParaRPr lang="en-US" sz="1400" dirty="0"/>
          </a:p>
        </p:txBody>
      </p:sp>
      <p:sp>
        <p:nvSpPr>
          <p:cNvPr id="72" name="t805"/>
          <p:cNvSpPr txBox="1"/>
          <p:nvPr/>
        </p:nvSpPr>
        <p:spPr>
          <a:xfrm>
            <a:off x="777240" y="5852160"/>
            <a:ext cx="100584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  The tank vent is routed through a carbon filter – vapours are treated before release.</a:t>
            </a:r>
            <a:endParaRPr lang="en-US" sz="1400" dirty="0"/>
          </a:p>
        </p:txBody>
      </p:sp>
      <p:sp>
        <p:nvSpPr>
          <p:cNvPr id="73" name="t806"/>
          <p:cNvSpPr txBox="1"/>
          <p:nvPr/>
        </p:nvSpPr>
        <p:spPr>
          <a:xfrm>
            <a:off x="777240" y="5852160"/>
            <a:ext cx="100584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  Bulk sludge is removed first: a vacuum pump transfers it to a waste tank for licensed disposal.</a:t>
            </a:r>
            <a:endParaRPr lang="en-US" sz="1400" dirty="0"/>
          </a:p>
        </p:txBody>
      </p:sp>
      <p:sp>
        <p:nvSpPr>
          <p:cNvPr id="74" name="t807"/>
          <p:cNvSpPr txBox="1"/>
          <p:nvPr/>
        </p:nvSpPr>
        <p:spPr>
          <a:xfrm>
            <a:off x="777240" y="5852160"/>
            <a:ext cx="100584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  A gamma-jet nozzle is lowered through the roof manway; wash water with decon chemistry is circulated to it.</a:t>
            </a:r>
            <a:endParaRPr lang="en-US" sz="1400" dirty="0"/>
          </a:p>
        </p:txBody>
      </p:sp>
      <p:sp>
        <p:nvSpPr>
          <p:cNvPr id="75" name="t808"/>
          <p:cNvSpPr txBox="1"/>
          <p:nvPr/>
        </p:nvSpPr>
        <p:spPr>
          <a:xfrm>
            <a:off x="777240" y="5852160"/>
            <a:ext cx="100584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  Gamma-jetting and circulation run for 8–12 hours – the jets sweep shell, roof and floor.</a:t>
            </a:r>
            <a:endParaRPr lang="en-US" sz="1400" dirty="0"/>
          </a:p>
        </p:txBody>
      </p:sp>
      <p:sp>
        <p:nvSpPr>
          <p:cNvPr id="76" name="t809"/>
          <p:cNvSpPr txBox="1"/>
          <p:nvPr/>
        </p:nvSpPr>
        <p:spPr>
          <a:xfrm>
            <a:off x="777240" y="5852160"/>
            <a:ext cx="100584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  H₂S is converted into stable compounds; benzene and LEL vapours leave through the carbon filter.</a:t>
            </a:r>
            <a:endParaRPr lang="en-US" sz="1400" dirty="0"/>
          </a:p>
        </p:txBody>
      </p:sp>
      <p:sp>
        <p:nvSpPr>
          <p:cNvPr id="77" name="t810"/>
          <p:cNvSpPr txBox="1"/>
          <p:nvPr/>
        </p:nvSpPr>
        <p:spPr>
          <a:xfrm>
            <a:off x="777240" y="5852160"/>
            <a:ext cx="100584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  Walls and floor are clean – the spent wash is drained to the effluent tank.</a:t>
            </a:r>
            <a:endParaRPr lang="en-US" sz="1400" dirty="0"/>
          </a:p>
        </p:txBody>
      </p:sp>
      <p:sp>
        <p:nvSpPr>
          <p:cNvPr id="78" name="t811"/>
          <p:cNvSpPr txBox="1"/>
          <p:nvPr/>
        </p:nvSpPr>
        <p:spPr>
          <a:xfrm>
            <a:off x="777240" y="5852160"/>
            <a:ext cx="100584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  Gas tests confirm the entry criteria – safe entry.</a:t>
            </a:r>
            <a:endParaRPr lang="en-US" sz="1400" dirty="0"/>
          </a:p>
        </p:txBody>
      </p:sp>
      <p:sp>
        <p:nvSpPr>
          <p:cNvPr id="79" name="tag812"/>
          <p:cNvSpPr/>
          <p:nvPr/>
        </p:nvSpPr>
        <p:spPr>
          <a:xfrm>
            <a:off x="4206240" y="2651760"/>
            <a:ext cx="914400" cy="329184"/>
          </a:xfrm>
          <a:prstGeom prst="roundRect">
            <a:avLst>
              <a:gd name="adj" fmla="val 50000"/>
            </a:avLst>
          </a:prstGeom>
          <a:solidFill>
            <a:srgbClr val="C039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H₂S</a:t>
            </a:r>
            <a:endParaRPr lang="en-US" sz="1200" dirty="0"/>
          </a:p>
        </p:txBody>
      </p:sp>
      <p:sp>
        <p:nvSpPr>
          <p:cNvPr id="80" name="tag813"/>
          <p:cNvSpPr/>
          <p:nvPr/>
        </p:nvSpPr>
        <p:spPr>
          <a:xfrm>
            <a:off x="6766560" y="2651760"/>
            <a:ext cx="914400" cy="329184"/>
          </a:xfrm>
          <a:prstGeom prst="roundRect">
            <a:avLst>
              <a:gd name="adj" fmla="val 50000"/>
            </a:avLst>
          </a:prstGeom>
          <a:solidFill>
            <a:srgbClr val="E67E2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Benzene</a:t>
            </a:r>
            <a:endParaRPr lang="en-US" sz="1200" dirty="0"/>
          </a:p>
        </p:txBody>
      </p:sp>
      <p:sp>
        <p:nvSpPr>
          <p:cNvPr id="81" name="tag814"/>
          <p:cNvSpPr/>
          <p:nvPr/>
        </p:nvSpPr>
        <p:spPr>
          <a:xfrm>
            <a:off x="6766560" y="3154680"/>
            <a:ext cx="914400" cy="329184"/>
          </a:xfrm>
          <a:prstGeom prst="roundRect">
            <a:avLst>
              <a:gd name="adj" fmla="val 50000"/>
            </a:avLst>
          </a:prstGeom>
          <a:solidFill>
            <a:srgbClr val="D4A017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LEL</a:t>
            </a:r>
            <a:endParaRPr lang="en-US" sz="1200" dirty="0"/>
          </a:p>
        </p:txBody>
      </p:sp>
      <p:sp>
        <p:nvSpPr>
          <p:cNvPr id="82" name="tag815"/>
          <p:cNvSpPr/>
          <p:nvPr/>
        </p:nvSpPr>
        <p:spPr>
          <a:xfrm>
            <a:off x="4114800" y="2651760"/>
            <a:ext cx="1097280" cy="329184"/>
          </a:xfrm>
          <a:prstGeom prst="roundRect">
            <a:avLst>
              <a:gd name="adj" fmla="val 50000"/>
            </a:avLst>
          </a:prstGeom>
          <a:solidFill>
            <a:srgbClr val="8E9AA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stable salt</a:t>
            </a:r>
            <a:endParaRPr lang="en-US" sz="1200" dirty="0"/>
          </a:p>
        </p:txBody>
      </p:sp>
      <p:sp>
        <p:nvSpPr>
          <p:cNvPr id="83" name="s816"/>
          <p:cNvSpPr/>
          <p:nvPr/>
        </p:nvSpPr>
        <p:spPr>
          <a:xfrm>
            <a:off x="7955280" y="4800600"/>
            <a:ext cx="182880" cy="182880"/>
          </a:xfrm>
          <a:prstGeom prst="ellipse">
            <a:avLst/>
          </a:prstGeom>
          <a:solidFill>
            <a:srgbClr val="5C463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4" name="s817"/>
          <p:cNvSpPr/>
          <p:nvPr/>
        </p:nvSpPr>
        <p:spPr>
          <a:xfrm>
            <a:off x="7955280" y="4800600"/>
            <a:ext cx="182880" cy="182880"/>
          </a:xfrm>
          <a:prstGeom prst="ellipse">
            <a:avLst/>
          </a:prstGeom>
          <a:solidFill>
            <a:srgbClr val="5C463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5" name="s818"/>
          <p:cNvSpPr/>
          <p:nvPr/>
        </p:nvSpPr>
        <p:spPr>
          <a:xfrm>
            <a:off x="7955280" y="4800600"/>
            <a:ext cx="182880" cy="182880"/>
          </a:xfrm>
          <a:prstGeom prst="ellipse">
            <a:avLst/>
          </a:prstGeom>
          <a:solidFill>
            <a:srgbClr val="5C463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6" name="s819"/>
          <p:cNvSpPr/>
          <p:nvPr/>
        </p:nvSpPr>
        <p:spPr>
          <a:xfrm>
            <a:off x="7955280" y="4800600"/>
            <a:ext cx="182880" cy="182880"/>
          </a:xfrm>
          <a:prstGeom prst="ellipse">
            <a:avLst/>
          </a:prstGeom>
          <a:solidFill>
            <a:srgbClr val="5C463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7" name="s820"/>
          <p:cNvSpPr/>
          <p:nvPr/>
        </p:nvSpPr>
        <p:spPr>
          <a:xfrm>
            <a:off x="7955280" y="4800600"/>
            <a:ext cx="182880" cy="182880"/>
          </a:xfrm>
          <a:prstGeom prst="ellipse">
            <a:avLst/>
          </a:prstGeom>
          <a:solidFill>
            <a:srgbClr val="5C463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8" name="s821"/>
          <p:cNvSpPr/>
          <p:nvPr/>
        </p:nvSpPr>
        <p:spPr>
          <a:xfrm>
            <a:off x="7955280" y="4800600"/>
            <a:ext cx="182880" cy="182880"/>
          </a:xfrm>
          <a:prstGeom prst="ellipse">
            <a:avLst/>
          </a:prstGeom>
          <a:solidFill>
            <a:srgbClr val="5C463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9" name="s822"/>
          <p:cNvSpPr/>
          <p:nvPr/>
        </p:nvSpPr>
        <p:spPr>
          <a:xfrm>
            <a:off x="7955280" y="4800600"/>
            <a:ext cx="182880" cy="182880"/>
          </a:xfrm>
          <a:prstGeom prst="ellipse">
            <a:avLst/>
          </a:prstGeom>
          <a:solidFill>
            <a:srgbClr val="5C463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90" name="s823"/>
          <p:cNvSpPr/>
          <p:nvPr/>
        </p:nvSpPr>
        <p:spPr>
          <a:xfrm>
            <a:off x="7964424" y="3941064"/>
            <a:ext cx="164592" cy="164592"/>
          </a:xfrm>
          <a:prstGeom prst="ellipse">
            <a:avLst/>
          </a:prstGeom>
          <a:solidFill>
            <a:srgbClr val="0C74BC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91" name="s824"/>
          <p:cNvSpPr/>
          <p:nvPr/>
        </p:nvSpPr>
        <p:spPr>
          <a:xfrm>
            <a:off x="7964424" y="3941064"/>
            <a:ext cx="164592" cy="164592"/>
          </a:xfrm>
          <a:prstGeom prst="ellipse">
            <a:avLst/>
          </a:prstGeom>
          <a:solidFill>
            <a:srgbClr val="0C74BC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92" name="s825"/>
          <p:cNvSpPr/>
          <p:nvPr/>
        </p:nvSpPr>
        <p:spPr>
          <a:xfrm>
            <a:off x="7964424" y="3941064"/>
            <a:ext cx="164592" cy="164592"/>
          </a:xfrm>
          <a:prstGeom prst="ellipse">
            <a:avLst/>
          </a:prstGeom>
          <a:solidFill>
            <a:srgbClr val="0C74BC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93" name="s826"/>
          <p:cNvSpPr/>
          <p:nvPr/>
        </p:nvSpPr>
        <p:spPr>
          <a:xfrm>
            <a:off x="7964424" y="3941064"/>
            <a:ext cx="164592" cy="164592"/>
          </a:xfrm>
          <a:prstGeom prst="ellipse">
            <a:avLst/>
          </a:prstGeom>
          <a:solidFill>
            <a:srgbClr val="0C74BC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94" name="s827"/>
          <p:cNvSpPr/>
          <p:nvPr/>
        </p:nvSpPr>
        <p:spPr>
          <a:xfrm>
            <a:off x="7964424" y="3941064"/>
            <a:ext cx="164592" cy="164592"/>
          </a:xfrm>
          <a:prstGeom prst="ellipse">
            <a:avLst/>
          </a:prstGeom>
          <a:solidFill>
            <a:srgbClr val="0C74BC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95" name="s828"/>
          <p:cNvSpPr/>
          <p:nvPr/>
        </p:nvSpPr>
        <p:spPr>
          <a:xfrm>
            <a:off x="7964424" y="3941064"/>
            <a:ext cx="164592" cy="164592"/>
          </a:xfrm>
          <a:prstGeom prst="ellipse">
            <a:avLst/>
          </a:prstGeom>
          <a:solidFill>
            <a:srgbClr val="0C74BC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96" name="s829"/>
          <p:cNvSpPr/>
          <p:nvPr/>
        </p:nvSpPr>
        <p:spPr>
          <a:xfrm>
            <a:off x="7964424" y="3941064"/>
            <a:ext cx="164592" cy="164592"/>
          </a:xfrm>
          <a:prstGeom prst="ellipse">
            <a:avLst/>
          </a:prstGeom>
          <a:solidFill>
            <a:srgbClr val="0C74BC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97" name="s830"/>
          <p:cNvSpPr/>
          <p:nvPr/>
        </p:nvSpPr>
        <p:spPr>
          <a:xfrm>
            <a:off x="10533888" y="1847088"/>
            <a:ext cx="146304" cy="146304"/>
          </a:xfrm>
          <a:prstGeom prst="ellipse">
            <a:avLst/>
          </a:prstGeom>
          <a:solidFill>
            <a:srgbClr val="3AB54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98" name="s831"/>
          <p:cNvSpPr/>
          <p:nvPr/>
        </p:nvSpPr>
        <p:spPr>
          <a:xfrm>
            <a:off x="10533888" y="1847088"/>
            <a:ext cx="146304" cy="146304"/>
          </a:xfrm>
          <a:prstGeom prst="ellipse">
            <a:avLst/>
          </a:prstGeom>
          <a:solidFill>
            <a:srgbClr val="3AB54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99" name="s832"/>
          <p:cNvSpPr/>
          <p:nvPr/>
        </p:nvSpPr>
        <p:spPr>
          <a:xfrm>
            <a:off x="10533888" y="1847088"/>
            <a:ext cx="146304" cy="146304"/>
          </a:xfrm>
          <a:prstGeom prst="ellipse">
            <a:avLst/>
          </a:prstGeom>
          <a:solidFill>
            <a:srgbClr val="3AB54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0" name="s833"/>
          <p:cNvSpPr/>
          <p:nvPr/>
        </p:nvSpPr>
        <p:spPr>
          <a:xfrm>
            <a:off x="5884164" y="3506724"/>
            <a:ext cx="118872" cy="118872"/>
          </a:xfrm>
          <a:prstGeom prst="ellipse">
            <a:avLst/>
          </a:prstGeom>
          <a:solidFill>
            <a:srgbClr val="5DADE2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1" name="s834"/>
          <p:cNvSpPr/>
          <p:nvPr/>
        </p:nvSpPr>
        <p:spPr>
          <a:xfrm>
            <a:off x="5884164" y="3506724"/>
            <a:ext cx="118872" cy="118872"/>
          </a:xfrm>
          <a:prstGeom prst="ellipse">
            <a:avLst/>
          </a:prstGeom>
          <a:solidFill>
            <a:srgbClr val="3AB54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2" name="s835"/>
          <p:cNvSpPr/>
          <p:nvPr/>
        </p:nvSpPr>
        <p:spPr>
          <a:xfrm>
            <a:off x="5884164" y="3506724"/>
            <a:ext cx="118872" cy="118872"/>
          </a:xfrm>
          <a:prstGeom prst="ellipse">
            <a:avLst/>
          </a:prstGeom>
          <a:solidFill>
            <a:srgbClr val="5DADE2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3" name="s836"/>
          <p:cNvSpPr/>
          <p:nvPr/>
        </p:nvSpPr>
        <p:spPr>
          <a:xfrm>
            <a:off x="5884164" y="3506724"/>
            <a:ext cx="118872" cy="118872"/>
          </a:xfrm>
          <a:prstGeom prst="ellipse">
            <a:avLst/>
          </a:prstGeom>
          <a:solidFill>
            <a:srgbClr val="3AB54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4" name="s837"/>
          <p:cNvSpPr/>
          <p:nvPr/>
        </p:nvSpPr>
        <p:spPr>
          <a:xfrm>
            <a:off x="5884164" y="3506724"/>
            <a:ext cx="118872" cy="118872"/>
          </a:xfrm>
          <a:prstGeom prst="ellipse">
            <a:avLst/>
          </a:prstGeom>
          <a:solidFill>
            <a:srgbClr val="5DADE2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5" name="s838"/>
          <p:cNvSpPr/>
          <p:nvPr/>
        </p:nvSpPr>
        <p:spPr>
          <a:xfrm>
            <a:off x="5884164" y="3506724"/>
            <a:ext cx="118872" cy="118872"/>
          </a:xfrm>
          <a:prstGeom prst="ellipse">
            <a:avLst/>
          </a:prstGeom>
          <a:solidFill>
            <a:srgbClr val="3AB54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6" name="s839"/>
          <p:cNvSpPr/>
          <p:nvPr/>
        </p:nvSpPr>
        <p:spPr>
          <a:xfrm>
            <a:off x="5884164" y="3506724"/>
            <a:ext cx="118872" cy="118872"/>
          </a:xfrm>
          <a:prstGeom prst="ellipse">
            <a:avLst/>
          </a:prstGeom>
          <a:solidFill>
            <a:srgbClr val="5DADE2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7" name="s840"/>
          <p:cNvSpPr/>
          <p:nvPr/>
        </p:nvSpPr>
        <p:spPr>
          <a:xfrm>
            <a:off x="5884164" y="3506724"/>
            <a:ext cx="118872" cy="118872"/>
          </a:xfrm>
          <a:prstGeom prst="ellipse">
            <a:avLst/>
          </a:prstGeom>
          <a:solidFill>
            <a:srgbClr val="3AB54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8" name="s841"/>
          <p:cNvSpPr/>
          <p:nvPr/>
        </p:nvSpPr>
        <p:spPr>
          <a:xfrm>
            <a:off x="5884164" y="3506724"/>
            <a:ext cx="118872" cy="118872"/>
          </a:xfrm>
          <a:prstGeom prst="ellipse">
            <a:avLst/>
          </a:prstGeom>
          <a:solidFill>
            <a:srgbClr val="5DADE2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9" name="s842"/>
          <p:cNvSpPr/>
          <p:nvPr/>
        </p:nvSpPr>
        <p:spPr>
          <a:xfrm>
            <a:off x="5884164" y="3506724"/>
            <a:ext cx="118872" cy="118872"/>
          </a:xfrm>
          <a:prstGeom prst="ellipse">
            <a:avLst/>
          </a:prstGeom>
          <a:solidFill>
            <a:srgbClr val="3AB54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10" name="s843"/>
          <p:cNvSpPr/>
          <p:nvPr/>
        </p:nvSpPr>
        <p:spPr>
          <a:xfrm>
            <a:off x="5884164" y="3506724"/>
            <a:ext cx="118872" cy="118872"/>
          </a:xfrm>
          <a:prstGeom prst="ellipse">
            <a:avLst/>
          </a:prstGeom>
          <a:solidFill>
            <a:srgbClr val="5DADE2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11" name="s844"/>
          <p:cNvSpPr/>
          <p:nvPr/>
        </p:nvSpPr>
        <p:spPr>
          <a:xfrm>
            <a:off x="5884164" y="3506724"/>
            <a:ext cx="118872" cy="118872"/>
          </a:xfrm>
          <a:prstGeom prst="ellipse">
            <a:avLst/>
          </a:prstGeom>
          <a:solidFill>
            <a:srgbClr val="3AB54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12" name="s845"/>
          <p:cNvSpPr/>
          <p:nvPr/>
        </p:nvSpPr>
        <p:spPr>
          <a:xfrm>
            <a:off x="5884164" y="3506724"/>
            <a:ext cx="118872" cy="118872"/>
          </a:xfrm>
          <a:prstGeom prst="ellipse">
            <a:avLst/>
          </a:prstGeom>
          <a:solidFill>
            <a:srgbClr val="5DADE2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13" name="s846"/>
          <p:cNvSpPr/>
          <p:nvPr/>
        </p:nvSpPr>
        <p:spPr>
          <a:xfrm>
            <a:off x="5884164" y="3506724"/>
            <a:ext cx="118872" cy="118872"/>
          </a:xfrm>
          <a:prstGeom prst="ellipse">
            <a:avLst/>
          </a:prstGeom>
          <a:solidFill>
            <a:srgbClr val="3AB54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14" name="s847"/>
          <p:cNvSpPr/>
          <p:nvPr/>
        </p:nvSpPr>
        <p:spPr>
          <a:xfrm>
            <a:off x="5884164" y="3506724"/>
            <a:ext cx="118872" cy="118872"/>
          </a:xfrm>
          <a:prstGeom prst="ellipse">
            <a:avLst/>
          </a:prstGeom>
          <a:solidFill>
            <a:srgbClr val="5DADE2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15" name="s848"/>
          <p:cNvSpPr/>
          <p:nvPr/>
        </p:nvSpPr>
        <p:spPr>
          <a:xfrm>
            <a:off x="5884164" y="3506724"/>
            <a:ext cx="118872" cy="118872"/>
          </a:xfrm>
          <a:prstGeom prst="ellipse">
            <a:avLst/>
          </a:prstGeom>
          <a:solidFill>
            <a:srgbClr val="3AB54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16" name="s849"/>
          <p:cNvSpPr/>
          <p:nvPr/>
        </p:nvSpPr>
        <p:spPr>
          <a:xfrm>
            <a:off x="5884164" y="3506724"/>
            <a:ext cx="118872" cy="118872"/>
          </a:xfrm>
          <a:prstGeom prst="ellipse">
            <a:avLst/>
          </a:prstGeom>
          <a:solidFill>
            <a:srgbClr val="5DADE2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17" name="s850"/>
          <p:cNvSpPr/>
          <p:nvPr/>
        </p:nvSpPr>
        <p:spPr>
          <a:xfrm>
            <a:off x="5884164" y="3506724"/>
            <a:ext cx="118872" cy="118872"/>
          </a:xfrm>
          <a:prstGeom prst="ellipse">
            <a:avLst/>
          </a:prstGeom>
          <a:solidFill>
            <a:srgbClr val="3AB54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18" name="s851"/>
          <p:cNvSpPr/>
          <p:nvPr/>
        </p:nvSpPr>
        <p:spPr>
          <a:xfrm>
            <a:off x="5884164" y="3506724"/>
            <a:ext cx="118872" cy="118872"/>
          </a:xfrm>
          <a:prstGeom prst="ellipse">
            <a:avLst/>
          </a:prstGeom>
          <a:solidFill>
            <a:srgbClr val="5DADE2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19" name="s852"/>
          <p:cNvSpPr/>
          <p:nvPr/>
        </p:nvSpPr>
        <p:spPr>
          <a:xfrm>
            <a:off x="5884164" y="3506724"/>
            <a:ext cx="118872" cy="118872"/>
          </a:xfrm>
          <a:prstGeom prst="ellipse">
            <a:avLst/>
          </a:prstGeom>
          <a:solidFill>
            <a:srgbClr val="3AB54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0" name="s853"/>
          <p:cNvSpPr/>
          <p:nvPr/>
        </p:nvSpPr>
        <p:spPr>
          <a:xfrm>
            <a:off x="5884164" y="3506724"/>
            <a:ext cx="118872" cy="118872"/>
          </a:xfrm>
          <a:prstGeom prst="ellipse">
            <a:avLst/>
          </a:prstGeom>
          <a:solidFill>
            <a:srgbClr val="5DADE2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1" name="s854"/>
          <p:cNvSpPr/>
          <p:nvPr/>
        </p:nvSpPr>
        <p:spPr>
          <a:xfrm>
            <a:off x="5884164" y="3506724"/>
            <a:ext cx="118872" cy="118872"/>
          </a:xfrm>
          <a:prstGeom prst="ellipse">
            <a:avLst/>
          </a:prstGeom>
          <a:solidFill>
            <a:srgbClr val="3AB54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2" name="s855"/>
          <p:cNvSpPr/>
          <p:nvPr/>
        </p:nvSpPr>
        <p:spPr>
          <a:xfrm>
            <a:off x="5884164" y="3506724"/>
            <a:ext cx="118872" cy="118872"/>
          </a:xfrm>
          <a:prstGeom prst="ellipse">
            <a:avLst/>
          </a:prstGeom>
          <a:solidFill>
            <a:srgbClr val="5DADE2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3" name="s856"/>
          <p:cNvSpPr/>
          <p:nvPr/>
        </p:nvSpPr>
        <p:spPr>
          <a:xfrm>
            <a:off x="5884164" y="3506724"/>
            <a:ext cx="118872" cy="118872"/>
          </a:xfrm>
          <a:prstGeom prst="ellipse">
            <a:avLst/>
          </a:prstGeom>
          <a:solidFill>
            <a:srgbClr val="3AB54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4" name="s857"/>
          <p:cNvSpPr/>
          <p:nvPr/>
        </p:nvSpPr>
        <p:spPr>
          <a:xfrm>
            <a:off x="5884164" y="3506724"/>
            <a:ext cx="118872" cy="118872"/>
          </a:xfrm>
          <a:prstGeom prst="ellipse">
            <a:avLst/>
          </a:prstGeom>
          <a:solidFill>
            <a:srgbClr val="5DADE2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5" name="s858"/>
          <p:cNvSpPr/>
          <p:nvPr/>
        </p:nvSpPr>
        <p:spPr>
          <a:xfrm>
            <a:off x="5884164" y="3506724"/>
            <a:ext cx="118872" cy="118872"/>
          </a:xfrm>
          <a:prstGeom prst="ellipse">
            <a:avLst/>
          </a:prstGeom>
          <a:solidFill>
            <a:srgbClr val="3AB54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6" name="s859"/>
          <p:cNvSpPr/>
          <p:nvPr/>
        </p:nvSpPr>
        <p:spPr>
          <a:xfrm>
            <a:off x="5884164" y="3506724"/>
            <a:ext cx="118872" cy="118872"/>
          </a:xfrm>
          <a:prstGeom prst="ellipse">
            <a:avLst/>
          </a:prstGeom>
          <a:solidFill>
            <a:srgbClr val="5DADE2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7" name="s860"/>
          <p:cNvSpPr/>
          <p:nvPr/>
        </p:nvSpPr>
        <p:spPr>
          <a:xfrm>
            <a:off x="5884164" y="3506724"/>
            <a:ext cx="118872" cy="118872"/>
          </a:xfrm>
          <a:prstGeom prst="ellipse">
            <a:avLst/>
          </a:prstGeom>
          <a:solidFill>
            <a:srgbClr val="3AB54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8" name="s861"/>
          <p:cNvSpPr/>
          <p:nvPr/>
        </p:nvSpPr>
        <p:spPr>
          <a:xfrm>
            <a:off x="5884164" y="3506724"/>
            <a:ext cx="118872" cy="118872"/>
          </a:xfrm>
          <a:prstGeom prst="ellipse">
            <a:avLst/>
          </a:prstGeom>
          <a:solidFill>
            <a:srgbClr val="5DADE2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9" name="s862"/>
          <p:cNvSpPr/>
          <p:nvPr/>
        </p:nvSpPr>
        <p:spPr>
          <a:xfrm>
            <a:off x="5884164" y="3506724"/>
            <a:ext cx="118872" cy="118872"/>
          </a:xfrm>
          <a:prstGeom prst="ellipse">
            <a:avLst/>
          </a:prstGeom>
          <a:solidFill>
            <a:srgbClr val="3AB54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30" name="s863"/>
          <p:cNvSpPr/>
          <p:nvPr/>
        </p:nvSpPr>
        <p:spPr>
          <a:xfrm>
            <a:off x="9427464" y="3941064"/>
            <a:ext cx="164592" cy="164592"/>
          </a:xfrm>
          <a:prstGeom prst="ellipse">
            <a:avLst/>
          </a:prstGeom>
          <a:solidFill>
            <a:srgbClr val="B8A68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31" name="s864"/>
          <p:cNvSpPr/>
          <p:nvPr/>
        </p:nvSpPr>
        <p:spPr>
          <a:xfrm>
            <a:off x="9427464" y="3941064"/>
            <a:ext cx="164592" cy="164592"/>
          </a:xfrm>
          <a:prstGeom prst="ellipse">
            <a:avLst/>
          </a:prstGeom>
          <a:solidFill>
            <a:srgbClr val="B8A68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32" name="s865"/>
          <p:cNvSpPr/>
          <p:nvPr/>
        </p:nvSpPr>
        <p:spPr>
          <a:xfrm>
            <a:off x="9427464" y="3941064"/>
            <a:ext cx="164592" cy="164592"/>
          </a:xfrm>
          <a:prstGeom prst="ellipse">
            <a:avLst/>
          </a:prstGeom>
          <a:solidFill>
            <a:srgbClr val="B8A68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33" name="s866"/>
          <p:cNvSpPr/>
          <p:nvPr/>
        </p:nvSpPr>
        <p:spPr>
          <a:xfrm>
            <a:off x="9427464" y="3941064"/>
            <a:ext cx="164592" cy="164592"/>
          </a:xfrm>
          <a:prstGeom prst="ellipse">
            <a:avLst/>
          </a:prstGeom>
          <a:solidFill>
            <a:srgbClr val="B8A68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34" name="s867"/>
          <p:cNvSpPr/>
          <p:nvPr/>
        </p:nvSpPr>
        <p:spPr>
          <a:xfrm>
            <a:off x="4176979" y="2331720"/>
            <a:ext cx="3533242" cy="164592"/>
          </a:xfrm>
          <a:prstGeom prst="roundRect">
            <a:avLst>
              <a:gd name="adj" fmla="val 50000"/>
            </a:avLst>
          </a:prstGeom>
          <a:solidFill>
            <a:srgbClr val="FFFFFF">
              <a:alpha val="65000"/>
            </a:srgbClr>
          </a:solidFill>
          <a:ln/>
        </p:spPr>
      </p:sp>
      <p:sp>
        <p:nvSpPr>
          <p:cNvPr id="135" name="s868"/>
          <p:cNvSpPr/>
          <p:nvPr/>
        </p:nvSpPr>
        <p:spPr>
          <a:xfrm>
            <a:off x="548640" y="4800600"/>
            <a:ext cx="2743200" cy="640080"/>
          </a:xfrm>
          <a:prstGeom prst="roundRect">
            <a:avLst>
              <a:gd name="adj" fmla="val 50000"/>
            </a:avLst>
          </a:prstGeom>
          <a:solidFill>
            <a:srgbClr val="3AB54A"/>
          </a:solidFill>
          <a:ln/>
        </p:spPr>
      </p:sp>
      <p:sp>
        <p:nvSpPr>
          <p:cNvPr id="136" name="t869"/>
          <p:cNvSpPr txBox="1"/>
          <p:nvPr/>
        </p:nvSpPr>
        <p:spPr>
          <a:xfrm>
            <a:off x="548640" y="4800600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READY FOR SAFE ENTRY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708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7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7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0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3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6" presetClass="emph" presetSubtype="0" repeatCount="2000" fill="hold" grpId="2" nodeType="withEffect">
                                  <p:stCondLst>
                                    <p:cond delay="900"/>
                                  </p:stCondLst>
                                  <p:childTnLst>
                                    <p:animScale>
                                      <p:cBhvr>
                                        <p:cTn id="25" dur="350" autoRev="1" fill="hold"/>
                                        <p:tgtEl>
                                          <p:spTgt spid="28"/>
                                        </p:tgtEl>
                                      </p:cBhvr>
                                      <p:by x="110000" y="110000"/>
                                    </p:animScale>
                                  </p:childTnLst>
                                </p:cTn>
                              </p:par>
                              <p:par>
                                <p:cTn id="26" presetID="22" presetClass="entr" presetSubtype="4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8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22" presetClass="entr" presetSubtype="4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1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300"/>
                                        <p:tgtEl>
                                          <p:spTgt spid="7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22" presetClass="entr" presetSubtype="8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0" presetClass="path" presetSubtype="0" fill="hold" grpId="3" nodeType="withEffect">
                                  <p:stCondLst>
                                    <p:cond delay="400"/>
                                  </p:stCondLst>
                                  <p:childTnLst>
                                    <p:animMotion origin="layout" path="M 0 0 L 0.1313 0.0000 E" pathEditMode="relative" ptsTypes="AA">
                                      <p:cBhvr>
                                        <p:cTn id="48" dur="1000" fill="hold"/>
                                        <p:tgtEl>
                                          <p:spTgt spid="8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49" presetID="1" presetClass="exit" presetSubtype="0" fill="hold" grpId="1" nodeType="with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0" presetClass="path" presetSubtype="0" fill="hold" grpId="3" nodeType="withEffect">
                                  <p:stCondLst>
                                    <p:cond delay="700"/>
                                  </p:stCondLst>
                                  <p:childTnLst>
                                    <p:animMotion origin="layout" path="M 0 0 L 0.1313 0.0000 E" pathEditMode="relative" ptsTypes="AA">
                                      <p:cBhvr>
                                        <p:cTn id="54" dur="1000" fill="hold"/>
                                        <p:tgtEl>
                                          <p:spTgt spid="8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55" presetID="1" presetClass="exit" presetSubtype="0" fill="hold" grpId="1" nodeType="withEffect">
                                  <p:stCondLst>
                                    <p:cond delay="170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0" presetClass="path" presetSubtype="0" fill="hold" grpId="3" nodeType="withEffect">
                                  <p:stCondLst>
                                    <p:cond delay="1000"/>
                                  </p:stCondLst>
                                  <p:childTnLst>
                                    <p:animMotion origin="layout" path="M 0 0 L 0.1313 0.0000 E" pathEditMode="relative" ptsTypes="AA">
                                      <p:cBhvr>
                                        <p:cTn id="60" dur="1000" fill="hold"/>
                                        <p:tgtEl>
                                          <p:spTgt spid="8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61" presetID="1" presetClass="exit" presetSubtype="0" fill="hold" grpId="1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0" presetClass="path" presetSubtype="0" fill="hold" grpId="3" nodeType="withEffect">
                                  <p:stCondLst>
                                    <p:cond delay="1300"/>
                                  </p:stCondLst>
                                  <p:childTnLst>
                                    <p:animMotion origin="layout" path="M 0 0 L 0.1313 0.0000 E" pathEditMode="relative" ptsTypes="AA">
                                      <p:cBhvr>
                                        <p:cTn id="66" dur="1000" fill="hold"/>
                                        <p:tgtEl>
                                          <p:spTgt spid="8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67" presetID="1" presetClass="exit" presetSubtype="0" fill="hold" grpId="1" nodeType="withEffect">
                                  <p:stCondLst>
                                    <p:cond delay="230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" presetID="1" presetClass="entr" presetSubtype="0" fill="hold" grpId="0" nodeType="withEffect">
                                  <p:stCondLst>
                                    <p:cond delay="160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1" presetID="0" presetClass="path" presetSubtype="0" fill="hold" grpId="3" nodeType="withEffect">
                                  <p:stCondLst>
                                    <p:cond delay="1600"/>
                                  </p:stCondLst>
                                  <p:childTnLst>
                                    <p:animMotion origin="layout" path="M 0 0 L 0.1313 0.0000 E" pathEditMode="relative" ptsTypes="AA">
                                      <p:cBhvr>
                                        <p:cTn id="72" dur="1000" fill="hold"/>
                                        <p:tgtEl>
                                          <p:spTgt spid="8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73" presetID="1" presetClass="exit" presetSubtype="0" fill="hold" grpId="1" nodeType="withEffect">
                                  <p:stCondLst>
                                    <p:cond delay="260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5" presetID="1" presetClass="entr" presetSubtype="0" fill="hold" grpId="0" nodeType="withEffect">
                                  <p:stCondLst>
                                    <p:cond delay="190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7" presetID="0" presetClass="path" presetSubtype="0" fill="hold" grpId="3" nodeType="withEffect">
                                  <p:stCondLst>
                                    <p:cond delay="1900"/>
                                  </p:stCondLst>
                                  <p:childTnLst>
                                    <p:animMotion origin="layout" path="M 0 0 L 0.1313 0.0000 E" pathEditMode="relative" ptsTypes="AA">
                                      <p:cBhvr>
                                        <p:cTn id="78" dur="1000" fill="hold"/>
                                        <p:tgtEl>
                                          <p:spTgt spid="8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79" presetID="1" presetClass="exit" presetSubtype="0" fill="hold" grpId="1" nodeType="withEffect">
                                  <p:stCondLst>
                                    <p:cond delay="290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1" presetID="1" presetClass="entr" presetSubtype="0" fill="hold" grpId="0" nodeType="withEffect">
                                  <p:stCondLst>
                                    <p:cond delay="220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3" presetID="0" presetClass="path" presetSubtype="0" fill="hold" grpId="3" nodeType="withEffect">
                                  <p:stCondLst>
                                    <p:cond delay="2200"/>
                                  </p:stCondLst>
                                  <p:childTnLst>
                                    <p:animMotion origin="layout" path="M 0 0 L 0.1313 0.0000 E" pathEditMode="relative" ptsTypes="AA">
                                      <p:cBhvr>
                                        <p:cTn id="84" dur="1000" fill="hold"/>
                                        <p:tgtEl>
                                          <p:spTgt spid="8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85" presetID="1" presetClass="exit" presetSubtype="0" fill="hold" grpId="1" nodeType="withEffect">
                                  <p:stCondLst>
                                    <p:cond delay="320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7" presetID="10" presetClass="exit" presetSubtype="0" fill="hold" grpId="1" nodeType="withEffect">
                                  <p:stCondLst>
                                    <p:cond delay="6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8" dur="22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219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0" presetID="22" presetClass="entr" presetSubtype="4" fill="hold" grpId="0" nodeType="with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92" dur="6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3" presetID="22" presetClass="entr" presetSubtype="4" fill="hold" grpId="0" nodeType="withEffect">
                                  <p:stCondLst>
                                    <p:cond delay="220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95" dur="6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6" fill="hold">
                      <p:stCondLst>
                        <p:cond delay="indefinite"/>
                      </p:stCondLst>
                      <p:childTnLst>
                        <p:par>
                          <p:cTn id="97" fill="hold">
                            <p:stCondLst>
                              <p:cond delay="0"/>
                            </p:stCondLst>
                            <p:childTnLst>
                              <p:par>
                                <p:cTn id="98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300"/>
                                        <p:tgtEl>
                                          <p:spTgt spid="7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3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05" dur="7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6" presetID="53" presetClass="entr" presetSubtype="16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1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08" dur="3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9" dur="3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10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1" presetID="22" presetClass="entr" presetSubtype="8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1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3" dur="3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4" presetID="22" presetClass="entr" presetSubtype="1" fill="hold" grpId="0" nodeType="withEffect">
                                  <p:stCondLst>
                                    <p:cond delay="1200"/>
                                  </p:stCondLst>
                                  <p:childTnLst>
                                    <p:set>
                                      <p:cBhvr>
                                        <p:cTn id="1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16" dur="3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7" presetID="22" presetClass="entr" presetSubtype="8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9" dur="3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0" presetID="22" presetClass="entr" presetSubtype="4" fill="hold" grpId="0" nodeType="withEffect">
                                  <p:stCondLst>
                                    <p:cond delay="1800"/>
                                  </p:stCondLst>
                                  <p:childTnLst>
                                    <p:set>
                                      <p:cBhvr>
                                        <p:cTn id="1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2" dur="3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3" presetID="22" presetClass="entr" presetSubtype="2" fill="hold" grpId="0" nodeType="withEffect">
                                  <p:stCondLst>
                                    <p:cond delay="2200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25" dur="4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6" presetID="22" presetClass="entr" presetSubtype="2" fill="hold" grpId="0" nodeType="withEffect">
                                  <p:stCondLst>
                                    <p:cond delay="2200"/>
                                  </p:stCondLst>
                                  <p:childTnLst>
                                    <p:set>
                                      <p:cBhvr>
                                        <p:cTn id="1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28" dur="4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9" fill="hold">
                      <p:stCondLst>
                        <p:cond delay="indefinite"/>
                      </p:stCondLst>
                      <p:childTnLst>
                        <p:par>
                          <p:cTn id="130" fill="hold">
                            <p:stCondLst>
                              <p:cond delay="0"/>
                            </p:stCondLst>
                            <p:childTnLst>
                              <p:par>
                                <p:cTn id="131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5" dur="300"/>
                                        <p:tgtEl>
                                          <p:spTgt spid="7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6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8" presetID="0" presetClass="path" presetSubtype="0" fill="hold" grpId="3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1013 0.0000 L 0.1013 -0.3667 L -0.1725 -0.3667 L -0.1725 -0.0800 E" pathEditMode="relative" ptsTypes="AAAAA">
                                      <p:cBhvr>
                                        <p:cTn id="139" dur="2200" fill="hold"/>
                                        <p:tgtEl>
                                          <p:spTgt spid="9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40" presetID="1" presetClass="exit" presetSubtype="0" fill="hold" grpId="1" nodeType="withEffect">
                                  <p:stCondLst>
                                    <p:cond delay="2200"/>
                                  </p:stCondLst>
                                  <p:childTnLst>
                                    <p:set>
                                      <p:cBhvr>
                                        <p:cTn id="1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2" presetID="1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4" presetID="0" presetClass="path" presetSubtype="0" fill="hold" grpId="3" nodeType="withEffect">
                                  <p:stCondLst>
                                    <p:cond delay="400"/>
                                  </p:stCondLst>
                                  <p:childTnLst>
                                    <p:animMotion origin="layout" path="M 0 0 L 0.1013 0.0000 L 0.1013 -0.3667 L -0.1725 -0.3667 L -0.1725 -0.0800 E" pathEditMode="relative" ptsTypes="AAAAA">
                                      <p:cBhvr>
                                        <p:cTn id="145" dur="2200" fill="hold"/>
                                        <p:tgtEl>
                                          <p:spTgt spid="9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46" presetID="1" presetClass="exit" presetSubtype="0" fill="hold" grpId="1" nodeType="withEffect">
                                  <p:stCondLst>
                                    <p:cond delay="2600"/>
                                  </p:stCondLst>
                                  <p:childTnLst>
                                    <p:set>
                                      <p:cBhvr>
                                        <p:cTn id="1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8" presetID="1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1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0" presetID="0" presetClass="path" presetSubtype="0" fill="hold" grpId="3" nodeType="withEffect">
                                  <p:stCondLst>
                                    <p:cond delay="800"/>
                                  </p:stCondLst>
                                  <p:childTnLst>
                                    <p:animMotion origin="layout" path="M 0 0 L 0.1013 0.0000 L 0.1013 -0.3667 L -0.1725 -0.3667 L -0.1725 -0.0800 E" pathEditMode="relative" ptsTypes="AAAAA">
                                      <p:cBhvr>
                                        <p:cTn id="151" dur="2200" fill="hold"/>
                                        <p:tgtEl>
                                          <p:spTgt spid="9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52" presetID="1" presetClass="exit" presetSubtype="0" fill="hold" grpId="1" nodeType="withEffect">
                                  <p:stCondLst>
                                    <p:cond delay="3000"/>
                                  </p:stCondLst>
                                  <p:childTnLst>
                                    <p:set>
                                      <p:cBhvr>
                                        <p:cTn id="1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4" presetID="1" presetClass="entr" presetSubtype="0" fill="hold" grpId="0" nodeType="withEffect">
                                  <p:stCondLst>
                                    <p:cond delay="1200"/>
                                  </p:stCondLst>
                                  <p:childTnLst>
                                    <p:set>
                                      <p:cBhvr>
                                        <p:cTn id="1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6" presetID="0" presetClass="path" presetSubtype="0" fill="hold" grpId="3" nodeType="withEffect">
                                  <p:stCondLst>
                                    <p:cond delay="1200"/>
                                  </p:stCondLst>
                                  <p:childTnLst>
                                    <p:animMotion origin="layout" path="M 0 0 L 0.1013 0.0000 L 0.1013 -0.3667 L -0.1725 -0.3667 L -0.1725 -0.0800 E" pathEditMode="relative" ptsTypes="AAAAA">
                                      <p:cBhvr>
                                        <p:cTn id="157" dur="2200" fill="hold"/>
                                        <p:tgtEl>
                                          <p:spTgt spid="9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58" presetID="1" presetClass="exit" presetSubtype="0" fill="hold" grpId="1" nodeType="withEffect">
                                  <p:stCondLst>
                                    <p:cond delay="3400"/>
                                  </p:stCondLst>
                                  <p:childTnLst>
                                    <p:set>
                                      <p:cBhvr>
                                        <p:cTn id="1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0" presetID="1" presetClass="entr" presetSubtype="0" fill="hold" grpId="0" nodeType="withEffect">
                                  <p:stCondLst>
                                    <p:cond delay="1600"/>
                                  </p:stCondLst>
                                  <p:childTnLst>
                                    <p:set>
                                      <p:cBhvr>
                                        <p:cTn id="1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2" presetID="0" presetClass="path" presetSubtype="0" fill="hold" grpId="3" nodeType="withEffect">
                                  <p:stCondLst>
                                    <p:cond delay="1600"/>
                                  </p:stCondLst>
                                  <p:childTnLst>
                                    <p:animMotion origin="layout" path="M 0 0 L 0.1013 0.0000 L 0.1013 -0.3667 L -0.1725 -0.3667 L -0.1725 -0.0800 E" pathEditMode="relative" ptsTypes="AAAAA">
                                      <p:cBhvr>
                                        <p:cTn id="163" dur="2200" fill="hold"/>
                                        <p:tgtEl>
                                          <p:spTgt spid="9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64" presetID="1" presetClass="exit" presetSubtype="0" fill="hold" grpId="1" nodeType="withEffect">
                                  <p:stCondLst>
                                    <p:cond delay="3800"/>
                                  </p:stCondLst>
                                  <p:childTnLst>
                                    <p:set>
                                      <p:cBhvr>
                                        <p:cTn id="1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6" presetID="1" presetClass="entr" presetSubtype="0" fill="hold" grpId="0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1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8" presetID="0" presetClass="path" presetSubtype="0" fill="hold" grpId="3" nodeType="withEffect">
                                  <p:stCondLst>
                                    <p:cond delay="2000"/>
                                  </p:stCondLst>
                                  <p:childTnLst>
                                    <p:animMotion origin="layout" path="M 0 0 L 0.1013 0.0000 L 0.1013 -0.3667 L -0.1725 -0.3667 L -0.1725 -0.0800 E" pathEditMode="relative" ptsTypes="AAAAA">
                                      <p:cBhvr>
                                        <p:cTn id="169" dur="2200" fill="hold"/>
                                        <p:tgtEl>
                                          <p:spTgt spid="9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70" presetID="1" presetClass="exit" presetSubtype="0" fill="hold" grpId="1" nodeType="withEffect">
                                  <p:stCondLst>
                                    <p:cond delay="4200"/>
                                  </p:stCondLst>
                                  <p:childTnLst>
                                    <p:set>
                                      <p:cBhvr>
                                        <p:cTn id="1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2" presetID="1" presetClass="entr" presetSubtype="0" fill="hold" grpId="0" nodeType="withEffect">
                                  <p:stCondLst>
                                    <p:cond delay="2400"/>
                                  </p:stCondLst>
                                  <p:childTnLst>
                                    <p:set>
                                      <p:cBhvr>
                                        <p:cTn id="1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4" presetID="0" presetClass="path" presetSubtype="0" fill="hold" grpId="3" nodeType="withEffect">
                                  <p:stCondLst>
                                    <p:cond delay="2400"/>
                                  </p:stCondLst>
                                  <p:childTnLst>
                                    <p:animMotion origin="layout" path="M 0 0 L 0.1013 0.0000 L 0.1013 -0.3667 L -0.1725 -0.3667 L -0.1725 -0.0800 E" pathEditMode="relative" ptsTypes="AAAAA">
                                      <p:cBhvr>
                                        <p:cTn id="175" dur="2200" fill="hold"/>
                                        <p:tgtEl>
                                          <p:spTgt spid="9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76" presetID="1" presetClass="exit" presetSubtype="0" fill="hold" grpId="1" nodeType="withEffect">
                                  <p:stCondLst>
                                    <p:cond delay="4600"/>
                                  </p:stCondLst>
                                  <p:childTnLst>
                                    <p:set>
                                      <p:cBhvr>
                                        <p:cTn id="1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8" presetID="1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0" presetID="0" presetClass="path" presetSubtype="0" fill="hold" grpId="3" nodeType="with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0 0 L -0.1088 0.0000 E" pathEditMode="relative" ptsTypes="AA">
                                      <p:cBhvr>
                                        <p:cTn id="181" dur="700" fill="hold"/>
                                        <p:tgtEl>
                                          <p:spTgt spid="9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82" presetID="1" presetClass="exit" presetSubtype="0" fill="hold" grpId="1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4" presetID="1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1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6" presetID="0" presetClass="path" presetSubtype="0" fill="hold" grpId="3" nodeType="withEffect">
                                  <p:stCondLst>
                                    <p:cond delay="800"/>
                                  </p:stCondLst>
                                  <p:childTnLst>
                                    <p:animMotion origin="layout" path="M 0 0 L -0.1088 0.0000 E" pathEditMode="relative" ptsTypes="AA">
                                      <p:cBhvr>
                                        <p:cTn id="187" dur="700" fill="hold"/>
                                        <p:tgtEl>
                                          <p:spTgt spid="9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88" presetID="1" presetClass="exit" presetSubtype="0" fill="hold" grpId="1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1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0" presetID="1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1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2" presetID="0" presetClass="path" presetSubtype="0" fill="hold" grpId="3" nodeType="withEffect">
                                  <p:stCondLst>
                                    <p:cond delay="1300"/>
                                  </p:stCondLst>
                                  <p:childTnLst>
                                    <p:animMotion origin="layout" path="M 0 0 L -0.1088 0.0000 E" pathEditMode="relative" ptsTypes="AA">
                                      <p:cBhvr>
                                        <p:cTn id="193" dur="700" fill="hold"/>
                                        <p:tgtEl>
                                          <p:spTgt spid="9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94" presetID="1" presetClass="exit" presetSubtype="0" fill="hold" grpId="1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1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6" presetID="10" presetClass="entr" presetSubtype="0" fill="hold" grpId="0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1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8" dur="6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9" presetID="10" presetClass="entr" presetSubtype="0" fill="hold" grpId="0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2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1" dur="6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2" presetID="10" presetClass="entr" presetSubtype="0" fill="hold" grpId="0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2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4" dur="6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5" presetID="10" presetClass="entr" presetSubtype="0" fill="hold" grpId="0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2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7" dur="6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8" presetID="10" presetClass="entr" presetSubtype="0" fill="hold" grpId="0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2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0" dur="6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1" presetID="10" presetClass="entr" presetSubtype="0" fill="hold" grpId="0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2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3" dur="6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4" presetID="10" presetClass="entr" presetSubtype="0" fill="hold" grpId="0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2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6" dur="6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7" presetID="10" presetClass="entr" presetSubtype="0" fill="hold" grpId="0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2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9" dur="6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0" presetID="10" presetClass="entr" presetSubtype="0" fill="hold" grpId="0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2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2" dur="6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3" presetID="10" presetClass="entr" presetSubtype="0" fill="hold" grpId="0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2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5" dur="6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6" presetID="1" presetClass="entr" presetSubtype="0" fill="hold" grpId="0" nodeType="withEffect">
                                  <p:stCondLst>
                                    <p:cond delay="2200"/>
                                  </p:stCondLst>
                                  <p:childTnLst>
                                    <p:set>
                                      <p:cBhvr>
                                        <p:cTn id="2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8" presetID="0" presetClass="path" presetSubtype="0" fill="hold" grpId="3" nodeType="withEffect">
                                  <p:stCondLst>
                                    <p:cond delay="2200"/>
                                  </p:stCondLst>
                                  <p:childTnLst>
                                    <p:animMotion origin="layout" path="M 0 0 L -0.1613 -0.1200 E" pathEditMode="relative" ptsTypes="AA">
                                      <p:cBhvr>
                                        <p:cTn id="229" dur="650" fill="hold"/>
                                        <p:tgtEl>
                                          <p:spTgt spid="10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30" presetID="1" presetClass="exit" presetSubtype="0" fill="hold" grpId="1" nodeType="withEffect">
                                  <p:stCondLst>
                                    <p:cond delay="2850"/>
                                  </p:stCondLst>
                                  <p:childTnLst>
                                    <p:set>
                                      <p:cBhvr>
                                        <p:cTn id="2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2" presetID="1" presetClass="entr" presetSubtype="0" fill="hold" grpId="0" nodeType="withEffect">
                                  <p:stCondLst>
                                    <p:cond delay="2320"/>
                                  </p:stCondLst>
                                  <p:childTnLst>
                                    <p:set>
                                      <p:cBhvr>
                                        <p:cTn id="2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4" presetID="0" presetClass="path" presetSubtype="0" fill="hold" grpId="3" nodeType="withEffect">
                                  <p:stCondLst>
                                    <p:cond delay="2320"/>
                                  </p:stCondLst>
                                  <p:childTnLst>
                                    <p:animMotion origin="layout" path="M 0 0 L -0.1613 0.0400 E" pathEditMode="relative" ptsTypes="AA">
                                      <p:cBhvr>
                                        <p:cTn id="235" dur="650" fill="hold"/>
                                        <p:tgtEl>
                                          <p:spTgt spid="10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36" presetID="1" presetClass="exit" presetSubtype="0" fill="hold" grpId="1" nodeType="withEffect">
                                  <p:stCondLst>
                                    <p:cond delay="2970"/>
                                  </p:stCondLst>
                                  <p:childTnLst>
                                    <p:set>
                                      <p:cBhvr>
                                        <p:cTn id="2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8" presetID="1" presetClass="entr" presetSubtype="0" fill="hold" grpId="0" nodeType="withEffect">
                                  <p:stCondLst>
                                    <p:cond delay="2440"/>
                                  </p:stCondLst>
                                  <p:childTnLst>
                                    <p:set>
                                      <p:cBhvr>
                                        <p:cTn id="2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0" presetID="0" presetClass="path" presetSubtype="0" fill="hold" grpId="3" nodeType="withEffect">
                                  <p:stCondLst>
                                    <p:cond delay="2440"/>
                                  </p:stCondLst>
                                  <p:childTnLst>
                                    <p:animMotion origin="layout" path="M 0 0 L -0.1500 0.1867 E" pathEditMode="relative" ptsTypes="AA">
                                      <p:cBhvr>
                                        <p:cTn id="241" dur="650" fill="hold"/>
                                        <p:tgtEl>
                                          <p:spTgt spid="10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42" presetID="1" presetClass="exit" presetSubtype="0" fill="hold" grpId="1" nodeType="withEffect">
                                  <p:stCondLst>
                                    <p:cond delay="3090"/>
                                  </p:stCondLst>
                                  <p:childTnLst>
                                    <p:set>
                                      <p:cBhvr>
                                        <p:cTn id="2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4" presetID="1" presetClass="entr" presetSubtype="0" fill="hold" grpId="0" nodeType="withEffect">
                                  <p:stCondLst>
                                    <p:cond delay="2560"/>
                                  </p:stCondLst>
                                  <p:childTnLst>
                                    <p:set>
                                      <p:cBhvr>
                                        <p:cTn id="2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6" presetID="0" presetClass="path" presetSubtype="0" fill="hold" grpId="3" nodeType="withEffect">
                                  <p:stCondLst>
                                    <p:cond delay="2560"/>
                                  </p:stCondLst>
                                  <p:childTnLst>
                                    <p:animMotion origin="layout" path="M 0 0 L -0.0675 0.2067 E" pathEditMode="relative" ptsTypes="AA">
                                      <p:cBhvr>
                                        <p:cTn id="247" dur="650" fill="hold"/>
                                        <p:tgtEl>
                                          <p:spTgt spid="10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48" presetID="1" presetClass="exit" presetSubtype="0" fill="hold" grpId="1" nodeType="withEffect">
                                  <p:stCondLst>
                                    <p:cond delay="3210"/>
                                  </p:stCondLst>
                                  <p:childTnLst>
                                    <p:set>
                                      <p:cBhvr>
                                        <p:cTn id="2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0" presetID="1" presetClass="entr" presetSubtype="0" fill="hold" grpId="0" nodeType="withEffect">
                                  <p:stCondLst>
                                    <p:cond delay="2680"/>
                                  </p:stCondLst>
                                  <p:childTnLst>
                                    <p:set>
                                      <p:cBhvr>
                                        <p:cTn id="2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2" presetID="0" presetClass="path" presetSubtype="0" fill="hold" grpId="3" nodeType="withEffect">
                                  <p:stCondLst>
                                    <p:cond delay="2680"/>
                                  </p:stCondLst>
                                  <p:childTnLst>
                                    <p:animMotion origin="layout" path="M 0 0 L 0.0675 0.2067 E" pathEditMode="relative" ptsTypes="AA">
                                      <p:cBhvr>
                                        <p:cTn id="253" dur="650" fill="hold"/>
                                        <p:tgtEl>
                                          <p:spTgt spid="10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54" presetID="1" presetClass="exit" presetSubtype="0" fill="hold" grpId="1" nodeType="withEffect">
                                  <p:stCondLst>
                                    <p:cond delay="3330"/>
                                  </p:stCondLst>
                                  <p:childTnLst>
                                    <p:set>
                                      <p:cBhvr>
                                        <p:cTn id="2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6" presetID="1" presetClass="entr" presetSubtype="0" fill="hold" grpId="0" nodeType="withEffect">
                                  <p:stCondLst>
                                    <p:cond delay="2200"/>
                                  </p:stCondLst>
                                  <p:childTnLst>
                                    <p:set>
                                      <p:cBhvr>
                                        <p:cTn id="2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8" presetID="0" presetClass="path" presetSubtype="0" fill="hold" grpId="3" nodeType="withEffect">
                                  <p:stCondLst>
                                    <p:cond delay="2200"/>
                                  </p:stCondLst>
                                  <p:childTnLst>
                                    <p:animMotion origin="layout" path="M 0 0 L 0.1500 0.1867 E" pathEditMode="relative" ptsTypes="AA">
                                      <p:cBhvr>
                                        <p:cTn id="259" dur="650" fill="hold"/>
                                        <p:tgtEl>
                                          <p:spTgt spid="10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60" presetID="1" presetClass="exit" presetSubtype="0" fill="hold" grpId="1" nodeType="withEffect">
                                  <p:stCondLst>
                                    <p:cond delay="2850"/>
                                  </p:stCondLst>
                                  <p:childTnLst>
                                    <p:set>
                                      <p:cBhvr>
                                        <p:cTn id="2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62" presetID="1" presetClass="entr" presetSubtype="0" fill="hold" grpId="0" nodeType="withEffect">
                                  <p:stCondLst>
                                    <p:cond delay="2320"/>
                                  </p:stCondLst>
                                  <p:childTnLst>
                                    <p:set>
                                      <p:cBhvr>
                                        <p:cTn id="2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64" presetID="0" presetClass="path" presetSubtype="0" fill="hold" grpId="3" nodeType="withEffect">
                                  <p:stCondLst>
                                    <p:cond delay="2320"/>
                                  </p:stCondLst>
                                  <p:childTnLst>
                                    <p:animMotion origin="layout" path="M 0 0 L 0.1613 0.0400 E" pathEditMode="relative" ptsTypes="AA">
                                      <p:cBhvr>
                                        <p:cTn id="265" dur="650" fill="hold"/>
                                        <p:tgtEl>
                                          <p:spTgt spid="10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66" presetID="1" presetClass="exit" presetSubtype="0" fill="hold" grpId="1" nodeType="withEffect">
                                  <p:stCondLst>
                                    <p:cond delay="2970"/>
                                  </p:stCondLst>
                                  <p:childTnLst>
                                    <p:set>
                                      <p:cBhvr>
                                        <p:cTn id="2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68" presetID="1" presetClass="entr" presetSubtype="0" fill="hold" grpId="0" nodeType="withEffect">
                                  <p:stCondLst>
                                    <p:cond delay="2440"/>
                                  </p:stCondLst>
                                  <p:childTnLst>
                                    <p:set>
                                      <p:cBhvr>
                                        <p:cTn id="2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0" presetID="0" presetClass="path" presetSubtype="0" fill="hold" grpId="3" nodeType="withEffect">
                                  <p:stCondLst>
                                    <p:cond delay="2440"/>
                                  </p:stCondLst>
                                  <p:childTnLst>
                                    <p:animMotion origin="layout" path="M 0 0 L 0.1613 -0.1200 E" pathEditMode="relative" ptsTypes="AA">
                                      <p:cBhvr>
                                        <p:cTn id="271" dur="650" fill="hold"/>
                                        <p:tgtEl>
                                          <p:spTgt spid="10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72" presetID="1" presetClass="exit" presetSubtype="0" fill="hold" grpId="1" nodeType="withEffect">
                                  <p:stCondLst>
                                    <p:cond delay="3090"/>
                                  </p:stCondLst>
                                  <p:childTnLst>
                                    <p:set>
                                      <p:cBhvr>
                                        <p:cTn id="2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4" presetID="1" presetClass="entr" presetSubtype="0" fill="hold" grpId="0" nodeType="withEffect">
                                  <p:stCondLst>
                                    <p:cond delay="2560"/>
                                  </p:stCondLst>
                                  <p:childTnLst>
                                    <p:set>
                                      <p:cBhvr>
                                        <p:cTn id="2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6" presetID="0" presetClass="path" presetSubtype="0" fill="hold" grpId="3" nodeType="withEffect">
                                  <p:stCondLst>
                                    <p:cond delay="2560"/>
                                  </p:stCondLst>
                                  <p:childTnLst>
                                    <p:animMotion origin="layout" path="M 0 0 L -0.0900 -0.1733 E" pathEditMode="relative" ptsTypes="AA">
                                      <p:cBhvr>
                                        <p:cTn id="277" dur="650" fill="hold"/>
                                        <p:tgtEl>
                                          <p:spTgt spid="10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78" presetID="1" presetClass="exit" presetSubtype="0" fill="hold" grpId="1" nodeType="withEffect">
                                  <p:stCondLst>
                                    <p:cond delay="3210"/>
                                  </p:stCondLst>
                                  <p:childTnLst>
                                    <p:set>
                                      <p:cBhvr>
                                        <p:cTn id="2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80" presetID="1" presetClass="entr" presetSubtype="0" fill="hold" grpId="0" nodeType="withEffect">
                                  <p:stCondLst>
                                    <p:cond delay="2680"/>
                                  </p:stCondLst>
                                  <p:childTnLst>
                                    <p:set>
                                      <p:cBhvr>
                                        <p:cTn id="2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82" presetID="0" presetClass="path" presetSubtype="0" fill="hold" grpId="3" nodeType="withEffect">
                                  <p:stCondLst>
                                    <p:cond delay="2680"/>
                                  </p:stCondLst>
                                  <p:childTnLst>
                                    <p:animMotion origin="layout" path="M 0 0 L 0.0900 -0.1733 E" pathEditMode="relative" ptsTypes="AA">
                                      <p:cBhvr>
                                        <p:cTn id="283" dur="650" fill="hold"/>
                                        <p:tgtEl>
                                          <p:spTgt spid="10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84" presetID="1" presetClass="exit" presetSubtype="0" fill="hold" grpId="1" nodeType="withEffect">
                                  <p:stCondLst>
                                    <p:cond delay="3330"/>
                                  </p:stCondLst>
                                  <p:childTnLst>
                                    <p:set>
                                      <p:cBhvr>
                                        <p:cTn id="2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86" presetID="1" presetClass="entr" presetSubtype="0" fill="hold" grpId="0" nodeType="withEffect">
                                  <p:stCondLst>
                                    <p:cond delay="2900"/>
                                  </p:stCondLst>
                                  <p:childTnLst>
                                    <p:set>
                                      <p:cBhvr>
                                        <p:cTn id="2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88" presetID="0" presetClass="path" presetSubtype="0" fill="hold" grpId="3" nodeType="withEffect">
                                  <p:stCondLst>
                                    <p:cond delay="2900"/>
                                  </p:stCondLst>
                                  <p:childTnLst>
                                    <p:animMotion origin="layout" path="M 0 0 L -0.1613 -0.1200 E" pathEditMode="relative" ptsTypes="AA">
                                      <p:cBhvr>
                                        <p:cTn id="289" dur="650" fill="hold"/>
                                        <p:tgtEl>
                                          <p:spTgt spid="1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90" presetID="1" presetClass="exit" presetSubtype="0" fill="hold" grpId="1" nodeType="withEffect">
                                  <p:stCondLst>
                                    <p:cond delay="3550"/>
                                  </p:stCondLst>
                                  <p:childTnLst>
                                    <p:set>
                                      <p:cBhvr>
                                        <p:cTn id="2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2" presetID="1" presetClass="entr" presetSubtype="0" fill="hold" grpId="0" nodeType="withEffect">
                                  <p:stCondLst>
                                    <p:cond delay="3020"/>
                                  </p:stCondLst>
                                  <p:childTnLst>
                                    <p:set>
                                      <p:cBhvr>
                                        <p:cTn id="2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4" presetID="0" presetClass="path" presetSubtype="0" fill="hold" grpId="3" nodeType="withEffect">
                                  <p:stCondLst>
                                    <p:cond delay="3020"/>
                                  </p:stCondLst>
                                  <p:childTnLst>
                                    <p:animMotion origin="layout" path="M 0 0 L -0.1613 0.0400 E" pathEditMode="relative" ptsTypes="AA">
                                      <p:cBhvr>
                                        <p:cTn id="295" dur="650" fill="hold"/>
                                        <p:tgtEl>
                                          <p:spTgt spid="1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96" presetID="1" presetClass="exit" presetSubtype="0" fill="hold" grpId="1" nodeType="withEffect">
                                  <p:stCondLst>
                                    <p:cond delay="3670"/>
                                  </p:stCondLst>
                                  <p:childTnLst>
                                    <p:set>
                                      <p:cBhvr>
                                        <p:cTn id="2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8" presetID="1" presetClass="entr" presetSubtype="0" fill="hold" grpId="0" nodeType="withEffect">
                                  <p:stCondLst>
                                    <p:cond delay="3140"/>
                                  </p:stCondLst>
                                  <p:childTnLst>
                                    <p:set>
                                      <p:cBhvr>
                                        <p:cTn id="2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00" presetID="0" presetClass="path" presetSubtype="0" fill="hold" grpId="3" nodeType="withEffect">
                                  <p:stCondLst>
                                    <p:cond delay="3140"/>
                                  </p:stCondLst>
                                  <p:childTnLst>
                                    <p:animMotion origin="layout" path="M 0 0 L -0.1500 0.1867 E" pathEditMode="relative" ptsTypes="AA">
                                      <p:cBhvr>
                                        <p:cTn id="301" dur="650" fill="hold"/>
                                        <p:tgtEl>
                                          <p:spTgt spid="1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02" presetID="1" presetClass="exit" presetSubtype="0" fill="hold" grpId="1" nodeType="withEffect">
                                  <p:stCondLst>
                                    <p:cond delay="3790"/>
                                  </p:stCondLst>
                                  <p:childTnLst>
                                    <p:set>
                                      <p:cBhvr>
                                        <p:cTn id="3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04" presetID="1" presetClass="entr" presetSubtype="0" fill="hold" grpId="0" nodeType="withEffect">
                                  <p:stCondLst>
                                    <p:cond delay="3260"/>
                                  </p:stCondLst>
                                  <p:childTnLst>
                                    <p:set>
                                      <p:cBhvr>
                                        <p:cTn id="3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06" presetID="0" presetClass="path" presetSubtype="0" fill="hold" grpId="3" nodeType="withEffect">
                                  <p:stCondLst>
                                    <p:cond delay="3260"/>
                                  </p:stCondLst>
                                  <p:childTnLst>
                                    <p:animMotion origin="layout" path="M 0 0 L -0.0675 0.2067 E" pathEditMode="relative" ptsTypes="AA">
                                      <p:cBhvr>
                                        <p:cTn id="307" dur="650" fill="hold"/>
                                        <p:tgtEl>
                                          <p:spTgt spid="11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08" presetID="1" presetClass="exit" presetSubtype="0" fill="hold" grpId="1" nodeType="withEffect">
                                  <p:stCondLst>
                                    <p:cond delay="3910"/>
                                  </p:stCondLst>
                                  <p:childTnLst>
                                    <p:set>
                                      <p:cBhvr>
                                        <p:cTn id="3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0" presetID="1" presetClass="entr" presetSubtype="0" fill="hold" grpId="0" nodeType="withEffect">
                                  <p:stCondLst>
                                    <p:cond delay="3380"/>
                                  </p:stCondLst>
                                  <p:childTnLst>
                                    <p:set>
                                      <p:cBhvr>
                                        <p:cTn id="3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2" presetID="0" presetClass="path" presetSubtype="0" fill="hold" grpId="3" nodeType="withEffect">
                                  <p:stCondLst>
                                    <p:cond delay="3380"/>
                                  </p:stCondLst>
                                  <p:childTnLst>
                                    <p:animMotion origin="layout" path="M 0 0 L 0.0675 0.2067 E" pathEditMode="relative" ptsTypes="AA">
                                      <p:cBhvr>
                                        <p:cTn id="313" dur="650" fill="hold"/>
                                        <p:tgtEl>
                                          <p:spTgt spid="11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14" presetID="1" presetClass="exit" presetSubtype="0" fill="hold" grpId="1" nodeType="withEffect">
                                  <p:stCondLst>
                                    <p:cond delay="4030"/>
                                  </p:stCondLst>
                                  <p:childTnLst>
                                    <p:set>
                                      <p:cBhvr>
                                        <p:cTn id="3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6" presetID="1" presetClass="entr" presetSubtype="0" fill="hold" grpId="0" nodeType="withEffect">
                                  <p:stCondLst>
                                    <p:cond delay="2900"/>
                                  </p:stCondLst>
                                  <p:childTnLst>
                                    <p:set>
                                      <p:cBhvr>
                                        <p:cTn id="3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8" presetID="0" presetClass="path" presetSubtype="0" fill="hold" grpId="3" nodeType="withEffect">
                                  <p:stCondLst>
                                    <p:cond delay="2900"/>
                                  </p:stCondLst>
                                  <p:childTnLst>
                                    <p:animMotion origin="layout" path="M 0 0 L 0.1500 0.1867 E" pathEditMode="relative" ptsTypes="AA">
                                      <p:cBhvr>
                                        <p:cTn id="319" dur="650" fill="hold"/>
                                        <p:tgtEl>
                                          <p:spTgt spid="11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20" presetID="1" presetClass="exit" presetSubtype="0" fill="hold" grpId="1" nodeType="withEffect">
                                  <p:stCondLst>
                                    <p:cond delay="3550"/>
                                  </p:stCondLst>
                                  <p:childTnLst>
                                    <p:set>
                                      <p:cBhvr>
                                        <p:cTn id="3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22" presetID="1" presetClass="entr" presetSubtype="0" fill="hold" grpId="0" nodeType="withEffect">
                                  <p:stCondLst>
                                    <p:cond delay="3020"/>
                                  </p:stCondLst>
                                  <p:childTnLst>
                                    <p:set>
                                      <p:cBhvr>
                                        <p:cTn id="3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24" presetID="0" presetClass="path" presetSubtype="0" fill="hold" grpId="3" nodeType="withEffect">
                                  <p:stCondLst>
                                    <p:cond delay="3020"/>
                                  </p:stCondLst>
                                  <p:childTnLst>
                                    <p:animMotion origin="layout" path="M 0 0 L 0.1613 0.0400 E" pathEditMode="relative" ptsTypes="AA">
                                      <p:cBhvr>
                                        <p:cTn id="325" dur="650" fill="hold"/>
                                        <p:tgtEl>
                                          <p:spTgt spid="11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26" presetID="1" presetClass="exit" presetSubtype="0" fill="hold" grpId="1" nodeType="withEffect">
                                  <p:stCondLst>
                                    <p:cond delay="3670"/>
                                  </p:stCondLst>
                                  <p:childTnLst>
                                    <p:set>
                                      <p:cBhvr>
                                        <p:cTn id="3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28" presetID="1" presetClass="entr" presetSubtype="0" fill="hold" grpId="0" nodeType="withEffect">
                                  <p:stCondLst>
                                    <p:cond delay="3140"/>
                                  </p:stCondLst>
                                  <p:childTnLst>
                                    <p:set>
                                      <p:cBhvr>
                                        <p:cTn id="3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0" presetID="0" presetClass="path" presetSubtype="0" fill="hold" grpId="3" nodeType="withEffect">
                                  <p:stCondLst>
                                    <p:cond delay="3140"/>
                                  </p:stCondLst>
                                  <p:childTnLst>
                                    <p:animMotion origin="layout" path="M 0 0 L 0.1613 -0.1200 E" pathEditMode="relative" ptsTypes="AA">
                                      <p:cBhvr>
                                        <p:cTn id="331" dur="650" fill="hold"/>
                                        <p:tgtEl>
                                          <p:spTgt spid="11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32" presetID="1" presetClass="exit" presetSubtype="0" fill="hold" grpId="1" nodeType="withEffect">
                                  <p:stCondLst>
                                    <p:cond delay="3790"/>
                                  </p:stCondLst>
                                  <p:childTnLst>
                                    <p:set>
                                      <p:cBhvr>
                                        <p:cTn id="3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4" presetID="1" presetClass="entr" presetSubtype="0" fill="hold" grpId="0" nodeType="withEffect">
                                  <p:stCondLst>
                                    <p:cond delay="3260"/>
                                  </p:stCondLst>
                                  <p:childTnLst>
                                    <p:set>
                                      <p:cBhvr>
                                        <p:cTn id="3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6" presetID="0" presetClass="path" presetSubtype="0" fill="hold" grpId="3" nodeType="withEffect">
                                  <p:stCondLst>
                                    <p:cond delay="3260"/>
                                  </p:stCondLst>
                                  <p:childTnLst>
                                    <p:animMotion origin="layout" path="M 0 0 L -0.0900 -0.1733 E" pathEditMode="relative" ptsTypes="AA">
                                      <p:cBhvr>
                                        <p:cTn id="337" dur="650" fill="hold"/>
                                        <p:tgtEl>
                                          <p:spTgt spid="11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38" presetID="1" presetClass="exit" presetSubtype="0" fill="hold" grpId="1" nodeType="withEffect">
                                  <p:stCondLst>
                                    <p:cond delay="3910"/>
                                  </p:stCondLst>
                                  <p:childTnLst>
                                    <p:set>
                                      <p:cBhvr>
                                        <p:cTn id="3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40" presetID="1" presetClass="entr" presetSubtype="0" fill="hold" grpId="0" nodeType="withEffect">
                                  <p:stCondLst>
                                    <p:cond delay="3380"/>
                                  </p:stCondLst>
                                  <p:childTnLst>
                                    <p:set>
                                      <p:cBhvr>
                                        <p:cTn id="3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42" presetID="0" presetClass="path" presetSubtype="0" fill="hold" grpId="3" nodeType="withEffect">
                                  <p:stCondLst>
                                    <p:cond delay="3380"/>
                                  </p:stCondLst>
                                  <p:childTnLst>
                                    <p:animMotion origin="layout" path="M 0 0 L 0.0900 -0.1733 E" pathEditMode="relative" ptsTypes="AA">
                                      <p:cBhvr>
                                        <p:cTn id="343" dur="650" fill="hold"/>
                                        <p:tgtEl>
                                          <p:spTgt spid="11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44" presetID="1" presetClass="exit" presetSubtype="0" fill="hold" grpId="1" nodeType="withEffect">
                                  <p:stCondLst>
                                    <p:cond delay="4030"/>
                                  </p:stCondLst>
                                  <p:childTnLst>
                                    <p:set>
                                      <p:cBhvr>
                                        <p:cTn id="3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46" presetID="1" presetClass="entr" presetSubtype="0" fill="hold" grpId="0" nodeType="withEffect">
                                  <p:stCondLst>
                                    <p:cond delay="3600"/>
                                  </p:stCondLst>
                                  <p:childTnLst>
                                    <p:set>
                                      <p:cBhvr>
                                        <p:cTn id="3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48" presetID="0" presetClass="path" presetSubtype="0" fill="hold" grpId="3" nodeType="withEffect">
                                  <p:stCondLst>
                                    <p:cond delay="3600"/>
                                  </p:stCondLst>
                                  <p:childTnLst>
                                    <p:animMotion origin="layout" path="M 0 0 L -0.1613 -0.1200 E" pathEditMode="relative" ptsTypes="AA">
                                      <p:cBhvr>
                                        <p:cTn id="349" dur="650" fill="hold"/>
                                        <p:tgtEl>
                                          <p:spTgt spid="12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50" presetID="1" presetClass="exit" presetSubtype="0" fill="hold" grpId="1" nodeType="withEffect">
                                  <p:stCondLst>
                                    <p:cond delay="4250"/>
                                  </p:stCondLst>
                                  <p:childTnLst>
                                    <p:set>
                                      <p:cBhvr>
                                        <p:cTn id="3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2" presetID="1" presetClass="entr" presetSubtype="0" fill="hold" grpId="0" nodeType="withEffect">
                                  <p:stCondLst>
                                    <p:cond delay="3720"/>
                                  </p:stCondLst>
                                  <p:childTnLst>
                                    <p:set>
                                      <p:cBhvr>
                                        <p:cTn id="3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4" presetID="0" presetClass="path" presetSubtype="0" fill="hold" grpId="3" nodeType="withEffect">
                                  <p:stCondLst>
                                    <p:cond delay="3720"/>
                                  </p:stCondLst>
                                  <p:childTnLst>
                                    <p:animMotion origin="layout" path="M 0 0 L -0.1613 0.0400 E" pathEditMode="relative" ptsTypes="AA">
                                      <p:cBhvr>
                                        <p:cTn id="355" dur="650" fill="hold"/>
                                        <p:tgtEl>
                                          <p:spTgt spid="12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56" presetID="1" presetClass="exit" presetSubtype="0" fill="hold" grpId="1" nodeType="withEffect">
                                  <p:stCondLst>
                                    <p:cond delay="4370"/>
                                  </p:stCondLst>
                                  <p:childTnLst>
                                    <p:set>
                                      <p:cBhvr>
                                        <p:cTn id="3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8" presetID="1" presetClass="entr" presetSubtype="0" fill="hold" grpId="0" nodeType="withEffect">
                                  <p:stCondLst>
                                    <p:cond delay="3840"/>
                                  </p:stCondLst>
                                  <p:childTnLst>
                                    <p:set>
                                      <p:cBhvr>
                                        <p:cTn id="3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60" presetID="0" presetClass="path" presetSubtype="0" fill="hold" grpId="3" nodeType="withEffect">
                                  <p:stCondLst>
                                    <p:cond delay="3840"/>
                                  </p:stCondLst>
                                  <p:childTnLst>
                                    <p:animMotion origin="layout" path="M 0 0 L -0.1500 0.1867 E" pathEditMode="relative" ptsTypes="AA">
                                      <p:cBhvr>
                                        <p:cTn id="361" dur="650" fill="hold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62" presetID="1" presetClass="exit" presetSubtype="0" fill="hold" grpId="1" nodeType="withEffect">
                                  <p:stCondLst>
                                    <p:cond delay="4490"/>
                                  </p:stCondLst>
                                  <p:childTnLst>
                                    <p:set>
                                      <p:cBhvr>
                                        <p:cTn id="3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64" presetID="1" presetClass="entr" presetSubtype="0" fill="hold" grpId="0" nodeType="withEffect">
                                  <p:stCondLst>
                                    <p:cond delay="3960"/>
                                  </p:stCondLst>
                                  <p:childTnLst>
                                    <p:set>
                                      <p:cBhvr>
                                        <p:cTn id="3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66" presetID="0" presetClass="path" presetSubtype="0" fill="hold" grpId="3" nodeType="withEffect">
                                  <p:stCondLst>
                                    <p:cond delay="3960"/>
                                  </p:stCondLst>
                                  <p:childTnLst>
                                    <p:animMotion origin="layout" path="M 0 0 L -0.0675 0.2067 E" pathEditMode="relative" ptsTypes="AA">
                                      <p:cBhvr>
                                        <p:cTn id="367" dur="650" fill="hold"/>
                                        <p:tgtEl>
                                          <p:spTgt spid="12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68" presetID="1" presetClass="exit" presetSubtype="0" fill="hold" grpId="1" nodeType="withEffect">
                                  <p:stCondLst>
                                    <p:cond delay="4610"/>
                                  </p:stCondLst>
                                  <p:childTnLst>
                                    <p:set>
                                      <p:cBhvr>
                                        <p:cTn id="3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0" presetID="1" presetClass="entr" presetSubtype="0" fill="hold" grpId="0" nodeType="withEffect">
                                  <p:stCondLst>
                                    <p:cond delay="4080"/>
                                  </p:stCondLst>
                                  <p:childTnLst>
                                    <p:set>
                                      <p:cBhvr>
                                        <p:cTn id="3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2" presetID="0" presetClass="path" presetSubtype="0" fill="hold" grpId="3" nodeType="withEffect">
                                  <p:stCondLst>
                                    <p:cond delay="4080"/>
                                  </p:stCondLst>
                                  <p:childTnLst>
                                    <p:animMotion origin="layout" path="M 0 0 L 0.0675 0.2067 E" pathEditMode="relative" ptsTypes="AA">
                                      <p:cBhvr>
                                        <p:cTn id="373" dur="650" fill="hold"/>
                                        <p:tgtEl>
                                          <p:spTgt spid="12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74" presetID="1" presetClass="exit" presetSubtype="0" fill="hold" grpId="1" nodeType="withEffect">
                                  <p:stCondLst>
                                    <p:cond delay="4730"/>
                                  </p:stCondLst>
                                  <p:childTnLst>
                                    <p:set>
                                      <p:cBhvr>
                                        <p:cTn id="3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6" presetID="1" presetClass="entr" presetSubtype="0" fill="hold" grpId="0" nodeType="withEffect">
                                  <p:stCondLst>
                                    <p:cond delay="3600"/>
                                  </p:stCondLst>
                                  <p:childTnLst>
                                    <p:set>
                                      <p:cBhvr>
                                        <p:cTn id="3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8" presetID="0" presetClass="path" presetSubtype="0" fill="hold" grpId="3" nodeType="withEffect">
                                  <p:stCondLst>
                                    <p:cond delay="3600"/>
                                  </p:stCondLst>
                                  <p:childTnLst>
                                    <p:animMotion origin="layout" path="M 0 0 L 0.1500 0.1867 E" pathEditMode="relative" ptsTypes="AA">
                                      <p:cBhvr>
                                        <p:cTn id="379" dur="650" fill="hold"/>
                                        <p:tgtEl>
                                          <p:spTgt spid="12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80" presetID="1" presetClass="exit" presetSubtype="0" fill="hold" grpId="1" nodeType="withEffect">
                                  <p:stCondLst>
                                    <p:cond delay="4250"/>
                                  </p:stCondLst>
                                  <p:childTnLst>
                                    <p:set>
                                      <p:cBhvr>
                                        <p:cTn id="3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82" presetID="1" presetClass="entr" presetSubtype="0" fill="hold" grpId="0" nodeType="withEffect">
                                  <p:stCondLst>
                                    <p:cond delay="3720"/>
                                  </p:stCondLst>
                                  <p:childTnLst>
                                    <p:set>
                                      <p:cBhvr>
                                        <p:cTn id="3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84" presetID="0" presetClass="path" presetSubtype="0" fill="hold" grpId="3" nodeType="withEffect">
                                  <p:stCondLst>
                                    <p:cond delay="3720"/>
                                  </p:stCondLst>
                                  <p:childTnLst>
                                    <p:animMotion origin="layout" path="M 0 0 L 0.1613 0.0400 E" pathEditMode="relative" ptsTypes="AA">
                                      <p:cBhvr>
                                        <p:cTn id="385" dur="650" fill="hold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86" presetID="1" presetClass="exit" presetSubtype="0" fill="hold" grpId="1" nodeType="withEffect">
                                  <p:stCondLst>
                                    <p:cond delay="4370"/>
                                  </p:stCondLst>
                                  <p:childTnLst>
                                    <p:set>
                                      <p:cBhvr>
                                        <p:cTn id="3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88" presetID="1" presetClass="entr" presetSubtype="0" fill="hold" grpId="0" nodeType="withEffect">
                                  <p:stCondLst>
                                    <p:cond delay="3840"/>
                                  </p:stCondLst>
                                  <p:childTnLst>
                                    <p:set>
                                      <p:cBhvr>
                                        <p:cTn id="3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0" presetID="0" presetClass="path" presetSubtype="0" fill="hold" grpId="3" nodeType="withEffect">
                                  <p:stCondLst>
                                    <p:cond delay="3840"/>
                                  </p:stCondLst>
                                  <p:childTnLst>
                                    <p:animMotion origin="layout" path="M 0 0 L 0.1613 -0.1200 E" pathEditMode="relative" ptsTypes="AA">
                                      <p:cBhvr>
                                        <p:cTn id="391" dur="650" fill="hold"/>
                                        <p:tgtEl>
                                          <p:spTgt spid="12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92" presetID="1" presetClass="exit" presetSubtype="0" fill="hold" grpId="1" nodeType="withEffect">
                                  <p:stCondLst>
                                    <p:cond delay="4490"/>
                                  </p:stCondLst>
                                  <p:childTnLst>
                                    <p:set>
                                      <p:cBhvr>
                                        <p:cTn id="3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4" presetID="1" presetClass="entr" presetSubtype="0" fill="hold" grpId="0" nodeType="withEffect">
                                  <p:stCondLst>
                                    <p:cond delay="3960"/>
                                  </p:stCondLst>
                                  <p:childTnLst>
                                    <p:set>
                                      <p:cBhvr>
                                        <p:cTn id="3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6" presetID="0" presetClass="path" presetSubtype="0" fill="hold" grpId="3" nodeType="withEffect">
                                  <p:stCondLst>
                                    <p:cond delay="3960"/>
                                  </p:stCondLst>
                                  <p:childTnLst>
                                    <p:animMotion origin="layout" path="M 0 0 L -0.0900 -0.1733 E" pathEditMode="relative" ptsTypes="AA">
                                      <p:cBhvr>
                                        <p:cTn id="397" dur="650" fill="hold"/>
                                        <p:tgtEl>
                                          <p:spTgt spid="12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98" presetID="1" presetClass="exit" presetSubtype="0" fill="hold" grpId="1" nodeType="withEffect">
                                  <p:stCondLst>
                                    <p:cond delay="4610"/>
                                  </p:stCondLst>
                                  <p:childTnLst>
                                    <p:set>
                                      <p:cBhvr>
                                        <p:cTn id="3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00" presetID="1" presetClass="entr" presetSubtype="0" fill="hold" grpId="0" nodeType="withEffect">
                                  <p:stCondLst>
                                    <p:cond delay="4080"/>
                                  </p:stCondLst>
                                  <p:childTnLst>
                                    <p:set>
                                      <p:cBhvr>
                                        <p:cTn id="4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02" presetID="0" presetClass="path" presetSubtype="0" fill="hold" grpId="3" nodeType="withEffect">
                                  <p:stCondLst>
                                    <p:cond delay="4080"/>
                                  </p:stCondLst>
                                  <p:childTnLst>
                                    <p:animMotion origin="layout" path="M 0 0 L 0.0900 -0.1733 E" pathEditMode="relative" ptsTypes="AA">
                                      <p:cBhvr>
                                        <p:cTn id="403" dur="650" fill="hold"/>
                                        <p:tgtEl>
                                          <p:spTgt spid="12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404" presetID="1" presetClass="exit" presetSubtype="0" fill="hold" grpId="1" nodeType="withEffect">
                                  <p:stCondLst>
                                    <p:cond delay="4730"/>
                                  </p:stCondLst>
                                  <p:childTnLst>
                                    <p:set>
                                      <p:cBhvr>
                                        <p:cTn id="4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6" fill="hold">
                      <p:stCondLst>
                        <p:cond delay="indefinite"/>
                      </p:stCondLst>
                      <p:childTnLst>
                        <p:par>
                          <p:cTn id="407" fill="hold">
                            <p:stCondLst>
                              <p:cond delay="0"/>
                            </p:stCondLst>
                            <p:childTnLst>
                              <p:par>
                                <p:cTn id="408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2" dur="300"/>
                                        <p:tgtEl>
                                          <p:spTgt spid="7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3" presetID="6" presetClass="emph" presetSubtype="0" repeatCount="200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414" dur="300" autoRev="1" fill="hold"/>
                                        <p:tgtEl>
                                          <p:spTgt spid="79"/>
                                        </p:tgtEl>
                                      </p:cBhvr>
                                      <p:by x="120000" y="120000"/>
                                    </p:animScale>
                                  </p:childTnLst>
                                </p:cTn>
                              </p:par>
                              <p:par>
                                <p:cTn id="415" presetID="10" presetClass="exit" presetSubtype="0" fill="hold" grpId="1" nodeType="withEffect">
                                  <p:stCondLst>
                                    <p:cond delay="7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16" dur="400"/>
                                        <p:tgtEl>
                                          <p:spTgt spid="7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17" dur="1" fill="hold">
                                          <p:stCondLst>
                                            <p:cond delay="399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8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4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0" dur="400"/>
                                        <p:tgtEl>
                                          <p:spTgt spid="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1" presetID="0" presetClass="path" presetSubtype="0" fill="hold" grpId="3" nodeType="with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0 0 L -0.2175 0.0000 L -0.2175 -0.1640 L -0.3375 -0.1640 E" pathEditMode="relative" ptsTypes="AAAA">
                                      <p:cBhvr>
                                        <p:cTn id="422" dur="1800" fill="hold"/>
                                        <p:tgtEl>
                                          <p:spTgt spid="8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423" presetID="10" presetClass="exit" presetSubtype="0" fill="hold" grpId="1" nodeType="withEffect">
                                  <p:stCondLst>
                                    <p:cond delay="21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24" dur="400"/>
                                        <p:tgtEl>
                                          <p:spTgt spid="8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25" dur="1" fill="hold">
                                          <p:stCondLst>
                                            <p:cond delay="399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26" presetID="0" presetClass="path" presetSubtype="0" fill="hold" grpId="3" nodeType="withEffect">
                                  <p:stCondLst>
                                    <p:cond delay="700"/>
                                  </p:stCondLst>
                                  <p:childTnLst>
                                    <p:animMotion origin="layout" path="M 0 0 L -0.2175 0.0000 L -0.2175 -0.2373 L -0.3375 -0.2373 E" pathEditMode="relative" ptsTypes="AAAA">
                                      <p:cBhvr>
                                        <p:cTn id="427" dur="1800" fill="hold"/>
                                        <p:tgtEl>
                                          <p:spTgt spid="8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428" presetID="10" presetClass="exit" presetSubtype="0" fill="hold" grpId="1" nodeType="withEffect">
                                  <p:stCondLst>
                                    <p:cond delay="25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29" dur="400"/>
                                        <p:tgtEl>
                                          <p:spTgt spid="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30" dur="1" fill="hold">
                                          <p:stCondLst>
                                            <p:cond delay="399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1" presetID="6" presetClass="emph" presetSubtype="0" repeatCount="3000" fill="hold" grpId="2" nodeType="withEffect">
                                  <p:stCondLst>
                                    <p:cond delay="1900"/>
                                  </p:stCondLst>
                                  <p:childTnLst>
                                    <p:animScale>
                                      <p:cBhvr>
                                        <p:cTn id="432" dur="300" autoRev="1" fill="hold"/>
                                        <p:tgtEl>
                                          <p:spTgt spid="28"/>
                                        </p:tgtEl>
                                      </p:cBhvr>
                                      <p:by x="114999" y="114999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3" fill="hold">
                      <p:stCondLst>
                        <p:cond delay="indefinite"/>
                      </p:stCondLst>
                      <p:childTnLst>
                        <p:par>
                          <p:cTn id="434" fill="hold">
                            <p:stCondLst>
                              <p:cond delay="0"/>
                            </p:stCondLst>
                            <p:childTnLst>
                              <p:par>
                                <p:cTn id="435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9" dur="300"/>
                                        <p:tgtEl>
                                          <p:spTgt spid="7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0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41" dur="800"/>
                                        <p:tgtEl>
                                          <p:spTgt spid="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42" dur="1" fill="hold">
                                          <p:stCondLst>
                                            <p:cond delay="799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43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44" dur="8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45" dur="1" fill="hold">
                                          <p:stCondLst>
                                            <p:cond delay="79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46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47" dur="8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48" dur="1" fill="hold">
                                          <p:stCondLst>
                                            <p:cond delay="799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49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50" dur="8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51" dur="1" fill="hold">
                                          <p:stCondLst>
                                            <p:cond delay="799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2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53" dur="8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54" dur="1" fill="hold">
                                          <p:stCondLst>
                                            <p:cond delay="799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5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56" dur="8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57" dur="1" fill="hold">
                                          <p:stCondLst>
                                            <p:cond delay="799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8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59" dur="8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60" dur="1" fill="hold">
                                          <p:stCondLst>
                                            <p:cond delay="799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61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62" dur="8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63" dur="1" fill="hold">
                                          <p:stCondLst>
                                            <p:cond delay="799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64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65" dur="8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66" dur="1" fill="hold">
                                          <p:stCondLst>
                                            <p:cond delay="799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67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68" dur="8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69" dur="1" fill="hold">
                                          <p:stCondLst>
                                            <p:cond delay="799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0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71" dur="8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72" dur="1" fill="hold">
                                          <p:stCondLst>
                                            <p:cond delay="799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3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74" dur="8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75" dur="1" fill="hold">
                                          <p:stCondLst>
                                            <p:cond delay="799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6" presetID="10" presetClass="exit" presetSubtype="0" fill="hold" grpId="1" nodeType="withEffect">
                                  <p:stCondLst>
                                    <p:cond delay="3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77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78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9" presetID="10" presetClass="exit" presetSubtype="0" fill="hold" grpId="1" nodeType="withEffect">
                                  <p:stCondLst>
                                    <p:cond delay="11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80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81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82" presetID="10" presetClass="exit" presetSubtype="0" fill="hold" grpId="1" nodeType="withEffect">
                                  <p:stCondLst>
                                    <p:cond delay="19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83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84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85" presetID="22" presetClass="entr" presetSubtype="8" fill="hold" grpId="0" nodeType="withEffect">
                                  <p:stCondLst>
                                    <p:cond delay="2600"/>
                                  </p:stCondLst>
                                  <p:childTnLst>
                                    <p:set>
                                      <p:cBhvr>
                                        <p:cTn id="4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7" dur="3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8" presetID="22" presetClass="entr" presetSubtype="1" fill="hold" grpId="0" nodeType="withEffect">
                                  <p:stCondLst>
                                    <p:cond delay="2900"/>
                                  </p:stCondLst>
                                  <p:childTnLst>
                                    <p:set>
                                      <p:cBhvr>
                                        <p:cTn id="4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90" dur="3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1" presetID="22" presetClass="entr" presetSubtype="8" fill="hold" grpId="0" nodeType="withEffect">
                                  <p:stCondLst>
                                    <p:cond delay="3200"/>
                                  </p:stCondLst>
                                  <p:childTnLst>
                                    <p:set>
                                      <p:cBhvr>
                                        <p:cTn id="4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93" dur="3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4" presetID="1" presetClass="entr" presetSubtype="0" fill="hold" grpId="0" nodeType="withEffect">
                                  <p:stCondLst>
                                    <p:cond delay="3300"/>
                                  </p:stCondLst>
                                  <p:childTnLst>
                                    <p:set>
                                      <p:cBhvr>
                                        <p:cTn id="4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6" presetID="0" presetClass="path" presetSubtype="0" fill="hold" grpId="3" nodeType="withEffect">
                                  <p:stCondLst>
                                    <p:cond delay="3300"/>
                                  </p:stCondLst>
                                  <p:childTnLst>
                                    <p:animMotion origin="layout" path="M 0 0 L 0.0450 0.0000 L 0.0450 -0.1067 L 0.0825 -0.1067 E" pathEditMode="relative" ptsTypes="AAAA">
                                      <p:cBhvr>
                                        <p:cTn id="497" dur="1000" fill="hold"/>
                                        <p:tgtEl>
                                          <p:spTgt spid="13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498" presetID="1" presetClass="exit" presetSubtype="0" fill="hold" grpId="1" nodeType="withEffect">
                                  <p:stCondLst>
                                    <p:cond delay="4300"/>
                                  </p:stCondLst>
                                  <p:childTnLst>
                                    <p:set>
                                      <p:cBhvr>
                                        <p:cTn id="4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00" presetID="1" presetClass="entr" presetSubtype="0" fill="hold" grpId="0" nodeType="withEffect">
                                  <p:stCondLst>
                                    <p:cond delay="3600"/>
                                  </p:stCondLst>
                                  <p:childTnLst>
                                    <p:set>
                                      <p:cBhvr>
                                        <p:cTn id="5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02" presetID="0" presetClass="path" presetSubtype="0" fill="hold" grpId="3" nodeType="withEffect">
                                  <p:stCondLst>
                                    <p:cond delay="3600"/>
                                  </p:stCondLst>
                                  <p:childTnLst>
                                    <p:animMotion origin="layout" path="M 0 0 L 0.0450 0.0000 L 0.0450 -0.1067 L 0.0825 -0.1067 E" pathEditMode="relative" ptsTypes="AAAA">
                                      <p:cBhvr>
                                        <p:cTn id="503" dur="1000" fill="hold"/>
                                        <p:tgtEl>
                                          <p:spTgt spid="13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504" presetID="1" presetClass="exit" presetSubtype="0" fill="hold" grpId="1" nodeType="withEffect">
                                  <p:stCondLst>
                                    <p:cond delay="4600"/>
                                  </p:stCondLst>
                                  <p:childTnLst>
                                    <p:set>
                                      <p:cBhvr>
                                        <p:cTn id="5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06" presetID="1" presetClass="entr" presetSubtype="0" fill="hold" grpId="0" nodeType="withEffect">
                                  <p:stCondLst>
                                    <p:cond delay="3900"/>
                                  </p:stCondLst>
                                  <p:childTnLst>
                                    <p:set>
                                      <p:cBhvr>
                                        <p:cTn id="5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08" presetID="0" presetClass="path" presetSubtype="0" fill="hold" grpId="3" nodeType="withEffect">
                                  <p:stCondLst>
                                    <p:cond delay="3900"/>
                                  </p:stCondLst>
                                  <p:childTnLst>
                                    <p:animMotion origin="layout" path="M 0 0 L 0.0450 0.0000 L 0.0450 -0.1067 L 0.0825 -0.1067 E" pathEditMode="relative" ptsTypes="AAAA">
                                      <p:cBhvr>
                                        <p:cTn id="509" dur="1000" fill="hold"/>
                                        <p:tgtEl>
                                          <p:spTgt spid="13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510" presetID="1" presetClass="exit" presetSubtype="0" fill="hold" grpId="1" nodeType="withEffect">
                                  <p:stCondLst>
                                    <p:cond delay="4900"/>
                                  </p:stCondLst>
                                  <p:childTnLst>
                                    <p:set>
                                      <p:cBhvr>
                                        <p:cTn id="5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2" presetID="1" presetClass="entr" presetSubtype="0" fill="hold" grpId="0" nodeType="withEffect">
                                  <p:stCondLst>
                                    <p:cond delay="4200"/>
                                  </p:stCondLst>
                                  <p:childTnLst>
                                    <p:set>
                                      <p:cBhvr>
                                        <p:cTn id="5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4" presetID="0" presetClass="path" presetSubtype="0" fill="hold" grpId="3" nodeType="withEffect">
                                  <p:stCondLst>
                                    <p:cond delay="4200"/>
                                  </p:stCondLst>
                                  <p:childTnLst>
                                    <p:animMotion origin="layout" path="M 0 0 L 0.0450 0.0000 L 0.0450 -0.1067 L 0.0825 -0.1067 E" pathEditMode="relative" ptsTypes="AAAA">
                                      <p:cBhvr>
                                        <p:cTn id="515" dur="1000" fill="hold"/>
                                        <p:tgtEl>
                                          <p:spTgt spid="13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516" presetID="1" presetClass="exit" presetSubtype="0" fill="hold" grpId="1" nodeType="withEffect">
                                  <p:stCondLst>
                                    <p:cond delay="5200"/>
                                  </p:stCondLst>
                                  <p:childTnLst>
                                    <p:set>
                                      <p:cBhvr>
                                        <p:cTn id="5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8" presetID="22" presetClass="entr" presetSubtype="4" fill="hold" grpId="0" nodeType="withEffect">
                                  <p:stCondLst>
                                    <p:cond delay="3800"/>
                                  </p:stCondLst>
                                  <p:childTnLst>
                                    <p:set>
                                      <p:cBhvr>
                                        <p:cTn id="5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520" dur="6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1" presetID="22" presetClass="entr" presetSubtype="4" fill="hold" grpId="0" nodeType="withEffect">
                                  <p:stCondLst>
                                    <p:cond delay="4400"/>
                                  </p:stCondLst>
                                  <p:childTnLst>
                                    <p:set>
                                      <p:cBhvr>
                                        <p:cTn id="5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523" dur="6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4" fill="hold">
                            <p:stCondLst>
                              <p:cond delay="5700"/>
                            </p:stCondLst>
                            <p:childTnLst>
                              <p:par>
                                <p:cTn id="525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27" presetID="0" presetClass="path" presetSubtype="0" fill="hold" grpId="3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0.3600 E" pathEditMode="relative" ptsTypes="AA">
                                      <p:cBhvr>
                                        <p:cTn id="528" dur="1100" fill="hold"/>
                                        <p:tgtEl>
                                          <p:spTgt spid="13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529" presetID="10" presetClass="exit" presetSubtype="0" fill="hold" grpId="1" nodeType="withEffect">
                                  <p:stCondLst>
                                    <p:cond delay="10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30" dur="3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31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2" fill="hold">
                      <p:stCondLst>
                        <p:cond delay="indefinite"/>
                      </p:stCondLst>
                      <p:childTnLst>
                        <p:par>
                          <p:cTn id="533" fill="hold">
                            <p:stCondLst>
                              <p:cond delay="0"/>
                            </p:stCondLst>
                            <p:childTnLst>
                              <p:par>
                                <p:cTn id="534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8" dur="300"/>
                                        <p:tgtEl>
                                          <p:spTgt spid="7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9" presetID="1" presetClass="exit" presetSubtype="0" fill="hold" grpId="1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5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41" presetID="53" presetClass="entr" presetSubtype="16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5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43" dur="400" fill="hold"/>
                                        <p:tgtEl>
                                          <p:spTgt spid="6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44" dur="400" fill="hold"/>
                                        <p:tgtEl>
                                          <p:spTgt spid="6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45" dur="4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6" presetID="1" presetClass="exit" presetSubtype="0" fill="hold" grpId="1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5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48" presetID="53" presetClass="entr" presetSubtype="16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5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50" dur="400" fill="hold"/>
                                        <p:tgtEl>
                                          <p:spTgt spid="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51" dur="400" fill="hold"/>
                                        <p:tgtEl>
                                          <p:spTgt spid="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52" dur="40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3" presetID="1" presetClass="exit" presetSubtype="0" fill="hold" grpId="1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5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5" presetID="53" presetClass="entr" presetSubtype="16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5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57" dur="400" fill="hold"/>
                                        <p:tgtEl>
                                          <p:spTgt spid="6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58" dur="400" fill="hold"/>
                                        <p:tgtEl>
                                          <p:spTgt spid="6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59" dur="400"/>
                                        <p:tgtEl>
                                          <p:spTgt spid="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60" fill="hold">
                            <p:stCondLst>
                              <p:cond delay="2000"/>
                            </p:stCondLst>
                            <p:childTnLst>
                              <p:par>
                                <p:cTn id="561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63" dur="500" fill="hold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64" dur="500" fill="hold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65"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6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68" dur="500" fill="hold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69" dur="500" fill="hold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70"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71" fill="hold">
                            <p:stCondLst>
                              <p:cond delay="2500"/>
                            </p:stCondLst>
                            <p:childTnLst>
                              <p:par>
                                <p:cTn id="572" presetID="6" presetClass="emph" presetSubtype="0" repeatCount="2000" fill="hold" grpId="2" nodeType="after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573" dur="400" autoRev="1" fill="hold"/>
                                        <p:tgtEl>
                                          <p:spTgt spid="135"/>
                                        </p:tgtEl>
                                      </p:cBhvr>
                                      <p:by x="108000" y="108000"/>
                                    </p:animScale>
                                  </p:childTnLst>
                                </p:cTn>
                              </p:par>
                              <p:par>
                                <p:cTn id="574" presetID="6" presetClass="emph" presetSubtype="0" repeatCount="200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575" dur="400" autoRev="1" fill="hold"/>
                                        <p:tgtEl>
                                          <p:spTgt spid="136"/>
                                        </p:tgtEl>
                                      </p:cBhvr>
                                      <p:by x="108000" y="108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0" grpId="0" animBg="1"/>
      <p:bldP spid="71" grpId="0" animBg="1"/>
      <p:bldP spid="71" grpId="1" animBg="1"/>
      <p:bldP spid="72" grpId="0" animBg="1"/>
      <p:bldP spid="26" grpId="0" animBg="1"/>
      <p:bldP spid="27" grpId="0" animBg="1"/>
      <p:bldP spid="28" grpId="2" animBg="1"/>
      <p:bldP spid="33" grpId="0" animBg="1"/>
      <p:bldP spid="34" grpId="0" animBg="1"/>
      <p:bldP spid="72" grpId="1" animBg="1"/>
      <p:bldP spid="73" grpId="0" animBg="1"/>
      <p:bldP spid="35" grpId="0" animBg="1"/>
      <p:bldP spid="38" grpId="0" animBg="1"/>
      <p:bldP spid="83" grpId="0" animBg="1"/>
      <p:bldP spid="83" grpId="3" animBg="1"/>
      <p:bldP spid="83" grpId="1" animBg="1"/>
      <p:bldP spid="84" grpId="0" animBg="1"/>
      <p:bldP spid="84" grpId="3" animBg="1"/>
      <p:bldP spid="84" grpId="1" animBg="1"/>
      <p:bldP spid="85" grpId="0" animBg="1"/>
      <p:bldP spid="85" grpId="3" animBg="1"/>
      <p:bldP spid="85" grpId="1" animBg="1"/>
      <p:bldP spid="86" grpId="0" animBg="1"/>
      <p:bldP spid="86" grpId="3" animBg="1"/>
      <p:bldP spid="86" grpId="1" animBg="1"/>
      <p:bldP spid="87" grpId="0" animBg="1"/>
      <p:bldP spid="87" grpId="3" animBg="1"/>
      <p:bldP spid="87" grpId="1" animBg="1"/>
      <p:bldP spid="88" grpId="0" animBg="1"/>
      <p:bldP spid="88" grpId="3" animBg="1"/>
      <p:bldP spid="88" grpId="1" animBg="1"/>
      <p:bldP spid="89" grpId="0" animBg="1"/>
      <p:bldP spid="89" grpId="3" animBg="1"/>
      <p:bldP spid="89" grpId="1" animBg="1"/>
      <p:bldP spid="10" grpId="1" animBg="1"/>
      <p:bldP spid="40" grpId="0" animBg="1"/>
      <p:bldP spid="41" grpId="0" animBg="1"/>
      <p:bldP spid="73" grpId="1" animBg="1"/>
      <p:bldP spid="74" grpId="0" animBg="1"/>
      <p:bldP spid="13" grpId="0" animBg="1"/>
      <p:bldP spid="24" grpId="0" animBg="1"/>
      <p:bldP spid="43" grpId="0" animBg="1"/>
      <p:bldP spid="46" grpId="0" animBg="1"/>
      <p:bldP spid="47" grpId="0" animBg="1"/>
      <p:bldP spid="48" grpId="0" animBg="1"/>
      <p:bldP spid="50" grpId="0" animBg="1"/>
      <p:bldP spid="51" grpId="0" animBg="1"/>
      <p:bldP spid="74" grpId="1" animBg="1"/>
      <p:bldP spid="75" grpId="0" animBg="1"/>
      <p:bldP spid="90" grpId="0" animBg="1"/>
      <p:bldP spid="90" grpId="3" animBg="1"/>
      <p:bldP spid="90" grpId="1" animBg="1"/>
      <p:bldP spid="91" grpId="0" animBg="1"/>
      <p:bldP spid="91" grpId="3" animBg="1"/>
      <p:bldP spid="91" grpId="1" animBg="1"/>
      <p:bldP spid="92" grpId="0" animBg="1"/>
      <p:bldP spid="92" grpId="3" animBg="1"/>
      <p:bldP spid="92" grpId="1" animBg="1"/>
      <p:bldP spid="93" grpId="0" animBg="1"/>
      <p:bldP spid="93" grpId="3" animBg="1"/>
      <p:bldP spid="93" grpId="1" animBg="1"/>
      <p:bldP spid="94" grpId="0" animBg="1"/>
      <p:bldP spid="94" grpId="3" animBg="1"/>
      <p:bldP spid="94" grpId="1" animBg="1"/>
      <p:bldP spid="95" grpId="0" animBg="1"/>
      <p:bldP spid="95" grpId="3" animBg="1"/>
      <p:bldP spid="95" grpId="1" animBg="1"/>
      <p:bldP spid="96" grpId="0" animBg="1"/>
      <p:bldP spid="96" grpId="3" animBg="1"/>
      <p:bldP spid="96" grpId="1" animBg="1"/>
      <p:bldP spid="97" grpId="0" animBg="1"/>
      <p:bldP spid="97" grpId="3" animBg="1"/>
      <p:bldP spid="97" grpId="1" animBg="1"/>
      <p:bldP spid="98" grpId="0" animBg="1"/>
      <p:bldP spid="98" grpId="3" animBg="1"/>
      <p:bldP spid="98" grpId="1" animBg="1"/>
      <p:bldP spid="99" grpId="0" animBg="1"/>
      <p:bldP spid="99" grpId="3" animBg="1"/>
      <p:bldP spid="99" grpId="1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100" grpId="0" animBg="1"/>
      <p:bldP spid="100" grpId="3" animBg="1"/>
      <p:bldP spid="100" grpId="1" animBg="1"/>
      <p:bldP spid="101" grpId="0" animBg="1"/>
      <p:bldP spid="101" grpId="3" animBg="1"/>
      <p:bldP spid="101" grpId="1" animBg="1"/>
      <p:bldP spid="102" grpId="0" animBg="1"/>
      <p:bldP spid="102" grpId="3" animBg="1"/>
      <p:bldP spid="102" grpId="1" animBg="1"/>
      <p:bldP spid="103" grpId="0" animBg="1"/>
      <p:bldP spid="103" grpId="3" animBg="1"/>
      <p:bldP spid="103" grpId="1" animBg="1"/>
      <p:bldP spid="104" grpId="0" animBg="1"/>
      <p:bldP spid="104" grpId="3" animBg="1"/>
      <p:bldP spid="104" grpId="1" animBg="1"/>
      <p:bldP spid="105" grpId="0" animBg="1"/>
      <p:bldP spid="105" grpId="3" animBg="1"/>
      <p:bldP spid="105" grpId="1" animBg="1"/>
      <p:bldP spid="106" grpId="0" animBg="1"/>
      <p:bldP spid="106" grpId="3" animBg="1"/>
      <p:bldP spid="106" grpId="1" animBg="1"/>
      <p:bldP spid="107" grpId="0" animBg="1"/>
      <p:bldP spid="107" grpId="3" animBg="1"/>
      <p:bldP spid="107" grpId="1" animBg="1"/>
      <p:bldP spid="108" grpId="0" animBg="1"/>
      <p:bldP spid="108" grpId="3" animBg="1"/>
      <p:bldP spid="108" grpId="1" animBg="1"/>
      <p:bldP spid="109" grpId="0" animBg="1"/>
      <p:bldP spid="109" grpId="3" animBg="1"/>
      <p:bldP spid="109" grpId="1" animBg="1"/>
      <p:bldP spid="110" grpId="0" animBg="1"/>
      <p:bldP spid="110" grpId="3" animBg="1"/>
      <p:bldP spid="110" grpId="1" animBg="1"/>
      <p:bldP spid="111" grpId="0" animBg="1"/>
      <p:bldP spid="111" grpId="3" animBg="1"/>
      <p:bldP spid="111" grpId="1" animBg="1"/>
      <p:bldP spid="112" grpId="0" animBg="1"/>
      <p:bldP spid="112" grpId="3" animBg="1"/>
      <p:bldP spid="112" grpId="1" animBg="1"/>
      <p:bldP spid="113" grpId="0" animBg="1"/>
      <p:bldP spid="113" grpId="3" animBg="1"/>
      <p:bldP spid="113" grpId="1" animBg="1"/>
      <p:bldP spid="114" grpId="0" animBg="1"/>
      <p:bldP spid="114" grpId="3" animBg="1"/>
      <p:bldP spid="114" grpId="1" animBg="1"/>
      <p:bldP spid="115" grpId="0" animBg="1"/>
      <p:bldP spid="115" grpId="3" animBg="1"/>
      <p:bldP spid="115" grpId="1" animBg="1"/>
      <p:bldP spid="116" grpId="0" animBg="1"/>
      <p:bldP spid="116" grpId="3" animBg="1"/>
      <p:bldP spid="116" grpId="1" animBg="1"/>
      <p:bldP spid="117" grpId="0" animBg="1"/>
      <p:bldP spid="117" grpId="3" animBg="1"/>
      <p:bldP spid="117" grpId="1" animBg="1"/>
      <p:bldP spid="118" grpId="0" animBg="1"/>
      <p:bldP spid="118" grpId="3" animBg="1"/>
      <p:bldP spid="118" grpId="1" animBg="1"/>
      <p:bldP spid="119" grpId="0" animBg="1"/>
      <p:bldP spid="119" grpId="3" animBg="1"/>
      <p:bldP spid="119" grpId="1" animBg="1"/>
      <p:bldP spid="120" grpId="0" animBg="1"/>
      <p:bldP spid="120" grpId="3" animBg="1"/>
      <p:bldP spid="120" grpId="1" animBg="1"/>
      <p:bldP spid="121" grpId="0" animBg="1"/>
      <p:bldP spid="121" grpId="3" animBg="1"/>
      <p:bldP spid="121" grpId="1" animBg="1"/>
      <p:bldP spid="122" grpId="0" animBg="1"/>
      <p:bldP spid="122" grpId="3" animBg="1"/>
      <p:bldP spid="122" grpId="1" animBg="1"/>
      <p:bldP spid="123" grpId="0" animBg="1"/>
      <p:bldP spid="123" grpId="3" animBg="1"/>
      <p:bldP spid="123" grpId="1" animBg="1"/>
      <p:bldP spid="124" grpId="0" animBg="1"/>
      <p:bldP spid="124" grpId="3" animBg="1"/>
      <p:bldP spid="124" grpId="1" animBg="1"/>
      <p:bldP spid="125" grpId="0" animBg="1"/>
      <p:bldP spid="125" grpId="3" animBg="1"/>
      <p:bldP spid="125" grpId="1" animBg="1"/>
      <p:bldP spid="126" grpId="0" animBg="1"/>
      <p:bldP spid="126" grpId="3" animBg="1"/>
      <p:bldP spid="126" grpId="1" animBg="1"/>
      <p:bldP spid="127" grpId="0" animBg="1"/>
      <p:bldP spid="127" grpId="3" animBg="1"/>
      <p:bldP spid="127" grpId="1" animBg="1"/>
      <p:bldP spid="128" grpId="0" animBg="1"/>
      <p:bldP spid="128" grpId="3" animBg="1"/>
      <p:bldP spid="128" grpId="1" animBg="1"/>
      <p:bldP spid="129" grpId="0" animBg="1"/>
      <p:bldP spid="129" grpId="3" animBg="1"/>
      <p:bldP spid="129" grpId="1" animBg="1"/>
      <p:bldP spid="75" grpId="1" animBg="1"/>
      <p:bldP spid="76" grpId="0" animBg="1"/>
      <p:bldP spid="79" grpId="2" animBg="1"/>
      <p:bldP spid="79" grpId="1" animBg="1"/>
      <p:bldP spid="82" grpId="0" animBg="1"/>
      <p:bldP spid="80" grpId="3" animBg="1"/>
      <p:bldP spid="80" grpId="1" animBg="1"/>
      <p:bldP spid="81" grpId="3" animBg="1"/>
      <p:bldP spid="81" grpId="1" animBg="1"/>
      <p:bldP spid="76" grpId="1" animBg="1"/>
      <p:bldP spid="77" grpId="0" animBg="1"/>
      <p:bldP spid="82" grpId="1" animBg="1"/>
      <p:bldP spid="11" grpId="1" animBg="1"/>
      <p:bldP spid="14" grpId="1" animBg="1"/>
      <p:bldP spid="15" grpId="1" animBg="1"/>
      <p:bldP spid="16" grpId="1" animBg="1"/>
      <p:bldP spid="17" grpId="1" animBg="1"/>
      <p:bldP spid="18" grpId="1" animBg="1"/>
      <p:bldP spid="19" grpId="1" animBg="1"/>
      <p:bldP spid="20" grpId="1" animBg="1"/>
      <p:bldP spid="21" grpId="1" animBg="1"/>
      <p:bldP spid="22" grpId="1" animBg="1"/>
      <p:bldP spid="23" grpId="1" animBg="1"/>
      <p:bldP spid="8" grpId="1" animBg="1"/>
      <p:bldP spid="7" grpId="1" animBg="1"/>
      <p:bldP spid="6" grpId="1" animBg="1"/>
      <p:bldP spid="52" grpId="0" animBg="1"/>
      <p:bldP spid="53" grpId="0" animBg="1"/>
      <p:bldP spid="54" grpId="0" animBg="1"/>
      <p:bldP spid="130" grpId="0" animBg="1"/>
      <p:bldP spid="130" grpId="3" animBg="1"/>
      <p:bldP spid="130" grpId="1" animBg="1"/>
      <p:bldP spid="131" grpId="0" animBg="1"/>
      <p:bldP spid="131" grpId="3" animBg="1"/>
      <p:bldP spid="131" grpId="1" animBg="1"/>
      <p:bldP spid="132" grpId="0" animBg="1"/>
      <p:bldP spid="132" grpId="3" animBg="1"/>
      <p:bldP spid="132" grpId="1" animBg="1"/>
      <p:bldP spid="133" grpId="0" animBg="1"/>
      <p:bldP spid="133" grpId="3" animBg="1"/>
      <p:bldP spid="133" grpId="1" animBg="1"/>
      <p:bldP spid="56" grpId="0" animBg="1"/>
      <p:bldP spid="57" grpId="0" animBg="1"/>
      <p:bldP spid="134" grpId="0" animBg="1"/>
      <p:bldP spid="134" grpId="3" animBg="1"/>
      <p:bldP spid="134" grpId="1" animBg="1"/>
      <p:bldP spid="77" grpId="1" animBg="1"/>
      <p:bldP spid="78" grpId="0" animBg="1"/>
      <p:bldP spid="62" grpId="1" animBg="1"/>
      <p:bldP spid="63" grpId="0" animBg="1"/>
      <p:bldP spid="65" grpId="1" animBg="1"/>
      <p:bldP spid="66" grpId="0" animBg="1"/>
      <p:bldP spid="68" grpId="1" animBg="1"/>
      <p:bldP spid="69" grpId="0" animBg="1"/>
      <p:bldP spid="135" grpId="0" animBg="1"/>
      <p:bldP spid="136" grpId="0" animBg="1"/>
      <p:bldP spid="135" grpId="2" animBg="1"/>
      <p:bldP spid="136" grpId="2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47472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5F8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does each contaminant go?</a:t>
            </a:r>
            <a:endParaRPr lang="en-US" sz="2800" dirty="0"/>
          </a:p>
        </p:txBody>
      </p:sp>
      <p:sp>
        <p:nvSpPr>
          <p:cNvPr id="3" name="s870"/>
          <p:cNvSpPr/>
          <p:nvPr/>
        </p:nvSpPr>
        <p:spPr>
          <a:xfrm>
            <a:off x="3200400" y="1371600"/>
            <a:ext cx="2651760" cy="4297680"/>
          </a:xfrm>
          <a:prstGeom prst="roundRect">
            <a:avLst>
              <a:gd name="adj" fmla="val 3448"/>
            </a:avLst>
          </a:prstGeom>
          <a:solidFill>
            <a:srgbClr val="FFFFFF"/>
          </a:solidFill>
          <a:ln w="12700">
            <a:solidFill>
              <a:srgbClr val="E1E8EF"/>
            </a:solidFill>
            <a:prstDash val="solid"/>
          </a:ln>
          <a:effectLst>
            <a:outerShdw sx="100000" sy="100000" kx="0" ky="0" algn="bl" rotWithShape="0" blurRad="76200" dist="25400" dir="5400000">
              <a:srgbClr val="9AA9B8">
                <a:alpha val="22000"/>
              </a:srgbClr>
            </a:outerShdw>
          </a:effectLst>
        </p:spPr>
      </p:sp>
      <p:sp>
        <p:nvSpPr>
          <p:cNvPr id="4" name="s871"/>
          <p:cNvSpPr/>
          <p:nvPr/>
        </p:nvSpPr>
        <p:spPr>
          <a:xfrm>
            <a:off x="3429000" y="1554480"/>
            <a:ext cx="640080" cy="640080"/>
          </a:xfrm>
          <a:prstGeom prst="ellipse">
            <a:avLst/>
          </a:prstGeom>
          <a:solidFill>
            <a:srgbClr val="E67E22"/>
          </a:solidFill>
          <a:ln/>
        </p:spPr>
      </p:sp>
      <p:pic>
        <p:nvPicPr>
          <p:cNvPr id="5" name="i872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582619" y="1708099"/>
            <a:ext cx="332842" cy="332842"/>
          </a:xfrm>
          <a:prstGeom prst="rect">
            <a:avLst/>
          </a:prstGeom>
        </p:spPr>
      </p:pic>
      <p:sp>
        <p:nvSpPr>
          <p:cNvPr id="6" name="t873"/>
          <p:cNvSpPr txBox="1"/>
          <p:nvPr/>
        </p:nvSpPr>
        <p:spPr>
          <a:xfrm>
            <a:off x="4160520" y="1554480"/>
            <a:ext cx="1600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5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Flare / closed vent</a:t>
            </a:r>
            <a:endParaRPr lang="en-US" sz="1500" dirty="0"/>
          </a:p>
        </p:txBody>
      </p:sp>
      <p:sp>
        <p:nvSpPr>
          <p:cNvPr id="7" name="t874"/>
          <p:cNvSpPr txBox="1"/>
          <p:nvPr/>
        </p:nvSpPr>
        <p:spPr>
          <a:xfrm>
            <a:off x="3429000" y="2286000"/>
            <a:ext cx="2240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Vapours swept out with the steam or vented</a:t>
            </a:r>
            <a:endParaRPr lang="en-US" sz="1200" dirty="0"/>
          </a:p>
        </p:txBody>
      </p:sp>
      <p:sp>
        <p:nvSpPr>
          <p:cNvPr id="8" name="s875"/>
          <p:cNvSpPr/>
          <p:nvPr/>
        </p:nvSpPr>
        <p:spPr>
          <a:xfrm>
            <a:off x="5989320" y="1371600"/>
            <a:ext cx="2651760" cy="4297680"/>
          </a:xfrm>
          <a:prstGeom prst="roundRect">
            <a:avLst>
              <a:gd name="adj" fmla="val 3448"/>
            </a:avLst>
          </a:prstGeom>
          <a:solidFill>
            <a:srgbClr val="FFFFFF"/>
          </a:solidFill>
          <a:ln w="12700">
            <a:solidFill>
              <a:srgbClr val="E1E8EF"/>
            </a:solidFill>
            <a:prstDash val="solid"/>
          </a:ln>
          <a:effectLst>
            <a:outerShdw sx="100000" sy="100000" kx="0" ky="0" algn="bl" rotWithShape="0" blurRad="76200" dist="25400" dir="5400000">
              <a:srgbClr val="9AA9B8">
                <a:alpha val="22000"/>
              </a:srgbClr>
            </a:outerShdw>
          </a:effectLst>
        </p:spPr>
      </p:sp>
      <p:sp>
        <p:nvSpPr>
          <p:cNvPr id="9" name="s876"/>
          <p:cNvSpPr/>
          <p:nvPr/>
        </p:nvSpPr>
        <p:spPr>
          <a:xfrm>
            <a:off x="6217920" y="1554480"/>
            <a:ext cx="640080" cy="640080"/>
          </a:xfrm>
          <a:prstGeom prst="ellipse">
            <a:avLst/>
          </a:prstGeom>
          <a:solidFill>
            <a:srgbClr val="0C74BC"/>
          </a:solidFill>
          <a:ln/>
        </p:spPr>
      </p:sp>
      <p:pic>
        <p:nvPicPr>
          <p:cNvPr id="10" name="i877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71539" y="1708099"/>
            <a:ext cx="332842" cy="332842"/>
          </a:xfrm>
          <a:prstGeom prst="rect">
            <a:avLst/>
          </a:prstGeom>
        </p:spPr>
      </p:pic>
      <p:sp>
        <p:nvSpPr>
          <p:cNvPr id="11" name="t878"/>
          <p:cNvSpPr txBox="1"/>
          <p:nvPr/>
        </p:nvSpPr>
        <p:spPr>
          <a:xfrm>
            <a:off x="6949440" y="1554480"/>
            <a:ext cx="1600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5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Converted &amp; drained</a:t>
            </a:r>
            <a:endParaRPr lang="en-US" sz="1500" dirty="0"/>
          </a:p>
        </p:txBody>
      </p:sp>
      <p:sp>
        <p:nvSpPr>
          <p:cNvPr id="12" name="t879"/>
          <p:cNvSpPr txBox="1"/>
          <p:nvPr/>
        </p:nvSpPr>
        <p:spPr>
          <a:xfrm>
            <a:off x="6217920" y="2286000"/>
            <a:ext cx="2240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Made stable in the equipment, then drained to the effluent tank</a:t>
            </a:r>
            <a:endParaRPr lang="en-US" sz="1200" dirty="0"/>
          </a:p>
        </p:txBody>
      </p:sp>
      <p:sp>
        <p:nvSpPr>
          <p:cNvPr id="13" name="s880"/>
          <p:cNvSpPr/>
          <p:nvPr/>
        </p:nvSpPr>
        <p:spPr>
          <a:xfrm>
            <a:off x="8778240" y="1371600"/>
            <a:ext cx="2651760" cy="4297680"/>
          </a:xfrm>
          <a:prstGeom prst="roundRect">
            <a:avLst>
              <a:gd name="adj" fmla="val 3448"/>
            </a:avLst>
          </a:prstGeom>
          <a:solidFill>
            <a:srgbClr val="FFFFFF"/>
          </a:solidFill>
          <a:ln w="12700">
            <a:solidFill>
              <a:srgbClr val="E1E8EF"/>
            </a:solidFill>
            <a:prstDash val="solid"/>
          </a:ln>
          <a:effectLst>
            <a:outerShdw sx="100000" sy="100000" kx="0" ky="0" algn="bl" rotWithShape="0" blurRad="76200" dist="25400" dir="5400000">
              <a:srgbClr val="9AA9B8">
                <a:alpha val="22000"/>
              </a:srgbClr>
            </a:outerShdw>
          </a:effectLst>
        </p:spPr>
      </p:sp>
      <p:sp>
        <p:nvSpPr>
          <p:cNvPr id="14" name="s881"/>
          <p:cNvSpPr/>
          <p:nvPr/>
        </p:nvSpPr>
        <p:spPr>
          <a:xfrm>
            <a:off x="9006840" y="1554480"/>
            <a:ext cx="640080" cy="640080"/>
          </a:xfrm>
          <a:prstGeom prst="ellipse">
            <a:avLst/>
          </a:prstGeom>
          <a:solidFill>
            <a:srgbClr val="7A5C3E"/>
          </a:solidFill>
          <a:ln/>
        </p:spPr>
      </p:sp>
      <p:pic>
        <p:nvPicPr>
          <p:cNvPr id="15" name="i88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60459" y="1708099"/>
            <a:ext cx="332842" cy="332842"/>
          </a:xfrm>
          <a:prstGeom prst="rect">
            <a:avLst/>
          </a:prstGeom>
        </p:spPr>
      </p:pic>
      <p:sp>
        <p:nvSpPr>
          <p:cNvPr id="16" name="t883"/>
          <p:cNvSpPr txBox="1"/>
          <p:nvPr/>
        </p:nvSpPr>
        <p:spPr>
          <a:xfrm>
            <a:off x="9738360" y="1554480"/>
            <a:ext cx="1600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5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Recovered oil</a:t>
            </a:r>
            <a:endParaRPr lang="en-US" sz="1500" dirty="0"/>
          </a:p>
        </p:txBody>
      </p:sp>
      <p:sp>
        <p:nvSpPr>
          <p:cNvPr id="17" name="t884"/>
          <p:cNvSpPr txBox="1"/>
          <p:nvPr/>
        </p:nvSpPr>
        <p:spPr>
          <a:xfrm>
            <a:off x="9006840" y="2286000"/>
            <a:ext cx="2240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Heavy oil to the slop / rerun tank</a:t>
            </a:r>
            <a:endParaRPr lang="en-US" sz="1200" dirty="0"/>
          </a:p>
        </p:txBody>
      </p:sp>
      <p:sp>
        <p:nvSpPr>
          <p:cNvPr id="18" name="tag885"/>
          <p:cNvSpPr/>
          <p:nvPr/>
        </p:nvSpPr>
        <p:spPr>
          <a:xfrm>
            <a:off x="548640" y="1417320"/>
            <a:ext cx="2194560" cy="329184"/>
          </a:xfrm>
          <a:prstGeom prst="roundRect">
            <a:avLst>
              <a:gd name="adj" fmla="val 50000"/>
            </a:avLst>
          </a:prstGeom>
          <a:solidFill>
            <a:srgbClr val="E67E2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Benzene</a:t>
            </a:r>
            <a:endParaRPr lang="en-US" sz="1200" dirty="0"/>
          </a:p>
        </p:txBody>
      </p:sp>
      <p:sp>
        <p:nvSpPr>
          <p:cNvPr id="19" name="tag886"/>
          <p:cNvSpPr/>
          <p:nvPr/>
        </p:nvSpPr>
        <p:spPr>
          <a:xfrm>
            <a:off x="548640" y="1947672"/>
            <a:ext cx="2194560" cy="329184"/>
          </a:xfrm>
          <a:prstGeom prst="roundRect">
            <a:avLst>
              <a:gd name="adj" fmla="val 50000"/>
            </a:avLst>
          </a:prstGeom>
          <a:solidFill>
            <a:srgbClr val="D4A017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LEL</a:t>
            </a:r>
            <a:endParaRPr lang="en-US" sz="1200" dirty="0"/>
          </a:p>
        </p:txBody>
      </p:sp>
      <p:sp>
        <p:nvSpPr>
          <p:cNvPr id="20" name="tag887"/>
          <p:cNvSpPr/>
          <p:nvPr/>
        </p:nvSpPr>
        <p:spPr>
          <a:xfrm>
            <a:off x="548640" y="2478024"/>
            <a:ext cx="2194560" cy="329184"/>
          </a:xfrm>
          <a:prstGeom prst="roundRect">
            <a:avLst>
              <a:gd name="adj" fmla="val 50000"/>
            </a:avLst>
          </a:prstGeom>
          <a:solidFill>
            <a:srgbClr val="C039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H₂S</a:t>
            </a:r>
            <a:endParaRPr lang="en-US" sz="1200" dirty="0"/>
          </a:p>
        </p:txBody>
      </p:sp>
      <p:sp>
        <p:nvSpPr>
          <p:cNvPr id="21" name="tag888"/>
          <p:cNvSpPr/>
          <p:nvPr/>
        </p:nvSpPr>
        <p:spPr>
          <a:xfrm>
            <a:off x="548640" y="3008376"/>
            <a:ext cx="2194560" cy="329184"/>
          </a:xfrm>
          <a:prstGeom prst="roundRect">
            <a:avLst>
              <a:gd name="adj" fmla="val 50000"/>
            </a:avLst>
          </a:prstGeom>
          <a:solidFill>
            <a:srgbClr val="6B728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FeS</a:t>
            </a:r>
            <a:endParaRPr lang="en-US" sz="1200" dirty="0"/>
          </a:p>
        </p:txBody>
      </p:sp>
      <p:sp>
        <p:nvSpPr>
          <p:cNvPr id="22" name="tag889"/>
          <p:cNvSpPr/>
          <p:nvPr/>
        </p:nvSpPr>
        <p:spPr>
          <a:xfrm>
            <a:off x="548640" y="3538728"/>
            <a:ext cx="2194560" cy="329184"/>
          </a:xfrm>
          <a:prstGeom prst="roundRect">
            <a:avLst>
              <a:gd name="adj" fmla="val 50000"/>
            </a:avLst>
          </a:prstGeom>
          <a:solidFill>
            <a:srgbClr val="0C74B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Ammonia</a:t>
            </a:r>
            <a:endParaRPr lang="en-US" sz="1200" dirty="0"/>
          </a:p>
        </p:txBody>
      </p:sp>
      <p:sp>
        <p:nvSpPr>
          <p:cNvPr id="23" name="tag890"/>
          <p:cNvSpPr/>
          <p:nvPr/>
        </p:nvSpPr>
        <p:spPr>
          <a:xfrm>
            <a:off x="548640" y="4069080"/>
            <a:ext cx="2194560" cy="329184"/>
          </a:xfrm>
          <a:prstGeom prst="roundRect">
            <a:avLst>
              <a:gd name="adj" fmla="val 50000"/>
            </a:avLst>
          </a:prstGeom>
          <a:solidFill>
            <a:srgbClr val="8E9AA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Mercaptans</a:t>
            </a:r>
            <a:endParaRPr lang="en-US" sz="1200" dirty="0"/>
          </a:p>
        </p:txBody>
      </p:sp>
      <p:sp>
        <p:nvSpPr>
          <p:cNvPr id="24" name="tag891"/>
          <p:cNvSpPr/>
          <p:nvPr/>
        </p:nvSpPr>
        <p:spPr>
          <a:xfrm>
            <a:off x="548640" y="4599432"/>
            <a:ext cx="2194560" cy="329184"/>
          </a:xfrm>
          <a:prstGeom prst="roundRect">
            <a:avLst>
              <a:gd name="adj" fmla="val 50000"/>
            </a:avLst>
          </a:prstGeom>
          <a:solidFill>
            <a:srgbClr val="7A5C3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Sludge</a:t>
            </a:r>
            <a:endParaRPr lang="en-US" sz="1200" dirty="0"/>
          </a:p>
        </p:txBody>
      </p:sp>
      <p:sp>
        <p:nvSpPr>
          <p:cNvPr id="25" name="tag892"/>
          <p:cNvSpPr/>
          <p:nvPr/>
        </p:nvSpPr>
        <p:spPr>
          <a:xfrm>
            <a:off x="548640" y="5129784"/>
            <a:ext cx="2194560" cy="329184"/>
          </a:xfrm>
          <a:prstGeom prst="roundRect">
            <a:avLst>
              <a:gd name="adj" fmla="val 50000"/>
            </a:avLst>
          </a:prstGeom>
          <a:solidFill>
            <a:srgbClr val="5C463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Heavy oil</a:t>
            </a:r>
            <a:endParaRPr lang="en-US" sz="1200" dirty="0"/>
          </a:p>
        </p:txBody>
      </p:sp>
      <p:sp>
        <p:nvSpPr>
          <p:cNvPr id="26" name="tag893"/>
          <p:cNvSpPr/>
          <p:nvPr/>
        </p:nvSpPr>
        <p:spPr>
          <a:xfrm>
            <a:off x="6217920" y="3063240"/>
            <a:ext cx="2194560" cy="329184"/>
          </a:xfrm>
          <a:prstGeom prst="roundRect">
            <a:avLst>
              <a:gd name="adj" fmla="val 50000"/>
            </a:avLst>
          </a:prstGeom>
          <a:solidFill>
            <a:srgbClr val="C039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H₂S → stable salt</a:t>
            </a:r>
            <a:endParaRPr lang="en-US" sz="1200" dirty="0"/>
          </a:p>
        </p:txBody>
      </p:sp>
      <p:sp>
        <p:nvSpPr>
          <p:cNvPr id="27" name="tag894"/>
          <p:cNvSpPr/>
          <p:nvPr/>
        </p:nvSpPr>
        <p:spPr>
          <a:xfrm>
            <a:off x="6217920" y="3520440"/>
            <a:ext cx="2194560" cy="329184"/>
          </a:xfrm>
          <a:prstGeom prst="roundRect">
            <a:avLst>
              <a:gd name="adj" fmla="val 50000"/>
            </a:avLst>
          </a:prstGeom>
          <a:solidFill>
            <a:srgbClr val="6B728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FeS → iron oxide</a:t>
            </a:r>
            <a:endParaRPr lang="en-US" sz="1200" dirty="0"/>
          </a:p>
        </p:txBody>
      </p:sp>
      <p:sp>
        <p:nvSpPr>
          <p:cNvPr id="28" name="tag895"/>
          <p:cNvSpPr/>
          <p:nvPr/>
        </p:nvSpPr>
        <p:spPr>
          <a:xfrm>
            <a:off x="6217920" y="3977640"/>
            <a:ext cx="2194560" cy="329184"/>
          </a:xfrm>
          <a:prstGeom prst="roundRect">
            <a:avLst>
              <a:gd name="adj" fmla="val 50000"/>
            </a:avLst>
          </a:prstGeom>
          <a:solidFill>
            <a:srgbClr val="0C74B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NH₃ → neutralised</a:t>
            </a:r>
            <a:endParaRPr lang="en-US" sz="1200" dirty="0"/>
          </a:p>
        </p:txBody>
      </p:sp>
      <p:sp>
        <p:nvSpPr>
          <p:cNvPr id="29" name="tag896"/>
          <p:cNvSpPr/>
          <p:nvPr/>
        </p:nvSpPr>
        <p:spPr>
          <a:xfrm>
            <a:off x="6217920" y="4434840"/>
            <a:ext cx="2194560" cy="329184"/>
          </a:xfrm>
          <a:prstGeom prst="roundRect">
            <a:avLst>
              <a:gd name="adj" fmla="val 50000"/>
            </a:avLst>
          </a:prstGeom>
          <a:solidFill>
            <a:srgbClr val="8E9AA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Mercaptans → converted</a:t>
            </a:r>
            <a:endParaRPr lang="en-US" sz="1200" dirty="0"/>
          </a:p>
        </p:txBody>
      </p:sp>
      <p:sp>
        <p:nvSpPr>
          <p:cNvPr id="30" name="tag897"/>
          <p:cNvSpPr/>
          <p:nvPr/>
        </p:nvSpPr>
        <p:spPr>
          <a:xfrm>
            <a:off x="6217920" y="4892040"/>
            <a:ext cx="2194560" cy="329184"/>
          </a:xfrm>
          <a:prstGeom prst="roundRect">
            <a:avLst>
              <a:gd name="adj" fmla="val 50000"/>
            </a:avLst>
          </a:prstGeom>
          <a:solidFill>
            <a:srgbClr val="7A5C3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Sludge → emulsified</a:t>
            </a:r>
            <a:endParaRPr lang="en-US" sz="1200" dirty="0"/>
          </a:p>
        </p:txBody>
      </p:sp>
      <p:sp>
        <p:nvSpPr>
          <p:cNvPr id="31" name="tag898"/>
          <p:cNvSpPr/>
          <p:nvPr/>
        </p:nvSpPr>
        <p:spPr>
          <a:xfrm>
            <a:off x="9006840" y="3063240"/>
            <a:ext cx="2194560" cy="329184"/>
          </a:xfrm>
          <a:prstGeom prst="roundRect">
            <a:avLst>
              <a:gd name="adj" fmla="val 50000"/>
            </a:avLst>
          </a:prstGeom>
          <a:solidFill>
            <a:srgbClr val="5C463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Heavy oil → slop / rerun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708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0" presetClass="path" presetSubtype="0" fill="hold" grpId="3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2363 0.2400 E" pathEditMode="relative" ptsTypes="AA">
                                      <p:cBhvr>
                                        <p:cTn id="6" dur="11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7" presetID="0" presetClass="path" presetSubtype="0" fill="hold" grpId="3" nodeType="withEffect">
                                  <p:stCondLst>
                                    <p:cond delay="200"/>
                                  </p:stCondLst>
                                  <p:childTnLst>
                                    <p:animMotion origin="layout" path="M 0 0 L 0.2363 0.2293 E" pathEditMode="relative" ptsTypes="AA">
                                      <p:cBhvr>
                                        <p:cTn id="8" dur="11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0" presetClass="path" presetSubtype="0" fill="hold" grpId="3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4650 0.0853 E" pathEditMode="relative" ptsTypes="AA">
                                      <p:cBhvr>
                                        <p:cTn id="12" dur="11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3" presetID="10" presetClass="exit" presetSubtype="0" fill="hold" grpId="1" nodeType="withEffect">
                                  <p:stCondLst>
                                    <p:cond delay="11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4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0" presetClass="path" presetSubtype="0" fill="hold" grpId="3" nodeType="withEffect">
                                  <p:stCondLst>
                                    <p:cond delay="200"/>
                                  </p:stCondLst>
                                  <p:childTnLst>
                                    <p:animMotion origin="layout" path="M 0 0 L 0.4650 0.0747 E" pathEditMode="relative" ptsTypes="AA">
                                      <p:cBhvr>
                                        <p:cTn id="20" dur="11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1" presetID="10" presetClass="exit" presetSubtype="0" fill="hold" grpId="1" nodeType="withEffect">
                                  <p:stCondLst>
                                    <p:cond delay="13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0" presetClass="path" presetSubtype="0" fill="hold" grpId="3" nodeType="withEffect">
                                  <p:stCondLst>
                                    <p:cond delay="400"/>
                                  </p:stCondLst>
                                  <p:childTnLst>
                                    <p:animMotion origin="layout" path="M 0 0 L 0.4650 0.0640 E" pathEditMode="relative" ptsTypes="AA">
                                      <p:cBhvr>
                                        <p:cTn id="28" dur="11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9" presetID="10" presetClass="exit" presetSubtype="0" fill="hold" grpId="1" nodeType="withEffect">
                                  <p:stCondLst>
                                    <p:cond delay="15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0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0" presetClass="path" presetSubtype="0" fill="hold" grpId="3" nodeType="withEffect">
                                  <p:stCondLst>
                                    <p:cond delay="600"/>
                                  </p:stCondLst>
                                  <p:childTnLst>
                                    <p:animMotion origin="layout" path="M 0 0 L 0.4650 0.0533 E" pathEditMode="relative" ptsTypes="AA">
                                      <p:cBhvr>
                                        <p:cTn id="36" dur="11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7" presetID="10" presetClass="exit" presetSubtype="0" fill="hold" grpId="1" nodeType="withEffect">
                                  <p:stCondLst>
                                    <p:cond delay="17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8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170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0" presetClass="path" presetSubtype="0" fill="hold" grpId="3" nodeType="withEffect">
                                  <p:stCondLst>
                                    <p:cond delay="800"/>
                                  </p:stCondLst>
                                  <p:childTnLst>
                                    <p:animMotion origin="layout" path="M 0 0 L 0.4650 0.0427 E" pathEditMode="relative" ptsTypes="AA">
                                      <p:cBhvr>
                                        <p:cTn id="44" dur="11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45" presetID="10" presetClass="exit" presetSubtype="0" fill="hold" grpId="1" nodeType="withEffect">
                                  <p:stCondLst>
                                    <p:cond delay="19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6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190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0" presetClass="path" presetSubtype="0" fill="hold" grpId="3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6938 -0.3013 E" pathEditMode="relative" ptsTypes="AA">
                                      <p:cBhvr>
                                        <p:cTn id="54" dur="11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55" presetID="10" presetClass="exit" presetSubtype="0" fill="hold" grpId="1" nodeType="withEffect">
                                  <p:stCondLst>
                                    <p:cond delay="11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6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8" presetID="10" presetClass="entr" presetSubtype="0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3" animBg="1"/>
      <p:bldP spid="19" grpId="3" animBg="1"/>
      <p:bldP spid="20" grpId="3" animBg="1"/>
      <p:bldP spid="20" grpId="1" animBg="1"/>
      <p:bldP spid="26" grpId="0" animBg="1"/>
      <p:bldP spid="21" grpId="3" animBg="1"/>
      <p:bldP spid="21" grpId="1" animBg="1"/>
      <p:bldP spid="27" grpId="0" animBg="1"/>
      <p:bldP spid="22" grpId="3" animBg="1"/>
      <p:bldP spid="22" grpId="1" animBg="1"/>
      <p:bldP spid="28" grpId="0" animBg="1"/>
      <p:bldP spid="23" grpId="3" animBg="1"/>
      <p:bldP spid="23" grpId="1" animBg="1"/>
      <p:bldP spid="29" grpId="0" animBg="1"/>
      <p:bldP spid="24" grpId="3" animBg="1"/>
      <p:bldP spid="24" grpId="1" animBg="1"/>
      <p:bldP spid="30" grpId="0" animBg="1"/>
      <p:bldP spid="25" grpId="3" animBg="1"/>
      <p:bldP spid="25" grpId="1" animBg="1"/>
      <p:bldP spid="31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47472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5F8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Decontamination chemistry toolkit</a:t>
            </a:r>
            <a:endParaRPr lang="en-US" sz="2800" dirty="0"/>
          </a:p>
        </p:txBody>
      </p:sp>
      <p:sp>
        <p:nvSpPr>
          <p:cNvPr id="3" name="s899"/>
          <p:cNvSpPr/>
          <p:nvPr/>
        </p:nvSpPr>
        <p:spPr>
          <a:xfrm>
            <a:off x="548640" y="1371600"/>
            <a:ext cx="3520440" cy="2103120"/>
          </a:xfrm>
          <a:prstGeom prst="roundRect">
            <a:avLst>
              <a:gd name="adj" fmla="val 4348"/>
            </a:avLst>
          </a:prstGeom>
          <a:solidFill>
            <a:srgbClr val="F3F7FA"/>
          </a:solidFill>
          <a:ln w="12700">
            <a:solidFill>
              <a:srgbClr val="E1E8EF"/>
            </a:solidFill>
            <a:prstDash val="solid"/>
          </a:ln>
          <a:effectLst>
            <a:outerShdw sx="100000" sy="100000" kx="0" ky="0" algn="bl" rotWithShape="0" blurRad="76200" dist="25400" dir="5400000">
              <a:srgbClr val="9AA9B8">
                <a:alpha val="22000"/>
              </a:srgbClr>
            </a:outerShdw>
          </a:effectLst>
        </p:spPr>
      </p:sp>
      <p:sp>
        <p:nvSpPr>
          <p:cNvPr id="4" name="s900"/>
          <p:cNvSpPr/>
          <p:nvPr/>
        </p:nvSpPr>
        <p:spPr>
          <a:xfrm>
            <a:off x="777240" y="1600200"/>
            <a:ext cx="594360" cy="594360"/>
          </a:xfrm>
          <a:prstGeom prst="ellipse">
            <a:avLst/>
          </a:prstGeom>
          <a:solidFill>
            <a:srgbClr val="0C74BC"/>
          </a:solidFill>
          <a:ln/>
        </p:spPr>
      </p:sp>
      <p:pic>
        <p:nvPicPr>
          <p:cNvPr id="5" name="i901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9886" y="1742846"/>
            <a:ext cx="309067" cy="309067"/>
          </a:xfrm>
          <a:prstGeom prst="rect">
            <a:avLst/>
          </a:prstGeom>
        </p:spPr>
      </p:pic>
      <p:sp>
        <p:nvSpPr>
          <p:cNvPr id="6" name="t902"/>
          <p:cNvSpPr txBox="1"/>
          <p:nvPr/>
        </p:nvSpPr>
        <p:spPr>
          <a:xfrm>
            <a:off x="1508760" y="1600200"/>
            <a:ext cx="2468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5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Vapour-phase degreaser</a:t>
            </a:r>
            <a:endParaRPr lang="en-US" sz="1500" dirty="0"/>
          </a:p>
        </p:txBody>
      </p:sp>
      <p:sp>
        <p:nvSpPr>
          <p:cNvPr id="7" name="t903"/>
          <p:cNvSpPr txBox="1"/>
          <p:nvPr/>
        </p:nvSpPr>
        <p:spPr>
          <a:xfrm>
            <a:off x="777240" y="2286000"/>
            <a:ext cx="3108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Carried by steam; lifts hydrocarbons and releases LEL / benzene for safe venting.</a:t>
            </a:r>
            <a:endParaRPr lang="en-US" sz="1300" dirty="0"/>
          </a:p>
        </p:txBody>
      </p:sp>
      <p:sp>
        <p:nvSpPr>
          <p:cNvPr id="8" name="t904"/>
          <p:cNvSpPr txBox="1"/>
          <p:nvPr/>
        </p:nvSpPr>
        <p:spPr>
          <a:xfrm>
            <a:off x="777240" y="306324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E8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Use: </a:t>
            </a:r>
            <a:pPr indent="0" marL="0">
              <a:buNone/>
            </a:pPr>
            <a:r>
              <a:rPr lang="en-US" sz="1200" dirty="0">
                <a:solidFill>
                  <a:srgbClr val="5B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Columns, overheads, exchangers</a:t>
            </a:r>
            <a:endParaRPr lang="en-US" sz="1200" dirty="0"/>
          </a:p>
        </p:txBody>
      </p:sp>
      <p:sp>
        <p:nvSpPr>
          <p:cNvPr id="9" name="s905"/>
          <p:cNvSpPr/>
          <p:nvPr/>
        </p:nvSpPr>
        <p:spPr>
          <a:xfrm>
            <a:off x="4297680" y="1371600"/>
            <a:ext cx="3520440" cy="2103120"/>
          </a:xfrm>
          <a:prstGeom prst="roundRect">
            <a:avLst>
              <a:gd name="adj" fmla="val 4348"/>
            </a:avLst>
          </a:prstGeom>
          <a:solidFill>
            <a:srgbClr val="F3F7FA"/>
          </a:solidFill>
          <a:ln w="12700">
            <a:solidFill>
              <a:srgbClr val="E1E8EF"/>
            </a:solidFill>
            <a:prstDash val="solid"/>
          </a:ln>
          <a:effectLst>
            <a:outerShdw sx="100000" sy="100000" kx="0" ky="0" algn="bl" rotWithShape="0" blurRad="76200" dist="25400" dir="5400000">
              <a:srgbClr val="9AA9B8">
                <a:alpha val="22000"/>
              </a:srgbClr>
            </a:outerShdw>
          </a:effectLst>
        </p:spPr>
      </p:sp>
      <p:sp>
        <p:nvSpPr>
          <p:cNvPr id="10" name="s906"/>
          <p:cNvSpPr/>
          <p:nvPr/>
        </p:nvSpPr>
        <p:spPr>
          <a:xfrm>
            <a:off x="4526280" y="1600200"/>
            <a:ext cx="594360" cy="594360"/>
          </a:xfrm>
          <a:prstGeom prst="ellipse">
            <a:avLst/>
          </a:prstGeom>
          <a:solidFill>
            <a:srgbClr val="3AB54A"/>
          </a:solidFill>
          <a:ln/>
        </p:spPr>
      </p:sp>
      <p:pic>
        <p:nvPicPr>
          <p:cNvPr id="11" name="i907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8926" y="1742846"/>
            <a:ext cx="309067" cy="309067"/>
          </a:xfrm>
          <a:prstGeom prst="rect">
            <a:avLst/>
          </a:prstGeom>
        </p:spPr>
      </p:pic>
      <p:sp>
        <p:nvSpPr>
          <p:cNvPr id="12" name="t908"/>
          <p:cNvSpPr txBox="1"/>
          <p:nvPr/>
        </p:nvSpPr>
        <p:spPr>
          <a:xfrm>
            <a:off x="5257800" y="1600200"/>
            <a:ext cx="2468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5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Water-based solvent</a:t>
            </a:r>
            <a:endParaRPr lang="en-US" sz="1500" dirty="0"/>
          </a:p>
        </p:txBody>
      </p:sp>
      <p:sp>
        <p:nvSpPr>
          <p:cNvPr id="13" name="t909"/>
          <p:cNvSpPr txBox="1"/>
          <p:nvPr/>
        </p:nvSpPr>
        <p:spPr>
          <a:xfrm>
            <a:off x="4526280" y="2286000"/>
            <a:ext cx="3108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Emulsifies oil and sludge in water; non-flammable, low odour.</a:t>
            </a:r>
            <a:endParaRPr lang="en-US" sz="1300" dirty="0"/>
          </a:p>
        </p:txBody>
      </p:sp>
      <p:sp>
        <p:nvSpPr>
          <p:cNvPr id="14" name="t910"/>
          <p:cNvSpPr txBox="1"/>
          <p:nvPr/>
        </p:nvSpPr>
        <p:spPr>
          <a:xfrm>
            <a:off x="4526280" y="306324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E8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Use: </a:t>
            </a:r>
            <a:pPr indent="0" marL="0">
              <a:buNone/>
            </a:pPr>
            <a:r>
              <a:rPr lang="en-US" sz="1200" dirty="0">
                <a:solidFill>
                  <a:srgbClr val="5B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Boil-out, circulation, tanks</a:t>
            </a:r>
            <a:endParaRPr lang="en-US" sz="1200" dirty="0"/>
          </a:p>
        </p:txBody>
      </p:sp>
      <p:sp>
        <p:nvSpPr>
          <p:cNvPr id="15" name="s911"/>
          <p:cNvSpPr/>
          <p:nvPr/>
        </p:nvSpPr>
        <p:spPr>
          <a:xfrm>
            <a:off x="8046720" y="1371600"/>
            <a:ext cx="3520440" cy="2103120"/>
          </a:xfrm>
          <a:prstGeom prst="roundRect">
            <a:avLst>
              <a:gd name="adj" fmla="val 4348"/>
            </a:avLst>
          </a:prstGeom>
          <a:solidFill>
            <a:srgbClr val="F3F7FA"/>
          </a:solidFill>
          <a:ln w="12700">
            <a:solidFill>
              <a:srgbClr val="E1E8EF"/>
            </a:solidFill>
            <a:prstDash val="solid"/>
          </a:ln>
          <a:effectLst>
            <a:outerShdw sx="100000" sy="100000" kx="0" ky="0" algn="bl" rotWithShape="0" blurRad="76200" dist="25400" dir="5400000">
              <a:srgbClr val="9AA9B8">
                <a:alpha val="22000"/>
              </a:srgbClr>
            </a:outerShdw>
          </a:effectLst>
        </p:spPr>
      </p:sp>
      <p:sp>
        <p:nvSpPr>
          <p:cNvPr id="16" name="s912"/>
          <p:cNvSpPr/>
          <p:nvPr/>
        </p:nvSpPr>
        <p:spPr>
          <a:xfrm>
            <a:off x="8275320" y="1600200"/>
            <a:ext cx="594360" cy="594360"/>
          </a:xfrm>
          <a:prstGeom prst="ellipse">
            <a:avLst/>
          </a:prstGeom>
          <a:solidFill>
            <a:srgbClr val="0C74BC"/>
          </a:solidFill>
          <a:ln/>
        </p:spPr>
      </p:sp>
      <p:pic>
        <p:nvPicPr>
          <p:cNvPr id="17" name="i913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7966" y="1742846"/>
            <a:ext cx="309067" cy="309067"/>
          </a:xfrm>
          <a:prstGeom prst="rect">
            <a:avLst/>
          </a:prstGeom>
        </p:spPr>
      </p:pic>
      <p:sp>
        <p:nvSpPr>
          <p:cNvPr id="18" name="t914"/>
          <p:cNvSpPr txBox="1"/>
          <p:nvPr/>
        </p:nvSpPr>
        <p:spPr>
          <a:xfrm>
            <a:off x="9006840" y="1600200"/>
            <a:ext cx="2468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5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Oil-based solvent</a:t>
            </a:r>
            <a:endParaRPr lang="en-US" sz="1500" dirty="0"/>
          </a:p>
        </p:txBody>
      </p:sp>
      <p:sp>
        <p:nvSpPr>
          <p:cNvPr id="19" name="t915"/>
          <p:cNvSpPr txBox="1"/>
          <p:nvPr/>
        </p:nvSpPr>
        <p:spPr>
          <a:xfrm>
            <a:off x="8275320" y="2286000"/>
            <a:ext cx="3108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Boosts flushing oil to penetrate heavy deposits, tar and coke.</a:t>
            </a:r>
            <a:endParaRPr lang="en-US" sz="1300" dirty="0"/>
          </a:p>
        </p:txBody>
      </p:sp>
      <p:sp>
        <p:nvSpPr>
          <p:cNvPr id="20" name="t916"/>
          <p:cNvSpPr txBox="1"/>
          <p:nvPr/>
        </p:nvSpPr>
        <p:spPr>
          <a:xfrm>
            <a:off x="8275320" y="306324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E8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Use: </a:t>
            </a:r>
            <a:pPr indent="0" marL="0">
              <a:buNone/>
            </a:pPr>
            <a:r>
              <a:rPr lang="en-US" sz="1200" dirty="0">
                <a:solidFill>
                  <a:srgbClr val="5B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Viscosity flush, coker, quench oil</a:t>
            </a:r>
            <a:endParaRPr lang="en-US" sz="1200" dirty="0"/>
          </a:p>
        </p:txBody>
      </p:sp>
      <p:sp>
        <p:nvSpPr>
          <p:cNvPr id="21" name="s917"/>
          <p:cNvSpPr/>
          <p:nvPr/>
        </p:nvSpPr>
        <p:spPr>
          <a:xfrm>
            <a:off x="548640" y="3703320"/>
            <a:ext cx="3520440" cy="2103120"/>
          </a:xfrm>
          <a:prstGeom prst="roundRect">
            <a:avLst>
              <a:gd name="adj" fmla="val 4348"/>
            </a:avLst>
          </a:prstGeom>
          <a:solidFill>
            <a:srgbClr val="F3F7FA"/>
          </a:solidFill>
          <a:ln w="12700">
            <a:solidFill>
              <a:srgbClr val="E1E8EF"/>
            </a:solidFill>
            <a:prstDash val="solid"/>
          </a:ln>
          <a:effectLst>
            <a:outerShdw sx="100000" sy="100000" kx="0" ky="0" algn="bl" rotWithShape="0" blurRad="76200" dist="25400" dir="5400000">
              <a:srgbClr val="9AA9B8">
                <a:alpha val="22000"/>
              </a:srgbClr>
            </a:outerShdw>
          </a:effectLst>
        </p:spPr>
      </p:sp>
      <p:sp>
        <p:nvSpPr>
          <p:cNvPr id="22" name="s918"/>
          <p:cNvSpPr/>
          <p:nvPr/>
        </p:nvSpPr>
        <p:spPr>
          <a:xfrm>
            <a:off x="777240" y="3931920"/>
            <a:ext cx="594360" cy="594360"/>
          </a:xfrm>
          <a:prstGeom prst="ellipse">
            <a:avLst/>
          </a:prstGeom>
          <a:solidFill>
            <a:srgbClr val="3AB54A"/>
          </a:solidFill>
          <a:ln/>
        </p:spPr>
      </p:sp>
      <p:pic>
        <p:nvPicPr>
          <p:cNvPr id="23" name="i919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9886" y="4074566"/>
            <a:ext cx="309067" cy="309067"/>
          </a:xfrm>
          <a:prstGeom prst="rect">
            <a:avLst/>
          </a:prstGeom>
        </p:spPr>
      </p:pic>
      <p:sp>
        <p:nvSpPr>
          <p:cNvPr id="24" name="t920"/>
          <p:cNvSpPr txBox="1"/>
          <p:nvPr/>
        </p:nvSpPr>
        <p:spPr>
          <a:xfrm>
            <a:off x="1508760" y="3931920"/>
            <a:ext cx="2468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5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Sulphide / pyrophoric oxidiser</a:t>
            </a:r>
            <a:endParaRPr lang="en-US" sz="1500" dirty="0"/>
          </a:p>
        </p:txBody>
      </p:sp>
      <p:sp>
        <p:nvSpPr>
          <p:cNvPr id="25" name="t921"/>
          <p:cNvSpPr txBox="1"/>
          <p:nvPr/>
        </p:nvSpPr>
        <p:spPr>
          <a:xfrm>
            <a:off x="777240" y="4617720"/>
            <a:ext cx="3108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Converts H₂S and pyrophoric FeS into stable compounds.</a:t>
            </a:r>
            <a:endParaRPr lang="en-US" sz="1300" dirty="0"/>
          </a:p>
        </p:txBody>
      </p:sp>
      <p:sp>
        <p:nvSpPr>
          <p:cNvPr id="26" name="t922"/>
          <p:cNvSpPr txBox="1"/>
          <p:nvPr/>
        </p:nvSpPr>
        <p:spPr>
          <a:xfrm>
            <a:off x="777240" y="539496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E8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Use: </a:t>
            </a:r>
            <a:pPr indent="0" marL="0">
              <a:buNone/>
            </a:pPr>
            <a:r>
              <a:rPr lang="en-US" sz="1200" dirty="0">
                <a:solidFill>
                  <a:srgbClr val="5B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Post-treatment wash, packed beds, SWS, SRU</a:t>
            </a:r>
            <a:endParaRPr lang="en-US" sz="1200" dirty="0"/>
          </a:p>
        </p:txBody>
      </p:sp>
      <p:sp>
        <p:nvSpPr>
          <p:cNvPr id="27" name="s923"/>
          <p:cNvSpPr/>
          <p:nvPr/>
        </p:nvSpPr>
        <p:spPr>
          <a:xfrm>
            <a:off x="4297680" y="3703320"/>
            <a:ext cx="3520440" cy="2103120"/>
          </a:xfrm>
          <a:prstGeom prst="roundRect">
            <a:avLst>
              <a:gd name="adj" fmla="val 4348"/>
            </a:avLst>
          </a:prstGeom>
          <a:solidFill>
            <a:srgbClr val="F3F7FA"/>
          </a:solidFill>
          <a:ln w="12700">
            <a:solidFill>
              <a:srgbClr val="E1E8EF"/>
            </a:solidFill>
            <a:prstDash val="solid"/>
          </a:ln>
          <a:effectLst>
            <a:outerShdw sx="100000" sy="100000" kx="0" ky="0" algn="bl" rotWithShape="0" blurRad="76200" dist="25400" dir="5400000">
              <a:srgbClr val="9AA9B8">
                <a:alpha val="22000"/>
              </a:srgbClr>
            </a:outerShdw>
          </a:effectLst>
        </p:spPr>
      </p:sp>
      <p:sp>
        <p:nvSpPr>
          <p:cNvPr id="28" name="s924"/>
          <p:cNvSpPr/>
          <p:nvPr/>
        </p:nvSpPr>
        <p:spPr>
          <a:xfrm>
            <a:off x="4526280" y="3931920"/>
            <a:ext cx="594360" cy="594360"/>
          </a:xfrm>
          <a:prstGeom prst="ellipse">
            <a:avLst/>
          </a:prstGeom>
          <a:solidFill>
            <a:srgbClr val="0C74BC"/>
          </a:solidFill>
          <a:ln/>
        </p:spPr>
      </p:sp>
      <p:pic>
        <p:nvPicPr>
          <p:cNvPr id="29" name="i925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68926" y="4074566"/>
            <a:ext cx="309067" cy="309067"/>
          </a:xfrm>
          <a:prstGeom prst="rect">
            <a:avLst/>
          </a:prstGeom>
        </p:spPr>
      </p:pic>
      <p:sp>
        <p:nvSpPr>
          <p:cNvPr id="30" name="t926"/>
          <p:cNvSpPr txBox="1"/>
          <p:nvPr/>
        </p:nvSpPr>
        <p:spPr>
          <a:xfrm>
            <a:off x="5257800" y="3931920"/>
            <a:ext cx="2468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5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Neutraliser</a:t>
            </a:r>
            <a:endParaRPr lang="en-US" sz="1500" dirty="0"/>
          </a:p>
        </p:txBody>
      </p:sp>
      <p:sp>
        <p:nvSpPr>
          <p:cNvPr id="31" name="t927"/>
          <p:cNvSpPr txBox="1"/>
          <p:nvPr/>
        </p:nvSpPr>
        <p:spPr>
          <a:xfrm>
            <a:off x="4526280" y="4617720"/>
            <a:ext cx="3108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Corrects pH and treats ammonia / acid residues for disposal.</a:t>
            </a:r>
            <a:endParaRPr lang="en-US" sz="1300" dirty="0"/>
          </a:p>
        </p:txBody>
      </p:sp>
      <p:sp>
        <p:nvSpPr>
          <p:cNvPr id="32" name="t928"/>
          <p:cNvSpPr txBox="1"/>
          <p:nvPr/>
        </p:nvSpPr>
        <p:spPr>
          <a:xfrm>
            <a:off x="4526280" y="539496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E8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Use: </a:t>
            </a:r>
            <a:pPr indent="0" marL="0">
              <a:buNone/>
            </a:pPr>
            <a:r>
              <a:rPr lang="en-US" sz="1200" dirty="0">
                <a:solidFill>
                  <a:srgbClr val="5B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Post-rinse, effluent tanks</a:t>
            </a:r>
            <a:endParaRPr lang="en-US" sz="1200" dirty="0"/>
          </a:p>
        </p:txBody>
      </p:sp>
      <p:sp>
        <p:nvSpPr>
          <p:cNvPr id="33" name="s929"/>
          <p:cNvSpPr/>
          <p:nvPr/>
        </p:nvSpPr>
        <p:spPr>
          <a:xfrm>
            <a:off x="8046720" y="3703320"/>
            <a:ext cx="3520440" cy="2103120"/>
          </a:xfrm>
          <a:prstGeom prst="roundRect">
            <a:avLst>
              <a:gd name="adj" fmla="val 4348"/>
            </a:avLst>
          </a:prstGeom>
          <a:solidFill>
            <a:srgbClr val="F3F7FA"/>
          </a:solidFill>
          <a:ln w="12700">
            <a:solidFill>
              <a:srgbClr val="E1E8EF"/>
            </a:solidFill>
            <a:prstDash val="solid"/>
          </a:ln>
          <a:effectLst>
            <a:outerShdw sx="100000" sy="100000" kx="0" ky="0" algn="bl" rotWithShape="0" blurRad="76200" dist="25400" dir="5400000">
              <a:srgbClr val="9AA9B8">
                <a:alpha val="22000"/>
              </a:srgbClr>
            </a:outerShdw>
          </a:effectLst>
        </p:spPr>
      </p:sp>
      <p:sp>
        <p:nvSpPr>
          <p:cNvPr id="34" name="s930"/>
          <p:cNvSpPr/>
          <p:nvPr/>
        </p:nvSpPr>
        <p:spPr>
          <a:xfrm>
            <a:off x="8275320" y="3931920"/>
            <a:ext cx="594360" cy="594360"/>
          </a:xfrm>
          <a:prstGeom prst="ellipse">
            <a:avLst/>
          </a:prstGeom>
          <a:solidFill>
            <a:srgbClr val="3AB54A"/>
          </a:solidFill>
          <a:ln/>
        </p:spPr>
      </p:sp>
      <p:pic>
        <p:nvPicPr>
          <p:cNvPr id="35" name="i931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17966" y="4074566"/>
            <a:ext cx="309067" cy="309067"/>
          </a:xfrm>
          <a:prstGeom prst="rect">
            <a:avLst/>
          </a:prstGeom>
        </p:spPr>
      </p:pic>
      <p:sp>
        <p:nvSpPr>
          <p:cNvPr id="36" name="t932"/>
          <p:cNvSpPr txBox="1"/>
          <p:nvPr/>
        </p:nvSpPr>
        <p:spPr>
          <a:xfrm>
            <a:off x="9006840" y="3931920"/>
            <a:ext cx="2468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5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Antifoam / dispersant</a:t>
            </a:r>
            <a:endParaRPr lang="en-US" sz="1500" dirty="0"/>
          </a:p>
        </p:txBody>
      </p:sp>
      <p:sp>
        <p:nvSpPr>
          <p:cNvPr id="37" name="t933"/>
          <p:cNvSpPr txBox="1"/>
          <p:nvPr/>
        </p:nvSpPr>
        <p:spPr>
          <a:xfrm>
            <a:off x="8275320" y="4617720"/>
            <a:ext cx="3108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Controls foaming and keeps solids dispersed.</a:t>
            </a:r>
            <a:endParaRPr lang="en-US" sz="1300" dirty="0"/>
          </a:p>
        </p:txBody>
      </p:sp>
      <p:sp>
        <p:nvSpPr>
          <p:cNvPr id="38" name="t934"/>
          <p:cNvSpPr txBox="1"/>
          <p:nvPr/>
        </p:nvSpPr>
        <p:spPr>
          <a:xfrm>
            <a:off x="8275320" y="539496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E8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Use: </a:t>
            </a:r>
            <a:pPr indent="0" marL="0">
              <a:buNone/>
            </a:pPr>
            <a:r>
              <a:rPr lang="en-US" sz="1200" dirty="0">
                <a:solidFill>
                  <a:srgbClr val="5B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Amine systems, boil-outs</a:t>
            </a:r>
            <a:endParaRPr lang="en-US" sz="1200" dirty="0"/>
          </a:p>
        </p:txBody>
      </p:sp>
      <p:sp>
        <p:nvSpPr>
          <p:cNvPr id="39" name="t935"/>
          <p:cNvSpPr txBox="1"/>
          <p:nvPr/>
        </p:nvSpPr>
        <p:spPr>
          <a:xfrm>
            <a:off x="548640" y="608076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B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Chemistry is selected per unit after a compatibility check; product data and SDS are shared with the client.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708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400"/>
                            </p:stCondLst>
                            <p:childTnLst>
                              <p:par>
                                <p:cTn id="2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800"/>
                            </p:stCondLst>
                            <p:childTnLst>
                              <p:par>
                                <p:cTn id="4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1" fill="hold">
                            <p:stCondLst>
                              <p:cond delay="1200"/>
                            </p:stCondLst>
                            <p:childTnLst>
                              <p:par>
                                <p:cTn id="6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0" fill="hold">
                            <p:stCondLst>
                              <p:cond delay="1600"/>
                            </p:stCondLst>
                            <p:childTnLst>
                              <p:par>
                                <p:cTn id="8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9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5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8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9" fill="hold">
                            <p:stCondLst>
                              <p:cond delay="2000"/>
                            </p:stCondLst>
                            <p:childTnLst>
                              <p:par>
                                <p:cTn id="10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5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8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1" dur="4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4" dur="4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7" dur="4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6" grpId="0" animBg="1"/>
      <p:bldP spid="7" grpId="0" animBg="1"/>
      <p:bldP spid="8" grpId="0" animBg="1"/>
      <p:bldP spid="9" grpId="0" animBg="1"/>
      <p:bldP spid="10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6" grpId="0" animBg="1"/>
      <p:bldP spid="37" grpId="0" animBg="1"/>
      <p:bldP spid="38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936"/>
          <p:cNvSpPr/>
          <p:nvPr/>
        </p:nvSpPr>
        <p:spPr>
          <a:xfrm>
            <a:off x="8778240" y="1097280"/>
            <a:ext cx="4572000" cy="4572000"/>
          </a:xfrm>
          <a:prstGeom prst="ellipse">
            <a:avLst/>
          </a:prstGeom>
          <a:solidFill>
            <a:srgbClr val="D3E6F4"/>
          </a:solidFill>
          <a:ln/>
        </p:spPr>
      </p:sp>
      <p:pic>
        <p:nvPicPr>
          <p:cNvPr id="3" name="i937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274552" y="274320"/>
            <a:ext cx="502920" cy="658368"/>
          </a:xfrm>
          <a:prstGeom prst="rect">
            <a:avLst/>
          </a:prstGeom>
        </p:spPr>
      </p:pic>
      <p:sp>
        <p:nvSpPr>
          <p:cNvPr id="4" name="t938"/>
          <p:cNvSpPr txBox="1"/>
          <p:nvPr/>
        </p:nvSpPr>
        <p:spPr>
          <a:xfrm>
            <a:off x="685800" y="1600200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0" b="1" dirty="0">
                <a:solidFill>
                  <a:srgbClr val="0C74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6600" dirty="0"/>
          </a:p>
        </p:txBody>
      </p:sp>
      <p:sp>
        <p:nvSpPr>
          <p:cNvPr id="5" name="t939"/>
          <p:cNvSpPr txBox="1"/>
          <p:nvPr/>
        </p:nvSpPr>
        <p:spPr>
          <a:xfrm>
            <a:off x="685800" y="2926080"/>
            <a:ext cx="77724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400" b="1" dirty="0">
                <a:solidFill>
                  <a:srgbClr val="1F3A5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Execution and why Delight</a:t>
            </a:r>
            <a:endParaRPr lang="en-US" sz="3400" dirty="0"/>
          </a:p>
        </p:txBody>
      </p:sp>
      <p:sp>
        <p:nvSpPr>
          <p:cNvPr id="6" name="t940"/>
          <p:cNvSpPr txBox="1"/>
          <p:nvPr/>
        </p:nvSpPr>
        <p:spPr>
          <a:xfrm>
            <a:off x="685800" y="4343400"/>
            <a:ext cx="7772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5B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site survey to handover</a:t>
            </a:r>
            <a:endParaRPr lang="en-US" sz="18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8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8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8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8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8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8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47472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5F8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we execute</a:t>
            </a:r>
            <a:endParaRPr lang="en-US" sz="2800" dirty="0"/>
          </a:p>
        </p:txBody>
      </p:sp>
      <p:sp>
        <p:nvSpPr>
          <p:cNvPr id="3" name="s941"/>
          <p:cNvSpPr/>
          <p:nvPr/>
        </p:nvSpPr>
        <p:spPr>
          <a:xfrm>
            <a:off x="1097280" y="2423160"/>
            <a:ext cx="9966960" cy="0"/>
          </a:xfrm>
          <a:prstGeom prst="line">
            <a:avLst/>
          </a:prstGeom>
          <a:noFill/>
          <a:ln w="38100">
            <a:solidFill>
              <a:srgbClr val="C6D3E0"/>
            </a:solidFill>
            <a:prstDash val="solid"/>
          </a:ln>
        </p:spPr>
      </p:sp>
      <p:sp>
        <p:nvSpPr>
          <p:cNvPr id="4" name="s942"/>
          <p:cNvSpPr/>
          <p:nvPr/>
        </p:nvSpPr>
        <p:spPr>
          <a:xfrm>
            <a:off x="1051560" y="1965960"/>
            <a:ext cx="914400" cy="914400"/>
          </a:xfrm>
          <a:prstGeom prst="ellipse">
            <a:avLst/>
          </a:prstGeom>
          <a:solidFill>
            <a:srgbClr val="0C74BC"/>
          </a:solidFill>
          <a:ln/>
        </p:spPr>
      </p:sp>
      <p:pic>
        <p:nvPicPr>
          <p:cNvPr id="5" name="i943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71016" y="2185416"/>
            <a:ext cx="475488" cy="475488"/>
          </a:xfrm>
          <a:prstGeom prst="rect">
            <a:avLst/>
          </a:prstGeom>
        </p:spPr>
      </p:pic>
      <p:sp>
        <p:nvSpPr>
          <p:cNvPr id="6" name="t944"/>
          <p:cNvSpPr txBox="1"/>
          <p:nvPr/>
        </p:nvSpPr>
        <p:spPr>
          <a:xfrm>
            <a:off x="640080" y="3063240"/>
            <a:ext cx="1737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F5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Site survey</a:t>
            </a:r>
            <a:endParaRPr lang="en-US" sz="1500" dirty="0"/>
          </a:p>
        </p:txBody>
      </p:sp>
      <p:sp>
        <p:nvSpPr>
          <p:cNvPr id="7" name="t945"/>
          <p:cNvSpPr txBox="1"/>
          <p:nvPr/>
        </p:nvSpPr>
        <p:spPr>
          <a:xfrm>
            <a:off x="640080" y="3657600"/>
            <a:ext cx="1737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P&amp;IDs, isometrics, data sheets, injection points</a:t>
            </a:r>
            <a:endParaRPr lang="en-US" sz="1300" dirty="0"/>
          </a:p>
        </p:txBody>
      </p:sp>
      <p:sp>
        <p:nvSpPr>
          <p:cNvPr id="8" name="s946"/>
          <p:cNvSpPr/>
          <p:nvPr/>
        </p:nvSpPr>
        <p:spPr>
          <a:xfrm>
            <a:off x="2926080" y="1965960"/>
            <a:ext cx="914400" cy="914400"/>
          </a:xfrm>
          <a:prstGeom prst="ellipse">
            <a:avLst/>
          </a:prstGeom>
          <a:solidFill>
            <a:srgbClr val="3AB54A"/>
          </a:solidFill>
          <a:ln/>
        </p:spPr>
      </p:sp>
      <p:pic>
        <p:nvPicPr>
          <p:cNvPr id="9" name="i947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45536" y="2185416"/>
            <a:ext cx="475488" cy="475488"/>
          </a:xfrm>
          <a:prstGeom prst="rect">
            <a:avLst/>
          </a:prstGeom>
        </p:spPr>
      </p:pic>
      <p:sp>
        <p:nvSpPr>
          <p:cNvPr id="10" name="t948"/>
          <p:cNvSpPr txBox="1"/>
          <p:nvPr/>
        </p:nvSpPr>
        <p:spPr>
          <a:xfrm>
            <a:off x="2514600" y="3063240"/>
            <a:ext cx="1737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F5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Decon plan</a:t>
            </a:r>
            <a:endParaRPr lang="en-US" sz="1500" dirty="0"/>
          </a:p>
        </p:txBody>
      </p:sp>
      <p:sp>
        <p:nvSpPr>
          <p:cNvPr id="11" name="t949"/>
          <p:cNvSpPr txBox="1"/>
          <p:nvPr/>
        </p:nvSpPr>
        <p:spPr>
          <a:xfrm>
            <a:off x="2514600" y="3657600"/>
            <a:ext cx="1737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 statement, chemistry, volumes, waste plan</a:t>
            </a:r>
            <a:endParaRPr lang="en-US" sz="1300" dirty="0"/>
          </a:p>
        </p:txBody>
      </p:sp>
      <p:sp>
        <p:nvSpPr>
          <p:cNvPr id="12" name="s950"/>
          <p:cNvSpPr/>
          <p:nvPr/>
        </p:nvSpPr>
        <p:spPr>
          <a:xfrm>
            <a:off x="4800600" y="1965960"/>
            <a:ext cx="914400" cy="914400"/>
          </a:xfrm>
          <a:prstGeom prst="ellipse">
            <a:avLst/>
          </a:prstGeom>
          <a:solidFill>
            <a:srgbClr val="0C74BC"/>
          </a:solidFill>
          <a:ln/>
        </p:spPr>
      </p:sp>
      <p:pic>
        <p:nvPicPr>
          <p:cNvPr id="13" name="i95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0056" y="2185416"/>
            <a:ext cx="475488" cy="475488"/>
          </a:xfrm>
          <a:prstGeom prst="rect">
            <a:avLst/>
          </a:prstGeom>
        </p:spPr>
      </p:pic>
      <p:sp>
        <p:nvSpPr>
          <p:cNvPr id="14" name="t952"/>
          <p:cNvSpPr txBox="1"/>
          <p:nvPr/>
        </p:nvSpPr>
        <p:spPr>
          <a:xfrm>
            <a:off x="4389120" y="3063240"/>
            <a:ext cx="1737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F5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Mobilise &amp; rig-up</a:t>
            </a:r>
            <a:endParaRPr lang="en-US" sz="1500" dirty="0"/>
          </a:p>
        </p:txBody>
      </p:sp>
      <p:sp>
        <p:nvSpPr>
          <p:cNvPr id="15" name="t953"/>
          <p:cNvSpPr txBox="1"/>
          <p:nvPr/>
        </p:nvSpPr>
        <p:spPr>
          <a:xfrm>
            <a:off x="4389120" y="3657600"/>
            <a:ext cx="1737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Pumps, hoses, injection manifolds, effluent tanks</a:t>
            </a:r>
            <a:endParaRPr lang="en-US" sz="1300" dirty="0"/>
          </a:p>
        </p:txBody>
      </p:sp>
      <p:sp>
        <p:nvSpPr>
          <p:cNvPr id="16" name="s954"/>
          <p:cNvSpPr/>
          <p:nvPr/>
        </p:nvSpPr>
        <p:spPr>
          <a:xfrm>
            <a:off x="6675120" y="1965960"/>
            <a:ext cx="914400" cy="914400"/>
          </a:xfrm>
          <a:prstGeom prst="ellipse">
            <a:avLst/>
          </a:prstGeom>
          <a:solidFill>
            <a:srgbClr val="3AB54A"/>
          </a:solidFill>
          <a:ln/>
        </p:spPr>
      </p:sp>
      <p:pic>
        <p:nvPicPr>
          <p:cNvPr id="17" name="i955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94576" y="2185416"/>
            <a:ext cx="475488" cy="475488"/>
          </a:xfrm>
          <a:prstGeom prst="rect">
            <a:avLst/>
          </a:prstGeom>
        </p:spPr>
      </p:pic>
      <p:sp>
        <p:nvSpPr>
          <p:cNvPr id="18" name="t956"/>
          <p:cNvSpPr txBox="1"/>
          <p:nvPr/>
        </p:nvSpPr>
        <p:spPr>
          <a:xfrm>
            <a:off x="6263640" y="3063240"/>
            <a:ext cx="1737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F5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Decontaminate</a:t>
            </a:r>
            <a:endParaRPr lang="en-US" sz="1500" dirty="0"/>
          </a:p>
        </p:txBody>
      </p:sp>
      <p:sp>
        <p:nvSpPr>
          <p:cNvPr id="19" name="t957"/>
          <p:cNvSpPr txBox="1"/>
          <p:nvPr/>
        </p:nvSpPr>
        <p:spPr>
          <a:xfrm>
            <a:off x="6263640" y="3657600"/>
            <a:ext cx="1737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Vapour-phase, boil-out, flush or circulation with live monitoring</a:t>
            </a:r>
            <a:endParaRPr lang="en-US" sz="1300" dirty="0"/>
          </a:p>
        </p:txBody>
      </p:sp>
      <p:sp>
        <p:nvSpPr>
          <p:cNvPr id="20" name="s958"/>
          <p:cNvSpPr/>
          <p:nvPr/>
        </p:nvSpPr>
        <p:spPr>
          <a:xfrm>
            <a:off x="8549640" y="1965960"/>
            <a:ext cx="914400" cy="914400"/>
          </a:xfrm>
          <a:prstGeom prst="ellipse">
            <a:avLst/>
          </a:prstGeom>
          <a:solidFill>
            <a:srgbClr val="0C74BC"/>
          </a:solidFill>
          <a:ln/>
        </p:spPr>
      </p:sp>
      <p:pic>
        <p:nvPicPr>
          <p:cNvPr id="21" name="i959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69096" y="2185416"/>
            <a:ext cx="475488" cy="475488"/>
          </a:xfrm>
          <a:prstGeom prst="rect">
            <a:avLst/>
          </a:prstGeom>
        </p:spPr>
      </p:pic>
      <p:sp>
        <p:nvSpPr>
          <p:cNvPr id="22" name="t960"/>
          <p:cNvSpPr txBox="1"/>
          <p:nvPr/>
        </p:nvSpPr>
        <p:spPr>
          <a:xfrm>
            <a:off x="8138160" y="3063240"/>
            <a:ext cx="1737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F5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 &amp; hand over</a:t>
            </a:r>
            <a:endParaRPr lang="en-US" sz="1500" dirty="0"/>
          </a:p>
        </p:txBody>
      </p:sp>
      <p:sp>
        <p:nvSpPr>
          <p:cNvPr id="23" name="t961"/>
          <p:cNvSpPr txBox="1"/>
          <p:nvPr/>
        </p:nvSpPr>
        <p:spPr>
          <a:xfrm>
            <a:off x="8138160" y="3657600"/>
            <a:ext cx="1737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 tests against entry criteria, sign-off</a:t>
            </a:r>
            <a:endParaRPr lang="en-US" sz="1300" dirty="0"/>
          </a:p>
        </p:txBody>
      </p:sp>
      <p:sp>
        <p:nvSpPr>
          <p:cNvPr id="24" name="s962"/>
          <p:cNvSpPr/>
          <p:nvPr/>
        </p:nvSpPr>
        <p:spPr>
          <a:xfrm>
            <a:off x="10424160" y="1965960"/>
            <a:ext cx="914400" cy="914400"/>
          </a:xfrm>
          <a:prstGeom prst="ellipse">
            <a:avLst/>
          </a:prstGeom>
          <a:solidFill>
            <a:srgbClr val="3AB54A"/>
          </a:solidFill>
          <a:ln/>
        </p:spPr>
      </p:sp>
      <p:pic>
        <p:nvPicPr>
          <p:cNvPr id="25" name="i963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643616" y="2185416"/>
            <a:ext cx="475488" cy="475488"/>
          </a:xfrm>
          <a:prstGeom prst="rect">
            <a:avLst/>
          </a:prstGeom>
        </p:spPr>
      </p:pic>
      <p:sp>
        <p:nvSpPr>
          <p:cNvPr id="26" name="t964"/>
          <p:cNvSpPr txBox="1"/>
          <p:nvPr/>
        </p:nvSpPr>
        <p:spPr>
          <a:xfrm>
            <a:off x="10012680" y="3063240"/>
            <a:ext cx="1737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F5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Waste &amp; demob</a:t>
            </a:r>
            <a:endParaRPr lang="en-US" sz="1500" dirty="0"/>
          </a:p>
        </p:txBody>
      </p:sp>
      <p:sp>
        <p:nvSpPr>
          <p:cNvPr id="27" name="t965"/>
          <p:cNvSpPr txBox="1"/>
          <p:nvPr/>
        </p:nvSpPr>
        <p:spPr>
          <a:xfrm>
            <a:off x="10012680" y="3657600"/>
            <a:ext cx="1737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Neutralise, test and dispose via licensed contractor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708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8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800"/>
                            </p:stCondLst>
                            <p:childTnLst>
                              <p:par>
                                <p:cTn id="9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7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4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1300"/>
                            </p:stCondLst>
                            <p:childTnLst>
                              <p:par>
                                <p:cTn id="30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5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8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3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8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9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0" fill="hold">
                            <p:stCondLst>
                              <p:cond delay="1800"/>
                            </p:stCondLst>
                            <p:childTnLst>
                              <p:par>
                                <p:cTn id="51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4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5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6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9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0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1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4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5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6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9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0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1" fill="hold">
                            <p:stCondLst>
                              <p:cond delay="2300"/>
                            </p:stCondLst>
                            <p:childTnLst>
                              <p:par>
                                <p:cTn id="72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5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6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7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0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1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2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5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6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9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0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1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2" fill="hold">
                            <p:stCondLst>
                              <p:cond delay="2800"/>
                            </p:stCondLst>
                            <p:childTnLst>
                              <p:par>
                                <p:cTn id="93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5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6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7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8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0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1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2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5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6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7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0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1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2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3" fill="hold">
                            <p:stCondLst>
                              <p:cond delay="3300"/>
                            </p:stCondLst>
                            <p:childTnLst>
                              <p:par>
                                <p:cTn id="114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6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7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8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9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1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2" dur="5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3" dur="5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4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6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7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8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9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1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2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3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6" grpId="0" animBg="1"/>
      <p:bldP spid="7" grpId="0" animBg="1"/>
      <p:bldP spid="8" grpId="0" animBg="1"/>
      <p:bldP spid="10" grpId="0" animBg="1"/>
      <p:bldP spid="11" grpId="0" animBg="1"/>
      <p:bldP spid="12" grpId="0" animBg="1"/>
      <p:bldP spid="14" grpId="0" animBg="1"/>
      <p:bldP spid="15" grpId="0" animBg="1"/>
      <p:bldP spid="16" grpId="0" animBg="1"/>
      <p:bldP spid="18" grpId="0" animBg="1"/>
      <p:bldP spid="19" grpId="0" animBg="1"/>
      <p:bldP spid="20" grpId="0" animBg="1"/>
      <p:bldP spid="22" grpId="0" animBg="1"/>
      <p:bldP spid="23" grpId="0" animBg="1"/>
      <p:bldP spid="24" grpId="0" animBg="1"/>
      <p:bldP spid="26" grpId="0" animBg="1"/>
      <p:bldP spid="27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47472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5F8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Division of responsibilities</a:t>
            </a:r>
            <a:endParaRPr lang="en-US" sz="2800" dirty="0"/>
          </a:p>
        </p:txBody>
      </p:sp>
      <p:sp>
        <p:nvSpPr>
          <p:cNvPr id="3" name="s966"/>
          <p:cNvSpPr/>
          <p:nvPr/>
        </p:nvSpPr>
        <p:spPr>
          <a:xfrm>
            <a:off x="548640" y="1371600"/>
            <a:ext cx="5394960" cy="4663440"/>
          </a:xfrm>
          <a:prstGeom prst="roundRect">
            <a:avLst>
              <a:gd name="adj" fmla="val 1961"/>
            </a:avLst>
          </a:prstGeom>
          <a:solidFill>
            <a:srgbClr val="F3F7FA"/>
          </a:solidFill>
          <a:ln w="12700">
            <a:solidFill>
              <a:srgbClr val="E1E8EF"/>
            </a:solidFill>
            <a:prstDash val="solid"/>
          </a:ln>
          <a:effectLst>
            <a:outerShdw sx="100000" sy="100000" kx="0" ky="0" algn="bl" rotWithShape="0" blurRad="76200" dist="25400" dir="5400000">
              <a:srgbClr val="9AA9B8">
                <a:alpha val="22000"/>
              </a:srgbClr>
            </a:outerShdw>
          </a:effectLst>
        </p:spPr>
      </p:sp>
      <p:sp>
        <p:nvSpPr>
          <p:cNvPr id="4" name="s967"/>
          <p:cNvSpPr/>
          <p:nvPr/>
        </p:nvSpPr>
        <p:spPr>
          <a:xfrm>
            <a:off x="822960" y="1645920"/>
            <a:ext cx="4846320" cy="548640"/>
          </a:xfrm>
          <a:prstGeom prst="roundRect">
            <a:avLst>
              <a:gd name="adj" fmla="val 50000"/>
            </a:avLst>
          </a:prstGeom>
          <a:solidFill>
            <a:srgbClr val="0C74BC"/>
          </a:solidFill>
          <a:ln/>
        </p:spPr>
      </p:sp>
      <p:sp>
        <p:nvSpPr>
          <p:cNvPr id="5" name="t968"/>
          <p:cNvSpPr txBox="1"/>
          <p:nvPr/>
        </p:nvSpPr>
        <p:spPr>
          <a:xfrm>
            <a:off x="822960" y="1645920"/>
            <a:ext cx="4846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DELIGHT</a:t>
            </a:r>
            <a:endParaRPr lang="en-US" sz="1500" dirty="0"/>
          </a:p>
        </p:txBody>
      </p:sp>
      <p:sp>
        <p:nvSpPr>
          <p:cNvPr id="6" name="t969"/>
          <p:cNvSpPr txBox="1"/>
          <p:nvPr/>
        </p:nvSpPr>
        <p:spPr>
          <a:xfrm>
            <a:off x="960120" y="2468880"/>
            <a:ext cx="466344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Decon engineering and method statement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Specialist supervisors and technicians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Decontamination chemistry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Pumps, skids, injection hoses and manifolds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 monitoring during decontamination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Effluent neutralisation and waste coordination</a:t>
            </a:r>
            <a:endParaRPr lang="en-US" sz="1500" dirty="0"/>
          </a:p>
        </p:txBody>
      </p:sp>
      <p:sp>
        <p:nvSpPr>
          <p:cNvPr id="7" name="s970"/>
          <p:cNvSpPr/>
          <p:nvPr/>
        </p:nvSpPr>
        <p:spPr>
          <a:xfrm>
            <a:off x="6172200" y="1371600"/>
            <a:ext cx="5394960" cy="4663440"/>
          </a:xfrm>
          <a:prstGeom prst="roundRect">
            <a:avLst>
              <a:gd name="adj" fmla="val 1961"/>
            </a:avLst>
          </a:prstGeom>
          <a:solidFill>
            <a:srgbClr val="F3F7FA"/>
          </a:solidFill>
          <a:ln w="12700">
            <a:solidFill>
              <a:srgbClr val="E1E8EF"/>
            </a:solidFill>
            <a:prstDash val="solid"/>
          </a:ln>
          <a:effectLst>
            <a:outerShdw sx="100000" sy="100000" kx="0" ky="0" algn="bl" rotWithShape="0" blurRad="76200" dist="25400" dir="5400000">
              <a:srgbClr val="9AA9B8">
                <a:alpha val="22000"/>
              </a:srgbClr>
            </a:outerShdw>
          </a:effectLst>
        </p:spPr>
      </p:sp>
      <p:sp>
        <p:nvSpPr>
          <p:cNvPr id="8" name="s971"/>
          <p:cNvSpPr/>
          <p:nvPr/>
        </p:nvSpPr>
        <p:spPr>
          <a:xfrm>
            <a:off x="6446520" y="1645920"/>
            <a:ext cx="4846320" cy="548640"/>
          </a:xfrm>
          <a:prstGeom prst="roundRect">
            <a:avLst>
              <a:gd name="adj" fmla="val 50000"/>
            </a:avLst>
          </a:prstGeom>
          <a:solidFill>
            <a:srgbClr val="3AB54A"/>
          </a:solidFill>
          <a:ln/>
        </p:spPr>
      </p:sp>
      <p:sp>
        <p:nvSpPr>
          <p:cNvPr id="9" name="t972"/>
          <p:cNvSpPr txBox="1"/>
          <p:nvPr/>
        </p:nvSpPr>
        <p:spPr>
          <a:xfrm>
            <a:off x="6446520" y="1645920"/>
            <a:ext cx="4846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</a:t>
            </a:r>
            <a:endParaRPr lang="en-US" sz="1500" dirty="0"/>
          </a:p>
        </p:txBody>
      </p:sp>
      <p:sp>
        <p:nvSpPr>
          <p:cNvPr id="10" name="t973"/>
          <p:cNvSpPr txBox="1"/>
          <p:nvPr/>
        </p:nvSpPr>
        <p:spPr>
          <a:xfrm>
            <a:off x="6583680" y="2468880"/>
            <a:ext cx="466344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Isolation, de-inventory and permits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Steam, water, nitrogen and power utilities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 to control room / DCS readings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Operators to drain low points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Laboratory support for sample analysis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point of contact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708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7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7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7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7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7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7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7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7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7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7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7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7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0" dur="7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1" dur="7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2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7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5" dur="7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6" dur="7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7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0" dur="7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1" dur="7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2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7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5" dur="7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6" dur="7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47472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5F8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Monitoring and validation</a:t>
            </a:r>
            <a:endParaRPr lang="en-US" sz="2800" dirty="0"/>
          </a:p>
        </p:txBody>
      </p:sp>
      <p:sp>
        <p:nvSpPr>
          <p:cNvPr id="3" name="s974"/>
          <p:cNvSpPr/>
          <p:nvPr/>
        </p:nvSpPr>
        <p:spPr>
          <a:xfrm>
            <a:off x="548640" y="1417320"/>
            <a:ext cx="2606040" cy="3108960"/>
          </a:xfrm>
          <a:prstGeom prst="roundRect">
            <a:avLst>
              <a:gd name="adj" fmla="val 3509"/>
            </a:avLst>
          </a:prstGeom>
          <a:solidFill>
            <a:srgbClr val="F3F7FA"/>
          </a:solidFill>
          <a:ln w="12700">
            <a:solidFill>
              <a:srgbClr val="E1E8EF"/>
            </a:solidFill>
            <a:prstDash val="solid"/>
          </a:ln>
          <a:effectLst>
            <a:outerShdw sx="100000" sy="100000" kx="0" ky="0" algn="bl" rotWithShape="0" blurRad="76200" dist="25400" dir="5400000">
              <a:srgbClr val="9AA9B8">
                <a:alpha val="22000"/>
              </a:srgbClr>
            </a:outerShdw>
          </a:effectLst>
        </p:spPr>
      </p:sp>
      <p:sp>
        <p:nvSpPr>
          <p:cNvPr id="4" name="s975"/>
          <p:cNvSpPr/>
          <p:nvPr/>
        </p:nvSpPr>
        <p:spPr>
          <a:xfrm>
            <a:off x="1371600" y="1691640"/>
            <a:ext cx="960120" cy="960120"/>
          </a:xfrm>
          <a:prstGeom prst="ellipse">
            <a:avLst/>
          </a:prstGeom>
          <a:solidFill>
            <a:srgbClr val="0C74BC"/>
          </a:solidFill>
          <a:ln/>
        </p:spPr>
      </p:sp>
      <p:pic>
        <p:nvPicPr>
          <p:cNvPr id="5" name="i976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02029" y="1922069"/>
            <a:ext cx="499262" cy="499262"/>
          </a:xfrm>
          <a:prstGeom prst="rect">
            <a:avLst/>
          </a:prstGeom>
        </p:spPr>
      </p:pic>
      <p:sp>
        <p:nvSpPr>
          <p:cNvPr id="6" name="t977"/>
          <p:cNvSpPr txBox="1"/>
          <p:nvPr/>
        </p:nvSpPr>
        <p:spPr>
          <a:xfrm>
            <a:off x="685800" y="278892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F5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Multi-gas meter</a:t>
            </a:r>
            <a:endParaRPr lang="en-US" sz="1600" dirty="0"/>
          </a:p>
        </p:txBody>
      </p:sp>
      <p:sp>
        <p:nvSpPr>
          <p:cNvPr id="7" name="t978"/>
          <p:cNvSpPr txBox="1"/>
          <p:nvPr/>
        </p:nvSpPr>
        <p:spPr>
          <a:xfrm>
            <a:off x="731520" y="3291840"/>
            <a:ext cx="2240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LEL, H₂S, O₂ and CO at vents and manways</a:t>
            </a:r>
            <a:endParaRPr lang="en-US" sz="1400" dirty="0"/>
          </a:p>
        </p:txBody>
      </p:sp>
      <p:sp>
        <p:nvSpPr>
          <p:cNvPr id="8" name="s979"/>
          <p:cNvSpPr/>
          <p:nvPr/>
        </p:nvSpPr>
        <p:spPr>
          <a:xfrm>
            <a:off x="3364992" y="1417320"/>
            <a:ext cx="2606040" cy="3108960"/>
          </a:xfrm>
          <a:prstGeom prst="roundRect">
            <a:avLst>
              <a:gd name="adj" fmla="val 3509"/>
            </a:avLst>
          </a:prstGeom>
          <a:solidFill>
            <a:srgbClr val="F3F7FA"/>
          </a:solidFill>
          <a:ln w="12700">
            <a:solidFill>
              <a:srgbClr val="E1E8EF"/>
            </a:solidFill>
            <a:prstDash val="solid"/>
          </a:ln>
          <a:effectLst>
            <a:outerShdw sx="100000" sy="100000" kx="0" ky="0" algn="bl" rotWithShape="0" blurRad="76200" dist="25400" dir="5400000">
              <a:srgbClr val="9AA9B8">
                <a:alpha val="22000"/>
              </a:srgbClr>
            </a:outerShdw>
          </a:effectLst>
        </p:spPr>
      </p:sp>
      <p:sp>
        <p:nvSpPr>
          <p:cNvPr id="9" name="s980"/>
          <p:cNvSpPr/>
          <p:nvPr/>
        </p:nvSpPr>
        <p:spPr>
          <a:xfrm>
            <a:off x="4187952" y="1691640"/>
            <a:ext cx="960120" cy="960120"/>
          </a:xfrm>
          <a:prstGeom prst="ellipse">
            <a:avLst/>
          </a:prstGeom>
          <a:solidFill>
            <a:srgbClr val="3AB54A"/>
          </a:solidFill>
          <a:ln/>
        </p:spPr>
      </p:sp>
      <p:pic>
        <p:nvPicPr>
          <p:cNvPr id="10" name="i98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18381" y="1922069"/>
            <a:ext cx="499262" cy="499262"/>
          </a:xfrm>
          <a:prstGeom prst="rect">
            <a:avLst/>
          </a:prstGeom>
        </p:spPr>
      </p:pic>
      <p:sp>
        <p:nvSpPr>
          <p:cNvPr id="11" name="t982"/>
          <p:cNvSpPr txBox="1"/>
          <p:nvPr/>
        </p:nvSpPr>
        <p:spPr>
          <a:xfrm>
            <a:off x="3502152" y="278892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F5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Benzene / VOC meter</a:t>
            </a:r>
            <a:endParaRPr lang="en-US" sz="1600" dirty="0"/>
          </a:p>
        </p:txBody>
      </p:sp>
      <p:sp>
        <p:nvSpPr>
          <p:cNvPr id="12" name="t983"/>
          <p:cNvSpPr txBox="1"/>
          <p:nvPr/>
        </p:nvSpPr>
        <p:spPr>
          <a:xfrm>
            <a:off x="3547872" y="3291840"/>
            <a:ext cx="2240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PID readings and detector tubes for benzene</a:t>
            </a:r>
            <a:endParaRPr lang="en-US" sz="1400" dirty="0"/>
          </a:p>
        </p:txBody>
      </p:sp>
      <p:sp>
        <p:nvSpPr>
          <p:cNvPr id="13" name="s984"/>
          <p:cNvSpPr/>
          <p:nvPr/>
        </p:nvSpPr>
        <p:spPr>
          <a:xfrm>
            <a:off x="6181344" y="1417320"/>
            <a:ext cx="2606040" cy="3108960"/>
          </a:xfrm>
          <a:prstGeom prst="roundRect">
            <a:avLst>
              <a:gd name="adj" fmla="val 3509"/>
            </a:avLst>
          </a:prstGeom>
          <a:solidFill>
            <a:srgbClr val="F3F7FA"/>
          </a:solidFill>
          <a:ln w="12700">
            <a:solidFill>
              <a:srgbClr val="E1E8EF"/>
            </a:solidFill>
            <a:prstDash val="solid"/>
          </a:ln>
          <a:effectLst>
            <a:outerShdw sx="100000" sy="100000" kx="0" ky="0" algn="bl" rotWithShape="0" blurRad="76200" dist="25400" dir="5400000">
              <a:srgbClr val="9AA9B8">
                <a:alpha val="22000"/>
              </a:srgbClr>
            </a:outerShdw>
          </a:effectLst>
        </p:spPr>
      </p:sp>
      <p:sp>
        <p:nvSpPr>
          <p:cNvPr id="14" name="s985"/>
          <p:cNvSpPr/>
          <p:nvPr/>
        </p:nvSpPr>
        <p:spPr>
          <a:xfrm>
            <a:off x="7004304" y="1691640"/>
            <a:ext cx="960120" cy="960120"/>
          </a:xfrm>
          <a:prstGeom prst="ellipse">
            <a:avLst/>
          </a:prstGeom>
          <a:solidFill>
            <a:srgbClr val="0C74BC"/>
          </a:solidFill>
          <a:ln/>
        </p:spPr>
      </p:sp>
      <p:pic>
        <p:nvPicPr>
          <p:cNvPr id="15" name="i986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34733" y="1922069"/>
            <a:ext cx="499262" cy="499262"/>
          </a:xfrm>
          <a:prstGeom prst="rect">
            <a:avLst/>
          </a:prstGeom>
        </p:spPr>
      </p:pic>
      <p:sp>
        <p:nvSpPr>
          <p:cNvPr id="16" name="t987"/>
          <p:cNvSpPr txBox="1"/>
          <p:nvPr/>
        </p:nvSpPr>
        <p:spPr>
          <a:xfrm>
            <a:off x="6318504" y="278892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F5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 sampling</a:t>
            </a:r>
            <a:endParaRPr lang="en-US" sz="1600" dirty="0"/>
          </a:p>
        </p:txBody>
      </p:sp>
      <p:sp>
        <p:nvSpPr>
          <p:cNvPr id="17" name="t988"/>
          <p:cNvSpPr txBox="1"/>
          <p:nvPr/>
        </p:nvSpPr>
        <p:spPr>
          <a:xfrm>
            <a:off x="6364224" y="3291840"/>
            <a:ext cx="2240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Sample bombs to the client laboratory where required</a:t>
            </a:r>
            <a:endParaRPr lang="en-US" sz="1400" dirty="0"/>
          </a:p>
        </p:txBody>
      </p:sp>
      <p:sp>
        <p:nvSpPr>
          <p:cNvPr id="18" name="s989"/>
          <p:cNvSpPr/>
          <p:nvPr/>
        </p:nvSpPr>
        <p:spPr>
          <a:xfrm>
            <a:off x="8997696" y="1417320"/>
            <a:ext cx="2606040" cy="3108960"/>
          </a:xfrm>
          <a:prstGeom prst="roundRect">
            <a:avLst>
              <a:gd name="adj" fmla="val 3509"/>
            </a:avLst>
          </a:prstGeom>
          <a:solidFill>
            <a:srgbClr val="F3F7FA"/>
          </a:solidFill>
          <a:ln w="12700">
            <a:solidFill>
              <a:srgbClr val="E1E8EF"/>
            </a:solidFill>
            <a:prstDash val="solid"/>
          </a:ln>
          <a:effectLst>
            <a:outerShdw sx="100000" sy="100000" kx="0" ky="0" algn="bl" rotWithShape="0" blurRad="76200" dist="25400" dir="5400000">
              <a:srgbClr val="9AA9B8">
                <a:alpha val="22000"/>
              </a:srgbClr>
            </a:outerShdw>
          </a:effectLst>
        </p:spPr>
      </p:sp>
      <p:sp>
        <p:nvSpPr>
          <p:cNvPr id="19" name="s990"/>
          <p:cNvSpPr/>
          <p:nvPr/>
        </p:nvSpPr>
        <p:spPr>
          <a:xfrm>
            <a:off x="9820656" y="1691640"/>
            <a:ext cx="960120" cy="960120"/>
          </a:xfrm>
          <a:prstGeom prst="ellipse">
            <a:avLst/>
          </a:prstGeom>
          <a:solidFill>
            <a:srgbClr val="3AB54A"/>
          </a:solidFill>
          <a:ln/>
        </p:spPr>
      </p:sp>
      <p:pic>
        <p:nvPicPr>
          <p:cNvPr id="20" name="i991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51085" y="1922069"/>
            <a:ext cx="499262" cy="499262"/>
          </a:xfrm>
          <a:prstGeom prst="rect">
            <a:avLst/>
          </a:prstGeom>
        </p:spPr>
      </p:pic>
      <p:sp>
        <p:nvSpPr>
          <p:cNvPr id="21" name="t992"/>
          <p:cNvSpPr txBox="1"/>
          <p:nvPr/>
        </p:nvSpPr>
        <p:spPr>
          <a:xfrm>
            <a:off x="9134856" y="278892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F5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Effluent checks</a:t>
            </a:r>
            <a:endParaRPr lang="en-US" sz="1600" dirty="0"/>
          </a:p>
        </p:txBody>
      </p:sp>
      <p:sp>
        <p:nvSpPr>
          <p:cNvPr id="22" name="t993"/>
          <p:cNvSpPr txBox="1"/>
          <p:nvPr/>
        </p:nvSpPr>
        <p:spPr>
          <a:xfrm>
            <a:off x="9180576" y="3291840"/>
            <a:ext cx="2240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pH, COD and oil content before disposal</a:t>
            </a:r>
            <a:endParaRPr lang="en-US" sz="1400" dirty="0"/>
          </a:p>
        </p:txBody>
      </p:sp>
      <p:sp>
        <p:nvSpPr>
          <p:cNvPr id="23" name="s994"/>
          <p:cNvSpPr/>
          <p:nvPr/>
        </p:nvSpPr>
        <p:spPr>
          <a:xfrm>
            <a:off x="548640" y="4892040"/>
            <a:ext cx="11064240" cy="914400"/>
          </a:xfrm>
          <a:prstGeom prst="roundRect">
            <a:avLst>
              <a:gd name="adj" fmla="val 10000"/>
            </a:avLst>
          </a:prstGeom>
          <a:solidFill>
            <a:srgbClr val="EAF6EC"/>
          </a:solidFill>
          <a:ln/>
        </p:spPr>
      </p:sp>
      <p:sp>
        <p:nvSpPr>
          <p:cNvPr id="24" name="t995"/>
          <p:cNvSpPr txBox="1"/>
          <p:nvPr/>
        </p:nvSpPr>
        <p:spPr>
          <a:xfrm>
            <a:off x="777240" y="4892040"/>
            <a:ext cx="10607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Decontamination is complete when the client’s entry criteria are met and confirmed by validation readings – then the equipment is handed over for opening.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708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6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6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6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6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6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6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6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6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6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6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6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6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" dur="6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6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600"/>
                            </p:stCondLst>
                            <p:childTnLst>
                              <p:par>
                                <p:cTn id="31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6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4" dur="6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5" dur="6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6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6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9" dur="6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0" dur="6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1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6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4" dur="6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5" dur="6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6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6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9" dur="6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0" dur="6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1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6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4" dur="6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5" dur="6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6" fill="hold">
                            <p:stCondLst>
                              <p:cond delay="1200"/>
                            </p:stCondLst>
                            <p:childTnLst>
                              <p:par>
                                <p:cTn id="57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6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0" dur="6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1" dur="6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2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6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5" dur="6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6" dur="6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7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6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0" dur="6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1" dur="6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2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6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5" dur="6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6" dur="6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6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0" dur="6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1" dur="6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2" fill="hold">
                            <p:stCondLst>
                              <p:cond delay="1800"/>
                            </p:stCondLst>
                            <p:childTnLst>
                              <p:par>
                                <p:cTn id="83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6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6" dur="6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7" dur="6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6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1" dur="6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2" dur="6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3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5" dur="6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6" dur="6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7" dur="6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0" dur="6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1" dur="6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2" dur="6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5" dur="6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6" dur="6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7" dur="6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8" fill="hold">
                      <p:stCondLst>
                        <p:cond delay="indefinite"/>
                      </p:stCondLst>
                      <p:childTnLst>
                        <p:par>
                          <p:cTn id="109" fill="hold">
                            <p:stCondLst>
                              <p:cond delay="0"/>
                            </p:stCondLst>
                            <p:childTnLst>
                              <p:par>
                                <p:cTn id="1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5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6" grpId="0" animBg="1"/>
      <p:bldP spid="7" grpId="0" animBg="1"/>
      <p:bldP spid="8" grpId="0" animBg="1"/>
      <p:bldP spid="9" grpId="0" animBg="1"/>
      <p:bldP spid="11" grpId="0" animBg="1"/>
      <p:bldP spid="12" grpId="0" animBg="1"/>
      <p:bldP spid="13" grpId="0" animBg="1"/>
      <p:bldP spid="14" grpId="0" animBg="1"/>
      <p:bldP spid="16" grpId="0" animBg="1"/>
      <p:bldP spid="17" grpId="0" animBg="1"/>
      <p:bldP spid="18" grpId="0" animBg="1"/>
      <p:bldP spid="19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47472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5F8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Less waste, less exposure</a:t>
            </a:r>
            <a:endParaRPr lang="en-US" sz="2800" dirty="0"/>
          </a:p>
        </p:txBody>
      </p:sp>
      <p:sp>
        <p:nvSpPr>
          <p:cNvPr id="3" name="s996"/>
          <p:cNvSpPr/>
          <p:nvPr/>
        </p:nvSpPr>
        <p:spPr>
          <a:xfrm>
            <a:off x="731520" y="1417320"/>
            <a:ext cx="822960" cy="822960"/>
          </a:xfrm>
          <a:prstGeom prst="ellipse">
            <a:avLst/>
          </a:prstGeom>
          <a:solidFill>
            <a:srgbClr val="0C74BC"/>
          </a:solidFill>
          <a:ln/>
        </p:spPr>
      </p:sp>
      <p:pic>
        <p:nvPicPr>
          <p:cNvPr id="4" name="i997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29030" y="1614830"/>
            <a:ext cx="427939" cy="427939"/>
          </a:xfrm>
          <a:prstGeom prst="rect">
            <a:avLst/>
          </a:prstGeom>
        </p:spPr>
      </p:pic>
      <p:sp>
        <p:nvSpPr>
          <p:cNvPr id="5" name="t998"/>
          <p:cNvSpPr txBox="1"/>
          <p:nvPr/>
        </p:nvSpPr>
        <p:spPr>
          <a:xfrm>
            <a:off x="1828800" y="1399032"/>
            <a:ext cx="8686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5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 water than water washing</a:t>
            </a:r>
            <a:endParaRPr lang="en-US" sz="1800" dirty="0"/>
          </a:p>
        </p:txBody>
      </p:sp>
      <p:sp>
        <p:nvSpPr>
          <p:cNvPr id="6" name="t999"/>
          <p:cNvSpPr txBox="1"/>
          <p:nvPr/>
        </p:nvSpPr>
        <p:spPr>
          <a:xfrm>
            <a:off x="1828800" y="1828800"/>
            <a:ext cx="8686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Vapour-phase uses steam already available on the unit.</a:t>
            </a:r>
            <a:endParaRPr lang="en-US" sz="1500" dirty="0"/>
          </a:p>
        </p:txBody>
      </p:sp>
      <p:sp>
        <p:nvSpPr>
          <p:cNvPr id="7" name="s1000"/>
          <p:cNvSpPr/>
          <p:nvPr/>
        </p:nvSpPr>
        <p:spPr>
          <a:xfrm>
            <a:off x="731520" y="2560320"/>
            <a:ext cx="822960" cy="822960"/>
          </a:xfrm>
          <a:prstGeom prst="ellipse">
            <a:avLst/>
          </a:prstGeom>
          <a:solidFill>
            <a:srgbClr val="3AB54A"/>
          </a:solidFill>
          <a:ln/>
        </p:spPr>
      </p:sp>
      <p:pic>
        <p:nvPicPr>
          <p:cNvPr id="8" name="i100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9030" y="2757830"/>
            <a:ext cx="427939" cy="427939"/>
          </a:xfrm>
          <a:prstGeom prst="rect">
            <a:avLst/>
          </a:prstGeom>
        </p:spPr>
      </p:pic>
      <p:sp>
        <p:nvSpPr>
          <p:cNvPr id="9" name="t1002"/>
          <p:cNvSpPr txBox="1"/>
          <p:nvPr/>
        </p:nvSpPr>
        <p:spPr>
          <a:xfrm>
            <a:off x="1828800" y="2542032"/>
            <a:ext cx="8686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5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 confined-space entry</a:t>
            </a:r>
            <a:endParaRPr lang="en-US" sz="1800" dirty="0"/>
          </a:p>
        </p:txBody>
      </p:sp>
      <p:sp>
        <p:nvSpPr>
          <p:cNvPr id="10" name="t1003"/>
          <p:cNvSpPr txBox="1"/>
          <p:nvPr/>
        </p:nvSpPr>
        <p:spPr>
          <a:xfrm>
            <a:off x="1828800" y="2971800"/>
            <a:ext cx="8686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Equipment is gas-free and pyrophoric-safe before it is opened.</a:t>
            </a:r>
            <a:endParaRPr lang="en-US" sz="1500" dirty="0"/>
          </a:p>
        </p:txBody>
      </p:sp>
      <p:sp>
        <p:nvSpPr>
          <p:cNvPr id="11" name="s1004"/>
          <p:cNvSpPr/>
          <p:nvPr/>
        </p:nvSpPr>
        <p:spPr>
          <a:xfrm>
            <a:off x="731520" y="3703320"/>
            <a:ext cx="822960" cy="822960"/>
          </a:xfrm>
          <a:prstGeom prst="ellipse">
            <a:avLst/>
          </a:prstGeom>
          <a:solidFill>
            <a:srgbClr val="0C74BC"/>
          </a:solidFill>
          <a:ln/>
        </p:spPr>
      </p:sp>
      <p:pic>
        <p:nvPicPr>
          <p:cNvPr id="12" name="i1005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9030" y="3900830"/>
            <a:ext cx="427939" cy="427939"/>
          </a:xfrm>
          <a:prstGeom prst="rect">
            <a:avLst/>
          </a:prstGeom>
        </p:spPr>
      </p:pic>
      <p:sp>
        <p:nvSpPr>
          <p:cNvPr id="13" name="t1006"/>
          <p:cNvSpPr txBox="1"/>
          <p:nvPr/>
        </p:nvSpPr>
        <p:spPr>
          <a:xfrm>
            <a:off x="1828800" y="3685032"/>
            <a:ext cx="8686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5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Controlled effluent</a:t>
            </a:r>
            <a:endParaRPr lang="en-US" sz="1800" dirty="0"/>
          </a:p>
        </p:txBody>
      </p:sp>
      <p:sp>
        <p:nvSpPr>
          <p:cNvPr id="14" name="t1007"/>
          <p:cNvSpPr txBox="1"/>
          <p:nvPr/>
        </p:nvSpPr>
        <p:spPr>
          <a:xfrm>
            <a:off x="1828800" y="4114800"/>
            <a:ext cx="8686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Collected in holding tanks, neutralised and tested before disposal.</a:t>
            </a:r>
            <a:endParaRPr lang="en-US" sz="1500" dirty="0"/>
          </a:p>
        </p:txBody>
      </p:sp>
      <p:sp>
        <p:nvSpPr>
          <p:cNvPr id="15" name="s1008"/>
          <p:cNvSpPr/>
          <p:nvPr/>
        </p:nvSpPr>
        <p:spPr>
          <a:xfrm>
            <a:off x="731520" y="4846320"/>
            <a:ext cx="822960" cy="822960"/>
          </a:xfrm>
          <a:prstGeom prst="ellipse">
            <a:avLst/>
          </a:prstGeom>
          <a:solidFill>
            <a:srgbClr val="3AB54A"/>
          </a:solidFill>
          <a:ln/>
        </p:spPr>
      </p:sp>
      <p:pic>
        <p:nvPicPr>
          <p:cNvPr id="16" name="i1009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9030" y="5043830"/>
            <a:ext cx="427939" cy="427939"/>
          </a:xfrm>
          <a:prstGeom prst="rect">
            <a:avLst/>
          </a:prstGeom>
        </p:spPr>
      </p:pic>
      <p:sp>
        <p:nvSpPr>
          <p:cNvPr id="17" name="t1010"/>
          <p:cNvSpPr txBox="1"/>
          <p:nvPr/>
        </p:nvSpPr>
        <p:spPr>
          <a:xfrm>
            <a:off x="1828800" y="4828032"/>
            <a:ext cx="8686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5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Oil recovered, not wasted</a:t>
            </a:r>
            <a:endParaRPr lang="en-US" sz="1800" dirty="0"/>
          </a:p>
        </p:txBody>
      </p:sp>
      <p:sp>
        <p:nvSpPr>
          <p:cNvPr id="18" name="t1011"/>
          <p:cNvSpPr txBox="1"/>
          <p:nvPr/>
        </p:nvSpPr>
        <p:spPr>
          <a:xfrm>
            <a:off x="1828800" y="5257800"/>
            <a:ext cx="8686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Flushing oil goes back to slop / rerun.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708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6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6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6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6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6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6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6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6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6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6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6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6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0" dur="6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1" dur="6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2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6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5" dur="6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6" dur="6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6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0" dur="6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1" dur="6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2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6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5" dur="6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6" dur="6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6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2" dur="6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3" dur="6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4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6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7" dur="6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8" dur="6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9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6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2" dur="6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3" dur="6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4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6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7" dur="6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8" dur="6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>
                      <p:stCondLst>
                        <p:cond delay="indefinite"/>
                      </p:stCondLst>
                      <p:childTnLst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71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6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4" dur="6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5" dur="6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6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8" dur="6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9" dur="6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0" dur="6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1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" dur="6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4" dur="6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5" dur="6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6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6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9" dur="6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0" dur="6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5" grpId="0" animBg="1"/>
      <p:bldP spid="6" grpId="0" animBg="1"/>
      <p:bldP spid="7" grpId="0" animBg="1"/>
      <p:bldP spid="9" grpId="0" animBg="1"/>
      <p:bldP spid="10" grpId="0" animBg="1"/>
      <p:bldP spid="11" grpId="0" animBg="1"/>
      <p:bldP spid="13" grpId="0" animBg="1"/>
      <p:bldP spid="14" grpId="0" animBg="1"/>
      <p:bldP spid="15" grpId="0" animBg="1"/>
      <p:bldP spid="17" grpId="0" animBg="1"/>
      <p:bldP spid="18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47472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5F8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Delight</a:t>
            </a:r>
            <a:endParaRPr lang="en-US" sz="2800" dirty="0"/>
          </a:p>
        </p:txBody>
      </p:sp>
      <p:sp>
        <p:nvSpPr>
          <p:cNvPr id="3" name="s1012"/>
          <p:cNvSpPr/>
          <p:nvPr/>
        </p:nvSpPr>
        <p:spPr>
          <a:xfrm>
            <a:off x="548640" y="1371600"/>
            <a:ext cx="3520440" cy="2103120"/>
          </a:xfrm>
          <a:prstGeom prst="roundRect">
            <a:avLst>
              <a:gd name="adj" fmla="val 4348"/>
            </a:avLst>
          </a:prstGeom>
          <a:solidFill>
            <a:srgbClr val="F3F7FA"/>
          </a:solidFill>
          <a:ln w="12700">
            <a:solidFill>
              <a:srgbClr val="E1E8EF"/>
            </a:solidFill>
            <a:prstDash val="solid"/>
          </a:ln>
          <a:effectLst>
            <a:outerShdw sx="100000" sy="100000" kx="0" ky="0" algn="bl" rotWithShape="0" blurRad="76200" dist="25400" dir="5400000">
              <a:srgbClr val="9AA9B8">
                <a:alpha val="22000"/>
              </a:srgbClr>
            </a:outerShdw>
          </a:effectLst>
        </p:spPr>
      </p:sp>
      <p:sp>
        <p:nvSpPr>
          <p:cNvPr id="4" name="s1013"/>
          <p:cNvSpPr/>
          <p:nvPr/>
        </p:nvSpPr>
        <p:spPr>
          <a:xfrm>
            <a:off x="777240" y="1645920"/>
            <a:ext cx="685800" cy="685800"/>
          </a:xfrm>
          <a:prstGeom prst="ellipse">
            <a:avLst/>
          </a:prstGeom>
          <a:solidFill>
            <a:srgbClr val="0C74BC"/>
          </a:solidFill>
          <a:ln/>
        </p:spPr>
      </p:sp>
      <p:pic>
        <p:nvPicPr>
          <p:cNvPr id="5" name="i1014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41832" y="1810512"/>
            <a:ext cx="356616" cy="356616"/>
          </a:xfrm>
          <a:prstGeom prst="rect">
            <a:avLst/>
          </a:prstGeom>
        </p:spPr>
      </p:pic>
      <p:sp>
        <p:nvSpPr>
          <p:cNvPr id="6" name="t1015"/>
          <p:cNvSpPr txBox="1"/>
          <p:nvPr/>
        </p:nvSpPr>
        <p:spPr>
          <a:xfrm>
            <a:off x="1600200" y="1664208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5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Certified QHSE</a:t>
            </a:r>
            <a:endParaRPr lang="en-US" sz="1600" dirty="0"/>
          </a:p>
        </p:txBody>
      </p:sp>
      <p:sp>
        <p:nvSpPr>
          <p:cNvPr id="7" name="t1016"/>
          <p:cNvSpPr txBox="1"/>
          <p:nvPr/>
        </p:nvSpPr>
        <p:spPr>
          <a:xfrm>
            <a:off x="777240" y="2468880"/>
            <a:ext cx="3108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 9001, ISO 14001 and ISO 45001 management system</a:t>
            </a:r>
            <a:endParaRPr lang="en-US" sz="1400" dirty="0"/>
          </a:p>
        </p:txBody>
      </p:sp>
      <p:sp>
        <p:nvSpPr>
          <p:cNvPr id="8" name="s1017"/>
          <p:cNvSpPr/>
          <p:nvPr/>
        </p:nvSpPr>
        <p:spPr>
          <a:xfrm>
            <a:off x="4297680" y="1371600"/>
            <a:ext cx="3520440" cy="2103120"/>
          </a:xfrm>
          <a:prstGeom prst="roundRect">
            <a:avLst>
              <a:gd name="adj" fmla="val 4348"/>
            </a:avLst>
          </a:prstGeom>
          <a:solidFill>
            <a:srgbClr val="F3F7FA"/>
          </a:solidFill>
          <a:ln w="12700">
            <a:solidFill>
              <a:srgbClr val="E1E8EF"/>
            </a:solidFill>
            <a:prstDash val="solid"/>
          </a:ln>
          <a:effectLst>
            <a:outerShdw sx="100000" sy="100000" kx="0" ky="0" algn="bl" rotWithShape="0" blurRad="76200" dist="25400" dir="5400000">
              <a:srgbClr val="9AA9B8">
                <a:alpha val="22000"/>
              </a:srgbClr>
            </a:outerShdw>
          </a:effectLst>
        </p:spPr>
      </p:sp>
      <p:sp>
        <p:nvSpPr>
          <p:cNvPr id="9" name="s1018"/>
          <p:cNvSpPr/>
          <p:nvPr/>
        </p:nvSpPr>
        <p:spPr>
          <a:xfrm>
            <a:off x="4526280" y="1645920"/>
            <a:ext cx="685800" cy="685800"/>
          </a:xfrm>
          <a:prstGeom prst="ellipse">
            <a:avLst/>
          </a:prstGeom>
          <a:solidFill>
            <a:srgbClr val="3AB54A"/>
          </a:solidFill>
          <a:ln/>
        </p:spPr>
      </p:sp>
      <p:pic>
        <p:nvPicPr>
          <p:cNvPr id="10" name="i1019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90872" y="1810512"/>
            <a:ext cx="356616" cy="356616"/>
          </a:xfrm>
          <a:prstGeom prst="rect">
            <a:avLst/>
          </a:prstGeom>
        </p:spPr>
      </p:pic>
      <p:sp>
        <p:nvSpPr>
          <p:cNvPr id="11" name="t1020"/>
          <p:cNvSpPr txBox="1"/>
          <p:nvPr/>
        </p:nvSpPr>
        <p:spPr>
          <a:xfrm>
            <a:off x="5349240" y="1664208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5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Regional presence</a:t>
            </a:r>
            <a:endParaRPr lang="en-US" sz="1600" dirty="0"/>
          </a:p>
        </p:txBody>
      </p:sp>
      <p:sp>
        <p:nvSpPr>
          <p:cNvPr id="12" name="t1021"/>
          <p:cNvSpPr txBox="1"/>
          <p:nvPr/>
        </p:nvSpPr>
        <p:spPr>
          <a:xfrm>
            <a:off x="4526280" y="2468880"/>
            <a:ext cx="3108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UAE, Saudi Arabia, Oman, Qatar and India</a:t>
            </a:r>
            <a:endParaRPr lang="en-US" sz="1400" dirty="0"/>
          </a:p>
        </p:txBody>
      </p:sp>
      <p:sp>
        <p:nvSpPr>
          <p:cNvPr id="13" name="s1022"/>
          <p:cNvSpPr/>
          <p:nvPr/>
        </p:nvSpPr>
        <p:spPr>
          <a:xfrm>
            <a:off x="8046720" y="1371600"/>
            <a:ext cx="3520440" cy="2103120"/>
          </a:xfrm>
          <a:prstGeom prst="roundRect">
            <a:avLst>
              <a:gd name="adj" fmla="val 4348"/>
            </a:avLst>
          </a:prstGeom>
          <a:solidFill>
            <a:srgbClr val="F3F7FA"/>
          </a:solidFill>
          <a:ln w="12700">
            <a:solidFill>
              <a:srgbClr val="E1E8EF"/>
            </a:solidFill>
            <a:prstDash val="solid"/>
          </a:ln>
          <a:effectLst>
            <a:outerShdw sx="100000" sy="100000" kx="0" ky="0" algn="bl" rotWithShape="0" blurRad="76200" dist="25400" dir="5400000">
              <a:srgbClr val="9AA9B8">
                <a:alpha val="22000"/>
              </a:srgbClr>
            </a:outerShdw>
          </a:effectLst>
        </p:spPr>
      </p:sp>
      <p:sp>
        <p:nvSpPr>
          <p:cNvPr id="14" name="s1023"/>
          <p:cNvSpPr/>
          <p:nvPr/>
        </p:nvSpPr>
        <p:spPr>
          <a:xfrm>
            <a:off x="8275320" y="1645920"/>
            <a:ext cx="685800" cy="685800"/>
          </a:xfrm>
          <a:prstGeom prst="ellipse">
            <a:avLst/>
          </a:prstGeom>
          <a:solidFill>
            <a:srgbClr val="0C74BC"/>
          </a:solidFill>
          <a:ln/>
        </p:spPr>
      </p:sp>
      <p:pic>
        <p:nvPicPr>
          <p:cNvPr id="15" name="i1024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39912" y="1810512"/>
            <a:ext cx="356616" cy="356616"/>
          </a:xfrm>
          <a:prstGeom prst="rect">
            <a:avLst/>
          </a:prstGeom>
        </p:spPr>
      </p:pic>
      <p:sp>
        <p:nvSpPr>
          <p:cNvPr id="16" name="t1025"/>
          <p:cNvSpPr txBox="1"/>
          <p:nvPr/>
        </p:nvSpPr>
        <p:spPr>
          <a:xfrm>
            <a:off x="9098280" y="1664208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5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Integrated services</a:t>
            </a:r>
            <a:endParaRPr lang="en-US" sz="1600" dirty="0"/>
          </a:p>
        </p:txBody>
      </p:sp>
      <p:sp>
        <p:nvSpPr>
          <p:cNvPr id="17" name="t1026"/>
          <p:cNvSpPr txBox="1"/>
          <p:nvPr/>
        </p:nvSpPr>
        <p:spPr>
          <a:xfrm>
            <a:off x="8275320" y="2468880"/>
            <a:ext cx="3108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Decontamination, chemical cleaning, hydro jetting, bundle extraction</a:t>
            </a:r>
            <a:endParaRPr lang="en-US" sz="1400" dirty="0"/>
          </a:p>
        </p:txBody>
      </p:sp>
      <p:sp>
        <p:nvSpPr>
          <p:cNvPr id="18" name="s1027"/>
          <p:cNvSpPr/>
          <p:nvPr/>
        </p:nvSpPr>
        <p:spPr>
          <a:xfrm>
            <a:off x="548640" y="3749040"/>
            <a:ext cx="3520440" cy="2103120"/>
          </a:xfrm>
          <a:prstGeom prst="roundRect">
            <a:avLst>
              <a:gd name="adj" fmla="val 4348"/>
            </a:avLst>
          </a:prstGeom>
          <a:solidFill>
            <a:srgbClr val="F3F7FA"/>
          </a:solidFill>
          <a:ln w="12700">
            <a:solidFill>
              <a:srgbClr val="E1E8EF"/>
            </a:solidFill>
            <a:prstDash val="solid"/>
          </a:ln>
          <a:effectLst>
            <a:outerShdw sx="100000" sy="100000" kx="0" ky="0" algn="bl" rotWithShape="0" blurRad="76200" dist="25400" dir="5400000">
              <a:srgbClr val="9AA9B8">
                <a:alpha val="22000"/>
              </a:srgbClr>
            </a:outerShdw>
          </a:effectLst>
        </p:spPr>
      </p:sp>
      <p:sp>
        <p:nvSpPr>
          <p:cNvPr id="19" name="s1028"/>
          <p:cNvSpPr/>
          <p:nvPr/>
        </p:nvSpPr>
        <p:spPr>
          <a:xfrm>
            <a:off x="777240" y="4023360"/>
            <a:ext cx="685800" cy="685800"/>
          </a:xfrm>
          <a:prstGeom prst="ellipse">
            <a:avLst/>
          </a:prstGeom>
          <a:solidFill>
            <a:srgbClr val="3AB54A"/>
          </a:solidFill>
          <a:ln/>
        </p:spPr>
      </p:sp>
      <p:pic>
        <p:nvPicPr>
          <p:cNvPr id="20" name="i1029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1832" y="4187952"/>
            <a:ext cx="356616" cy="356616"/>
          </a:xfrm>
          <a:prstGeom prst="rect">
            <a:avLst/>
          </a:prstGeom>
        </p:spPr>
      </p:pic>
      <p:sp>
        <p:nvSpPr>
          <p:cNvPr id="21" name="t1030"/>
          <p:cNvSpPr txBox="1"/>
          <p:nvPr/>
        </p:nvSpPr>
        <p:spPr>
          <a:xfrm>
            <a:off x="1600200" y="4041648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5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 fleet</a:t>
            </a:r>
            <a:endParaRPr lang="en-US" sz="1600" dirty="0"/>
          </a:p>
        </p:txBody>
      </p:sp>
      <p:sp>
        <p:nvSpPr>
          <p:cNvPr id="22" name="t1031"/>
          <p:cNvSpPr txBox="1"/>
          <p:nvPr/>
        </p:nvSpPr>
        <p:spPr>
          <a:xfrm>
            <a:off x="777240" y="4846320"/>
            <a:ext cx="3108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HP / UHP units and 22 T – 65 T bundle extractors</a:t>
            </a:r>
            <a:endParaRPr lang="en-US" sz="1400" dirty="0"/>
          </a:p>
        </p:txBody>
      </p:sp>
      <p:sp>
        <p:nvSpPr>
          <p:cNvPr id="23" name="s1032"/>
          <p:cNvSpPr/>
          <p:nvPr/>
        </p:nvSpPr>
        <p:spPr>
          <a:xfrm>
            <a:off x="4297680" y="3749040"/>
            <a:ext cx="3520440" cy="2103120"/>
          </a:xfrm>
          <a:prstGeom prst="roundRect">
            <a:avLst>
              <a:gd name="adj" fmla="val 4348"/>
            </a:avLst>
          </a:prstGeom>
          <a:solidFill>
            <a:srgbClr val="F3F7FA"/>
          </a:solidFill>
          <a:ln w="12700">
            <a:solidFill>
              <a:srgbClr val="E1E8EF"/>
            </a:solidFill>
            <a:prstDash val="solid"/>
          </a:ln>
          <a:effectLst>
            <a:outerShdw sx="100000" sy="100000" kx="0" ky="0" algn="bl" rotWithShape="0" blurRad="76200" dist="25400" dir="5400000">
              <a:srgbClr val="9AA9B8">
                <a:alpha val="22000"/>
              </a:srgbClr>
            </a:outerShdw>
          </a:effectLst>
        </p:spPr>
      </p:sp>
      <p:sp>
        <p:nvSpPr>
          <p:cNvPr id="24" name="s1033"/>
          <p:cNvSpPr/>
          <p:nvPr/>
        </p:nvSpPr>
        <p:spPr>
          <a:xfrm>
            <a:off x="4526280" y="4023360"/>
            <a:ext cx="685800" cy="685800"/>
          </a:xfrm>
          <a:prstGeom prst="ellipse">
            <a:avLst/>
          </a:prstGeom>
          <a:solidFill>
            <a:srgbClr val="0C74BC"/>
          </a:solidFill>
          <a:ln/>
        </p:spPr>
      </p:sp>
      <p:pic>
        <p:nvPicPr>
          <p:cNvPr id="25" name="i103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90872" y="4187952"/>
            <a:ext cx="356616" cy="356616"/>
          </a:xfrm>
          <a:prstGeom prst="rect">
            <a:avLst/>
          </a:prstGeom>
        </p:spPr>
      </p:pic>
      <p:sp>
        <p:nvSpPr>
          <p:cNvPr id="26" name="t1035"/>
          <p:cNvSpPr txBox="1"/>
          <p:nvPr/>
        </p:nvSpPr>
        <p:spPr>
          <a:xfrm>
            <a:off x="5349240" y="4041648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5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Experienced crews</a:t>
            </a:r>
            <a:endParaRPr lang="en-US" sz="1600" dirty="0"/>
          </a:p>
        </p:txBody>
      </p:sp>
      <p:sp>
        <p:nvSpPr>
          <p:cNvPr id="27" name="t1036"/>
          <p:cNvSpPr txBox="1"/>
          <p:nvPr/>
        </p:nvSpPr>
        <p:spPr>
          <a:xfrm>
            <a:off x="4526280" y="4846320"/>
            <a:ext cx="3108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Trained supervisors and technicians for shutdown work</a:t>
            </a:r>
            <a:endParaRPr lang="en-US" sz="1400" dirty="0"/>
          </a:p>
        </p:txBody>
      </p:sp>
      <p:sp>
        <p:nvSpPr>
          <p:cNvPr id="28" name="s1037"/>
          <p:cNvSpPr/>
          <p:nvPr/>
        </p:nvSpPr>
        <p:spPr>
          <a:xfrm>
            <a:off x="8046720" y="3749040"/>
            <a:ext cx="3520440" cy="2103120"/>
          </a:xfrm>
          <a:prstGeom prst="roundRect">
            <a:avLst>
              <a:gd name="adj" fmla="val 4348"/>
            </a:avLst>
          </a:prstGeom>
          <a:solidFill>
            <a:srgbClr val="F3F7FA"/>
          </a:solidFill>
          <a:ln w="12700">
            <a:solidFill>
              <a:srgbClr val="E1E8EF"/>
            </a:solidFill>
            <a:prstDash val="solid"/>
          </a:ln>
          <a:effectLst>
            <a:outerShdw sx="100000" sy="100000" kx="0" ky="0" algn="bl" rotWithShape="0" blurRad="76200" dist="25400" dir="5400000">
              <a:srgbClr val="9AA9B8">
                <a:alpha val="22000"/>
              </a:srgbClr>
            </a:outerShdw>
          </a:effectLst>
        </p:spPr>
      </p:sp>
      <p:sp>
        <p:nvSpPr>
          <p:cNvPr id="29" name="s1038"/>
          <p:cNvSpPr/>
          <p:nvPr/>
        </p:nvSpPr>
        <p:spPr>
          <a:xfrm>
            <a:off x="8275320" y="4023360"/>
            <a:ext cx="685800" cy="685800"/>
          </a:xfrm>
          <a:prstGeom prst="ellipse">
            <a:avLst/>
          </a:prstGeom>
          <a:solidFill>
            <a:srgbClr val="3AB54A"/>
          </a:solidFill>
          <a:ln/>
        </p:spPr>
      </p:sp>
      <p:pic>
        <p:nvPicPr>
          <p:cNvPr id="30" name="i1039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39912" y="4187952"/>
            <a:ext cx="356616" cy="356616"/>
          </a:xfrm>
          <a:prstGeom prst="rect">
            <a:avLst/>
          </a:prstGeom>
        </p:spPr>
      </p:pic>
      <p:sp>
        <p:nvSpPr>
          <p:cNvPr id="31" name="t1040"/>
          <p:cNvSpPr txBox="1"/>
          <p:nvPr/>
        </p:nvSpPr>
        <p:spPr>
          <a:xfrm>
            <a:off x="9098280" y="4041648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5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point of responsibility</a:t>
            </a:r>
            <a:endParaRPr lang="en-US" sz="1600" dirty="0"/>
          </a:p>
        </p:txBody>
      </p:sp>
      <p:sp>
        <p:nvSpPr>
          <p:cNvPr id="32" name="t1041"/>
          <p:cNvSpPr txBox="1"/>
          <p:nvPr/>
        </p:nvSpPr>
        <p:spPr>
          <a:xfrm>
            <a:off x="8275320" y="4846320"/>
            <a:ext cx="3108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survey and planning to waste handling and handover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708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400"/>
                            </p:stCondLst>
                            <p:childTnLst>
                              <p:par>
                                <p:cTn id="2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800"/>
                            </p:stCondLst>
                            <p:childTnLst>
                              <p:par>
                                <p:cTn id="3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" fill="hold">
                            <p:stCondLst>
                              <p:cond delay="1200"/>
                            </p:stCondLst>
                            <p:childTnLst>
                              <p:par>
                                <p:cTn id="5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8" fill="hold">
                            <p:stCondLst>
                              <p:cond delay="1600"/>
                            </p:stCondLst>
                            <p:childTnLst>
                              <p:par>
                                <p:cTn id="6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4" fill="hold">
                            <p:stCondLst>
                              <p:cond delay="2000"/>
                            </p:stCondLst>
                            <p:childTnLst>
                              <p:par>
                                <p:cTn id="8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3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9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6" grpId="0" animBg="1"/>
      <p:bldP spid="7" grpId="0" animBg="1"/>
      <p:bldP spid="8" grpId="0" animBg="1"/>
      <p:bldP spid="9" grpId="0" animBg="1"/>
      <p:bldP spid="11" grpId="0" animBg="1"/>
      <p:bldP spid="12" grpId="0" animBg="1"/>
      <p:bldP spid="13" grpId="0" animBg="1"/>
      <p:bldP spid="14" grpId="0" animBg="1"/>
      <p:bldP spid="16" grpId="0" animBg="1"/>
      <p:bldP spid="17" grpId="0" animBg="1"/>
      <p:bldP spid="18" grpId="0" animBg="1"/>
      <p:bldP spid="19" grpId="0" animBg="1"/>
      <p:bldP spid="21" grpId="0" animBg="1"/>
      <p:bldP spid="22" grpId="0" animBg="1"/>
      <p:bldP spid="23" grpId="0" animBg="1"/>
      <p:bldP spid="24" grpId="0" animBg="1"/>
      <p:bldP spid="26" grpId="0" animBg="1"/>
      <p:bldP spid="27" grpId="0" animBg="1"/>
      <p:bldP spid="28" grpId="0" animBg="1"/>
      <p:bldP spid="29" grpId="0" animBg="1"/>
      <p:bldP spid="31" grpId="0" animBg="1"/>
      <p:bldP spid="32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1042"/>
          <p:cNvSpPr/>
          <p:nvPr/>
        </p:nvSpPr>
        <p:spPr>
          <a:xfrm>
            <a:off x="8229600" y="-1280160"/>
            <a:ext cx="5303520" cy="5303520"/>
          </a:xfrm>
          <a:prstGeom prst="ellipse">
            <a:avLst/>
          </a:prstGeom>
          <a:solidFill>
            <a:srgbClr val="D3E6F4"/>
          </a:solidFill>
          <a:ln/>
        </p:spPr>
      </p:sp>
      <p:sp>
        <p:nvSpPr>
          <p:cNvPr id="3" name="s1043"/>
          <p:cNvSpPr/>
          <p:nvPr/>
        </p:nvSpPr>
        <p:spPr>
          <a:xfrm>
            <a:off x="9692640" y="3931920"/>
            <a:ext cx="3474720" cy="3474720"/>
          </a:xfrm>
          <a:prstGeom prst="ellipse">
            <a:avLst/>
          </a:prstGeom>
          <a:solidFill>
            <a:srgbClr val="D9EFDC"/>
          </a:solidFill>
          <a:ln/>
        </p:spPr>
      </p:sp>
      <p:pic>
        <p:nvPicPr>
          <p:cNvPr id="4" name="i1044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548640"/>
            <a:ext cx="914400" cy="1197864"/>
          </a:xfrm>
          <a:prstGeom prst="rect">
            <a:avLst/>
          </a:prstGeom>
        </p:spPr>
      </p:pic>
      <p:sp>
        <p:nvSpPr>
          <p:cNvPr id="5" name="t1045"/>
          <p:cNvSpPr txBox="1"/>
          <p:nvPr/>
        </p:nvSpPr>
        <p:spPr>
          <a:xfrm>
            <a:off x="685800" y="214884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A5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Thank you</a:t>
            </a:r>
            <a:endParaRPr lang="en-US" sz="4400" dirty="0"/>
          </a:p>
        </p:txBody>
      </p:sp>
      <p:sp>
        <p:nvSpPr>
          <p:cNvPr id="6" name="t1046"/>
          <p:cNvSpPr txBox="1"/>
          <p:nvPr/>
        </p:nvSpPr>
        <p:spPr>
          <a:xfrm>
            <a:off x="685800" y="3108960"/>
            <a:ext cx="7772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F5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Let’s plan the decontamination for your next shutdown.</a:t>
            </a:r>
            <a:endParaRPr lang="en-US" sz="2000" dirty="0"/>
          </a:p>
        </p:txBody>
      </p:sp>
      <p:sp>
        <p:nvSpPr>
          <p:cNvPr id="7" name="t1047"/>
          <p:cNvSpPr txBox="1"/>
          <p:nvPr/>
        </p:nvSpPr>
        <p:spPr>
          <a:xfrm>
            <a:off x="685800" y="4297680"/>
            <a:ext cx="8229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Delight Equipment International L.L.C.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P.O. Box 2932, Abu Dhabi, United Arab Emirates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 +971 2 5515641  ·  info@delightintl.ae  ·  www.delightintl.ae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KSA (Jubail) +966 59348 1459  ·  India (Udupi) +91 9686433661</a:t>
            </a:r>
            <a:endParaRPr lang="en-US" sz="1400" dirty="0"/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27</Slides>
  <Notes>27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Decontamination across the oil &amp; gas value chain</dc:title>
  <dc:subject>PptxGenJS Presentation</dc:subject>
  <dc:creator>Delight International</dc:creator>
  <cp:lastModifiedBy>Delight International</cp:lastModifiedBy>
  <cp:revision>1</cp:revision>
  <dcterms:created xsi:type="dcterms:W3CDTF">2026-10-06T07:46:39Z</dcterms:created>
  <dcterms:modified xsi:type="dcterms:W3CDTF">2026-10-06T07:46:39Z</dcterms:modified>
</cp:coreProperties>
</file>