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Delight decontamination: where it is needed in oil &amp; gas, how we do it, and what happens to every contaminant.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value chain branch by branch. The green ticks mark where Delight decontaminates. The next four slides zoom into each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upstream: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midstream: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downstream: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 zooms into petrochemicals: the tree shrinks to the corner and the branch's facilities fly out. Click to show where we work and what is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this slide for each client meeting (type into the grey boxes).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hazards that must be removed before entry – the colours are used for these contaminants throughout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method is chosen per piece of equipment; most units combine two methods.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clicks. H₂S and FeS are converted in place and leave with the condensate; only the vapours go to the flare. The column cleans in stages from oily brown to Delight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Chemistry goes in with the steam through the bottom risers. The vessel cleans in stages from oily brown to Delight blue.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returning-oil sample is how the end point is judged on site. Loaded oil goes to slop / rerun, then vapour-phase gas-frees the circuit.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where steam is not allowed: tanks and lined / coated / low-design-temperature vessels.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Pre-treatment and post-treatment use the same circulation/spray route. Pre-treatment coats the packing geometry so the vapour-phase works deeper; post-treatment is the oxidation wash for pyrophoric FeS before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Tanks are atmospheric: no flare. Vapours are vented through a carbon filter. Bulk sludge is vacuumed to a waste tank for licensed disposal (no oil recovery), then gamma-jetting and circulation run for 8–12 hours; spent wash goes to the effluent tank.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1: vapours to the flare. Click 2: H₂S, FeS, ammonia, mercaptans and sludge are converted / emulsified and drained. Click 3: heavy oil is recovered.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FT">
    <p:bg>
      <p:bgPr>
        <a:solidFill>
          <a:srgbClr val="E9F2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"/>
          <p:cNvSpPr/>
          <p:nvPr/>
        </p:nvSpPr>
        <p:spPr>
          <a:xfrm>
            <a:off x="8229600" y="-1280160"/>
            <a:ext cx="5303520" cy="5303520"/>
          </a:xfrm>
          <a:prstGeom prst="ellipse">
            <a:avLst/>
          </a:prstGeom>
          <a:solidFill>
            <a:srgbClr val="D3E6F4"/>
          </a:solidFill>
          <a:ln/>
        </p:spPr>
      </p:sp>
      <p:sp>
        <p:nvSpPr>
          <p:cNvPr id="3" name="s2"/>
          <p:cNvSpPr/>
          <p:nvPr/>
        </p:nvSpPr>
        <p:spPr>
          <a:xfrm>
            <a:off x="9692640" y="3931920"/>
            <a:ext cx="3474720" cy="3474720"/>
          </a:xfrm>
          <a:prstGeom prst="ellipse">
            <a:avLst/>
          </a:prstGeom>
          <a:solidFill>
            <a:srgbClr val="D9EFDC"/>
          </a:solidFill>
          <a:ln/>
        </p:spPr>
      </p:sp>
      <p:pic>
        <p:nvPicPr>
          <p:cNvPr id="4" name="i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5" name="t4"/>
          <p:cNvSpPr txBox="1"/>
          <p:nvPr/>
        </p:nvSpPr>
        <p:spPr>
          <a:xfrm>
            <a:off x="685800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SERVICES</a:t>
            </a:r>
            <a:endParaRPr lang="en-US" sz="1600" dirty="0"/>
          </a:p>
        </p:txBody>
      </p:sp>
      <p:sp>
        <p:nvSpPr>
          <p:cNvPr id="6" name="t5"/>
          <p:cNvSpPr txBox="1"/>
          <p:nvPr/>
        </p:nvSpPr>
        <p:spPr>
          <a:xfrm>
            <a:off x="685800" y="274320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Safe, fast entry – across the oil &amp; gas value chain</a:t>
            </a:r>
            <a:endParaRPr lang="en-US" sz="4000" dirty="0"/>
          </a:p>
        </p:txBody>
      </p:sp>
      <p:sp>
        <p:nvSpPr>
          <p:cNvPr id="7" name="t6"/>
          <p:cNvSpPr txBox="1"/>
          <p:nvPr/>
        </p:nvSpPr>
        <p:spPr>
          <a:xfrm>
            <a:off x="68580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International  ·  Maintenance Simplified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Delight International at a glance</a:t>
            </a:r>
            <a:endParaRPr lang="en-US" sz="2800" dirty="0"/>
          </a:p>
        </p:txBody>
      </p:sp>
      <p:sp>
        <p:nvSpPr>
          <p:cNvPr id="3" name="s7"/>
          <p:cNvSpPr/>
          <p:nvPr/>
        </p:nvSpPr>
        <p:spPr>
          <a:xfrm>
            <a:off x="548640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8"/>
          <p:cNvSpPr/>
          <p:nvPr/>
        </p:nvSpPr>
        <p:spPr>
          <a:xfrm>
            <a:off x="1371600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2029" y="2013509"/>
            <a:ext cx="499262" cy="499262"/>
          </a:xfrm>
          <a:prstGeom prst="rect">
            <a:avLst/>
          </a:prstGeom>
        </p:spPr>
      </p:pic>
      <p:sp>
        <p:nvSpPr>
          <p:cNvPr id="6" name="t10"/>
          <p:cNvSpPr txBox="1"/>
          <p:nvPr/>
        </p:nvSpPr>
        <p:spPr>
          <a:xfrm>
            <a:off x="68580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700" dirty="0"/>
          </a:p>
        </p:txBody>
      </p:sp>
      <p:sp>
        <p:nvSpPr>
          <p:cNvPr id="7" name="t11"/>
          <p:cNvSpPr txBox="1"/>
          <p:nvPr/>
        </p:nvSpPr>
        <p:spPr>
          <a:xfrm>
            <a:off x="731520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8" name="s12"/>
          <p:cNvSpPr/>
          <p:nvPr/>
        </p:nvSpPr>
        <p:spPr>
          <a:xfrm>
            <a:off x="3364992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13"/>
          <p:cNvSpPr/>
          <p:nvPr/>
        </p:nvSpPr>
        <p:spPr>
          <a:xfrm>
            <a:off x="4187952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2013509"/>
            <a:ext cx="499262" cy="499262"/>
          </a:xfrm>
          <a:prstGeom prst="rect">
            <a:avLst/>
          </a:prstGeom>
        </p:spPr>
      </p:pic>
      <p:sp>
        <p:nvSpPr>
          <p:cNvPr id="11" name="t15"/>
          <p:cNvSpPr txBox="1"/>
          <p:nvPr/>
        </p:nvSpPr>
        <p:spPr>
          <a:xfrm>
            <a:off x="3502152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700" dirty="0"/>
          </a:p>
        </p:txBody>
      </p:sp>
      <p:sp>
        <p:nvSpPr>
          <p:cNvPr id="12" name="t16"/>
          <p:cNvSpPr txBox="1"/>
          <p:nvPr/>
        </p:nvSpPr>
        <p:spPr>
          <a:xfrm>
            <a:off x="3547872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</a:t>
            </a:r>
            <a:endParaRPr lang="en-US" sz="1400" dirty="0"/>
          </a:p>
        </p:txBody>
      </p:sp>
      <p:sp>
        <p:nvSpPr>
          <p:cNvPr id="13" name="s17"/>
          <p:cNvSpPr/>
          <p:nvPr/>
        </p:nvSpPr>
        <p:spPr>
          <a:xfrm>
            <a:off x="6181344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18"/>
          <p:cNvSpPr/>
          <p:nvPr/>
        </p:nvSpPr>
        <p:spPr>
          <a:xfrm>
            <a:off x="7004304" y="178308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733" y="2013509"/>
            <a:ext cx="499262" cy="499262"/>
          </a:xfrm>
          <a:prstGeom prst="rect">
            <a:avLst/>
          </a:prstGeom>
        </p:spPr>
      </p:pic>
      <p:sp>
        <p:nvSpPr>
          <p:cNvPr id="16" name="t20"/>
          <p:cNvSpPr txBox="1"/>
          <p:nvPr/>
        </p:nvSpPr>
        <p:spPr>
          <a:xfrm>
            <a:off x="6318504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we serve</a:t>
            </a:r>
            <a:endParaRPr lang="en-US" sz="1700" dirty="0"/>
          </a:p>
        </p:txBody>
      </p:sp>
      <p:sp>
        <p:nvSpPr>
          <p:cNvPr id="17" name="t21"/>
          <p:cNvSpPr txBox="1"/>
          <p:nvPr/>
        </p:nvSpPr>
        <p:spPr>
          <a:xfrm>
            <a:off x="6364224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Onshore, offshore, marine, power and oil &amp; gas</a:t>
            </a:r>
            <a:endParaRPr lang="en-US" sz="1400" dirty="0"/>
          </a:p>
        </p:txBody>
      </p:sp>
      <p:sp>
        <p:nvSpPr>
          <p:cNvPr id="18" name="s22"/>
          <p:cNvSpPr/>
          <p:nvPr/>
        </p:nvSpPr>
        <p:spPr>
          <a:xfrm>
            <a:off x="8997696" y="146304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23"/>
          <p:cNvSpPr/>
          <p:nvPr/>
        </p:nvSpPr>
        <p:spPr>
          <a:xfrm>
            <a:off x="9820656" y="178308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2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085" y="2013509"/>
            <a:ext cx="499262" cy="499262"/>
          </a:xfrm>
          <a:prstGeom prst="rect">
            <a:avLst/>
          </a:prstGeom>
        </p:spPr>
      </p:pic>
      <p:sp>
        <p:nvSpPr>
          <p:cNvPr id="21" name="t25"/>
          <p:cNvSpPr txBox="1"/>
          <p:nvPr/>
        </p:nvSpPr>
        <p:spPr>
          <a:xfrm>
            <a:off x="9134856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700" dirty="0"/>
          </a:p>
        </p:txBody>
      </p:sp>
      <p:sp>
        <p:nvSpPr>
          <p:cNvPr id="22" name="t26"/>
          <p:cNvSpPr txBox="1"/>
          <p:nvPr/>
        </p:nvSpPr>
        <p:spPr>
          <a:xfrm>
            <a:off x="9180576" y="338328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maintenance, specialised services, flange management, pipeline, marine and tank cleaning</a:t>
            </a:r>
            <a:endParaRPr lang="en-US" sz="1400" dirty="0"/>
          </a:p>
        </p:txBody>
      </p:sp>
      <p:sp>
        <p:nvSpPr>
          <p:cNvPr id="23" name="s27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AF6EC"/>
          </a:solidFill>
          <a:ln/>
        </p:spPr>
      </p:sp>
      <p:sp>
        <p:nvSpPr>
          <p:cNvPr id="24" name="t28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at Delight:  </a:t>
            </a:r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viscosity flush, chemical circulation, packing pre- &amp; post-treatment and tank gamma-jet – planned, executed and validated by one team.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decontamination fits in oil &amp; gas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4178808" y="1280160"/>
            <a:ext cx="3840480" cy="658368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4178808" y="128016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1600" dirty="0"/>
          </a:p>
        </p:txBody>
      </p:sp>
      <p:sp>
        <p:nvSpPr>
          <p:cNvPr id="5" name="!!bar_v"/>
          <p:cNvSpPr/>
          <p:nvPr/>
        </p:nvSpPr>
        <p:spPr>
          <a:xfrm>
            <a:off x="6099048" y="1938528"/>
            <a:ext cx="0" cy="256032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1783080" y="2194560"/>
            <a:ext cx="8641080" cy="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178308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50292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606040"/>
            <a:ext cx="566928" cy="56692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128016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1350" dirty="0"/>
          </a:p>
        </p:txBody>
      </p:sp>
      <p:sp>
        <p:nvSpPr>
          <p:cNvPr id="11" name="!!lf0_0"/>
          <p:cNvSpPr/>
          <p:nvPr/>
        </p:nvSpPr>
        <p:spPr>
          <a:xfrm>
            <a:off x="50292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68580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250" dirty="0"/>
          </a:p>
        </p:txBody>
      </p:sp>
      <p:sp>
        <p:nvSpPr>
          <p:cNvPr id="13" name="!!mk0_0"/>
          <p:cNvSpPr/>
          <p:nvPr/>
        </p:nvSpPr>
        <p:spPr>
          <a:xfrm>
            <a:off x="267919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3794760"/>
            <a:ext cx="164592" cy="164592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50292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68580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250" dirty="0"/>
          </a:p>
        </p:txBody>
      </p:sp>
      <p:sp>
        <p:nvSpPr>
          <p:cNvPr id="17" name="!!mk0_1"/>
          <p:cNvSpPr/>
          <p:nvPr/>
        </p:nvSpPr>
        <p:spPr>
          <a:xfrm>
            <a:off x="267919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488" y="4453128"/>
            <a:ext cx="164592" cy="164592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50292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68580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250" dirty="0"/>
          </a:p>
        </p:txBody>
      </p:sp>
      <p:sp>
        <p:nvSpPr>
          <p:cNvPr id="21" name="!!mk0_2"/>
          <p:cNvSpPr/>
          <p:nvPr/>
        </p:nvSpPr>
        <p:spPr>
          <a:xfrm>
            <a:off x="267919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488" y="5111496"/>
            <a:ext cx="164592" cy="164592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466344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338328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606040"/>
            <a:ext cx="566928" cy="56692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416052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1350" dirty="0"/>
          </a:p>
        </p:txBody>
      </p:sp>
      <p:sp>
        <p:nvSpPr>
          <p:cNvPr id="27" name="!!lf1_0"/>
          <p:cNvSpPr/>
          <p:nvPr/>
        </p:nvSpPr>
        <p:spPr>
          <a:xfrm>
            <a:off x="338328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356616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250" dirty="0"/>
          </a:p>
        </p:txBody>
      </p:sp>
      <p:sp>
        <p:nvSpPr>
          <p:cNvPr id="29" name="!!mk1_0"/>
          <p:cNvSpPr/>
          <p:nvPr/>
        </p:nvSpPr>
        <p:spPr>
          <a:xfrm>
            <a:off x="555955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1848" y="3794760"/>
            <a:ext cx="164592" cy="164592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338328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356616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250" dirty="0"/>
          </a:p>
        </p:txBody>
      </p:sp>
      <p:sp>
        <p:nvSpPr>
          <p:cNvPr id="33" name="!!mk1_1"/>
          <p:cNvSpPr/>
          <p:nvPr/>
        </p:nvSpPr>
        <p:spPr>
          <a:xfrm>
            <a:off x="555955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41848" y="4453128"/>
            <a:ext cx="164592" cy="164592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338328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356616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250" dirty="0"/>
          </a:p>
        </p:txBody>
      </p:sp>
      <p:sp>
        <p:nvSpPr>
          <p:cNvPr id="37" name="!!mk1_2"/>
          <p:cNvSpPr/>
          <p:nvPr/>
        </p:nvSpPr>
        <p:spPr>
          <a:xfrm>
            <a:off x="555955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41848" y="5111496"/>
            <a:ext cx="164592" cy="164592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754380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626364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606040"/>
            <a:ext cx="566928" cy="56692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704088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1350" dirty="0"/>
          </a:p>
        </p:txBody>
      </p:sp>
      <p:sp>
        <p:nvSpPr>
          <p:cNvPr id="43" name="!!lf2_0"/>
          <p:cNvSpPr/>
          <p:nvPr/>
        </p:nvSpPr>
        <p:spPr>
          <a:xfrm>
            <a:off x="626364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44" name="!!lft2_0"/>
          <p:cNvSpPr txBox="1"/>
          <p:nvPr/>
        </p:nvSpPr>
        <p:spPr>
          <a:xfrm>
            <a:off x="644652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250" dirty="0"/>
          </a:p>
        </p:txBody>
      </p:sp>
      <p:sp>
        <p:nvSpPr>
          <p:cNvPr id="45" name="!!mk2_0"/>
          <p:cNvSpPr/>
          <p:nvPr/>
        </p:nvSpPr>
        <p:spPr>
          <a:xfrm>
            <a:off x="843991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6" name="!!mki2_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2208" y="3794760"/>
            <a:ext cx="164592" cy="164592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626364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48" name="!!lft2_1"/>
          <p:cNvSpPr txBox="1"/>
          <p:nvPr/>
        </p:nvSpPr>
        <p:spPr>
          <a:xfrm>
            <a:off x="644652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250" dirty="0"/>
          </a:p>
        </p:txBody>
      </p:sp>
      <p:sp>
        <p:nvSpPr>
          <p:cNvPr id="49" name="!!mk2_1"/>
          <p:cNvSpPr/>
          <p:nvPr/>
        </p:nvSpPr>
        <p:spPr>
          <a:xfrm>
            <a:off x="843991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2_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2208" y="4453128"/>
            <a:ext cx="164592" cy="164592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626364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C74BC"/>
            </a:solidFill>
            <a:prstDash val="solid"/>
          </a:ln>
        </p:spPr>
      </p:sp>
      <p:sp>
        <p:nvSpPr>
          <p:cNvPr id="52" name="!!lft2_2"/>
          <p:cNvSpPr txBox="1"/>
          <p:nvPr/>
        </p:nvSpPr>
        <p:spPr>
          <a:xfrm>
            <a:off x="644652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250" dirty="0"/>
          </a:p>
        </p:txBody>
      </p:sp>
      <p:sp>
        <p:nvSpPr>
          <p:cNvPr id="53" name="!!mk2_2"/>
          <p:cNvSpPr/>
          <p:nvPr/>
        </p:nvSpPr>
        <p:spPr>
          <a:xfrm>
            <a:off x="843991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2_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22208" y="5111496"/>
            <a:ext cx="164592" cy="164592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0424160" y="2194560"/>
            <a:ext cx="0" cy="3246120"/>
          </a:xfrm>
          <a:prstGeom prst="line">
            <a:avLst/>
          </a:prstGeom>
          <a:noFill/>
          <a:ln w="31750">
            <a:solidFill>
              <a:srgbClr val="C6D3E0"/>
            </a:solidFill>
            <a:prstDash val="solid"/>
          </a:ln>
        </p:spPr>
      </p:sp>
      <p:sp>
        <p:nvSpPr>
          <p:cNvPr id="56" name="!!br3"/>
          <p:cNvSpPr/>
          <p:nvPr/>
        </p:nvSpPr>
        <p:spPr>
          <a:xfrm>
            <a:off x="9144000" y="2468880"/>
            <a:ext cx="2560320" cy="868680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57" name="!!bri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81160" y="2606040"/>
            <a:ext cx="566928" cy="56692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9921240" y="2468880"/>
            <a:ext cx="1755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1350" dirty="0"/>
          </a:p>
        </p:txBody>
      </p:sp>
      <p:sp>
        <p:nvSpPr>
          <p:cNvPr id="59" name="!!lf3_0"/>
          <p:cNvSpPr/>
          <p:nvPr/>
        </p:nvSpPr>
        <p:spPr>
          <a:xfrm>
            <a:off x="9144000" y="3611880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0" name="!!lft3_0"/>
          <p:cNvSpPr txBox="1"/>
          <p:nvPr/>
        </p:nvSpPr>
        <p:spPr>
          <a:xfrm>
            <a:off x="9326880" y="361188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250" dirty="0"/>
          </a:p>
        </p:txBody>
      </p:sp>
      <p:sp>
        <p:nvSpPr>
          <p:cNvPr id="61" name="!!mk3_0"/>
          <p:cNvSpPr/>
          <p:nvPr/>
        </p:nvSpPr>
        <p:spPr>
          <a:xfrm>
            <a:off x="11320272" y="3712464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3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02568" y="3794760"/>
            <a:ext cx="164592" cy="164592"/>
          </a:xfrm>
          <a:prstGeom prst="rect">
            <a:avLst/>
          </a:prstGeom>
        </p:spPr>
      </p:pic>
      <p:sp>
        <p:nvSpPr>
          <p:cNvPr id="63" name="!!lf3_1"/>
          <p:cNvSpPr/>
          <p:nvPr/>
        </p:nvSpPr>
        <p:spPr>
          <a:xfrm>
            <a:off x="9144000" y="4270248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4" name="!!lft3_1"/>
          <p:cNvSpPr txBox="1"/>
          <p:nvPr/>
        </p:nvSpPr>
        <p:spPr>
          <a:xfrm>
            <a:off x="9326880" y="42702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250" dirty="0"/>
          </a:p>
        </p:txBody>
      </p:sp>
      <p:sp>
        <p:nvSpPr>
          <p:cNvPr id="65" name="!!mk3_1"/>
          <p:cNvSpPr/>
          <p:nvPr/>
        </p:nvSpPr>
        <p:spPr>
          <a:xfrm>
            <a:off x="11320272" y="4370832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6" name="!!mki3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02568" y="4453128"/>
            <a:ext cx="164592" cy="164592"/>
          </a:xfrm>
          <a:prstGeom prst="rect">
            <a:avLst/>
          </a:prstGeom>
        </p:spPr>
      </p:pic>
      <p:sp>
        <p:nvSpPr>
          <p:cNvPr id="67" name="!!lf3_2"/>
          <p:cNvSpPr/>
          <p:nvPr/>
        </p:nvSpPr>
        <p:spPr>
          <a:xfrm>
            <a:off x="9144000" y="4928616"/>
            <a:ext cx="25603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B54A"/>
            </a:solidFill>
            <a:prstDash val="solid"/>
          </a:ln>
        </p:spPr>
      </p:sp>
      <p:sp>
        <p:nvSpPr>
          <p:cNvPr id="68" name="!!lft3_2"/>
          <p:cNvSpPr txBox="1"/>
          <p:nvPr/>
        </p:nvSpPr>
        <p:spPr>
          <a:xfrm>
            <a:off x="9326880" y="492861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250" dirty="0"/>
          </a:p>
        </p:txBody>
      </p:sp>
      <p:sp>
        <p:nvSpPr>
          <p:cNvPr id="69" name="!!mk3_2"/>
          <p:cNvSpPr/>
          <p:nvPr/>
        </p:nvSpPr>
        <p:spPr>
          <a:xfrm>
            <a:off x="11320272" y="5029200"/>
            <a:ext cx="329184" cy="32918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0" name="!!mki3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02568" y="5111496"/>
            <a:ext cx="164592" cy="164592"/>
          </a:xfrm>
          <a:prstGeom prst="rect">
            <a:avLst/>
          </a:prstGeom>
        </p:spPr>
      </p:pic>
      <p:sp>
        <p:nvSpPr>
          <p:cNvPr id="71" name="s29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50000"/>
            </a:avLst>
          </a:prstGeom>
          <a:solidFill>
            <a:srgbClr val="EAF6EC"/>
          </a:solidFill>
          <a:ln/>
        </p:spPr>
      </p:sp>
      <p:sp>
        <p:nvSpPr>
          <p:cNvPr id="72" name="t30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holds hydrocarbons, H₂S or pyrophoric scale – and needs decontamination before entry.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00"/>
                            </p:stCondLst>
                            <p:childTnLst>
                              <p:par>
                                <p:cTn id="9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500"/>
                            </p:stCondLst>
                            <p:childTnLst>
                              <p:par>
                                <p:cTn id="1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500"/>
                            </p:stCondLst>
                            <p:childTnLst>
                              <p:par>
                                <p:cTn id="19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1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6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1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indefinite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7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2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3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7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7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8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2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3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7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8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2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3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7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8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2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3" dur="4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7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8" dur="4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2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3" dur="4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7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8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3" dur="4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7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2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3" dur="4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7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4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2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3" dur="4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4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7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8" dur="4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0" fill="hold">
                            <p:stCondLst>
                              <p:cond delay="400"/>
                            </p:stCondLst>
                            <p:childTnLst>
                              <p:par>
                                <p:cTn id="3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3" dur="7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4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5" dur="7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7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9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0" dur="7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1" fill="hold">
                            <p:stCondLst>
                              <p:cond delay="1100"/>
                            </p:stCondLst>
                            <p:childTnLst>
                              <p:par>
                                <p:cTn id="362" presetID="6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3" dur="40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5" dur="4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7" dur="40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6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9" dur="4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1" dur="40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3" dur="40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5" dur="400" autoRev="1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6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7" dur="40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78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9" dur="400" autoRev="1" fill="hold"/>
                                        <p:tgtEl>
                                          <p:spTgt spid="5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0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1" dur="4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2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3" dur="400" autoRev="1" fill="hold"/>
                                        <p:tgtEl>
                                          <p:spTgt spid="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84" presetID="6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5" dur="400" autoRev="1" fill="hold"/>
                                        <p:tgtEl>
                                          <p:spTgt spid="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10" grpId="0" animBg="1"/>
      <p:bldP spid="24" grpId="0" animBg="1"/>
      <p:bldP spid="26" grpId="0" animBg="1"/>
      <p:bldP spid="40" grpId="0" animBg="1"/>
      <p:bldP spid="42" grpId="0" animBg="1"/>
      <p:bldP spid="56" grpId="0" animBg="1"/>
      <p:bldP spid="58" grpId="0" animBg="1"/>
      <p:bldP spid="7" grpId="0" animBg="1"/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  <p:bldP spid="27" grpId="0" animBg="1"/>
      <p:bldP spid="28" grpId="0" animBg="1"/>
      <p:bldP spid="31" grpId="0" animBg="1"/>
      <p:bldP spid="32" grpId="0" animBg="1"/>
      <p:bldP spid="35" grpId="0" animBg="1"/>
      <p:bldP spid="36" grpId="0" animBg="1"/>
      <p:bldP spid="39" grpId="0" animBg="1"/>
      <p:bldP spid="43" grpId="0" animBg="1"/>
      <p:bldP spid="44" grpId="0" animBg="1"/>
      <p:bldP spid="47" grpId="0" animBg="1"/>
      <p:bldP spid="48" grpId="0" animBg="1"/>
      <p:bldP spid="51" grpId="0" animBg="1"/>
      <p:bldP spid="52" grpId="0" animBg="1"/>
      <p:bldP spid="55" grpId="0" animBg="1"/>
      <p:bldP spid="59" grpId="0" animBg="1"/>
      <p:bldP spid="60" grpId="0" animBg="1"/>
      <p:bldP spid="63" grpId="0" animBg="1"/>
      <p:bldP spid="64" grpId="0" animBg="1"/>
      <p:bldP spid="67" grpId="0" animBg="1"/>
      <p:bldP spid="68" grpId="0" animBg="1"/>
      <p:bldP spid="13" grpId="0" animBg="1"/>
      <p:bldP spid="17" grpId="0" animBg="1"/>
      <p:bldP spid="21" grpId="0" animBg="1"/>
      <p:bldP spid="29" grpId="0" animBg="1"/>
      <p:bldP spid="33" grpId="0" animBg="1"/>
      <p:bldP spid="37" grpId="0" animBg="1"/>
      <p:bldP spid="45" grpId="0" animBg="1"/>
      <p:bldP spid="49" grpId="0" animBg="1"/>
      <p:bldP spid="53" grpId="0" animBg="1"/>
      <p:bldP spid="61" grpId="0" animBg="1"/>
      <p:bldP spid="65" grpId="0" animBg="1"/>
      <p:bldP spid="69" grpId="0" animBg="1"/>
      <p:bldP spid="71" grpId="0" animBg="1"/>
      <p:bldP spid="72" grpId="0" animBg="1"/>
      <p:bldP spid="13" grpId="2" animBg="1"/>
      <p:bldP spid="17" grpId="2" animBg="1"/>
      <p:bldP spid="21" grpId="2" animBg="1"/>
      <p:bldP spid="29" grpId="2" animBg="1"/>
      <p:bldP spid="33" grpId="2" animBg="1"/>
      <p:bldP spid="37" grpId="2" animBg="1"/>
      <p:bldP spid="45" grpId="2" animBg="1"/>
      <p:bldP spid="49" grpId="2" animBg="1"/>
      <p:bldP spid="53" grpId="2" animBg="1"/>
      <p:bldP spid="61" grpId="2" animBg="1"/>
      <p:bldP spid="65" grpId="2" animBg="1"/>
      <p:bldP spid="69" grpId="2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Upstream – production &amp; gas processing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12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13" name="!!bri1" descr="preencoded.png">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14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15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16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17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1_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19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0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21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1_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23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4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25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!!mki1_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29" name="!!bri2" descr="preencoded.png">    </p:cNvPr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2_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2_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!!mki2_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0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0" name="!!lft0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1600" dirty="0"/>
          </a:p>
        </p:txBody>
      </p:sp>
      <p:sp>
        <p:nvSpPr>
          <p:cNvPr id="61" name="!!mk0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0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31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Separators, heater-treaters, desalters</a:t>
            </a:r>
            <a:endParaRPr lang="en-US" sz="1400" dirty="0"/>
          </a:p>
        </p:txBody>
      </p:sp>
      <p:sp>
        <p:nvSpPr>
          <p:cNvPr id="64" name="s32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5" name="t33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34"/>
          <p:cNvSpPr/>
          <p:nvPr/>
        </p:nvSpPr>
        <p:spPr>
          <a:xfrm>
            <a:off x="477774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7" name="t35"/>
          <p:cNvSpPr txBox="1"/>
          <p:nvPr/>
        </p:nvSpPr>
        <p:spPr>
          <a:xfrm>
            <a:off x="477774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36"/>
          <p:cNvSpPr/>
          <p:nvPr/>
        </p:nvSpPr>
        <p:spPr>
          <a:xfrm>
            <a:off x="5440680" y="192024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9" name="t37"/>
          <p:cNvSpPr txBox="1"/>
          <p:nvPr/>
        </p:nvSpPr>
        <p:spPr>
          <a:xfrm>
            <a:off x="5440680" y="192024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0" name="s38"/>
          <p:cNvSpPr/>
          <p:nvPr/>
        </p:nvSpPr>
        <p:spPr>
          <a:xfrm>
            <a:off x="6336792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71" name="t39"/>
          <p:cNvSpPr txBox="1"/>
          <p:nvPr/>
        </p:nvSpPr>
        <p:spPr>
          <a:xfrm>
            <a:off x="6336792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72" name="!!lf0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3" name="!!lft0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1600" dirty="0"/>
          </a:p>
        </p:txBody>
      </p:sp>
      <p:sp>
        <p:nvSpPr>
          <p:cNvPr id="74" name="!!mk0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5" name="!!mki0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40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Slug catchers, amine, glycol, condensate stabilisers</a:t>
            </a:r>
            <a:endParaRPr lang="en-US" sz="1400" dirty="0"/>
          </a:p>
        </p:txBody>
      </p:sp>
      <p:sp>
        <p:nvSpPr>
          <p:cNvPr id="77" name="s41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78" name="t42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43"/>
          <p:cNvSpPr/>
          <p:nvPr/>
        </p:nvSpPr>
        <p:spPr>
          <a:xfrm>
            <a:off x="477774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80" name="t44"/>
          <p:cNvSpPr txBox="1"/>
          <p:nvPr/>
        </p:nvSpPr>
        <p:spPr>
          <a:xfrm>
            <a:off x="477774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81" name="s45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82" name="t46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3" name="s47"/>
          <p:cNvSpPr/>
          <p:nvPr/>
        </p:nvSpPr>
        <p:spPr>
          <a:xfrm>
            <a:off x="664768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84" name="t48"/>
          <p:cNvSpPr txBox="1"/>
          <p:nvPr/>
        </p:nvSpPr>
        <p:spPr>
          <a:xfrm>
            <a:off x="664768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5" name="!!lf0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86" name="!!lft0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1600" dirty="0"/>
          </a:p>
        </p:txBody>
      </p:sp>
      <p:sp>
        <p:nvSpPr>
          <p:cNvPr id="87" name="!!mk0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8" name="!!mki0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49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Produced-water and condensate tanks</a:t>
            </a:r>
            <a:endParaRPr lang="en-US" sz="1400" dirty="0"/>
          </a:p>
        </p:txBody>
      </p:sp>
      <p:sp>
        <p:nvSpPr>
          <p:cNvPr id="90" name="s50"/>
          <p:cNvSpPr/>
          <p:nvPr/>
        </p:nvSpPr>
        <p:spPr>
          <a:xfrm>
            <a:off x="4114800" y="475488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91" name="t51"/>
          <p:cNvSpPr txBox="1"/>
          <p:nvPr/>
        </p:nvSpPr>
        <p:spPr>
          <a:xfrm>
            <a:off x="4114800" y="475488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92" name="s52"/>
          <p:cNvSpPr/>
          <p:nvPr/>
        </p:nvSpPr>
        <p:spPr>
          <a:xfrm>
            <a:off x="501091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3" name="t53"/>
          <p:cNvSpPr txBox="1"/>
          <p:nvPr/>
        </p:nvSpPr>
        <p:spPr>
          <a:xfrm>
            <a:off x="501091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4" name="s54"/>
          <p:cNvSpPr/>
          <p:nvPr/>
        </p:nvSpPr>
        <p:spPr>
          <a:xfrm>
            <a:off x="5673852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95" name="t55"/>
          <p:cNvSpPr txBox="1"/>
          <p:nvPr/>
        </p:nvSpPr>
        <p:spPr>
          <a:xfrm>
            <a:off x="5673852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Midstream – transport &amp; storage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8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29" name="!!bri2" descr="preencoded.png">    </p:cNvPr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30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31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2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33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2_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35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36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37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2_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39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0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41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!!mki2_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1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60" name="!!lft1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1600" dirty="0"/>
          </a:p>
        </p:txBody>
      </p:sp>
      <p:sp>
        <p:nvSpPr>
          <p:cNvPr id="61" name="!!mk1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1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56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traps, receivers and slug catchers</a:t>
            </a:r>
            <a:endParaRPr lang="en-US" sz="1400" dirty="0"/>
          </a:p>
        </p:txBody>
      </p:sp>
      <p:sp>
        <p:nvSpPr>
          <p:cNvPr id="64" name="s57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65" name="t58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6" name="s59"/>
          <p:cNvSpPr/>
          <p:nvPr/>
        </p:nvSpPr>
        <p:spPr>
          <a:xfrm>
            <a:off x="4777740" y="1920240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7" name="t60"/>
          <p:cNvSpPr txBox="1"/>
          <p:nvPr/>
        </p:nvSpPr>
        <p:spPr>
          <a:xfrm>
            <a:off x="4777740" y="1920240"/>
            <a:ext cx="1408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Pigging debris</a:t>
            </a:r>
            <a:endParaRPr lang="en-US" sz="1200" dirty="0"/>
          </a:p>
        </p:txBody>
      </p:sp>
      <p:sp>
        <p:nvSpPr>
          <p:cNvPr id="68" name="s61"/>
          <p:cNvSpPr/>
          <p:nvPr/>
        </p:nvSpPr>
        <p:spPr>
          <a:xfrm>
            <a:off x="6295644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9" name="t62"/>
          <p:cNvSpPr txBox="1"/>
          <p:nvPr/>
        </p:nvSpPr>
        <p:spPr>
          <a:xfrm>
            <a:off x="6295644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!!lf1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71" name="!!lft1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1600" dirty="0"/>
          </a:p>
        </p:txBody>
      </p:sp>
      <p:sp>
        <p:nvSpPr>
          <p:cNvPr id="72" name="!!mk1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3" name="!!mki1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63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and product storage tanks</a:t>
            </a:r>
            <a:endParaRPr lang="en-US" sz="1400" dirty="0"/>
          </a:p>
        </p:txBody>
      </p:sp>
      <p:sp>
        <p:nvSpPr>
          <p:cNvPr id="75" name="s64"/>
          <p:cNvSpPr/>
          <p:nvPr/>
        </p:nvSpPr>
        <p:spPr>
          <a:xfrm>
            <a:off x="4114800" y="3337560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76" name="t65"/>
          <p:cNvSpPr txBox="1"/>
          <p:nvPr/>
        </p:nvSpPr>
        <p:spPr>
          <a:xfrm>
            <a:off x="4114800" y="333756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77" name="s66"/>
          <p:cNvSpPr/>
          <p:nvPr/>
        </p:nvSpPr>
        <p:spPr>
          <a:xfrm>
            <a:off x="5010912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78" name="t67"/>
          <p:cNvSpPr txBox="1"/>
          <p:nvPr/>
        </p:nvSpPr>
        <p:spPr>
          <a:xfrm>
            <a:off x="5010912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79" name="s68"/>
          <p:cNvSpPr/>
          <p:nvPr/>
        </p:nvSpPr>
        <p:spPr>
          <a:xfrm>
            <a:off x="598474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0" name="t69"/>
          <p:cNvSpPr txBox="1"/>
          <p:nvPr/>
        </p:nvSpPr>
        <p:spPr>
          <a:xfrm>
            <a:off x="598474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1" name="s70"/>
          <p:cNvSpPr/>
          <p:nvPr/>
        </p:nvSpPr>
        <p:spPr>
          <a:xfrm>
            <a:off x="6647688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82" name="t71"/>
          <p:cNvSpPr txBox="1"/>
          <p:nvPr/>
        </p:nvSpPr>
        <p:spPr>
          <a:xfrm>
            <a:off x="6647688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83" name="!!lf1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84" name="!!lft1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1600" dirty="0"/>
          </a:p>
        </p:txBody>
      </p:sp>
      <p:sp>
        <p:nvSpPr>
          <p:cNvPr id="85" name="!!mk1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6" name="!!mki1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7" name="t72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Fractionation columns, LPG spheres and bullets</a:t>
            </a:r>
            <a:endParaRPr lang="en-US" sz="1400" dirty="0"/>
          </a:p>
        </p:txBody>
      </p:sp>
      <p:sp>
        <p:nvSpPr>
          <p:cNvPr id="88" name="s73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9" name="t74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90" name="s75"/>
          <p:cNvSpPr/>
          <p:nvPr/>
        </p:nvSpPr>
        <p:spPr>
          <a:xfrm>
            <a:off x="4777740" y="47548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91" name="t76"/>
          <p:cNvSpPr txBox="1"/>
          <p:nvPr/>
        </p:nvSpPr>
        <p:spPr>
          <a:xfrm>
            <a:off x="4777740" y="47548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92" name="s77"/>
          <p:cNvSpPr/>
          <p:nvPr/>
        </p:nvSpPr>
        <p:spPr>
          <a:xfrm>
            <a:off x="5984748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3" name="t78"/>
          <p:cNvSpPr txBox="1"/>
          <p:nvPr/>
        </p:nvSpPr>
        <p:spPr>
          <a:xfrm>
            <a:off x="5984748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Downstream – refining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/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spine3"/>
          <p:cNvSpPr/>
          <p:nvPr/>
        </p:nvSpPr>
        <p:spPr>
          <a:xfrm>
            <a:off x="11311128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4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45" name="!!bri3" descr="preencoded.png">    </p:cNvPr>
          <p:cNvPicPr>
            <a:picLocks noChangeAspect="1"/>
          </p:cNvPicPr>
          <p:nvPr/>
        </p:nvPicPr>
        <p:blipFill>
          <a:blip r:embed="rId10">
            <a:alphaModFix amt="40000"/>
          </a:blip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46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47" name="!!lf3_0"/>
          <p:cNvSpPr/>
          <p:nvPr/>
        </p:nvSpPr>
        <p:spPr>
          <a:xfrm>
            <a:off x="10927080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48" name="!!lft3_0"/>
          <p:cNvSpPr txBox="1"/>
          <p:nvPr/>
        </p:nvSpPr>
        <p:spPr>
          <a:xfrm>
            <a:off x="10981944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380" dirty="0"/>
          </a:p>
        </p:txBody>
      </p:sp>
      <p:sp>
        <p:nvSpPr>
          <p:cNvPr id="49" name="!!mk3_0"/>
          <p:cNvSpPr/>
          <p:nvPr/>
        </p:nvSpPr>
        <p:spPr>
          <a:xfrm>
            <a:off x="11579962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3_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04650" y="1915668"/>
            <a:ext cx="49378" cy="49378"/>
          </a:xfrm>
          <a:prstGeom prst="rect">
            <a:avLst/>
          </a:prstGeom>
        </p:spPr>
      </p:pic>
      <p:sp>
        <p:nvSpPr>
          <p:cNvPr id="51" name="!!lf3_1"/>
          <p:cNvSpPr/>
          <p:nvPr/>
        </p:nvSpPr>
        <p:spPr>
          <a:xfrm>
            <a:off x="10927080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2" name="!!lft3_1"/>
          <p:cNvSpPr txBox="1"/>
          <p:nvPr/>
        </p:nvSpPr>
        <p:spPr>
          <a:xfrm>
            <a:off x="10981944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380" dirty="0"/>
          </a:p>
        </p:txBody>
      </p:sp>
      <p:sp>
        <p:nvSpPr>
          <p:cNvPr id="53" name="!!mk3_1"/>
          <p:cNvSpPr/>
          <p:nvPr/>
        </p:nvSpPr>
        <p:spPr>
          <a:xfrm>
            <a:off x="11579962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3_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4650" y="2113178"/>
            <a:ext cx="49378" cy="49378"/>
          </a:xfrm>
          <a:prstGeom prst="rect">
            <a:avLst/>
          </a:prstGeom>
        </p:spPr>
      </p:pic>
      <p:sp>
        <p:nvSpPr>
          <p:cNvPr id="55" name="!!lf3_2"/>
          <p:cNvSpPr/>
          <p:nvPr/>
        </p:nvSpPr>
        <p:spPr>
          <a:xfrm>
            <a:off x="10927080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56" name="!!lft3_2"/>
          <p:cNvSpPr txBox="1"/>
          <p:nvPr/>
        </p:nvSpPr>
        <p:spPr>
          <a:xfrm>
            <a:off x="10981944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380" dirty="0"/>
          </a:p>
        </p:txBody>
      </p:sp>
      <p:sp>
        <p:nvSpPr>
          <p:cNvPr id="57" name="!!mk3_2"/>
          <p:cNvSpPr/>
          <p:nvPr/>
        </p:nvSpPr>
        <p:spPr>
          <a:xfrm>
            <a:off x="11579962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8" name="!!mki3_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604650" y="2310689"/>
            <a:ext cx="49378" cy="49378"/>
          </a:xfrm>
          <a:prstGeom prst="rect">
            <a:avLst/>
          </a:prstGeom>
        </p:spPr>
      </p:pic>
      <p:sp>
        <p:nvSpPr>
          <p:cNvPr id="59" name="!!lf2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0" name="!!lft2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1600" dirty="0"/>
          </a:p>
        </p:txBody>
      </p:sp>
      <p:sp>
        <p:nvSpPr>
          <p:cNvPr id="61" name="!!mk2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2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79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CDU, VDU, desalter, pre-heat trains</a:t>
            </a:r>
            <a:endParaRPr lang="en-US" sz="1400" dirty="0"/>
          </a:p>
        </p:txBody>
      </p:sp>
      <p:sp>
        <p:nvSpPr>
          <p:cNvPr id="64" name="s80"/>
          <p:cNvSpPr/>
          <p:nvPr/>
        </p:nvSpPr>
        <p:spPr>
          <a:xfrm>
            <a:off x="4114800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65" name="t81"/>
          <p:cNvSpPr txBox="1"/>
          <p:nvPr/>
        </p:nvSpPr>
        <p:spPr>
          <a:xfrm>
            <a:off x="4114800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66" name="s82"/>
          <p:cNvSpPr/>
          <p:nvPr/>
        </p:nvSpPr>
        <p:spPr>
          <a:xfrm>
            <a:off x="477774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67" name="t83"/>
          <p:cNvSpPr txBox="1"/>
          <p:nvPr/>
        </p:nvSpPr>
        <p:spPr>
          <a:xfrm>
            <a:off x="477774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8" name="s84"/>
          <p:cNvSpPr/>
          <p:nvPr/>
        </p:nvSpPr>
        <p:spPr>
          <a:xfrm>
            <a:off x="575157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9" name="t85"/>
          <p:cNvSpPr txBox="1"/>
          <p:nvPr/>
        </p:nvSpPr>
        <p:spPr>
          <a:xfrm>
            <a:off x="575157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0" name="s86"/>
          <p:cNvSpPr/>
          <p:nvPr/>
        </p:nvSpPr>
        <p:spPr>
          <a:xfrm>
            <a:off x="6414516" y="1920240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71" name="t87"/>
          <p:cNvSpPr txBox="1"/>
          <p:nvPr/>
        </p:nvSpPr>
        <p:spPr>
          <a:xfrm>
            <a:off x="6414516" y="1920240"/>
            <a:ext cx="10195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72" name="!!lf2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3" name="!!lft2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1600" dirty="0"/>
          </a:p>
        </p:txBody>
      </p:sp>
      <p:sp>
        <p:nvSpPr>
          <p:cNvPr id="74" name="!!mk2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5" name="!!mki2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6" name="t88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Hydrotreaters, hydrocracker, FCC, coker</a:t>
            </a:r>
            <a:endParaRPr lang="en-US" sz="1400" dirty="0"/>
          </a:p>
        </p:txBody>
      </p:sp>
      <p:sp>
        <p:nvSpPr>
          <p:cNvPr id="77" name="s89"/>
          <p:cNvSpPr/>
          <p:nvPr/>
        </p:nvSpPr>
        <p:spPr>
          <a:xfrm>
            <a:off x="411480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78" name="t90"/>
          <p:cNvSpPr txBox="1"/>
          <p:nvPr/>
        </p:nvSpPr>
        <p:spPr>
          <a:xfrm>
            <a:off x="411480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9" name="s91"/>
          <p:cNvSpPr/>
          <p:nvPr/>
        </p:nvSpPr>
        <p:spPr>
          <a:xfrm>
            <a:off x="4777740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80" name="t92"/>
          <p:cNvSpPr txBox="1"/>
          <p:nvPr/>
        </p:nvSpPr>
        <p:spPr>
          <a:xfrm>
            <a:off x="4777740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81" name="s93"/>
          <p:cNvSpPr/>
          <p:nvPr/>
        </p:nvSpPr>
        <p:spPr>
          <a:xfrm>
            <a:off x="5440680" y="3337560"/>
            <a:ext cx="630936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82" name="t94"/>
          <p:cNvSpPr txBox="1"/>
          <p:nvPr/>
        </p:nvSpPr>
        <p:spPr>
          <a:xfrm>
            <a:off x="5440680" y="3337560"/>
            <a:ext cx="630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</a:t>
            </a:r>
            <a:endParaRPr lang="en-US" sz="1200" dirty="0"/>
          </a:p>
        </p:txBody>
      </p:sp>
      <p:sp>
        <p:nvSpPr>
          <p:cNvPr id="83" name="s95"/>
          <p:cNvSpPr/>
          <p:nvPr/>
        </p:nvSpPr>
        <p:spPr>
          <a:xfrm>
            <a:off x="6181344" y="333756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4" name="t96"/>
          <p:cNvSpPr txBox="1"/>
          <p:nvPr/>
        </p:nvSpPr>
        <p:spPr>
          <a:xfrm>
            <a:off x="6181344" y="333756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5" name="!!lf2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86" name="!!lft2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1600" dirty="0"/>
          </a:p>
        </p:txBody>
      </p:sp>
      <p:sp>
        <p:nvSpPr>
          <p:cNvPr id="87" name="!!mk2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8" name="!!mki2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9" name="t97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 strippers, amine regenerators, SRU / TGT</a:t>
            </a:r>
            <a:endParaRPr lang="en-US" sz="1400" dirty="0"/>
          </a:p>
        </p:txBody>
      </p:sp>
      <p:sp>
        <p:nvSpPr>
          <p:cNvPr id="90" name="s98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1" name="t99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92" name="s100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93" name="t101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4" name="s102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5" name="t103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Petrochemicals – chemicals &amp; polymers</a:t>
            </a:r>
            <a:endParaRPr lang="en-US" sz="2800" dirty="0"/>
          </a:p>
        </p:txBody>
      </p:sp>
      <p:sp>
        <p:nvSpPr>
          <p:cNvPr id="3" name="!!root"/>
          <p:cNvSpPr/>
          <p:nvPr/>
        </p:nvSpPr>
        <p:spPr>
          <a:xfrm>
            <a:off x="9437522" y="1161288"/>
            <a:ext cx="1152144" cy="197510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4" name="!!root_t"/>
          <p:cNvSpPr txBox="1"/>
          <p:nvPr/>
        </p:nvSpPr>
        <p:spPr>
          <a:xfrm>
            <a:off x="9437522" y="1161288"/>
            <a:ext cx="1152144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&amp; GAS VALUE CHAIN</a:t>
            </a:r>
            <a:endParaRPr lang="en-US" sz="480" dirty="0"/>
          </a:p>
        </p:txBody>
      </p:sp>
      <p:sp>
        <p:nvSpPr>
          <p:cNvPr id="5" name="!!bar_v"/>
          <p:cNvSpPr/>
          <p:nvPr/>
        </p:nvSpPr>
        <p:spPr>
          <a:xfrm>
            <a:off x="10013594" y="1358798"/>
            <a:ext cx="0" cy="7681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6" name="!!bar_h"/>
          <p:cNvSpPr/>
          <p:nvPr/>
        </p:nvSpPr>
        <p:spPr>
          <a:xfrm>
            <a:off x="8718804" y="1435608"/>
            <a:ext cx="2592324" cy="0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7" name="!!spine0"/>
          <p:cNvSpPr/>
          <p:nvPr/>
        </p:nvSpPr>
        <p:spPr>
          <a:xfrm>
            <a:off x="8718804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8" name="!!br0"/>
          <p:cNvSpPr/>
          <p:nvPr/>
        </p:nvSpPr>
        <p:spPr>
          <a:xfrm>
            <a:off x="8334756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9" name="!!bri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8375904" y="1559052"/>
            <a:ext cx="170078" cy="170078"/>
          </a:xfrm>
          <a:prstGeom prst="rect">
            <a:avLst/>
          </a:prstGeom>
        </p:spPr>
      </p:pic>
      <p:sp>
        <p:nvSpPr>
          <p:cNvPr id="10" name="!!brt0"/>
          <p:cNvSpPr txBox="1"/>
          <p:nvPr/>
        </p:nvSpPr>
        <p:spPr>
          <a:xfrm>
            <a:off x="8567928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gas processing</a:t>
            </a:r>
            <a:endParaRPr lang="en-US" sz="410" dirty="0"/>
          </a:p>
        </p:txBody>
      </p:sp>
      <p:sp>
        <p:nvSpPr>
          <p:cNvPr id="11" name="!!lf0_0"/>
          <p:cNvSpPr/>
          <p:nvPr/>
        </p:nvSpPr>
        <p:spPr>
          <a:xfrm>
            <a:off x="8334756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2" name="!!lft0_0"/>
          <p:cNvSpPr txBox="1"/>
          <p:nvPr/>
        </p:nvSpPr>
        <p:spPr>
          <a:xfrm>
            <a:off x="8389620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production stations</a:t>
            </a:r>
            <a:endParaRPr lang="en-US" sz="380" dirty="0"/>
          </a:p>
        </p:txBody>
      </p:sp>
      <p:sp>
        <p:nvSpPr>
          <p:cNvPr id="13" name="!!mk0_0"/>
          <p:cNvSpPr/>
          <p:nvPr/>
        </p:nvSpPr>
        <p:spPr>
          <a:xfrm>
            <a:off x="8987638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!!mki0_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326" y="1915668"/>
            <a:ext cx="49378" cy="49378"/>
          </a:xfrm>
          <a:prstGeom prst="rect">
            <a:avLst/>
          </a:prstGeom>
        </p:spPr>
      </p:pic>
      <p:sp>
        <p:nvSpPr>
          <p:cNvPr id="15" name="!!lf0_1"/>
          <p:cNvSpPr/>
          <p:nvPr/>
        </p:nvSpPr>
        <p:spPr>
          <a:xfrm>
            <a:off x="8334756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16" name="!!lft0_1"/>
          <p:cNvSpPr txBox="1"/>
          <p:nvPr/>
        </p:nvSpPr>
        <p:spPr>
          <a:xfrm>
            <a:off x="8389620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processing plants</a:t>
            </a:r>
            <a:endParaRPr lang="en-US" sz="380" dirty="0"/>
          </a:p>
        </p:txBody>
      </p:sp>
      <p:sp>
        <p:nvSpPr>
          <p:cNvPr id="17" name="!!mk0_1"/>
          <p:cNvSpPr/>
          <p:nvPr/>
        </p:nvSpPr>
        <p:spPr>
          <a:xfrm>
            <a:off x="8987638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!!mki0_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2326" y="2113178"/>
            <a:ext cx="49378" cy="49378"/>
          </a:xfrm>
          <a:prstGeom prst="rect">
            <a:avLst/>
          </a:prstGeom>
        </p:spPr>
      </p:pic>
      <p:sp>
        <p:nvSpPr>
          <p:cNvPr id="19" name="!!lf0_2"/>
          <p:cNvSpPr/>
          <p:nvPr/>
        </p:nvSpPr>
        <p:spPr>
          <a:xfrm>
            <a:off x="8334756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20" name="!!lft0_2"/>
          <p:cNvSpPr txBox="1"/>
          <p:nvPr/>
        </p:nvSpPr>
        <p:spPr>
          <a:xfrm>
            <a:off x="8389620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water &amp; tank farms</a:t>
            </a:r>
            <a:endParaRPr lang="en-US" sz="380" dirty="0"/>
          </a:p>
        </p:txBody>
      </p:sp>
      <p:sp>
        <p:nvSpPr>
          <p:cNvPr id="21" name="!!mk0_2"/>
          <p:cNvSpPr/>
          <p:nvPr/>
        </p:nvSpPr>
        <p:spPr>
          <a:xfrm>
            <a:off x="8987638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!!mki0_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326" y="2310689"/>
            <a:ext cx="49378" cy="49378"/>
          </a:xfrm>
          <a:prstGeom prst="rect">
            <a:avLst/>
          </a:prstGeom>
        </p:spPr>
      </p:pic>
      <p:sp>
        <p:nvSpPr>
          <p:cNvPr id="23" name="!!spine1"/>
          <p:cNvSpPr/>
          <p:nvPr/>
        </p:nvSpPr>
        <p:spPr>
          <a:xfrm>
            <a:off x="9582912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24" name="!!br1"/>
          <p:cNvSpPr/>
          <p:nvPr/>
        </p:nvSpPr>
        <p:spPr>
          <a:xfrm>
            <a:off x="9198864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>
              <a:alpha val="35000"/>
            </a:srgbClr>
          </a:solidFill>
          <a:ln/>
        </p:spPr>
      </p:sp>
      <p:pic>
        <p:nvPicPr>
          <p:cNvPr id="25" name="!!bri1" descr="preencoded.png">    </p:cNvPr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9240012" y="1559052"/>
            <a:ext cx="170078" cy="170078"/>
          </a:xfrm>
          <a:prstGeom prst="rect">
            <a:avLst/>
          </a:prstGeom>
        </p:spPr>
      </p:pic>
      <p:sp>
        <p:nvSpPr>
          <p:cNvPr id="26" name="!!brt1"/>
          <p:cNvSpPr txBox="1"/>
          <p:nvPr/>
        </p:nvSpPr>
        <p:spPr>
          <a:xfrm>
            <a:off x="9432036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&amp; storage</a:t>
            </a:r>
            <a:endParaRPr lang="en-US" sz="410" dirty="0"/>
          </a:p>
        </p:txBody>
      </p:sp>
      <p:sp>
        <p:nvSpPr>
          <p:cNvPr id="27" name="!!lf1_0"/>
          <p:cNvSpPr/>
          <p:nvPr/>
        </p:nvSpPr>
        <p:spPr>
          <a:xfrm>
            <a:off x="9198864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28" name="!!lft1_0"/>
          <p:cNvSpPr txBox="1"/>
          <p:nvPr/>
        </p:nvSpPr>
        <p:spPr>
          <a:xfrm>
            <a:off x="9253728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&amp; pig receivers</a:t>
            </a:r>
            <a:endParaRPr lang="en-US" sz="380" dirty="0"/>
          </a:p>
        </p:txBody>
      </p:sp>
      <p:sp>
        <p:nvSpPr>
          <p:cNvPr id="29" name="!!mk1_0"/>
          <p:cNvSpPr/>
          <p:nvPr/>
        </p:nvSpPr>
        <p:spPr>
          <a:xfrm>
            <a:off x="9851746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0" name="!!mki1_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6434" y="1915668"/>
            <a:ext cx="49378" cy="49378"/>
          </a:xfrm>
          <a:prstGeom prst="rect">
            <a:avLst/>
          </a:prstGeom>
        </p:spPr>
      </p:pic>
      <p:sp>
        <p:nvSpPr>
          <p:cNvPr id="31" name="!!lf1_1"/>
          <p:cNvSpPr/>
          <p:nvPr/>
        </p:nvSpPr>
        <p:spPr>
          <a:xfrm>
            <a:off x="9198864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2" name="!!lft1_1"/>
          <p:cNvSpPr txBox="1"/>
          <p:nvPr/>
        </p:nvSpPr>
        <p:spPr>
          <a:xfrm>
            <a:off x="9253728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terminals &amp; tank farms</a:t>
            </a:r>
            <a:endParaRPr lang="en-US" sz="380" dirty="0"/>
          </a:p>
        </p:txBody>
      </p:sp>
      <p:sp>
        <p:nvSpPr>
          <p:cNvPr id="33" name="!!mk1_1"/>
          <p:cNvSpPr/>
          <p:nvPr/>
        </p:nvSpPr>
        <p:spPr>
          <a:xfrm>
            <a:off x="9851746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!!mki1_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34" y="2113178"/>
            <a:ext cx="49378" cy="49378"/>
          </a:xfrm>
          <a:prstGeom prst="rect">
            <a:avLst/>
          </a:prstGeom>
        </p:spPr>
      </p:pic>
      <p:sp>
        <p:nvSpPr>
          <p:cNvPr id="35" name="!!lf1_2"/>
          <p:cNvSpPr/>
          <p:nvPr/>
        </p:nvSpPr>
        <p:spPr>
          <a:xfrm>
            <a:off x="9198864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3AB54A">
                <a:alpha val="40000"/>
              </a:srgbClr>
            </a:solidFill>
            <a:prstDash val="solid"/>
          </a:ln>
        </p:spPr>
      </p:sp>
      <p:sp>
        <p:nvSpPr>
          <p:cNvPr id="36" name="!!lft1_2"/>
          <p:cNvSpPr txBox="1"/>
          <p:nvPr/>
        </p:nvSpPr>
        <p:spPr>
          <a:xfrm>
            <a:off x="9253728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 / NGL plants &amp; spheres</a:t>
            </a:r>
            <a:endParaRPr lang="en-US" sz="380" dirty="0"/>
          </a:p>
        </p:txBody>
      </p:sp>
      <p:sp>
        <p:nvSpPr>
          <p:cNvPr id="37" name="!!mk1_2"/>
          <p:cNvSpPr/>
          <p:nvPr/>
        </p:nvSpPr>
        <p:spPr>
          <a:xfrm>
            <a:off x="9851746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!!mki1_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6434" y="2310689"/>
            <a:ext cx="49378" cy="49378"/>
          </a:xfrm>
          <a:prstGeom prst="rect">
            <a:avLst/>
          </a:prstGeom>
        </p:spPr>
      </p:pic>
      <p:sp>
        <p:nvSpPr>
          <p:cNvPr id="39" name="!!spine2"/>
          <p:cNvSpPr/>
          <p:nvPr/>
        </p:nvSpPr>
        <p:spPr>
          <a:xfrm>
            <a:off x="10447020" y="1435608"/>
            <a:ext cx="0" cy="97383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40" name="!!br2"/>
          <p:cNvSpPr/>
          <p:nvPr/>
        </p:nvSpPr>
        <p:spPr>
          <a:xfrm>
            <a:off x="10062972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0C74BC">
              <a:alpha val="35000"/>
            </a:srgbClr>
          </a:solidFill>
          <a:ln/>
        </p:spPr>
      </p:sp>
      <p:pic>
        <p:nvPicPr>
          <p:cNvPr id="41" name="!!bri2" descr="preencoded.png">    </p:cNvPr>
          <p:cNvPicPr>
            <a:picLocks noChangeAspect="1"/>
          </p:cNvPicPr>
          <p:nvPr/>
        </p:nvPicPr>
        <p:blipFill>
          <a:blip r:embed="rId9">
            <a:alphaModFix amt="40000"/>
          </a:blip>
          <a:stretch>
            <a:fillRect/>
          </a:stretch>
        </p:blipFill>
        <p:spPr>
          <a:xfrm>
            <a:off x="10104120" y="1559052"/>
            <a:ext cx="170078" cy="170078"/>
          </a:xfrm>
          <a:prstGeom prst="rect">
            <a:avLst/>
          </a:prstGeom>
        </p:spPr>
      </p:pic>
      <p:sp>
        <p:nvSpPr>
          <p:cNvPr id="42" name="!!brt2"/>
          <p:cNvSpPr txBox="1"/>
          <p:nvPr/>
        </p:nvSpPr>
        <p:spPr>
          <a:xfrm>
            <a:off x="10296144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Refining</a:t>
            </a:r>
            <a:endParaRPr lang="en-US" sz="410" dirty="0"/>
          </a:p>
        </p:txBody>
      </p:sp>
      <p:sp>
        <p:nvSpPr>
          <p:cNvPr id="43" name="!!lf2_0"/>
          <p:cNvSpPr/>
          <p:nvPr/>
        </p:nvSpPr>
        <p:spPr>
          <a:xfrm>
            <a:off x="10062972" y="186080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4" name="!!lft2_0"/>
          <p:cNvSpPr txBox="1"/>
          <p:nvPr/>
        </p:nvSpPr>
        <p:spPr>
          <a:xfrm>
            <a:off x="10117836" y="186080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Crude &amp; vacuum units</a:t>
            </a:r>
            <a:endParaRPr lang="en-US" sz="380" dirty="0"/>
          </a:p>
        </p:txBody>
      </p:sp>
      <p:sp>
        <p:nvSpPr>
          <p:cNvPr id="45" name="!!mk2_0"/>
          <p:cNvSpPr/>
          <p:nvPr/>
        </p:nvSpPr>
        <p:spPr>
          <a:xfrm>
            <a:off x="10715854" y="1890979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6" name="!!mki2_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40542" y="1915668"/>
            <a:ext cx="49378" cy="49378"/>
          </a:xfrm>
          <a:prstGeom prst="rect">
            <a:avLst/>
          </a:prstGeom>
        </p:spPr>
      </p:pic>
      <p:sp>
        <p:nvSpPr>
          <p:cNvPr id="47" name="!!lf2_1"/>
          <p:cNvSpPr/>
          <p:nvPr/>
        </p:nvSpPr>
        <p:spPr>
          <a:xfrm>
            <a:off x="10062972" y="2058314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48" name="!!lft2_1"/>
          <p:cNvSpPr txBox="1"/>
          <p:nvPr/>
        </p:nvSpPr>
        <p:spPr>
          <a:xfrm>
            <a:off x="10117836" y="2058314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Hydroprocessing &amp; conversion</a:t>
            </a:r>
            <a:endParaRPr lang="en-US" sz="380" dirty="0"/>
          </a:p>
        </p:txBody>
      </p:sp>
      <p:sp>
        <p:nvSpPr>
          <p:cNvPr id="49" name="!!mk2_1"/>
          <p:cNvSpPr/>
          <p:nvPr/>
        </p:nvSpPr>
        <p:spPr>
          <a:xfrm>
            <a:off x="10715854" y="208849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!!mki2_1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40542" y="2113178"/>
            <a:ext cx="49378" cy="49378"/>
          </a:xfrm>
          <a:prstGeom prst="rect">
            <a:avLst/>
          </a:prstGeom>
        </p:spPr>
      </p:pic>
      <p:sp>
        <p:nvSpPr>
          <p:cNvPr id="51" name="!!lf2_2"/>
          <p:cNvSpPr/>
          <p:nvPr/>
        </p:nvSpPr>
        <p:spPr>
          <a:xfrm>
            <a:off x="10062972" y="2255825"/>
            <a:ext cx="768096" cy="159106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4763">
            <a:solidFill>
              <a:srgbClr val="0C74BC">
                <a:alpha val="40000"/>
              </a:srgbClr>
            </a:solidFill>
            <a:prstDash val="solid"/>
          </a:ln>
        </p:spPr>
      </p:sp>
      <p:sp>
        <p:nvSpPr>
          <p:cNvPr id="52" name="!!lft2_2"/>
          <p:cNvSpPr txBox="1"/>
          <p:nvPr/>
        </p:nvSpPr>
        <p:spPr>
          <a:xfrm>
            <a:off x="10117836" y="2255825"/>
            <a:ext cx="589788" cy="159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" b="1" dirty="0">
                <a:solidFill>
                  <a:srgbClr val="9AA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 water, amine &amp; sulphur</a:t>
            </a:r>
            <a:endParaRPr lang="en-US" sz="380" dirty="0"/>
          </a:p>
        </p:txBody>
      </p:sp>
      <p:sp>
        <p:nvSpPr>
          <p:cNvPr id="53" name="!!mk2_2"/>
          <p:cNvSpPr/>
          <p:nvPr/>
        </p:nvSpPr>
        <p:spPr>
          <a:xfrm>
            <a:off x="10715854" y="2286000"/>
            <a:ext cx="98755" cy="98755"/>
          </a:xfrm>
          <a:prstGeom prst="ellipse">
            <a:avLst/>
          </a:prstGeom>
          <a:solidFill>
            <a:srgbClr val="3AB54A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4" name="!!mki2_2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40542" y="2310689"/>
            <a:ext cx="49378" cy="49378"/>
          </a:xfrm>
          <a:prstGeom prst="rect">
            <a:avLst/>
          </a:prstGeom>
        </p:spPr>
      </p:pic>
      <p:sp>
        <p:nvSpPr>
          <p:cNvPr id="55" name="!!spine3"/>
          <p:cNvSpPr/>
          <p:nvPr/>
        </p:nvSpPr>
        <p:spPr>
          <a:xfrm>
            <a:off x="11311128" y="1435608"/>
            <a:ext cx="0" cy="82296"/>
          </a:xfrm>
          <a:prstGeom prst="line">
            <a:avLst/>
          </a:prstGeom>
          <a:noFill/>
          <a:ln w="9525">
            <a:solidFill>
              <a:srgbClr val="C6D3E0"/>
            </a:solidFill>
            <a:prstDash val="solid"/>
          </a:ln>
        </p:spPr>
      </p:sp>
      <p:sp>
        <p:nvSpPr>
          <p:cNvPr id="56" name="!!br3"/>
          <p:cNvSpPr/>
          <p:nvPr/>
        </p:nvSpPr>
        <p:spPr>
          <a:xfrm>
            <a:off x="10927080" y="1517904"/>
            <a:ext cx="768096" cy="260604"/>
          </a:xfrm>
          <a:prstGeom prst="roundRect">
            <a:avLst>
              <a:gd name="adj" fmla="val 12632"/>
            </a:avLst>
          </a:prstGeom>
          <a:solidFill>
            <a:srgbClr val="3AB54A"/>
          </a:solidFill>
          <a:ln/>
        </p:spPr>
      </p:sp>
      <p:pic>
        <p:nvPicPr>
          <p:cNvPr id="57" name="!!bri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68228" y="1559052"/>
            <a:ext cx="170078" cy="170078"/>
          </a:xfrm>
          <a:prstGeom prst="rect">
            <a:avLst/>
          </a:prstGeom>
        </p:spPr>
      </p:pic>
      <p:sp>
        <p:nvSpPr>
          <p:cNvPr id="58" name="!!brt3"/>
          <p:cNvSpPr txBox="1"/>
          <p:nvPr/>
        </p:nvSpPr>
        <p:spPr>
          <a:xfrm>
            <a:off x="11160252" y="1517904"/>
            <a:ext cx="52669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PETROCHEMICALS</a:t>
            </a:r>
            <a:endParaRPr lang="en-US" sz="410" dirty="0"/>
          </a:p>
          <a:p>
            <a:pPr indent="0" marL="0">
              <a:buNone/>
            </a:pPr>
            <a:r>
              <a:rPr lang="en-US" sz="3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&amp; polymers</a:t>
            </a:r>
            <a:endParaRPr lang="en-US" sz="410" dirty="0"/>
          </a:p>
        </p:txBody>
      </p:sp>
      <p:sp>
        <p:nvSpPr>
          <p:cNvPr id="59" name="!!lf3_0"/>
          <p:cNvSpPr/>
          <p:nvPr/>
        </p:nvSpPr>
        <p:spPr>
          <a:xfrm>
            <a:off x="548640" y="146304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60" name="!!lft3_0"/>
          <p:cNvSpPr txBox="1"/>
          <p:nvPr/>
        </p:nvSpPr>
        <p:spPr>
          <a:xfrm>
            <a:off x="777240" y="14630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Aromatics (BTX)</a:t>
            </a:r>
            <a:endParaRPr lang="en-US" sz="1600" dirty="0"/>
          </a:p>
        </p:txBody>
      </p:sp>
      <p:sp>
        <p:nvSpPr>
          <p:cNvPr id="61" name="!!mk3_0"/>
          <p:cNvSpPr/>
          <p:nvPr/>
        </p:nvSpPr>
        <p:spPr>
          <a:xfrm>
            <a:off x="3337560" y="161848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!!mki3_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7288" y="1728216"/>
            <a:ext cx="201168" cy="201168"/>
          </a:xfrm>
          <a:prstGeom prst="rect">
            <a:avLst/>
          </a:prstGeom>
        </p:spPr>
      </p:pic>
      <p:sp>
        <p:nvSpPr>
          <p:cNvPr id="63" name="t104"/>
          <p:cNvSpPr txBox="1"/>
          <p:nvPr/>
        </p:nvSpPr>
        <p:spPr>
          <a:xfrm>
            <a:off x="4114800" y="1188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Reformer, extraction and xylene columns, aromatics tanks</a:t>
            </a:r>
            <a:endParaRPr lang="en-US" sz="1400" dirty="0"/>
          </a:p>
        </p:txBody>
      </p:sp>
      <p:sp>
        <p:nvSpPr>
          <p:cNvPr id="64" name="s105"/>
          <p:cNvSpPr/>
          <p:nvPr/>
        </p:nvSpPr>
        <p:spPr>
          <a:xfrm>
            <a:off x="4114800" y="192024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65" name="t106"/>
          <p:cNvSpPr txBox="1"/>
          <p:nvPr/>
        </p:nvSpPr>
        <p:spPr>
          <a:xfrm>
            <a:off x="4114800" y="192024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6" name="s107"/>
          <p:cNvSpPr/>
          <p:nvPr/>
        </p:nvSpPr>
        <p:spPr>
          <a:xfrm>
            <a:off x="5088636" y="192024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7" name="t108"/>
          <p:cNvSpPr txBox="1"/>
          <p:nvPr/>
        </p:nvSpPr>
        <p:spPr>
          <a:xfrm>
            <a:off x="5088636" y="192024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8" name="s109"/>
          <p:cNvSpPr/>
          <p:nvPr/>
        </p:nvSpPr>
        <p:spPr>
          <a:xfrm>
            <a:off x="5751576" y="1920240"/>
            <a:ext cx="148590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</p:sp>
      <p:sp>
        <p:nvSpPr>
          <p:cNvPr id="69" name="t110"/>
          <p:cNvSpPr txBox="1"/>
          <p:nvPr/>
        </p:nvSpPr>
        <p:spPr>
          <a:xfrm>
            <a:off x="5751576" y="1920240"/>
            <a:ext cx="1485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aromatics</a:t>
            </a:r>
            <a:endParaRPr lang="en-US" sz="1200" dirty="0"/>
          </a:p>
        </p:txBody>
      </p:sp>
      <p:sp>
        <p:nvSpPr>
          <p:cNvPr id="70" name="!!lf3_1"/>
          <p:cNvSpPr/>
          <p:nvPr/>
        </p:nvSpPr>
        <p:spPr>
          <a:xfrm>
            <a:off x="548640" y="288036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71" name="!!lft3_1"/>
          <p:cNvSpPr txBox="1"/>
          <p:nvPr/>
        </p:nvSpPr>
        <p:spPr>
          <a:xfrm>
            <a:off x="777240" y="288036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Olefins &amp; polymers</a:t>
            </a:r>
            <a:endParaRPr lang="en-US" sz="1600" dirty="0"/>
          </a:p>
        </p:txBody>
      </p:sp>
      <p:sp>
        <p:nvSpPr>
          <p:cNvPr id="72" name="!!mk3_1"/>
          <p:cNvSpPr/>
          <p:nvPr/>
        </p:nvSpPr>
        <p:spPr>
          <a:xfrm>
            <a:off x="3337560" y="303580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3" name="!!mki3_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7288" y="3145536"/>
            <a:ext cx="201168" cy="201168"/>
          </a:xfrm>
          <a:prstGeom prst="rect">
            <a:avLst/>
          </a:prstGeom>
        </p:spPr>
      </p:pic>
      <p:sp>
        <p:nvSpPr>
          <p:cNvPr id="74" name="t111"/>
          <p:cNvSpPr txBox="1"/>
          <p:nvPr/>
        </p:nvSpPr>
        <p:spPr>
          <a:xfrm>
            <a:off x="411480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towers, caustic tower, compressor KO drums</a:t>
            </a:r>
            <a:endParaRPr lang="en-US" sz="1400" dirty="0"/>
          </a:p>
        </p:txBody>
      </p:sp>
      <p:sp>
        <p:nvSpPr>
          <p:cNvPr id="75" name="s112"/>
          <p:cNvSpPr/>
          <p:nvPr/>
        </p:nvSpPr>
        <p:spPr>
          <a:xfrm>
            <a:off x="4114800" y="33375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1F3A52"/>
          </a:solidFill>
          <a:ln/>
        </p:spPr>
      </p:sp>
      <p:sp>
        <p:nvSpPr>
          <p:cNvPr id="76" name="t113"/>
          <p:cNvSpPr txBox="1"/>
          <p:nvPr/>
        </p:nvSpPr>
        <p:spPr>
          <a:xfrm>
            <a:off x="411480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/ coke</a:t>
            </a:r>
            <a:endParaRPr lang="en-US" sz="1200" dirty="0"/>
          </a:p>
        </p:txBody>
      </p:sp>
      <p:sp>
        <p:nvSpPr>
          <p:cNvPr id="77" name="s114"/>
          <p:cNvSpPr/>
          <p:nvPr/>
        </p:nvSpPr>
        <p:spPr>
          <a:xfrm>
            <a:off x="5321808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</p:sp>
      <p:sp>
        <p:nvSpPr>
          <p:cNvPr id="78" name="t115"/>
          <p:cNvSpPr txBox="1"/>
          <p:nvPr/>
        </p:nvSpPr>
        <p:spPr>
          <a:xfrm>
            <a:off x="5321808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Polymer</a:t>
            </a:r>
            <a:endParaRPr lang="en-US" sz="1200" dirty="0"/>
          </a:p>
        </p:txBody>
      </p:sp>
      <p:sp>
        <p:nvSpPr>
          <p:cNvPr id="79" name="s116"/>
          <p:cNvSpPr/>
          <p:nvPr/>
        </p:nvSpPr>
        <p:spPr>
          <a:xfrm>
            <a:off x="6295644" y="333756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80" name="t117"/>
          <p:cNvSpPr txBox="1"/>
          <p:nvPr/>
        </p:nvSpPr>
        <p:spPr>
          <a:xfrm>
            <a:off x="6295644" y="333756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1" name="!!lf3_2"/>
          <p:cNvSpPr/>
          <p:nvPr/>
        </p:nvSpPr>
        <p:spPr>
          <a:xfrm>
            <a:off x="548640" y="4297680"/>
            <a:ext cx="329184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82" name="!!lft3_2"/>
          <p:cNvSpPr txBox="1"/>
          <p:nvPr/>
        </p:nvSpPr>
        <p:spPr>
          <a:xfrm>
            <a:off x="777240" y="42976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 &amp; fertilisers</a:t>
            </a:r>
            <a:endParaRPr lang="en-US" sz="1600" dirty="0"/>
          </a:p>
        </p:txBody>
      </p:sp>
      <p:sp>
        <p:nvSpPr>
          <p:cNvPr id="83" name="!!mk3_2"/>
          <p:cNvSpPr/>
          <p:nvPr/>
        </p:nvSpPr>
        <p:spPr>
          <a:xfrm>
            <a:off x="3337560" y="4453128"/>
            <a:ext cx="420624" cy="420624"/>
          </a:xfrm>
          <a:prstGeom prst="ellipse">
            <a:avLst/>
          </a:prstGeom>
          <a:solidFill>
            <a:srgbClr val="3AB54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4" name="!!mki3_2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7288" y="4562856"/>
            <a:ext cx="201168" cy="201168"/>
          </a:xfrm>
          <a:prstGeom prst="rect">
            <a:avLst/>
          </a:prstGeom>
        </p:spPr>
      </p:pic>
      <p:sp>
        <p:nvSpPr>
          <p:cNvPr id="85" name="t118"/>
          <p:cNvSpPr txBox="1"/>
          <p:nvPr/>
        </p:nvSpPr>
        <p:spPr>
          <a:xfrm>
            <a:off x="41148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Desulphurisation, synthesis, distillation, ammonia sections</a:t>
            </a:r>
            <a:endParaRPr lang="en-US" sz="1400" dirty="0"/>
          </a:p>
        </p:txBody>
      </p:sp>
      <p:sp>
        <p:nvSpPr>
          <p:cNvPr id="86" name="s119"/>
          <p:cNvSpPr/>
          <p:nvPr/>
        </p:nvSpPr>
        <p:spPr>
          <a:xfrm>
            <a:off x="4114800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87" name="t120"/>
          <p:cNvSpPr txBox="1"/>
          <p:nvPr/>
        </p:nvSpPr>
        <p:spPr>
          <a:xfrm>
            <a:off x="4114800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88" name="s121"/>
          <p:cNvSpPr/>
          <p:nvPr/>
        </p:nvSpPr>
        <p:spPr>
          <a:xfrm>
            <a:off x="4777740" y="4754880"/>
            <a:ext cx="864108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89" name="t122"/>
          <p:cNvSpPr txBox="1"/>
          <p:nvPr/>
        </p:nvSpPr>
        <p:spPr>
          <a:xfrm>
            <a:off x="4777740" y="4754880"/>
            <a:ext cx="864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90" name="s123"/>
          <p:cNvSpPr/>
          <p:nvPr/>
        </p:nvSpPr>
        <p:spPr>
          <a:xfrm>
            <a:off x="5751576" y="4754880"/>
            <a:ext cx="553212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91" name="t124"/>
          <p:cNvSpPr txBox="1"/>
          <p:nvPr/>
        </p:nvSpPr>
        <p:spPr>
          <a:xfrm>
            <a:off x="5751576" y="4754880"/>
            <a:ext cx="5532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facility</a:t>
            </a:r>
            <a:endParaRPr lang="en-US" sz="2800" dirty="0"/>
          </a:p>
        </p:txBody>
      </p:sp>
      <p:sp>
        <p:nvSpPr>
          <p:cNvPr id="3" name="t125"/>
          <p:cNvSpPr txBox="1"/>
          <p:nvPr/>
        </p:nvSpPr>
        <p:spPr>
          <a:xfrm>
            <a:off x="548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/ CLIENT</a:t>
            </a:r>
            <a:endParaRPr lang="en-US" sz="1200" dirty="0"/>
          </a:p>
        </p:txBody>
      </p:sp>
      <p:sp>
        <p:nvSpPr>
          <p:cNvPr id="4" name="s126"/>
          <p:cNvSpPr/>
          <p:nvPr/>
        </p:nvSpPr>
        <p:spPr>
          <a:xfrm>
            <a:off x="54864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5" name="t127"/>
          <p:cNvSpPr txBox="1"/>
          <p:nvPr/>
        </p:nvSpPr>
        <p:spPr>
          <a:xfrm>
            <a:off x="61722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SCOPE</a:t>
            </a:r>
            <a:endParaRPr lang="en-US" sz="1200" dirty="0"/>
          </a:p>
        </p:txBody>
      </p:sp>
      <p:sp>
        <p:nvSpPr>
          <p:cNvPr id="6" name="s128"/>
          <p:cNvSpPr/>
          <p:nvPr/>
        </p:nvSpPr>
        <p:spPr>
          <a:xfrm>
            <a:off x="6172200" y="1783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7" name="t129"/>
          <p:cNvSpPr txBox="1"/>
          <p:nvPr/>
        </p:nvSpPr>
        <p:spPr>
          <a:xfrm>
            <a:off x="54864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CONTAMINANTS</a:t>
            </a:r>
            <a:endParaRPr lang="en-US" sz="1200" dirty="0"/>
          </a:p>
        </p:txBody>
      </p:sp>
      <p:sp>
        <p:nvSpPr>
          <p:cNvPr id="8" name="s130"/>
          <p:cNvSpPr/>
          <p:nvPr/>
        </p:nvSpPr>
        <p:spPr>
          <a:xfrm>
            <a:off x="54864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9" name="t131"/>
          <p:cNvSpPr txBox="1"/>
          <p:nvPr/>
        </p:nvSpPr>
        <p:spPr>
          <a:xfrm>
            <a:off x="6172200" y="28803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 WINDOW</a:t>
            </a:r>
            <a:endParaRPr lang="en-US" sz="1200" dirty="0"/>
          </a:p>
        </p:txBody>
      </p:sp>
      <p:sp>
        <p:nvSpPr>
          <p:cNvPr id="10" name="s132"/>
          <p:cNvSpPr/>
          <p:nvPr/>
        </p:nvSpPr>
        <p:spPr>
          <a:xfrm>
            <a:off x="6172200" y="324612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1" name="t133"/>
          <p:cNvSpPr txBox="1"/>
          <p:nvPr/>
        </p:nvSpPr>
        <p:spPr>
          <a:xfrm>
            <a:off x="54864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 AVAILABLE (STEAM, N₂, WATER)</a:t>
            </a:r>
            <a:endParaRPr lang="en-US" sz="1200" dirty="0"/>
          </a:p>
        </p:txBody>
      </p:sp>
      <p:sp>
        <p:nvSpPr>
          <p:cNvPr id="12" name="s134"/>
          <p:cNvSpPr/>
          <p:nvPr/>
        </p:nvSpPr>
        <p:spPr>
          <a:xfrm>
            <a:off x="54864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3" name="t135"/>
          <p:cNvSpPr txBox="1"/>
          <p:nvPr/>
        </p:nvSpPr>
        <p:spPr>
          <a:xfrm>
            <a:off x="6172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CRITERIA / PERMIT REQUIREMENTS</a:t>
            </a:r>
            <a:endParaRPr lang="en-US" sz="1200" dirty="0"/>
          </a:p>
        </p:txBody>
      </p:sp>
      <p:sp>
        <p:nvSpPr>
          <p:cNvPr id="14" name="s136"/>
          <p:cNvSpPr/>
          <p:nvPr/>
        </p:nvSpPr>
        <p:spPr>
          <a:xfrm>
            <a:off x="6172200" y="470916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5" name="t137"/>
          <p:cNvSpPr txBox="1"/>
          <p:nvPr/>
        </p:nvSpPr>
        <p:spPr>
          <a:xfrm>
            <a:off x="54864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in with the client before the meeting – their position on the value chain and what we will remove.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0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600"/>
                            </p:stCondLst>
                            <p:childTnLst>
                              <p:par>
                                <p:cTn id="4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000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to be removed – and why</a:t>
            </a:r>
            <a:endParaRPr lang="en-US" sz="2800" dirty="0"/>
          </a:p>
        </p:txBody>
      </p:sp>
      <p:sp>
        <p:nvSpPr>
          <p:cNvPr id="3" name="s138"/>
          <p:cNvSpPr/>
          <p:nvPr/>
        </p:nvSpPr>
        <p:spPr>
          <a:xfrm>
            <a:off x="54864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tag139"/>
          <p:cNvSpPr/>
          <p:nvPr/>
        </p:nvSpPr>
        <p:spPr>
          <a:xfrm>
            <a:off x="77724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" name="t140"/>
          <p:cNvSpPr txBox="1"/>
          <p:nvPr/>
        </p:nvSpPr>
        <p:spPr>
          <a:xfrm>
            <a:off x="77724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gas – fatal at low concentrations</a:t>
            </a:r>
            <a:endParaRPr lang="en-US" sz="1500" dirty="0"/>
          </a:p>
        </p:txBody>
      </p:sp>
      <p:sp>
        <p:nvSpPr>
          <p:cNvPr id="6" name="s141"/>
          <p:cNvSpPr/>
          <p:nvPr/>
        </p:nvSpPr>
        <p:spPr>
          <a:xfrm>
            <a:off x="429768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7" name="tag142"/>
          <p:cNvSpPr/>
          <p:nvPr/>
        </p:nvSpPr>
        <p:spPr>
          <a:xfrm>
            <a:off x="452628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8" name="t143"/>
          <p:cNvSpPr txBox="1"/>
          <p:nvPr/>
        </p:nvSpPr>
        <p:spPr>
          <a:xfrm>
            <a:off x="452628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Carcinogenic vapour – strict exposure limits</a:t>
            </a:r>
            <a:endParaRPr lang="en-US" sz="1500" dirty="0"/>
          </a:p>
        </p:txBody>
      </p:sp>
      <p:sp>
        <p:nvSpPr>
          <p:cNvPr id="9" name="s144"/>
          <p:cNvSpPr/>
          <p:nvPr/>
        </p:nvSpPr>
        <p:spPr>
          <a:xfrm>
            <a:off x="8046720" y="14173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0" name="tag145"/>
          <p:cNvSpPr/>
          <p:nvPr/>
        </p:nvSpPr>
        <p:spPr>
          <a:xfrm>
            <a:off x="8275320" y="169164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 hydrocarbons</a:t>
            </a:r>
            <a:endParaRPr lang="en-US" sz="1200" dirty="0"/>
          </a:p>
        </p:txBody>
      </p:sp>
      <p:sp>
        <p:nvSpPr>
          <p:cNvPr id="11" name="t146"/>
          <p:cNvSpPr txBox="1"/>
          <p:nvPr/>
        </p:nvSpPr>
        <p:spPr>
          <a:xfrm>
            <a:off x="8275320" y="21945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Flammable / explosive atmosphere</a:t>
            </a:r>
            <a:endParaRPr lang="en-US" sz="1500" dirty="0"/>
          </a:p>
        </p:txBody>
      </p:sp>
      <p:sp>
        <p:nvSpPr>
          <p:cNvPr id="12" name="s147"/>
          <p:cNvSpPr/>
          <p:nvPr/>
        </p:nvSpPr>
        <p:spPr>
          <a:xfrm>
            <a:off x="54864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3" name="tag148"/>
          <p:cNvSpPr/>
          <p:nvPr/>
        </p:nvSpPr>
        <p:spPr>
          <a:xfrm>
            <a:off x="77724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</a:t>
            </a:r>
            <a:endParaRPr lang="en-US" sz="1200" dirty="0"/>
          </a:p>
        </p:txBody>
      </p:sp>
      <p:sp>
        <p:nvSpPr>
          <p:cNvPr id="14" name="t149"/>
          <p:cNvSpPr txBox="1"/>
          <p:nvPr/>
        </p:nvSpPr>
        <p:spPr>
          <a:xfrm>
            <a:off x="77724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Self-heats and ignites when exposed to air</a:t>
            </a:r>
            <a:endParaRPr lang="en-US" sz="1500" dirty="0"/>
          </a:p>
        </p:txBody>
      </p:sp>
      <p:sp>
        <p:nvSpPr>
          <p:cNvPr id="15" name="s150"/>
          <p:cNvSpPr/>
          <p:nvPr/>
        </p:nvSpPr>
        <p:spPr>
          <a:xfrm>
            <a:off x="429768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6" name="tag151"/>
          <p:cNvSpPr/>
          <p:nvPr/>
        </p:nvSpPr>
        <p:spPr>
          <a:xfrm>
            <a:off x="452628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&amp; sludge</a:t>
            </a:r>
            <a:endParaRPr lang="en-US" sz="1200" dirty="0"/>
          </a:p>
        </p:txBody>
      </p:sp>
      <p:sp>
        <p:nvSpPr>
          <p:cNvPr id="17" name="t152"/>
          <p:cNvSpPr txBox="1"/>
          <p:nvPr/>
        </p:nvSpPr>
        <p:spPr>
          <a:xfrm>
            <a:off x="452628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gases, blocks inspection, slows mechanical cleaning</a:t>
            </a:r>
            <a:endParaRPr lang="en-US" sz="1500" dirty="0"/>
          </a:p>
        </p:txBody>
      </p:sp>
      <p:sp>
        <p:nvSpPr>
          <p:cNvPr id="18" name="s153"/>
          <p:cNvSpPr/>
          <p:nvPr/>
        </p:nvSpPr>
        <p:spPr>
          <a:xfrm>
            <a:off x="8046720" y="36576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tag154"/>
          <p:cNvSpPr/>
          <p:nvPr/>
        </p:nvSpPr>
        <p:spPr>
          <a:xfrm>
            <a:off x="8275320" y="39319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 &amp; mercaptans</a:t>
            </a:r>
            <a:endParaRPr lang="en-US" sz="1200" dirty="0"/>
          </a:p>
        </p:txBody>
      </p:sp>
      <p:sp>
        <p:nvSpPr>
          <p:cNvPr id="20" name="t155"/>
          <p:cNvSpPr txBox="1"/>
          <p:nvPr/>
        </p:nvSpPr>
        <p:spPr>
          <a:xfrm>
            <a:off x="8275320" y="4434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and odorous – sour-water and LPG units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"/>
                            </p:stCondLst>
                            <p:childTnLst>
                              <p:par>
                                <p:cTn id="6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objectives</a:t>
            </a:r>
            <a:endParaRPr lang="en-US" sz="2800" dirty="0"/>
          </a:p>
        </p:txBody>
      </p:sp>
      <p:sp>
        <p:nvSpPr>
          <p:cNvPr id="3" name="s156"/>
          <p:cNvSpPr/>
          <p:nvPr/>
        </p:nvSpPr>
        <p:spPr>
          <a:xfrm>
            <a:off x="54864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157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5" name="t158"/>
          <p:cNvSpPr txBox="1"/>
          <p:nvPr/>
        </p:nvSpPr>
        <p:spPr>
          <a:xfrm>
            <a:off x="86868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159"/>
          <p:cNvSpPr txBox="1"/>
          <p:nvPr/>
        </p:nvSpPr>
        <p:spPr>
          <a:xfrm>
            <a:off x="192024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De-oiling / de-sludging</a:t>
            </a:r>
            <a:endParaRPr lang="en-US" sz="2000" dirty="0"/>
          </a:p>
        </p:txBody>
      </p:sp>
      <p:sp>
        <p:nvSpPr>
          <p:cNvPr id="7" name="t160"/>
          <p:cNvSpPr txBox="1"/>
          <p:nvPr/>
        </p:nvSpPr>
        <p:spPr>
          <a:xfrm>
            <a:off x="192024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heavy deposits for easier removal; reduce hazardous sludge.</a:t>
            </a:r>
            <a:endParaRPr lang="en-US" sz="1500" dirty="0"/>
          </a:p>
        </p:txBody>
      </p:sp>
      <p:sp>
        <p:nvSpPr>
          <p:cNvPr id="8" name="s161"/>
          <p:cNvSpPr/>
          <p:nvPr/>
        </p:nvSpPr>
        <p:spPr>
          <a:xfrm>
            <a:off x="6172200" y="146304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162"/>
          <p:cNvSpPr/>
          <p:nvPr/>
        </p:nvSpPr>
        <p:spPr>
          <a:xfrm>
            <a:off x="6492240" y="18745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sp>
        <p:nvSpPr>
          <p:cNvPr id="10" name="t163"/>
          <p:cNvSpPr txBox="1"/>
          <p:nvPr/>
        </p:nvSpPr>
        <p:spPr>
          <a:xfrm>
            <a:off x="649224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164"/>
          <p:cNvSpPr txBox="1"/>
          <p:nvPr/>
        </p:nvSpPr>
        <p:spPr>
          <a:xfrm>
            <a:off x="7543800" y="1828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oxidation</a:t>
            </a:r>
            <a:endParaRPr lang="en-US" sz="2000" dirty="0"/>
          </a:p>
        </p:txBody>
      </p:sp>
      <p:sp>
        <p:nvSpPr>
          <p:cNvPr id="12" name="t165"/>
          <p:cNvSpPr txBox="1"/>
          <p:nvPr/>
        </p:nvSpPr>
        <p:spPr>
          <a:xfrm>
            <a:off x="7543800" y="2331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pyrophoric FeS and H₂S into stable, safe compounds.</a:t>
            </a:r>
            <a:endParaRPr lang="en-US" sz="1500" dirty="0"/>
          </a:p>
        </p:txBody>
      </p:sp>
      <p:sp>
        <p:nvSpPr>
          <p:cNvPr id="13" name="s166"/>
          <p:cNvSpPr/>
          <p:nvPr/>
        </p:nvSpPr>
        <p:spPr>
          <a:xfrm>
            <a:off x="54864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167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15" name="t168"/>
          <p:cNvSpPr txBox="1"/>
          <p:nvPr/>
        </p:nvSpPr>
        <p:spPr>
          <a:xfrm>
            <a:off x="86868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169"/>
          <p:cNvSpPr txBox="1"/>
          <p:nvPr/>
        </p:nvSpPr>
        <p:spPr>
          <a:xfrm>
            <a:off x="192024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Degassing</a:t>
            </a:r>
            <a:endParaRPr lang="en-US" sz="2000" dirty="0"/>
          </a:p>
        </p:txBody>
      </p:sp>
      <p:sp>
        <p:nvSpPr>
          <p:cNvPr id="17" name="t170"/>
          <p:cNvSpPr txBox="1"/>
          <p:nvPr/>
        </p:nvSpPr>
        <p:spPr>
          <a:xfrm>
            <a:off x="192024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LEL hydrocarbons and benzene to the flare / closed vent.</a:t>
            </a:r>
            <a:endParaRPr lang="en-US" sz="1500" dirty="0"/>
          </a:p>
        </p:txBody>
      </p:sp>
      <p:sp>
        <p:nvSpPr>
          <p:cNvPr id="18" name="s171"/>
          <p:cNvSpPr/>
          <p:nvPr/>
        </p:nvSpPr>
        <p:spPr>
          <a:xfrm>
            <a:off x="6172200" y="3794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172"/>
          <p:cNvSpPr/>
          <p:nvPr/>
        </p:nvSpPr>
        <p:spPr>
          <a:xfrm>
            <a:off x="6492240" y="420624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sp>
        <p:nvSpPr>
          <p:cNvPr id="20" name="t173"/>
          <p:cNvSpPr txBox="1"/>
          <p:nvPr/>
        </p:nvSpPr>
        <p:spPr>
          <a:xfrm>
            <a:off x="6492240" y="4206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174"/>
          <p:cNvSpPr txBox="1"/>
          <p:nvPr/>
        </p:nvSpPr>
        <p:spPr>
          <a:xfrm>
            <a:off x="7543800" y="4160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Neutralising</a:t>
            </a:r>
            <a:endParaRPr lang="en-US" sz="2000" dirty="0"/>
          </a:p>
        </p:txBody>
      </p:sp>
      <p:sp>
        <p:nvSpPr>
          <p:cNvPr id="22" name="t175"/>
          <p:cNvSpPr txBox="1"/>
          <p:nvPr/>
        </p:nvSpPr>
        <p:spPr>
          <a:xfrm>
            <a:off x="7543800" y="4663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pH and treat ammonia so the effluent can be disposed of.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76"/>
          <p:cNvSpPr/>
          <p:nvPr/>
        </p:nvSpPr>
        <p:spPr>
          <a:xfrm>
            <a:off x="8778240" y="1097280"/>
            <a:ext cx="4572000" cy="4572000"/>
          </a:xfrm>
          <a:prstGeom prst="ellipse">
            <a:avLst/>
          </a:prstGeom>
          <a:solidFill>
            <a:srgbClr val="D3E6F4"/>
          </a:solidFill>
          <a:ln/>
        </p:spPr>
      </p:sp>
      <p:pic>
        <p:nvPicPr>
          <p:cNvPr id="3" name="i17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4" name="t178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600" dirty="0"/>
          </a:p>
        </p:txBody>
      </p:sp>
      <p:sp>
        <p:nvSpPr>
          <p:cNvPr id="5" name="t179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decontaminate</a:t>
            </a:r>
            <a:endParaRPr lang="en-US" sz="3400" dirty="0"/>
          </a:p>
        </p:txBody>
      </p:sp>
      <p:sp>
        <p:nvSpPr>
          <p:cNvPr id="6" name="t180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methods – each shown with where every contaminant goes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method, where?</a:t>
            </a:r>
            <a:endParaRPr lang="en-US" sz="2800" dirty="0"/>
          </a:p>
        </p:txBody>
      </p:sp>
      <p:sp>
        <p:nvSpPr>
          <p:cNvPr id="3" name="t181"/>
          <p:cNvSpPr txBox="1"/>
          <p:nvPr/>
        </p:nvSpPr>
        <p:spPr>
          <a:xfrm>
            <a:off x="39319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</a:t>
            </a:r>
            <a:endParaRPr lang="en-US" sz="1300" dirty="0"/>
          </a:p>
        </p:txBody>
      </p:sp>
      <p:sp>
        <p:nvSpPr>
          <p:cNvPr id="4" name="t182"/>
          <p:cNvSpPr txBox="1"/>
          <p:nvPr/>
        </p:nvSpPr>
        <p:spPr>
          <a:xfrm>
            <a:off x="521208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</a:t>
            </a:r>
            <a:endParaRPr lang="en-US" sz="1300" dirty="0"/>
          </a:p>
        </p:txBody>
      </p:sp>
      <p:sp>
        <p:nvSpPr>
          <p:cNvPr id="5" name="t183"/>
          <p:cNvSpPr txBox="1"/>
          <p:nvPr/>
        </p:nvSpPr>
        <p:spPr>
          <a:xfrm>
            <a:off x="649224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</a:t>
            </a:r>
            <a:endParaRPr lang="en-US" sz="1300" dirty="0"/>
          </a:p>
        </p:txBody>
      </p:sp>
      <p:sp>
        <p:nvSpPr>
          <p:cNvPr id="6" name="t184"/>
          <p:cNvSpPr txBox="1"/>
          <p:nvPr/>
        </p:nvSpPr>
        <p:spPr>
          <a:xfrm>
            <a:off x="777240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</a:t>
            </a:r>
            <a:endParaRPr lang="en-US" sz="1300" dirty="0"/>
          </a:p>
        </p:txBody>
      </p:sp>
      <p:sp>
        <p:nvSpPr>
          <p:cNvPr id="7" name="t185"/>
          <p:cNvSpPr txBox="1"/>
          <p:nvPr/>
        </p:nvSpPr>
        <p:spPr>
          <a:xfrm>
            <a:off x="905256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Pre/post-treat</a:t>
            </a:r>
            <a:endParaRPr lang="en-US" sz="1300" dirty="0"/>
          </a:p>
        </p:txBody>
      </p:sp>
      <p:sp>
        <p:nvSpPr>
          <p:cNvPr id="8" name="t186"/>
          <p:cNvSpPr txBox="1"/>
          <p:nvPr/>
        </p:nvSpPr>
        <p:spPr>
          <a:xfrm>
            <a:off x="10332720" y="1280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</a:t>
            </a:r>
            <a:endParaRPr lang="en-US" sz="1300" dirty="0"/>
          </a:p>
        </p:txBody>
      </p:sp>
      <p:sp>
        <p:nvSpPr>
          <p:cNvPr id="9" name="s187"/>
          <p:cNvSpPr/>
          <p:nvPr/>
        </p:nvSpPr>
        <p:spPr>
          <a:xfrm>
            <a:off x="548640" y="196596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10" name="t188"/>
          <p:cNvSpPr txBox="1"/>
          <p:nvPr/>
        </p:nvSpPr>
        <p:spPr>
          <a:xfrm>
            <a:off x="731520" y="196596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&amp; towers</a:t>
            </a:r>
            <a:endParaRPr lang="en-US" sz="1400" dirty="0"/>
          </a:p>
        </p:txBody>
      </p:sp>
      <p:sp>
        <p:nvSpPr>
          <p:cNvPr id="11" name="s189"/>
          <p:cNvSpPr/>
          <p:nvPr/>
        </p:nvSpPr>
        <p:spPr>
          <a:xfrm>
            <a:off x="4434840" y="207568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2" name="s190"/>
          <p:cNvSpPr/>
          <p:nvPr/>
        </p:nvSpPr>
        <p:spPr>
          <a:xfrm>
            <a:off x="699516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3" name="s191"/>
          <p:cNvSpPr/>
          <p:nvPr/>
        </p:nvSpPr>
        <p:spPr>
          <a:xfrm>
            <a:off x="9555480" y="20756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4" name="s192"/>
          <p:cNvSpPr/>
          <p:nvPr/>
        </p:nvSpPr>
        <p:spPr>
          <a:xfrm>
            <a:off x="548640" y="2532888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15" name="t193"/>
          <p:cNvSpPr txBox="1"/>
          <p:nvPr/>
        </p:nvSpPr>
        <p:spPr>
          <a:xfrm>
            <a:off x="731520" y="253288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Drums, separators &amp; desalters</a:t>
            </a:r>
            <a:endParaRPr lang="en-US" sz="1400" dirty="0"/>
          </a:p>
        </p:txBody>
      </p:sp>
      <p:sp>
        <p:nvSpPr>
          <p:cNvPr id="16" name="s194"/>
          <p:cNvSpPr/>
          <p:nvPr/>
        </p:nvSpPr>
        <p:spPr>
          <a:xfrm>
            <a:off x="4434840" y="264261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7" name="s195"/>
          <p:cNvSpPr/>
          <p:nvPr/>
        </p:nvSpPr>
        <p:spPr>
          <a:xfrm>
            <a:off x="5715000" y="2642616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18" name="s196"/>
          <p:cNvSpPr/>
          <p:nvPr/>
        </p:nvSpPr>
        <p:spPr>
          <a:xfrm>
            <a:off x="548640" y="3099816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19" name="t197"/>
          <p:cNvSpPr txBox="1"/>
          <p:nvPr/>
        </p:nvSpPr>
        <p:spPr>
          <a:xfrm>
            <a:off x="731520" y="309981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bottoms, coker &amp; quench oil</a:t>
            </a:r>
            <a:endParaRPr lang="en-US" sz="1400" dirty="0"/>
          </a:p>
        </p:txBody>
      </p:sp>
      <p:sp>
        <p:nvSpPr>
          <p:cNvPr id="20" name="s198"/>
          <p:cNvSpPr/>
          <p:nvPr/>
        </p:nvSpPr>
        <p:spPr>
          <a:xfrm>
            <a:off x="443484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1" name="s199"/>
          <p:cNvSpPr/>
          <p:nvPr/>
        </p:nvSpPr>
        <p:spPr>
          <a:xfrm>
            <a:off x="5715000" y="320954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2" name="s200"/>
          <p:cNvSpPr/>
          <p:nvPr/>
        </p:nvSpPr>
        <p:spPr>
          <a:xfrm>
            <a:off x="6995160" y="3209544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3" name="s201"/>
          <p:cNvSpPr/>
          <p:nvPr/>
        </p:nvSpPr>
        <p:spPr>
          <a:xfrm>
            <a:off x="548640" y="3666744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24" name="t202"/>
          <p:cNvSpPr txBox="1"/>
          <p:nvPr/>
        </p:nvSpPr>
        <p:spPr>
          <a:xfrm>
            <a:off x="731520" y="366674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Exchangers &amp; air coolers</a:t>
            </a:r>
            <a:endParaRPr lang="en-US" sz="1400" dirty="0"/>
          </a:p>
        </p:txBody>
      </p:sp>
      <p:sp>
        <p:nvSpPr>
          <p:cNvPr id="25" name="s203"/>
          <p:cNvSpPr/>
          <p:nvPr/>
        </p:nvSpPr>
        <p:spPr>
          <a:xfrm>
            <a:off x="443484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6" name="s204"/>
          <p:cNvSpPr/>
          <p:nvPr/>
        </p:nvSpPr>
        <p:spPr>
          <a:xfrm>
            <a:off x="6995160" y="3776472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7" name="s205"/>
          <p:cNvSpPr/>
          <p:nvPr/>
        </p:nvSpPr>
        <p:spPr>
          <a:xfrm>
            <a:off x="8275320" y="3776472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28" name="s206"/>
          <p:cNvSpPr/>
          <p:nvPr/>
        </p:nvSpPr>
        <p:spPr>
          <a:xfrm>
            <a:off x="548640" y="4233672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3F7FA"/>
          </a:solidFill>
          <a:ln/>
        </p:spPr>
      </p:sp>
      <p:sp>
        <p:nvSpPr>
          <p:cNvPr id="29" name="t207"/>
          <p:cNvSpPr txBox="1"/>
          <p:nvPr/>
        </p:nvSpPr>
        <p:spPr>
          <a:xfrm>
            <a:off x="731520" y="423367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beds &amp; trays</a:t>
            </a:r>
            <a:endParaRPr lang="en-US" sz="1400" dirty="0"/>
          </a:p>
        </p:txBody>
      </p:sp>
      <p:sp>
        <p:nvSpPr>
          <p:cNvPr id="30" name="s208"/>
          <p:cNvSpPr/>
          <p:nvPr/>
        </p:nvSpPr>
        <p:spPr>
          <a:xfrm>
            <a:off x="4434840" y="434340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1" name="s209"/>
          <p:cNvSpPr/>
          <p:nvPr/>
        </p:nvSpPr>
        <p:spPr>
          <a:xfrm>
            <a:off x="9555480" y="4343400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2" name="s210"/>
          <p:cNvSpPr/>
          <p:nvPr/>
        </p:nvSpPr>
        <p:spPr>
          <a:xfrm>
            <a:off x="548640" y="4800600"/>
            <a:ext cx="110642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/>
        </p:spPr>
      </p:sp>
      <p:sp>
        <p:nvSpPr>
          <p:cNvPr id="33" name="t211"/>
          <p:cNvSpPr txBox="1"/>
          <p:nvPr/>
        </p:nvSpPr>
        <p:spPr>
          <a:xfrm>
            <a:off x="731520" y="48006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Tanks &amp; temperature-limited vessels</a:t>
            </a:r>
            <a:endParaRPr lang="en-US" sz="1400" dirty="0"/>
          </a:p>
        </p:txBody>
      </p:sp>
      <p:sp>
        <p:nvSpPr>
          <p:cNvPr id="34" name="s212"/>
          <p:cNvSpPr/>
          <p:nvPr/>
        </p:nvSpPr>
        <p:spPr>
          <a:xfrm>
            <a:off x="827532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5" name="s213"/>
          <p:cNvSpPr/>
          <p:nvPr/>
        </p:nvSpPr>
        <p:spPr>
          <a:xfrm>
            <a:off x="10835640" y="4910328"/>
            <a:ext cx="274320" cy="274320"/>
          </a:xfrm>
          <a:prstGeom prst="ellipse">
            <a:avLst/>
          </a:prstGeom>
          <a:solidFill>
            <a:srgbClr val="3AB54A"/>
          </a:solidFill>
          <a:ln w="25400">
            <a:solidFill>
              <a:srgbClr val="3AB54A"/>
            </a:solidFill>
            <a:prstDash val="solid"/>
          </a:ln>
        </p:spPr>
      </p:sp>
      <p:sp>
        <p:nvSpPr>
          <p:cNvPr id="36" name="t214"/>
          <p:cNvSpPr txBox="1"/>
          <p:nvPr/>
        </p:nvSpPr>
        <p:spPr>
          <a:xfrm>
            <a:off x="548640" y="5486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pPr indent="0" marL="0">
              <a:buNone/>
            </a:pP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method     </a:t>
            </a:r>
            <a:pPr indent="0" marL="0">
              <a:buNone/>
            </a:pPr>
            <a:r>
              <a:rPr lang="en-US" sz="1300" dirty="0">
                <a:solidFill>
                  <a:srgbClr val="3AB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pPr indent="0" marL="0">
              <a:buNone/>
            </a:pPr>
            <a:r>
              <a:rPr lang="en-US" sz="13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combination / where applicable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5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900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350"/>
                            </p:stCondLst>
                            <p:childTnLst>
                              <p:par>
                                <p:cTn id="7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1800"/>
                            </p:stCondLst>
                            <p:childTnLst>
                              <p:par>
                                <p:cTn id="10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250"/>
                            </p:stCondLst>
                            <p:childTnLst>
                              <p:par>
                                <p:cTn id="1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2700"/>
                            </p:stCondLst>
                            <p:childTnLst>
                              <p:par>
                                <p:cTn id="1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Vapour-phase – where each contaminant goes</a:t>
            </a:r>
            <a:endParaRPr lang="en-US" sz="2800" dirty="0"/>
          </a:p>
        </p:txBody>
      </p:sp>
      <p:sp>
        <p:nvSpPr>
          <p:cNvPr id="3" name="s215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216"/>
          <p:cNvSpPr/>
          <p:nvPr/>
        </p:nvSpPr>
        <p:spPr>
          <a:xfrm>
            <a:off x="4897526" y="2093976"/>
            <a:ext cx="213970" cy="2761488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217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218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219"/>
          <p:cNvSpPr/>
          <p:nvPr/>
        </p:nvSpPr>
        <p:spPr>
          <a:xfrm>
            <a:off x="4754880" y="1737360"/>
            <a:ext cx="1188720" cy="347472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220"/>
          <p:cNvSpPr/>
          <p:nvPr/>
        </p:nvSpPr>
        <p:spPr>
          <a:xfrm>
            <a:off x="5408676" y="236281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221"/>
          <p:cNvSpPr/>
          <p:nvPr/>
        </p:nvSpPr>
        <p:spPr>
          <a:xfrm>
            <a:off x="5610758" y="340522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222"/>
          <p:cNvSpPr/>
          <p:nvPr/>
        </p:nvSpPr>
        <p:spPr>
          <a:xfrm>
            <a:off x="5254142" y="403067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s223"/>
          <p:cNvSpPr/>
          <p:nvPr/>
        </p:nvSpPr>
        <p:spPr>
          <a:xfrm>
            <a:off x="4800600" y="21717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s224"/>
          <p:cNvSpPr/>
          <p:nvPr/>
        </p:nvSpPr>
        <p:spPr>
          <a:xfrm>
            <a:off x="4800600" y="26060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3" name="s225"/>
          <p:cNvSpPr/>
          <p:nvPr/>
        </p:nvSpPr>
        <p:spPr>
          <a:xfrm>
            <a:off x="4800600" y="304038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4" name="s226"/>
          <p:cNvSpPr/>
          <p:nvPr/>
        </p:nvSpPr>
        <p:spPr>
          <a:xfrm>
            <a:off x="4800600" y="347472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5" name="s227"/>
          <p:cNvSpPr/>
          <p:nvPr/>
        </p:nvSpPr>
        <p:spPr>
          <a:xfrm>
            <a:off x="4800600" y="390906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6" name="s228"/>
          <p:cNvSpPr/>
          <p:nvPr/>
        </p:nvSpPr>
        <p:spPr>
          <a:xfrm>
            <a:off x="4800600" y="434340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7" name="s229"/>
          <p:cNvSpPr/>
          <p:nvPr/>
        </p:nvSpPr>
        <p:spPr>
          <a:xfrm>
            <a:off x="4800600" y="4777740"/>
            <a:ext cx="10972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8" name="t230"/>
          <p:cNvSpPr txBox="1"/>
          <p:nvPr/>
        </p:nvSpPr>
        <p:spPr>
          <a:xfrm>
            <a:off x="4754880" y="52303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100" dirty="0"/>
          </a:p>
        </p:txBody>
      </p:sp>
      <p:sp>
        <p:nvSpPr>
          <p:cNvPr id="19" name="s231"/>
          <p:cNvSpPr/>
          <p:nvPr/>
        </p:nvSpPr>
        <p:spPr>
          <a:xfrm flipV="1">
            <a:off x="5349240" y="141732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0" name="s232"/>
          <p:cNvSpPr/>
          <p:nvPr/>
        </p:nvSpPr>
        <p:spPr>
          <a:xfrm>
            <a:off x="5349240" y="1417320"/>
            <a:ext cx="46634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s233"/>
          <p:cNvSpPr/>
          <p:nvPr/>
        </p:nvSpPr>
        <p:spPr>
          <a:xfrm>
            <a:off x="1001268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2" name="s234"/>
          <p:cNvSpPr/>
          <p:nvPr/>
        </p:nvSpPr>
        <p:spPr>
          <a:xfrm>
            <a:off x="988466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23" name="s235"/>
          <p:cNvSpPr/>
          <p:nvPr/>
        </p:nvSpPr>
        <p:spPr>
          <a:xfrm>
            <a:off x="997610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24" name="t236"/>
          <p:cNvSpPr txBox="1"/>
          <p:nvPr/>
        </p:nvSpPr>
        <p:spPr>
          <a:xfrm>
            <a:off x="955548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5" name="s237"/>
          <p:cNvSpPr/>
          <p:nvPr/>
        </p:nvSpPr>
        <p:spPr>
          <a:xfrm>
            <a:off x="5349240" y="5212080"/>
            <a:ext cx="0" cy="32004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6" name="s238"/>
          <p:cNvSpPr/>
          <p:nvPr/>
        </p:nvSpPr>
        <p:spPr>
          <a:xfrm>
            <a:off x="5349240" y="5532120"/>
            <a:ext cx="30632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7" name="s239"/>
          <p:cNvSpPr/>
          <p:nvPr/>
        </p:nvSpPr>
        <p:spPr>
          <a:xfrm flipV="1">
            <a:off x="8412480" y="5029200"/>
            <a:ext cx="0" cy="5029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8" name="s240"/>
          <p:cNvSpPr/>
          <p:nvPr/>
        </p:nvSpPr>
        <p:spPr>
          <a:xfrm>
            <a:off x="8412480" y="502920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t241"/>
          <p:cNvSpPr txBox="1"/>
          <p:nvPr/>
        </p:nvSpPr>
        <p:spPr>
          <a:xfrm>
            <a:off x="612648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Condensate drain</a:t>
            </a:r>
            <a:endParaRPr lang="en-US" sz="1100" dirty="0"/>
          </a:p>
        </p:txBody>
      </p:sp>
      <p:sp>
        <p:nvSpPr>
          <p:cNvPr id="30" name="s242"/>
          <p:cNvSpPr/>
          <p:nvPr/>
        </p:nvSpPr>
        <p:spPr>
          <a:xfrm>
            <a:off x="8778240" y="4343400"/>
            <a:ext cx="146304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1" name="s243"/>
          <p:cNvSpPr/>
          <p:nvPr/>
        </p:nvSpPr>
        <p:spPr>
          <a:xfrm>
            <a:off x="8823960" y="516636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2" name="s244"/>
          <p:cNvSpPr/>
          <p:nvPr/>
        </p:nvSpPr>
        <p:spPr>
          <a:xfrm>
            <a:off x="8823960" y="480060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3" name="t245"/>
          <p:cNvSpPr txBox="1"/>
          <p:nvPr/>
        </p:nvSpPr>
        <p:spPr>
          <a:xfrm>
            <a:off x="8412480" y="5513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4" name="t246"/>
          <p:cNvSpPr txBox="1"/>
          <p:nvPr/>
        </p:nvSpPr>
        <p:spPr>
          <a:xfrm>
            <a:off x="548640" y="4572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35" name="s247"/>
          <p:cNvSpPr/>
          <p:nvPr/>
        </p:nvSpPr>
        <p:spPr>
          <a:xfrm>
            <a:off x="1188720" y="4846320"/>
            <a:ext cx="356616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36" name="t248"/>
          <p:cNvSpPr txBox="1"/>
          <p:nvPr/>
        </p:nvSpPr>
        <p:spPr>
          <a:xfrm>
            <a:off x="20116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37" name="s249"/>
          <p:cNvSpPr/>
          <p:nvPr/>
        </p:nvSpPr>
        <p:spPr>
          <a:xfrm>
            <a:off x="2743200" y="4407408"/>
            <a:ext cx="0" cy="438912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8" name="s250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39" name="t251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40" name="t252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1" name="t253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2" name="t254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3" name="t255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4" name="t256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5" name="t257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6" name="t258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7" name="t259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8" name="t260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9" name="s261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50" name="t26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unit is shut down, drained and isolated – the column still holds H₂S, benzene, LEL gases, pyrophoric FeS and heavy oil.</a:t>
            </a:r>
            <a:endParaRPr lang="en-US" sz="1400" dirty="0"/>
          </a:p>
        </p:txBody>
      </p:sp>
      <p:sp>
        <p:nvSpPr>
          <p:cNvPr id="51" name="t26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Steam is introduced through the existing steam-out lines and heats the whole column.</a:t>
            </a:r>
            <a:endParaRPr lang="en-US" sz="1400" dirty="0"/>
          </a:p>
        </p:txBody>
      </p:sp>
      <p:sp>
        <p:nvSpPr>
          <p:cNvPr id="52" name="t26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chemistry is injected into the steam and reaches every surface the steam reaches.</a:t>
            </a:r>
            <a:endParaRPr lang="en-US" sz="1400" dirty="0"/>
          </a:p>
        </p:txBody>
      </p:sp>
      <p:sp>
        <p:nvSpPr>
          <p:cNvPr id="53" name="t26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stable, non-volatile compounds that stay in the condensate and drain to the effluent tank.</a:t>
            </a:r>
            <a:endParaRPr lang="en-US" sz="1400" dirty="0"/>
          </a:p>
        </p:txBody>
      </p:sp>
      <p:sp>
        <p:nvSpPr>
          <p:cNvPr id="54" name="t26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is oxidised in place to stable iron oxide – it can no longer self-heat – and is washed out.</a:t>
            </a:r>
            <a:endParaRPr lang="en-US" sz="1400" dirty="0"/>
          </a:p>
        </p:txBody>
      </p:sp>
      <p:sp>
        <p:nvSpPr>
          <p:cNvPr id="55" name="t26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hydrocarbons are swept to the flare / closed vent; dissolved benzene drains with the condensate.</a:t>
            </a:r>
            <a:endParaRPr lang="en-US" sz="1400" dirty="0"/>
          </a:p>
        </p:txBody>
      </p:sp>
      <p:sp>
        <p:nvSpPr>
          <p:cNvPr id="56" name="t26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Softened deposits and heavy oil drain with the condensate – the column is clean.</a:t>
            </a:r>
            <a:endParaRPr lang="en-US" sz="1400" dirty="0"/>
          </a:p>
        </p:txBody>
      </p:sp>
      <p:sp>
        <p:nvSpPr>
          <p:cNvPr id="57" name="t26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column is handed over for safe entry.</a:t>
            </a:r>
            <a:endParaRPr lang="en-US" sz="1400" dirty="0"/>
          </a:p>
        </p:txBody>
      </p:sp>
      <p:sp>
        <p:nvSpPr>
          <p:cNvPr id="58" name="tag270"/>
          <p:cNvSpPr/>
          <p:nvPr/>
        </p:nvSpPr>
        <p:spPr>
          <a:xfrm>
            <a:off x="4892040" y="20574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9" name="tag271"/>
          <p:cNvSpPr/>
          <p:nvPr/>
        </p:nvSpPr>
        <p:spPr>
          <a:xfrm>
            <a:off x="4892040" y="26060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60" name="tag272"/>
          <p:cNvSpPr/>
          <p:nvPr/>
        </p:nvSpPr>
        <p:spPr>
          <a:xfrm>
            <a:off x="489204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1" name="s273"/>
          <p:cNvSpPr/>
          <p:nvPr/>
        </p:nvSpPr>
        <p:spPr>
          <a:xfrm>
            <a:off x="4828032" y="3657600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62" name="tag274"/>
          <p:cNvSpPr/>
          <p:nvPr/>
        </p:nvSpPr>
        <p:spPr>
          <a:xfrm>
            <a:off x="4892040" y="37216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3" name="tag275"/>
          <p:cNvSpPr/>
          <p:nvPr/>
        </p:nvSpPr>
        <p:spPr>
          <a:xfrm>
            <a:off x="4800600" y="205740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4" name="tag276"/>
          <p:cNvSpPr/>
          <p:nvPr/>
        </p:nvSpPr>
        <p:spPr>
          <a:xfrm>
            <a:off x="4800600" y="372160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5" name="s277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6" name="s278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7" name="s279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8" name="s280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69" name="s281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0" name="s282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1" name="s283"/>
          <p:cNvSpPr/>
          <p:nvPr/>
        </p:nvSpPr>
        <p:spPr>
          <a:xfrm>
            <a:off x="1097280" y="47548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72" name="s284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285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286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287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288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289"/>
          <p:cNvSpPr/>
          <p:nvPr/>
        </p:nvSpPr>
        <p:spPr>
          <a:xfrm>
            <a:off x="2651760" y="4315968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290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291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292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293"/>
          <p:cNvSpPr/>
          <p:nvPr/>
        </p:nvSpPr>
        <p:spPr>
          <a:xfrm>
            <a:off x="5248656" y="2121408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294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295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296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297"/>
          <p:cNvSpPr/>
          <p:nvPr/>
        </p:nvSpPr>
        <p:spPr>
          <a:xfrm>
            <a:off x="5248656" y="3785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298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299"/>
          <p:cNvSpPr/>
          <p:nvPr/>
        </p:nvSpPr>
        <p:spPr>
          <a:xfrm>
            <a:off x="5266944" y="2688336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300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301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302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303"/>
          <p:cNvSpPr/>
          <p:nvPr/>
        </p:nvSpPr>
        <p:spPr>
          <a:xfrm>
            <a:off x="5248656" y="4654296"/>
            <a:ext cx="201168" cy="201168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304"/>
          <p:cNvSpPr/>
          <p:nvPr/>
        </p:nvSpPr>
        <p:spPr>
          <a:xfrm>
            <a:off x="4849978" y="1828800"/>
            <a:ext cx="99852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3" name="s305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4" name="t306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1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26" dur="2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0" presetClass="path" presetSubtype="0" fill="hold" grpId="3" nodeType="withEffect">
                                  <p:stCondLst>
                                    <p:cond delay="103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32" dur="2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323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0" presetClass="path" presetSubtype="0" fill="hold" grpId="3" nodeType="withEffect">
                                  <p:stCondLst>
                                    <p:cond delay="136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38" dur="2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35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3" nodeType="withEffect">
                                  <p:stCondLst>
                                    <p:cond delay="169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44" dur="2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38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50" dur="2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42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56" dur="2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45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0" presetClass="path" presetSubtype="0" fill="hold" grpId="3" nodeType="withEffect">
                                  <p:stCondLst>
                                    <p:cond delay="2680"/>
                                  </p:stCondLst>
                                  <p:childTnLst>
                                    <p:animMotion origin="layout" path="M 0 0 L 0.3263 0.0000 L 0.3263 -0.4000 E" pathEditMode="relative" ptsTypes="AAA">
                                      <p:cBhvr>
                                        <p:cTn id="62" dur="2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78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96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84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90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37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3" nodeType="withEffect">
                                  <p:stCondLst>
                                    <p:cond delay="168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96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4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grpId="3" nodeType="withEffect">
                                  <p:stCondLst>
                                    <p:cond delay="204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02" dur="24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4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0000 0.0640 L 0.2063 0.0640 L 0.2063 -0.3627 E" pathEditMode="relative" ptsTypes="AAAA">
                                      <p:cBhvr>
                                        <p:cTn id="108" dur="24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2" dur="300" autoRev="1" fill="hold"/>
                                        <p:tgtEl>
                                          <p:spTgt spid="58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500"/>
                            </p:stCondLst>
                            <p:childTnLst>
                              <p:par>
                                <p:cTn id="12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950"/>
                            </p:stCondLst>
                            <p:childTnLst>
                              <p:par>
                                <p:cTn id="131" presetID="10" presetClass="exit" presetSubtype="0" fill="hold" grpId="1" nodeType="after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37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8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3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43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49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4827 L 0.2513 0.4827 L 0.2513 0.4093 L 0.3000 0.4093 E" pathEditMode="relative" ptsTypes="AAAAA">
                                      <p:cBhvr>
                                        <p:cTn id="155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35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4800"/>
                            </p:stCondLst>
                            <p:childTnLst>
                              <p:par>
                                <p:cTn id="15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1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79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84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189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2000"/>
                            </p:stCondLst>
                            <p:childTnLst>
                              <p:par>
                                <p:cTn id="194" presetID="10" presetClass="exit" presetSubtype="0" fill="hold" grpId="1" nodeType="afterEffect">
                                  <p:stCondLst>
                                    <p:cond delay="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00" dur="18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1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0" presetClass="path" presetSubtype="0" fill="hold" grpId="3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06" dur="18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7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12" dur="18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0.2400 L 0.2513 0.2400 L 0.2513 0.1667 L 0.3000 0.1667 E" pathEditMode="relative" ptsTypes="AAAAA">
                                      <p:cBhvr>
                                        <p:cTn id="218" dur="18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9" presetID="1" presetClass="exit" presetSubtype="0" fill="hold" grpId="1" nodeType="withEffect">
                                  <p:stCondLst>
                                    <p:cond delay="295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1973 L 0.4050 -0.1973 E" pathEditMode="relative" ptsTypes="AAA">
                                      <p:cBhvr>
                                        <p:cTn id="229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-0.2773 L 0.4050 -0.2773 E" pathEditMode="relative" ptsTypes="AAA">
                                      <p:cBhvr>
                                        <p:cTn id="234" dur="18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6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239" dur="30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240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241" dur="300" autoRev="1" fill="hold"/>
                                        <p:tgtEl>
                                          <p:spTgt spid="23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245" dur="18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6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4027 L 0.2513 0.4027 L 0.2513 0.3293 L 0.3000 0.3293 E" pathEditMode="relative" ptsTypes="AAAAA">
                                      <p:cBhvr>
                                        <p:cTn id="251" dur="18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2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4" fill="hold">
                      <p:stCondLst>
                        <p:cond delay="indefinite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1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67" dur="1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8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73" dur="1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4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79" dur="16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1133 L 0.2513 0.1133 L 0.2513 0.0400 L 0.3000 0.0400 E" pathEditMode="relative" ptsTypes="AAAAA">
                                      <p:cBhvr>
                                        <p:cTn id="285" dur="16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8" fill="hold">
                            <p:stCondLst>
                              <p:cond delay="3000"/>
                            </p:stCondLst>
                            <p:childTnLst>
                              <p:par>
                                <p:cTn id="28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2" fill="hold">
                            <p:stCondLst>
                              <p:cond delay="4200"/>
                            </p:stCondLst>
                            <p:childTnLst>
                              <p:par>
                                <p:cTn id="29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296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7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8" dur="3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2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3" fill="hold">
                      <p:stCondLst>
                        <p:cond delay="indefinite"/>
                      </p:stCondLst>
                      <p:childTnLst>
                        <p:par>
                          <p:cTn id="304" fill="hold">
                            <p:stCondLst>
                              <p:cond delay="0"/>
                            </p:stCondLst>
                            <p:childTnLst>
                              <p:par>
                                <p:cTn id="30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4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5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6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1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9" dur="4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3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5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9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0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2" fill="hold">
                            <p:stCondLst>
                              <p:cond delay="2500"/>
                            </p:stCondLst>
                            <p:childTnLst>
                              <p:par>
                                <p:cTn id="34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4" dur="400" autoRev="1" fill="hold"/>
                                        <p:tgtEl>
                                          <p:spTgt spid="93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4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6" dur="400" autoRev="1" fill="hold"/>
                                        <p:tgtEl>
                                          <p:spTgt spid="94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50" grpId="0" animBg="1"/>
      <p:bldP spid="61" grpId="2" animBg="1"/>
      <p:bldP spid="50" grpId="1" animBg="1"/>
      <p:bldP spid="51" grpId="0" animBg="1"/>
      <p:bldP spid="35" grpId="0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51" grpId="1" animBg="1"/>
      <p:bldP spid="52" grpId="0" animBg="1"/>
      <p:bldP spid="37" grpId="0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" grpId="1" animBg="1"/>
      <p:bldP spid="52" grpId="1" animBg="1"/>
      <p:bldP spid="53" grpId="0" animBg="1"/>
      <p:bldP spid="58" grpId="2" animBg="1"/>
      <p:bldP spid="58" grpId="1" animBg="1"/>
      <p:bldP spid="63" grpId="0" animBg="1"/>
      <p:bldP spid="63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31" grpId="0" animBg="1"/>
      <p:bldP spid="53" grpId="1" animBg="1"/>
      <p:bldP spid="54" grpId="0" animBg="1"/>
      <p:bldP spid="61" grpId="1" animBg="1"/>
      <p:bldP spid="62" grpId="1" animBg="1"/>
      <p:bldP spid="64" grpId="0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64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54" grpId="1" animBg="1"/>
      <p:bldP spid="55" grpId="0" animBg="1"/>
      <p:bldP spid="59" grpId="3" animBg="1"/>
      <p:bldP spid="59" grpId="1" animBg="1"/>
      <p:bldP spid="60" grpId="3" animBg="1"/>
      <p:bldP spid="60" grpId="1" animBg="1"/>
      <p:bldP spid="22" grpId="2" animBg="1"/>
      <p:bldP spid="23" grpId="2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55" grpId="1" animBg="1"/>
      <p:bldP spid="56" grpId="0" animBg="1"/>
      <p:bldP spid="6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5" grpId="1" animBg="1"/>
      <p:bldP spid="92" grpId="0" animBg="1"/>
      <p:bldP spid="92" grpId="3" animBg="1"/>
      <p:bldP spid="92" grpId="1" animBg="1"/>
      <p:bldP spid="32" grpId="0" animBg="1"/>
      <p:bldP spid="56" grpId="1" animBg="1"/>
      <p:bldP spid="57" grpId="0" animBg="1"/>
      <p:bldP spid="41" grpId="1" animBg="1"/>
      <p:bldP spid="42" grpId="0" animBg="1"/>
      <p:bldP spid="44" grpId="1" animBg="1"/>
      <p:bldP spid="45" grpId="0" animBg="1"/>
      <p:bldP spid="47" grpId="1" animBg="1"/>
      <p:bldP spid="48" grpId="0" animBg="1"/>
      <p:bldP spid="93" grpId="0" animBg="1"/>
      <p:bldP spid="94" grpId="0" animBg="1"/>
      <p:bldP spid="93" grpId="2" animBg="1"/>
      <p:bldP spid="94" grpId="2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Boil-out – vessels with sludge</a:t>
            </a:r>
            <a:endParaRPr lang="en-US" sz="2800" dirty="0"/>
          </a:p>
        </p:txBody>
      </p:sp>
      <p:sp>
        <p:nvSpPr>
          <p:cNvPr id="3" name="s307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308"/>
          <p:cNvSpPr/>
          <p:nvPr/>
        </p:nvSpPr>
        <p:spPr>
          <a:xfrm>
            <a:off x="4590288" y="2275027"/>
            <a:ext cx="987552" cy="166786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309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310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311"/>
          <p:cNvSpPr/>
          <p:nvPr/>
        </p:nvSpPr>
        <p:spPr>
          <a:xfrm>
            <a:off x="3931920" y="2011680"/>
            <a:ext cx="5486400" cy="2194560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312"/>
          <p:cNvSpPr/>
          <p:nvPr/>
        </p:nvSpPr>
        <p:spPr>
          <a:xfrm>
            <a:off x="6949440" y="2406701"/>
            <a:ext cx="91440" cy="52669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313"/>
          <p:cNvSpPr/>
          <p:nvPr/>
        </p:nvSpPr>
        <p:spPr>
          <a:xfrm>
            <a:off x="7882128" y="3065069"/>
            <a:ext cx="91440" cy="43891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314"/>
          <p:cNvSpPr/>
          <p:nvPr/>
        </p:nvSpPr>
        <p:spPr>
          <a:xfrm>
            <a:off x="6236208" y="3460090"/>
            <a:ext cx="91440" cy="351130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s315"/>
          <p:cNvSpPr/>
          <p:nvPr/>
        </p:nvSpPr>
        <p:spPr>
          <a:xfrm>
            <a:off x="4480560" y="3657600"/>
            <a:ext cx="4389120" cy="384048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12" name="s316"/>
          <p:cNvSpPr/>
          <p:nvPr/>
        </p:nvSpPr>
        <p:spPr>
          <a:xfrm>
            <a:off x="4251960" y="2697480"/>
            <a:ext cx="4846320" cy="960120"/>
          </a:xfrm>
          <a:prstGeom prst="roundRect">
            <a:avLst>
              <a:gd name="adj" fmla="val 28571"/>
            </a:avLst>
          </a:prstGeom>
          <a:solidFill>
            <a:srgbClr val="BFDDF2">
              <a:alpha val="85000"/>
            </a:srgbClr>
          </a:solidFill>
          <a:ln/>
        </p:spPr>
      </p:sp>
      <p:sp>
        <p:nvSpPr>
          <p:cNvPr id="13" name="t317"/>
          <p:cNvSpPr txBox="1"/>
          <p:nvPr/>
        </p:nvSpPr>
        <p:spPr>
          <a:xfrm>
            <a:off x="3931920" y="4224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/ drum</a:t>
            </a:r>
            <a:endParaRPr lang="en-US" sz="1100" dirty="0"/>
          </a:p>
        </p:txBody>
      </p:sp>
      <p:sp>
        <p:nvSpPr>
          <p:cNvPr id="14" name="s318"/>
          <p:cNvSpPr/>
          <p:nvPr/>
        </p:nvSpPr>
        <p:spPr>
          <a:xfrm flipV="1">
            <a:off x="8595360" y="1417320"/>
            <a:ext cx="0" cy="59436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15" name="s319"/>
          <p:cNvSpPr/>
          <p:nvPr/>
        </p:nvSpPr>
        <p:spPr>
          <a:xfrm>
            <a:off x="8595360" y="1417320"/>
            <a:ext cx="20116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320"/>
          <p:cNvSpPr/>
          <p:nvPr/>
        </p:nvSpPr>
        <p:spPr>
          <a:xfrm>
            <a:off x="10607040" y="114300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7" name="s321"/>
          <p:cNvSpPr/>
          <p:nvPr/>
        </p:nvSpPr>
        <p:spPr>
          <a:xfrm>
            <a:off x="10479024" y="64008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18" name="s322"/>
          <p:cNvSpPr/>
          <p:nvPr/>
        </p:nvSpPr>
        <p:spPr>
          <a:xfrm>
            <a:off x="10570464" y="85039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19" name="t323"/>
          <p:cNvSpPr txBox="1"/>
          <p:nvPr/>
        </p:nvSpPr>
        <p:spPr>
          <a:xfrm>
            <a:off x="10149840" y="2377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20" name="t324"/>
          <p:cNvSpPr txBox="1"/>
          <p:nvPr/>
        </p:nvSpPr>
        <p:spPr>
          <a:xfrm>
            <a:off x="10561320" y="4526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21" name="s325"/>
          <p:cNvSpPr/>
          <p:nvPr/>
        </p:nvSpPr>
        <p:spPr>
          <a:xfrm flipH="1">
            <a:off x="5669280" y="4846320"/>
            <a:ext cx="5669280" cy="0"/>
          </a:xfrm>
          <a:prstGeom prst="line">
            <a:avLst/>
          </a:prstGeom>
          <a:noFill/>
          <a:ln w="63500">
            <a:solidFill>
              <a:srgbClr val="0C74BC"/>
            </a:solidFill>
            <a:prstDash val="solid"/>
          </a:ln>
        </p:spPr>
      </p:sp>
      <p:sp>
        <p:nvSpPr>
          <p:cNvPr id="22" name="s326"/>
          <p:cNvSpPr/>
          <p:nvPr/>
        </p:nvSpPr>
        <p:spPr>
          <a:xfrm flipV="1">
            <a:off x="566928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3" name="s327"/>
          <p:cNvSpPr/>
          <p:nvPr/>
        </p:nvSpPr>
        <p:spPr>
          <a:xfrm flipV="1">
            <a:off x="667512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4" name="s328"/>
          <p:cNvSpPr/>
          <p:nvPr/>
        </p:nvSpPr>
        <p:spPr>
          <a:xfrm flipV="1">
            <a:off x="7680960" y="4206240"/>
            <a:ext cx="0" cy="64008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25" name="t329"/>
          <p:cNvSpPr txBox="1"/>
          <p:nvPr/>
        </p:nvSpPr>
        <p:spPr>
          <a:xfrm>
            <a:off x="8503920" y="5440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200" dirty="0"/>
          </a:p>
        </p:txBody>
      </p:sp>
      <p:sp>
        <p:nvSpPr>
          <p:cNvPr id="26" name="s330"/>
          <p:cNvSpPr/>
          <p:nvPr/>
        </p:nvSpPr>
        <p:spPr>
          <a:xfrm flipV="1">
            <a:off x="9692640" y="4846320"/>
            <a:ext cx="0" cy="548640"/>
          </a:xfrm>
          <a:prstGeom prst="line">
            <a:avLst/>
          </a:prstGeom>
          <a:noFill/>
          <a:ln w="635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27" name="s331"/>
          <p:cNvSpPr/>
          <p:nvPr/>
        </p:nvSpPr>
        <p:spPr>
          <a:xfrm>
            <a:off x="5120640" y="4206240"/>
            <a:ext cx="0" cy="8686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8" name="s332"/>
          <p:cNvSpPr/>
          <p:nvPr/>
        </p:nvSpPr>
        <p:spPr>
          <a:xfrm flipH="1">
            <a:off x="2103120" y="5074920"/>
            <a:ext cx="30175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s333"/>
          <p:cNvSpPr/>
          <p:nvPr/>
        </p:nvSpPr>
        <p:spPr>
          <a:xfrm>
            <a:off x="640080" y="4343400"/>
            <a:ext cx="146304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0" name="s334"/>
          <p:cNvSpPr/>
          <p:nvPr/>
        </p:nvSpPr>
        <p:spPr>
          <a:xfrm>
            <a:off x="685800" y="5074920"/>
            <a:ext cx="137160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1" name="s335"/>
          <p:cNvSpPr/>
          <p:nvPr/>
        </p:nvSpPr>
        <p:spPr>
          <a:xfrm>
            <a:off x="685800" y="4709160"/>
            <a:ext cx="137160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32" name="t336"/>
          <p:cNvSpPr txBox="1"/>
          <p:nvPr/>
        </p:nvSpPr>
        <p:spPr>
          <a:xfrm>
            <a:off x="274320" y="54223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33" name="s337"/>
          <p:cNvSpPr/>
          <p:nvPr/>
        </p:nvSpPr>
        <p:spPr>
          <a:xfrm>
            <a:off x="9710928" y="2194560"/>
            <a:ext cx="201168" cy="1737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4" name="s338"/>
          <p:cNvSpPr/>
          <p:nvPr/>
        </p:nvSpPr>
        <p:spPr>
          <a:xfrm>
            <a:off x="9747504" y="2377440"/>
            <a:ext cx="128016" cy="153619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5" name="s339"/>
          <p:cNvSpPr/>
          <p:nvPr/>
        </p:nvSpPr>
        <p:spPr>
          <a:xfrm>
            <a:off x="9646920" y="379476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36" name="t340"/>
          <p:cNvSpPr txBox="1"/>
          <p:nvPr/>
        </p:nvSpPr>
        <p:spPr>
          <a:xfrm>
            <a:off x="937260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</a:t>
            </a:r>
            <a:endParaRPr lang="en-US" sz="1100" dirty="0"/>
          </a:p>
        </p:txBody>
      </p:sp>
      <p:sp>
        <p:nvSpPr>
          <p:cNvPr id="37" name="s341"/>
          <p:cNvSpPr/>
          <p:nvPr/>
        </p:nvSpPr>
        <p:spPr>
          <a:xfrm>
            <a:off x="548640" y="13716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38" name="t342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39" name="t343"/>
          <p:cNvSpPr txBox="1"/>
          <p:nvPr/>
        </p:nvSpPr>
        <p:spPr>
          <a:xfrm>
            <a:off x="73152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40" name="t344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1" name="t345"/>
          <p:cNvSpPr txBox="1"/>
          <p:nvPr/>
        </p:nvSpPr>
        <p:spPr>
          <a:xfrm>
            <a:off x="1737360" y="18745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2" name="t346"/>
          <p:cNvSpPr txBox="1"/>
          <p:nvPr/>
        </p:nvSpPr>
        <p:spPr>
          <a:xfrm>
            <a:off x="731520" y="228600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43" name="t347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4" name="t348"/>
          <p:cNvSpPr txBox="1"/>
          <p:nvPr/>
        </p:nvSpPr>
        <p:spPr>
          <a:xfrm>
            <a:off x="1737360" y="22860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5" name="t349"/>
          <p:cNvSpPr txBox="1"/>
          <p:nvPr/>
        </p:nvSpPr>
        <p:spPr>
          <a:xfrm>
            <a:off x="73152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46" name="t350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47" name="t351"/>
          <p:cNvSpPr txBox="1"/>
          <p:nvPr/>
        </p:nvSpPr>
        <p:spPr>
          <a:xfrm>
            <a:off x="1737360" y="26974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48" name="s352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49" name="t35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The vessel is drained and isolated – sludge on the bottom, H₂S, benzene and LEL above it, pyrophoric FeS in the deposits.</a:t>
            </a:r>
            <a:endParaRPr lang="en-US" sz="1400" dirty="0"/>
          </a:p>
        </p:txBody>
      </p:sp>
      <p:sp>
        <p:nvSpPr>
          <p:cNvPr id="50" name="t35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Water is filled above the sludge level.</a:t>
            </a:r>
            <a:endParaRPr lang="en-US" sz="1400" dirty="0"/>
          </a:p>
        </p:txBody>
      </p:sp>
      <p:sp>
        <p:nvSpPr>
          <p:cNvPr id="51" name="t35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Steam is injected at several points along the bottom and brings the water to the boil.</a:t>
            </a:r>
            <a:endParaRPr lang="en-US" sz="1400" dirty="0"/>
          </a:p>
        </p:txBody>
      </p:sp>
      <p:sp>
        <p:nvSpPr>
          <p:cNvPr id="52" name="t35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Decon chemistry is injected with the steam; the rolling boil lifts and emulsifies the sludge.</a:t>
            </a:r>
            <a:endParaRPr lang="en-US" sz="1400" dirty="0"/>
          </a:p>
        </p:txBody>
      </p:sp>
      <p:sp>
        <p:nvSpPr>
          <p:cNvPr id="53" name="t35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H₂S dissolves and is converted into stable compounds; FeS is oxidised to iron oxide – both stay in the water.</a:t>
            </a:r>
            <a:endParaRPr lang="en-US" sz="1400" dirty="0"/>
          </a:p>
        </p:txBody>
      </p:sp>
      <p:sp>
        <p:nvSpPr>
          <p:cNvPr id="54" name="t35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Benzene and LEL vapours leave through the vent to the flare / closed vent.</a:t>
            </a:r>
            <a:endParaRPr lang="en-US" sz="1400" dirty="0"/>
          </a:p>
        </p:txBody>
      </p:sp>
      <p:sp>
        <p:nvSpPr>
          <p:cNvPr id="55" name="t35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vessel is drained to the effluent tank and rinsed – the vessel is clean.</a:t>
            </a:r>
            <a:endParaRPr lang="en-US" sz="1400" dirty="0"/>
          </a:p>
        </p:txBody>
      </p:sp>
      <p:sp>
        <p:nvSpPr>
          <p:cNvPr id="56" name="t36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the vessel is handed over for safe entry.</a:t>
            </a:r>
            <a:endParaRPr lang="en-US" sz="1400" dirty="0"/>
          </a:p>
        </p:txBody>
      </p:sp>
      <p:sp>
        <p:nvSpPr>
          <p:cNvPr id="57" name="tag361"/>
          <p:cNvSpPr/>
          <p:nvPr/>
        </p:nvSpPr>
        <p:spPr>
          <a:xfrm>
            <a:off x="484632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8" name="tag362"/>
          <p:cNvSpPr/>
          <p:nvPr/>
        </p:nvSpPr>
        <p:spPr>
          <a:xfrm>
            <a:off x="603504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9" name="tag363"/>
          <p:cNvSpPr/>
          <p:nvPr/>
        </p:nvSpPr>
        <p:spPr>
          <a:xfrm>
            <a:off x="7223760" y="21945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60" name="s364"/>
          <p:cNvSpPr/>
          <p:nvPr/>
        </p:nvSpPr>
        <p:spPr>
          <a:xfrm>
            <a:off x="7708392" y="3602736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61" name="tag365"/>
          <p:cNvSpPr/>
          <p:nvPr/>
        </p:nvSpPr>
        <p:spPr>
          <a:xfrm>
            <a:off x="7772400" y="36667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62" name="tag366"/>
          <p:cNvSpPr/>
          <p:nvPr/>
        </p:nvSpPr>
        <p:spPr>
          <a:xfrm>
            <a:off x="475488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63" name="tag367"/>
          <p:cNvSpPr/>
          <p:nvPr/>
        </p:nvSpPr>
        <p:spPr>
          <a:xfrm>
            <a:off x="7680960" y="30175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64" name="s368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369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370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371"/>
          <p:cNvSpPr/>
          <p:nvPr/>
        </p:nvSpPr>
        <p:spPr>
          <a:xfrm>
            <a:off x="11164824" y="476402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372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69" name="s373"/>
          <p:cNvSpPr/>
          <p:nvPr/>
        </p:nvSpPr>
        <p:spPr>
          <a:xfrm>
            <a:off x="4965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0" name="s374"/>
          <p:cNvSpPr/>
          <p:nvPr/>
        </p:nvSpPr>
        <p:spPr>
          <a:xfrm>
            <a:off x="54498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1" name="s375"/>
          <p:cNvSpPr/>
          <p:nvPr/>
        </p:nvSpPr>
        <p:spPr>
          <a:xfrm>
            <a:off x="59344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2" name="s376"/>
          <p:cNvSpPr/>
          <p:nvPr/>
        </p:nvSpPr>
        <p:spPr>
          <a:xfrm>
            <a:off x="641908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3" name="s377"/>
          <p:cNvSpPr/>
          <p:nvPr/>
        </p:nvSpPr>
        <p:spPr>
          <a:xfrm>
            <a:off x="69037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4" name="s378"/>
          <p:cNvSpPr/>
          <p:nvPr/>
        </p:nvSpPr>
        <p:spPr>
          <a:xfrm>
            <a:off x="73883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5" name="s379"/>
          <p:cNvSpPr/>
          <p:nvPr/>
        </p:nvSpPr>
        <p:spPr>
          <a:xfrm>
            <a:off x="78729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6" name="s380"/>
          <p:cNvSpPr/>
          <p:nvPr/>
        </p:nvSpPr>
        <p:spPr>
          <a:xfrm>
            <a:off x="83576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7" name="s381"/>
          <p:cNvSpPr/>
          <p:nvPr/>
        </p:nvSpPr>
        <p:spPr>
          <a:xfrm>
            <a:off x="88422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8" name="s382"/>
          <p:cNvSpPr/>
          <p:nvPr/>
        </p:nvSpPr>
        <p:spPr>
          <a:xfrm>
            <a:off x="484632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79" name="s383"/>
          <p:cNvSpPr/>
          <p:nvPr/>
        </p:nvSpPr>
        <p:spPr>
          <a:xfrm>
            <a:off x="533095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0" name="s384"/>
          <p:cNvSpPr/>
          <p:nvPr/>
        </p:nvSpPr>
        <p:spPr>
          <a:xfrm>
            <a:off x="581558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1" name="s385"/>
          <p:cNvSpPr/>
          <p:nvPr/>
        </p:nvSpPr>
        <p:spPr>
          <a:xfrm>
            <a:off x="630021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2" name="s386"/>
          <p:cNvSpPr/>
          <p:nvPr/>
        </p:nvSpPr>
        <p:spPr>
          <a:xfrm>
            <a:off x="67848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3" name="s387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4" name="s388"/>
          <p:cNvSpPr/>
          <p:nvPr/>
        </p:nvSpPr>
        <p:spPr>
          <a:xfrm>
            <a:off x="77541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5" name="s389"/>
          <p:cNvSpPr/>
          <p:nvPr/>
        </p:nvSpPr>
        <p:spPr>
          <a:xfrm>
            <a:off x="82387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86" name="s390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391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392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393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394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395"/>
          <p:cNvSpPr/>
          <p:nvPr/>
        </p:nvSpPr>
        <p:spPr>
          <a:xfrm>
            <a:off x="9601200" y="530352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396"/>
          <p:cNvSpPr/>
          <p:nvPr/>
        </p:nvSpPr>
        <p:spPr>
          <a:xfrm>
            <a:off x="44805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3" name="s397"/>
          <p:cNvSpPr/>
          <p:nvPr/>
        </p:nvSpPr>
        <p:spPr>
          <a:xfrm>
            <a:off x="50383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4" name="s398"/>
          <p:cNvSpPr/>
          <p:nvPr/>
        </p:nvSpPr>
        <p:spPr>
          <a:xfrm>
            <a:off x="559612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5" name="s399"/>
          <p:cNvSpPr/>
          <p:nvPr/>
        </p:nvSpPr>
        <p:spPr>
          <a:xfrm>
            <a:off x="615391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6" name="s400"/>
          <p:cNvSpPr/>
          <p:nvPr/>
        </p:nvSpPr>
        <p:spPr>
          <a:xfrm>
            <a:off x="671169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7" name="s401"/>
          <p:cNvSpPr/>
          <p:nvPr/>
        </p:nvSpPr>
        <p:spPr>
          <a:xfrm>
            <a:off x="726948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8" name="s402"/>
          <p:cNvSpPr/>
          <p:nvPr/>
        </p:nvSpPr>
        <p:spPr>
          <a:xfrm>
            <a:off x="782726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99" name="s403"/>
          <p:cNvSpPr/>
          <p:nvPr/>
        </p:nvSpPr>
        <p:spPr>
          <a:xfrm>
            <a:off x="838504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0" name="s404"/>
          <p:cNvSpPr/>
          <p:nvPr/>
        </p:nvSpPr>
        <p:spPr>
          <a:xfrm>
            <a:off x="894283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1" name="s405"/>
          <p:cNvSpPr/>
          <p:nvPr/>
        </p:nvSpPr>
        <p:spPr>
          <a:xfrm>
            <a:off x="502005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2" name="s406"/>
          <p:cNvSpPr/>
          <p:nvPr/>
        </p:nvSpPr>
        <p:spPr>
          <a:xfrm>
            <a:off x="557784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3" name="s407"/>
          <p:cNvSpPr/>
          <p:nvPr/>
        </p:nvSpPr>
        <p:spPr>
          <a:xfrm>
            <a:off x="613562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4" name="s408"/>
          <p:cNvSpPr/>
          <p:nvPr/>
        </p:nvSpPr>
        <p:spPr>
          <a:xfrm>
            <a:off x="669340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5" name="s409"/>
          <p:cNvSpPr/>
          <p:nvPr/>
        </p:nvSpPr>
        <p:spPr>
          <a:xfrm>
            <a:off x="7251192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6" name="s410"/>
          <p:cNvSpPr/>
          <p:nvPr/>
        </p:nvSpPr>
        <p:spPr>
          <a:xfrm>
            <a:off x="7808976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7" name="s411"/>
          <p:cNvSpPr/>
          <p:nvPr/>
        </p:nvSpPr>
        <p:spPr>
          <a:xfrm>
            <a:off x="8366760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8" name="s412"/>
          <p:cNvSpPr/>
          <p:nvPr/>
        </p:nvSpPr>
        <p:spPr>
          <a:xfrm>
            <a:off x="8924544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09" name="s413"/>
          <p:cNvSpPr/>
          <p:nvPr/>
        </p:nvSpPr>
        <p:spPr>
          <a:xfrm>
            <a:off x="5001768" y="35204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B8E3"/>
            </a:solidFill>
            <a:prstDash val="solid"/>
          </a:ln>
        </p:spPr>
      </p:sp>
      <p:sp>
        <p:nvSpPr>
          <p:cNvPr id="110" name="s414"/>
          <p:cNvSpPr/>
          <p:nvPr/>
        </p:nvSpPr>
        <p:spPr>
          <a:xfrm>
            <a:off x="46634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415"/>
          <p:cNvSpPr/>
          <p:nvPr/>
        </p:nvSpPr>
        <p:spPr>
          <a:xfrm>
            <a:off x="51663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s416"/>
          <p:cNvSpPr/>
          <p:nvPr/>
        </p:nvSpPr>
        <p:spPr>
          <a:xfrm>
            <a:off x="56692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s417"/>
          <p:cNvSpPr/>
          <p:nvPr/>
        </p:nvSpPr>
        <p:spPr>
          <a:xfrm>
            <a:off x="617220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s418"/>
          <p:cNvSpPr/>
          <p:nvPr/>
        </p:nvSpPr>
        <p:spPr>
          <a:xfrm>
            <a:off x="667512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5" name="s419"/>
          <p:cNvSpPr/>
          <p:nvPr/>
        </p:nvSpPr>
        <p:spPr>
          <a:xfrm>
            <a:off x="717804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420"/>
          <p:cNvSpPr/>
          <p:nvPr/>
        </p:nvSpPr>
        <p:spPr>
          <a:xfrm>
            <a:off x="768096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421"/>
          <p:cNvSpPr/>
          <p:nvPr/>
        </p:nvSpPr>
        <p:spPr>
          <a:xfrm>
            <a:off x="8183880" y="3703320"/>
            <a:ext cx="182880" cy="182880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s422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s423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s424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1" name="s425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2" name="s426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7A5C3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427"/>
          <p:cNvSpPr/>
          <p:nvPr/>
        </p:nvSpPr>
        <p:spPr>
          <a:xfrm>
            <a:off x="5020056" y="4105656"/>
            <a:ext cx="201168" cy="201168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428"/>
          <p:cNvSpPr/>
          <p:nvPr/>
        </p:nvSpPr>
        <p:spPr>
          <a:xfrm>
            <a:off x="4370832" y="2103120"/>
            <a:ext cx="4608576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25" name="s429"/>
          <p:cNvSpPr/>
          <p:nvPr/>
        </p:nvSpPr>
        <p:spPr>
          <a:xfrm>
            <a:off x="548640" y="338328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126" name="t430"/>
          <p:cNvSpPr txBox="1"/>
          <p:nvPr/>
        </p:nvSpPr>
        <p:spPr>
          <a:xfrm>
            <a:off x="5486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6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46" dur="13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2" dur="13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58" dur="13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-0.2925 0.0000 L -0.2925 -0.0933 E" pathEditMode="relative" ptsTypes="AAA">
                                      <p:cBhvr>
                                        <p:cTn id="64" dur="13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3400"/>
                            </p:stCondLst>
                            <p:childTnLst>
                              <p:par>
                                <p:cTn id="6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77" dur="11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0" presetClass="path" presetSubtype="0" fill="hold" grpId="3" nodeType="withEffect">
                                  <p:stCondLst>
                                    <p:cond delay="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3" dur="11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89" dur="11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0" presetClass="path" presetSubtype="0" fill="hold" grpId="3" nodeType="withEffect">
                                  <p:stCondLst>
                                    <p:cond delay="7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95" dur="11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6" presetID="1" presetClass="exit" presetSubtype="0" fill="hold" grpId="1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0" presetClass="path" presetSubtype="0" fill="hold" grpId="3" nodeType="withEffect">
                                  <p:stCondLst>
                                    <p:cond delay="9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1" dur="11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grpId="1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07" dur="11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0" presetClass="path" presetSubtype="0" fill="hold" grpId="3" nodeType="withEffect">
                                  <p:stCondLst>
                                    <p:cond delay="12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3" dur="11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1" nodeType="withEffect">
                                  <p:stCondLst>
                                    <p:cond delay="236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19" dur="11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0" presetClass="path" presetSubtype="0" fill="hold" grpId="3" nodeType="withEffect">
                                  <p:stCondLst>
                                    <p:cond delay="1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25" dur="11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6" presetID="1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1" dur="11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2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37" dur="11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8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0" presetClass="path" presetSubtype="0" fill="hold" grpId="3" nodeType="withEffect">
                                  <p:stCondLst>
                                    <p:cond delay="20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3" dur="11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4" presetID="1" presetClass="exit" presetSubtype="0" fill="hold" grpId="1" nodeType="withEffect">
                                  <p:stCondLst>
                                    <p:cond delay="31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49" dur="11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55" dur="11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6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" presetClass="entr" presetSubtype="0" fill="hold" grpId="0" nodeType="withEffect">
                                  <p:stCondLst>
                                    <p:cond delay="254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0" presetClass="path" presetSubtype="0" fill="hold" grpId="3" nodeType="withEffect">
                                  <p:stCondLst>
                                    <p:cond delay="25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1" dur="11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2" presetID="1" presetClass="exit" presetSubtype="0" fill="hold" grpId="1" nodeType="withEffect">
                                  <p:stCondLst>
                                    <p:cond delay="364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67" dur="11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3" dur="11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3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179" dur="11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41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195" dur="1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6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0" presetClass="path" presetSubtype="0" fill="hold" grpId="3" nodeType="withEffect">
                                  <p:stCondLst>
                                    <p:cond delay="950"/>
                                  </p:stCondLst>
                                  <p:childTnLst>
                                    <p:animMotion origin="layout" path="M 0 0 L 0.0000 -0.0800 L -0.3300 -0.0800 L -0.3300 -0.2133 E" pathEditMode="relative" ptsTypes="AAAA">
                                      <p:cBhvr>
                                        <p:cTn id="201" dur="1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2" presetID="1" presetClass="exit" presetSubtype="0" fill="hold" grpId="1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07" dur="1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0" presetClass="path" presetSubtype="0" fill="hold" grpId="3" nodeType="withEffect">
                                  <p:stCondLst>
                                    <p:cond delay="1150"/>
                                  </p:stCondLst>
                                  <p:childTnLst>
                                    <p:animMotion origin="layout" path="M 0 0 L 0.0000 -0.0800 L -0.2475 -0.0800 L -0.2475 -0.2133 E" pathEditMode="relative" ptsTypes="AAAA">
                                      <p:cBhvr>
                                        <p:cTn id="213" dur="1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4" presetID="1" presetClass="exit" presetSubtype="0" fill="hold" grpId="1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19" dur="1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-0.0800 L -0.1650 -0.0800 L -0.1650 -0.2133 E" pathEditMode="relative" ptsTypes="AAAA">
                                      <p:cBhvr>
                                        <p:cTn id="225" dur="1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31" dur="11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2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fill="hold" grpId="3" nodeType="withEffect">
                                  <p:stCondLst>
                                    <p:cond delay="10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37" dur="11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8" presetID="1" presetClass="exit" presetSubtype="0" fill="hold" grpId="1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0" presetClass="path" presetSubtype="0" fill="hold" grpId="3" nodeType="withEffect">
                                  <p:stCondLst>
                                    <p:cond delay="11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43" dur="11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4" presetID="1" presetClass="exit" presetSubtype="0" fill="hold" grpId="1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0" presetClass="path" presetSubtype="0" fill="hold" grpId="3" nodeType="withEffect">
                                  <p:stCondLst>
                                    <p:cond delay="13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49" dur="11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" presetClass="exit" presetSubtype="0" fill="hold" grpId="1" nodeType="withEffect">
                                  <p:stCondLst>
                                    <p:cond delay="242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2" presetID="1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0" presetClass="path" presetSubtype="0" fill="hold" grpId="3" nodeType="withEffect">
                                  <p:stCondLst>
                                    <p:cond delay="14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55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6" presetID="1" presetClass="exit" presetSubtype="0" fill="hold" grpId="1" nodeType="withEffect">
                                  <p:stCondLst>
                                    <p:cond delay="256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0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61" dur="11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2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1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0" presetClass="path" presetSubtype="0" fill="hold" grpId="3" nodeType="withEffect">
                                  <p:stCondLst>
                                    <p:cond delay="17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67" dur="11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8" presetID="1" presetClass="exit" presetSubtype="0" fill="hold" grpId="1" nodeType="withEffect">
                                  <p:stCondLst>
                                    <p:cond delay="284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" presetClass="entr" presetSubtype="0" fill="hold" grpId="0" nodeType="withEffect">
                                  <p:stCondLst>
                                    <p:cond delay="188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0" presetClass="path" presetSubtype="0" fill="hold" grpId="3" nodeType="withEffect">
                                  <p:stCondLst>
                                    <p:cond delay="18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3" dur="11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4" presetID="1" presetClass="exit" presetSubtype="0" fill="hold" grpId="1" nodeType="withEffect">
                                  <p:stCondLst>
                                    <p:cond delay="298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1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0" presetClass="path" presetSubtype="0" fill="hold" grpId="3" nodeType="withEffect">
                                  <p:stCondLst>
                                    <p:cond delay="20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79" dur="11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" presetClass="exit" presetSubtype="0" fill="hold" grpId="1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85" dur="11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0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91" dur="11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2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6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297" dur="11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8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1" presetClass="entr" presetSubtype="0" fill="hold" grpId="0" nodeType="withEffect">
                                  <p:stCondLst>
                                    <p:cond delay="258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2" presetID="0" presetClass="path" presetSubtype="0" fill="hold" grpId="3" nodeType="withEffect">
                                  <p:stCondLst>
                                    <p:cond delay="25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3" dur="11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4" presetID="1" presetClass="exit" presetSubtype="0" fill="hold" grpId="1" nodeType="withEffect">
                                  <p:stCondLst>
                                    <p:cond delay="368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1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8" presetID="0" presetClass="path" presetSubtype="0" fill="hold" grpId="3" nodeType="withEffect">
                                  <p:stCondLst>
                                    <p:cond delay="272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09" dur="11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38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1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4" presetID="0" presetClass="path" presetSubtype="0" fill="hold" grpId="3" nodeType="withEffect">
                                  <p:stCondLst>
                                    <p:cond delay="286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15" dur="11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6" presetID="1" presetClass="exit" presetSubtype="0" fill="hold" grpId="1" nodeType="withEffect">
                                  <p:stCondLst>
                                    <p:cond delay="396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0" presetClass="path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21" dur="11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2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" presetClass="entr" presetSubtype="0" fill="hold" grpId="0" nodeType="withEffect">
                                  <p:stCondLst>
                                    <p:cond delay="314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0" presetClass="path" presetSubtype="0" fill="hold" grpId="3" nodeType="withEffect">
                                  <p:stCondLst>
                                    <p:cond delay="314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27" dur="11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8" presetID="1" presetClass="exit" presetSubtype="0" fill="hold" grpId="1" nodeType="withEffect">
                                  <p:stCondLst>
                                    <p:cond delay="424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1" presetClass="entr" presetSubtype="0" fill="hold" grpId="0" nodeType="withEffect">
                                  <p:stCondLst>
                                    <p:cond delay="328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2" presetID="0" presetClass="path" presetSubtype="0" fill="hold" grpId="3" nodeType="withEffect">
                                  <p:stCondLst>
                                    <p:cond delay="3280"/>
                                  </p:stCondLst>
                                  <p:childTnLst>
                                    <p:animMotion origin="layout" path="M 0 0 L 0.0038 -0.0600 L -0.0023 -0.1067 E" pathEditMode="relative" ptsTypes="AAA">
                                      <p:cBhvr>
                                        <p:cTn id="333" dur="11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4" presetID="1" presetClass="exit" presetSubtype="0" fill="hold" grpId="1" nodeType="withEffect">
                                  <p:stCondLst>
                                    <p:cond delay="438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0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4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45" dur="1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6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0" presetClass="path" presetSubtype="0" fill="hold" grpId="3" nodeType="withEffect">
                                  <p:stCondLst>
                                    <p:cond delay="14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49" dur="1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0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2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53" dur="1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4" presetID="1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0" presetClass="path" presetSubtype="0" fill="hold" grpId="3" nodeType="withEffect">
                                  <p:stCondLst>
                                    <p:cond delay="175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57" dur="1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8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0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61" dur="1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2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4" presetID="0" presetClass="path" presetSubtype="0" fill="hold" grpId="3" nodeType="withEffect">
                                  <p:stCondLst>
                                    <p:cond delay="2050"/>
                                  </p:stCondLst>
                                  <p:childTnLst>
                                    <p:animMotion origin="layout" path="M 0 0 L 0.0075 -0.0867 E" pathEditMode="relative" ptsTypes="AA">
                                      <p:cBhvr>
                                        <p:cTn id="365" dur="1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6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0075 -0.0467 E" pathEditMode="relative" ptsTypes="AA">
                                      <p:cBhvr>
                                        <p:cTn id="369" dur="1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0" presetID="1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2" presetID="0" presetClass="path" presetSubtype="0" fill="hold" grpId="3" nodeType="withEffect">
                                  <p:stCondLst>
                                    <p:cond delay="2350"/>
                                  </p:stCondLst>
                                  <p:childTnLst>
                                    <p:animMotion origin="layout" path="M 0 0 L 0.0075 -0.0667 E" pathEditMode="relative" ptsTypes="AA">
                                      <p:cBhvr>
                                        <p:cTn id="373" dur="1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4" fill="hold">
                      <p:stCondLst>
                        <p:cond delay="indefinite"/>
                      </p:stCondLst>
                      <p:childTnLst>
                        <p:par>
                          <p:cTn id="375" fill="hold">
                            <p:stCondLst>
                              <p:cond delay="0"/>
                            </p:stCondLst>
                            <p:childTnLst>
                              <p:par>
                                <p:cTn id="37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0.1200 E" pathEditMode="relative" ptsTypes="AA">
                                      <p:cBhvr>
                                        <p:cTn id="382" dur="9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3" fill="hold">
                            <p:stCondLst>
                              <p:cond delay="900"/>
                            </p:stCondLst>
                            <p:childTnLst>
                              <p:par>
                                <p:cTn id="38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1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075 -0.0947 E" pathEditMode="relative" ptsTypes="AA">
                                      <p:cBhvr>
                                        <p:cTn id="394" dur="8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5" fill="hold">
                            <p:stCondLst>
                              <p:cond delay="1700"/>
                            </p:stCondLst>
                            <p:childTnLst>
                              <p:par>
                                <p:cTn id="39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03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7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08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9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2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0800 E" pathEditMode="relative" ptsTypes="AA">
                                      <p:cBhvr>
                                        <p:cTn id="413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7" fill="hold">
                      <p:stCondLst>
                        <p:cond delay="indefinite"/>
                      </p:stCondLst>
                      <p:childTnLst>
                        <p:par>
                          <p:cTn id="418" fill="hold">
                            <p:stCondLst>
                              <p:cond delay="0"/>
                            </p:stCondLst>
                            <p:childTnLst>
                              <p:par>
                                <p:cTn id="4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725 0.0000 L 0.1725 -0.1373 L 0.3375 -0.1373 E" pathEditMode="relative" ptsTypes="AAAA">
                                      <p:cBhvr>
                                        <p:cTn id="425" dur="18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26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9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750 0.0000 L 0.0750 -0.1373 L 0.2400 -0.1373 E" pathEditMode="relative" ptsTypes="AAAA">
                                      <p:cBhvr>
                                        <p:cTn id="430" dur="18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1" presetID="10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4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35" dur="3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  <p:par>
                                <p:cTn id="436" presetID="6" presetClass="emph" presetSubtype="0" repeatCount="4000" fill="hold" grpId="2" nodeType="withEffect">
                                  <p:stCondLst>
                                    <p:cond delay="1700"/>
                                  </p:stCondLst>
                                  <p:childTnLst>
                                    <p:animScale>
                                      <p:cBhvr>
                                        <p:cTn id="437" dur="3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40000" y="14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8" fill="hold">
                      <p:stCondLst>
                        <p:cond delay="indefinite"/>
                      </p:stCondLst>
                      <p:childTnLst>
                        <p:par>
                          <p:cTn id="439" fill="hold">
                            <p:stCondLst>
                              <p:cond delay="0"/>
                            </p:stCondLst>
                            <p:childTnLst>
                              <p:par>
                                <p:cTn id="44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4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5" presetID="2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46" dur="2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2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4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6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57" dur="16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8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0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2" presetID="0" presetClass="path" presetSubtype="0" fill="hold" grpId="3" nodeType="withEffect">
                                  <p:stCondLst>
                                    <p:cond delay="58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63" dur="16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4" presetID="1" presetClass="exit" presetSubtype="0" fill="hold" grpId="1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6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4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8" presetID="0" presetClass="path" presetSubtype="0" fill="hold" grpId="3" nodeType="withEffect">
                                  <p:stCondLst>
                                    <p:cond delay="86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69" dur="16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0" presetID="1" presetClass="exit" presetSubtype="0" fill="hold" grpId="1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1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4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4" presetID="0" presetClass="path" presetSubtype="0" fill="hold" grpId="3" nodeType="withEffect">
                                  <p:stCondLst>
                                    <p:cond delay="114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75" dur="16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6" presetID="1" presetClass="exit" presetSubtype="0" fill="hold" grpId="1" nodeType="withEffect">
                                  <p:stCondLst>
                                    <p:cond delay="274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8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0" presetID="0" presetClass="path" presetSubtype="0" fill="hold" grpId="3" nodeType="withEffect">
                                  <p:stCondLst>
                                    <p:cond delay="142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81" dur="16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2" presetID="1" presetClass="exit" presetSubtype="0" fill="hold" grpId="1" nodeType="withEffect">
                                  <p:stCondLst>
                                    <p:cond delay="302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4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6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0.1267 L -0.2588 0.1267 E" pathEditMode="relative" ptsTypes="AAA">
                                      <p:cBhvr>
                                        <p:cTn id="487" dur="16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8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0" presetID="2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2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3" presetID="2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5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1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9" fill="hold">
                            <p:stCondLst>
                              <p:cond delay="3800"/>
                            </p:stCondLst>
                            <p:childTnLst>
                              <p:par>
                                <p:cTn id="5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3" fill="hold">
                            <p:stCondLst>
                              <p:cond delay="4800"/>
                            </p:stCondLst>
                            <p:childTnLst>
                              <p:par>
                                <p:cTn id="50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2600 E" pathEditMode="relative" ptsTypes="AA">
                                      <p:cBhvr>
                                        <p:cTn id="507" dur="11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1" fill="hold">
                      <p:stCondLst>
                        <p:cond delay="indefinite"/>
                      </p:stCondLst>
                      <p:childTnLst>
                        <p:par>
                          <p:cTn id="512" fill="hold">
                            <p:stCondLst>
                              <p:cond delay="0"/>
                            </p:stCondLst>
                            <p:childTnLst>
                              <p:par>
                                <p:cTn id="5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7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2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3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9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0" dur="4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4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6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7" dur="4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8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9" fill="hold">
                            <p:stCondLst>
                              <p:cond delay="2000"/>
                            </p:stCondLst>
                            <p:childTnLst>
                              <p:par>
                                <p:cTn id="54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2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3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4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7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8" dur="5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0" fill="hold">
                            <p:stCondLst>
                              <p:cond delay="2500"/>
                            </p:stCondLst>
                            <p:childTnLst>
                              <p:par>
                                <p:cTn id="551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52" dur="400" autoRev="1" fill="hold"/>
                                        <p:tgtEl>
                                          <p:spTgt spid="12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53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54" dur="400" autoRev="1" fill="hold"/>
                                        <p:tgtEl>
                                          <p:spTgt spid="12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49" grpId="0" animBg="1"/>
      <p:bldP spid="60" grpId="2" animBg="1"/>
      <p:bldP spid="49" grpId="1" animBg="1"/>
      <p:bldP spid="50" grpId="0" animBg="1"/>
      <p:bldP spid="12" grpId="0" animBg="1"/>
      <p:bldP spid="50" grpId="1" animBg="1"/>
      <p:bldP spid="51" grpId="0" animBg="1"/>
      <p:bldP spid="21" grpId="0" animBg="1"/>
      <p:bldP spid="22" grpId="0" animBg="1"/>
      <p:bldP spid="23" grpId="0" animBg="1"/>
      <p:bldP spid="24" grpId="0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34" grpId="0" animBg="1"/>
      <p:bldP spid="36" grpId="0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51" grpId="1" animBg="1"/>
      <p:bldP spid="52" grpId="0" animBg="1"/>
      <p:bldP spid="26" grpId="0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96" grpId="0" animBg="1"/>
      <p:bldP spid="96" grpId="3" animBg="1"/>
      <p:bldP spid="96" grpId="1" animBg="1"/>
      <p:bldP spid="97" grpId="0" animBg="1"/>
      <p:bldP spid="97" grpId="3" animBg="1"/>
      <p:bldP spid="97" grpId="1" animBg="1"/>
      <p:bldP spid="98" grpId="0" animBg="1"/>
      <p:bldP spid="98" grpId="3" animBg="1"/>
      <p:bldP spid="98" grpId="1" animBg="1"/>
      <p:bldP spid="99" grpId="0" animBg="1"/>
      <p:bldP spid="99" grpId="3" animBg="1"/>
      <p:bldP spid="99" grpId="1" animBg="1"/>
      <p:bldP spid="100" grpId="0" animBg="1"/>
      <p:bldP spid="100" grpId="3" animBg="1"/>
      <p:bldP spid="100" grpId="1" animBg="1"/>
      <p:bldP spid="101" grpId="0" animBg="1"/>
      <p:bldP spid="101" grpId="3" animBg="1"/>
      <p:bldP spid="101" grpId="1" animBg="1"/>
      <p:bldP spid="102" grpId="0" animBg="1"/>
      <p:bldP spid="102" grpId="3" animBg="1"/>
      <p:bldP spid="102" grpId="1" animBg="1"/>
      <p:bldP spid="103" grpId="0" animBg="1"/>
      <p:bldP spid="103" grpId="3" animBg="1"/>
      <p:bldP spid="103" grpId="1" animBg="1"/>
      <p:bldP spid="104" grpId="0" animBg="1"/>
      <p:bldP spid="104" grpId="3" animBg="1"/>
      <p:bldP spid="104" grpId="1" animBg="1"/>
      <p:bldP spid="105" grpId="0" animBg="1"/>
      <p:bldP spid="105" grpId="3" animBg="1"/>
      <p:bldP spid="105" grpId="1" animBg="1"/>
      <p:bldP spid="106" grpId="0" animBg="1"/>
      <p:bldP spid="106" grpId="3" animBg="1"/>
      <p:bldP spid="106" grpId="1" animBg="1"/>
      <p:bldP spid="107" grpId="0" animBg="1"/>
      <p:bldP spid="107" grpId="3" animBg="1"/>
      <p:bldP spid="107" grpId="1" animBg="1"/>
      <p:bldP spid="108" grpId="0" animBg="1"/>
      <p:bldP spid="108" grpId="3" animBg="1"/>
      <p:bldP spid="108" grpId="1" animBg="1"/>
      <p:bldP spid="109" grpId="0" animBg="1"/>
      <p:bldP spid="109" grpId="3" animBg="1"/>
      <p:bldP spid="109" grpId="1" animBg="1"/>
      <p:bldP spid="11" grpId="1" animBg="1"/>
      <p:bldP spid="7" grpId="1" animBg="1"/>
      <p:bldP spid="110" grpId="0" animBg="1"/>
      <p:bldP spid="110" grpId="3" animBg="1"/>
      <p:bldP spid="111" grpId="0" animBg="1"/>
      <p:bldP spid="111" grpId="3" animBg="1"/>
      <p:bldP spid="112" grpId="0" animBg="1"/>
      <p:bldP spid="112" grpId="3" animBg="1"/>
      <p:bldP spid="113" grpId="0" animBg="1"/>
      <p:bldP spid="113" grpId="3" animBg="1"/>
      <p:bldP spid="114" grpId="0" animBg="1"/>
      <p:bldP spid="114" grpId="3" animBg="1"/>
      <p:bldP spid="115" grpId="0" animBg="1"/>
      <p:bldP spid="115" grpId="3" animBg="1"/>
      <p:bldP spid="116" grpId="0" animBg="1"/>
      <p:bldP spid="116" grpId="3" animBg="1"/>
      <p:bldP spid="117" grpId="0" animBg="1"/>
      <p:bldP spid="117" grpId="3" animBg="1"/>
      <p:bldP spid="52" grpId="1" animBg="1"/>
      <p:bldP spid="53" grpId="0" animBg="1"/>
      <p:bldP spid="57" grpId="3" animBg="1"/>
      <p:bldP spid="57" grpId="1" animBg="1"/>
      <p:bldP spid="62" grpId="0" animBg="1"/>
      <p:bldP spid="60" grpId="1" animBg="1"/>
      <p:bldP spid="61" grpId="3" animBg="1"/>
      <p:bldP spid="61" grpId="1" animBg="1"/>
      <p:bldP spid="63" grpId="0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53" grpId="1" animBg="1"/>
      <p:bldP spid="54" grpId="0" animBg="1"/>
      <p:bldP spid="58" grpId="3" animBg="1"/>
      <p:bldP spid="58" grpId="1" animBg="1"/>
      <p:bldP spid="59" grpId="3" animBg="1"/>
      <p:bldP spid="59" grpId="1" animBg="1"/>
      <p:bldP spid="17" grpId="2" animBg="1"/>
      <p:bldP spid="18" grpId="2" animBg="1"/>
      <p:bldP spid="54" grpId="1" animBg="1"/>
      <p:bldP spid="55" grpId="0" animBg="1"/>
      <p:bldP spid="12" grpId="1" animBg="1"/>
      <p:bldP spid="62" grpId="1" animBg="1"/>
      <p:bldP spid="63" grpId="1" animBg="1"/>
      <p:bldP spid="118" grpId="0" animBg="1"/>
      <p:bldP spid="118" grpId="3" animBg="1"/>
      <p:bldP spid="118" grpId="1" animBg="1"/>
      <p:bldP spid="119" grpId="0" animBg="1"/>
      <p:bldP spid="119" grpId="3" animBg="1"/>
      <p:bldP spid="119" grpId="1" animBg="1"/>
      <p:bldP spid="120" grpId="0" animBg="1"/>
      <p:bldP spid="120" grpId="3" animBg="1"/>
      <p:bldP spid="120" grpId="1" animBg="1"/>
      <p:bldP spid="121" grpId="0" animBg="1"/>
      <p:bldP spid="121" grpId="3" animBg="1"/>
      <p:bldP spid="121" grpId="1" animBg="1"/>
      <p:bldP spid="122" grpId="0" animBg="1"/>
      <p:bldP spid="122" grpId="3" animBg="1"/>
      <p:bldP spid="122" grpId="1" animBg="1"/>
      <p:bldP spid="123" grpId="0" animBg="1"/>
      <p:bldP spid="123" grpId="3" animBg="1"/>
      <p:bldP spid="123" grpId="1" animBg="1"/>
      <p:bldP spid="30" grpId="0" animBg="1"/>
      <p:bldP spid="31" grpId="0" animBg="1"/>
      <p:bldP spid="6" grpId="1" animBg="1"/>
      <p:bldP spid="5" grpId="1" animBg="1"/>
      <p:bldP spid="124" grpId="0" animBg="1"/>
      <p:bldP spid="124" grpId="3" animBg="1"/>
      <p:bldP spid="124" grpId="1" animBg="1"/>
      <p:bldP spid="55" grpId="1" animBg="1"/>
      <p:bldP spid="56" grpId="0" animBg="1"/>
      <p:bldP spid="40" grpId="1" animBg="1"/>
      <p:bldP spid="41" grpId="0" animBg="1"/>
      <p:bldP spid="43" grpId="1" animBg="1"/>
      <p:bldP spid="44" grpId="0" animBg="1"/>
      <p:bldP spid="46" grpId="1" animBg="1"/>
      <p:bldP spid="47" grpId="0" animBg="1"/>
      <p:bldP spid="125" grpId="0" animBg="1"/>
      <p:bldP spid="126" grpId="0" animBg="1"/>
      <p:bldP spid="125" grpId="2" animBg="1"/>
      <p:bldP spid="126" grpId="2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Viscosity flush / oil wash – heavy deposits</a:t>
            </a:r>
            <a:endParaRPr lang="en-US" sz="2800" dirty="0"/>
          </a:p>
        </p:txBody>
      </p:sp>
      <p:sp>
        <p:nvSpPr>
          <p:cNvPr id="3" name="s431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432"/>
          <p:cNvSpPr/>
          <p:nvPr/>
        </p:nvSpPr>
        <p:spPr>
          <a:xfrm>
            <a:off x="4155034" y="1975104"/>
            <a:ext cx="197510" cy="2816352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433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434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435"/>
          <p:cNvSpPr/>
          <p:nvPr/>
        </p:nvSpPr>
        <p:spPr>
          <a:xfrm>
            <a:off x="4023360" y="1645920"/>
            <a:ext cx="1097280" cy="347472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436"/>
          <p:cNvSpPr/>
          <p:nvPr/>
        </p:nvSpPr>
        <p:spPr>
          <a:xfrm>
            <a:off x="4626864" y="2271370"/>
            <a:ext cx="91440" cy="833933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437"/>
          <p:cNvSpPr/>
          <p:nvPr/>
        </p:nvSpPr>
        <p:spPr>
          <a:xfrm>
            <a:off x="4813402" y="3313786"/>
            <a:ext cx="91440" cy="694944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438"/>
          <p:cNvSpPr/>
          <p:nvPr/>
        </p:nvSpPr>
        <p:spPr>
          <a:xfrm>
            <a:off x="4484218" y="3939235"/>
            <a:ext cx="91440" cy="555955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t439"/>
          <p:cNvSpPr txBox="1"/>
          <p:nvPr/>
        </p:nvSpPr>
        <p:spPr>
          <a:xfrm>
            <a:off x="3749040" y="51389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bottoms</a:t>
            </a:r>
            <a:endParaRPr lang="en-US" sz="1100" dirty="0"/>
          </a:p>
        </p:txBody>
      </p:sp>
      <p:sp>
        <p:nvSpPr>
          <p:cNvPr id="12" name="s440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BFDDF2"/>
          </a:solidFill>
          <a:ln w="19050">
            <a:solidFill>
              <a:srgbClr val="0C74BC"/>
            </a:solidFill>
            <a:prstDash val="solid"/>
          </a:ln>
        </p:spPr>
      </p:sp>
      <p:sp>
        <p:nvSpPr>
          <p:cNvPr id="13" name="s441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6B7175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4" name="s442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4A4F52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5" name="s443"/>
          <p:cNvSpPr/>
          <p:nvPr/>
        </p:nvSpPr>
        <p:spPr>
          <a:xfrm>
            <a:off x="7132320" y="3931920"/>
            <a:ext cx="2011680" cy="548640"/>
          </a:xfrm>
          <a:prstGeom prst="roundRect">
            <a:avLst>
              <a:gd name="adj" fmla="val 50000"/>
            </a:avLst>
          </a:prstGeom>
          <a:solidFill>
            <a:srgbClr val="2F3437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6" name="s444"/>
          <p:cNvSpPr/>
          <p:nvPr/>
        </p:nvSpPr>
        <p:spPr>
          <a:xfrm>
            <a:off x="7406640" y="406908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7" name="s445"/>
          <p:cNvSpPr/>
          <p:nvPr/>
        </p:nvSpPr>
        <p:spPr>
          <a:xfrm>
            <a:off x="7406640" y="420624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8" name="s446"/>
          <p:cNvSpPr/>
          <p:nvPr/>
        </p:nvSpPr>
        <p:spPr>
          <a:xfrm>
            <a:off x="7406640" y="4343400"/>
            <a:ext cx="15544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19" name="t447"/>
          <p:cNvSpPr txBox="1"/>
          <p:nvPr/>
        </p:nvSpPr>
        <p:spPr>
          <a:xfrm>
            <a:off x="713232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Exchanger</a:t>
            </a:r>
            <a:endParaRPr lang="en-US" sz="1100" dirty="0"/>
          </a:p>
        </p:txBody>
      </p:sp>
      <p:sp>
        <p:nvSpPr>
          <p:cNvPr id="20" name="s448"/>
          <p:cNvSpPr/>
          <p:nvPr/>
        </p:nvSpPr>
        <p:spPr>
          <a:xfrm>
            <a:off x="6035040" y="525780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21" name="t449"/>
          <p:cNvSpPr txBox="1"/>
          <p:nvPr/>
        </p:nvSpPr>
        <p:spPr>
          <a:xfrm>
            <a:off x="5897880" y="5532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000" dirty="0"/>
          </a:p>
        </p:txBody>
      </p:sp>
      <p:sp>
        <p:nvSpPr>
          <p:cNvPr id="22" name="s450"/>
          <p:cNvSpPr/>
          <p:nvPr/>
        </p:nvSpPr>
        <p:spPr>
          <a:xfrm>
            <a:off x="4572000" y="5120640"/>
            <a:ext cx="0" cy="3383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3" name="s451"/>
          <p:cNvSpPr/>
          <p:nvPr/>
        </p:nvSpPr>
        <p:spPr>
          <a:xfrm>
            <a:off x="4572000" y="5458968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4" name="s452"/>
          <p:cNvSpPr/>
          <p:nvPr/>
        </p:nvSpPr>
        <p:spPr>
          <a:xfrm>
            <a:off x="6446520" y="5458968"/>
            <a:ext cx="32461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5" name="s453"/>
          <p:cNvSpPr/>
          <p:nvPr/>
        </p:nvSpPr>
        <p:spPr>
          <a:xfrm flipV="1">
            <a:off x="9692640" y="4206240"/>
            <a:ext cx="0" cy="125272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6" name="s454"/>
          <p:cNvSpPr/>
          <p:nvPr/>
        </p:nvSpPr>
        <p:spPr>
          <a:xfrm flipH="1">
            <a:off x="9144000" y="42062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7" name="s455"/>
          <p:cNvSpPr/>
          <p:nvPr/>
        </p:nvSpPr>
        <p:spPr>
          <a:xfrm flipH="1">
            <a:off x="5669280" y="4206240"/>
            <a:ext cx="14630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8" name="s456"/>
          <p:cNvSpPr/>
          <p:nvPr/>
        </p:nvSpPr>
        <p:spPr>
          <a:xfrm flipV="1">
            <a:off x="5669280" y="2743200"/>
            <a:ext cx="0" cy="146304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29" name="s457"/>
          <p:cNvSpPr/>
          <p:nvPr/>
        </p:nvSpPr>
        <p:spPr>
          <a:xfrm flipH="1">
            <a:off x="5120640" y="274320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0" name="s458"/>
          <p:cNvSpPr/>
          <p:nvPr/>
        </p:nvSpPr>
        <p:spPr>
          <a:xfrm>
            <a:off x="731520" y="4114800"/>
            <a:ext cx="1371600" cy="960120"/>
          </a:xfrm>
          <a:prstGeom prst="roundRect">
            <a:avLst>
              <a:gd name="adj" fmla="val 19048"/>
            </a:avLst>
          </a:prstGeom>
          <a:solidFill>
            <a:srgbClr val="F6E7C8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31" name="t459"/>
          <p:cNvSpPr txBox="1"/>
          <p:nvPr/>
        </p:nvSpPr>
        <p:spPr>
          <a:xfrm>
            <a:off x="548640" y="51206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/ cutter stock</a:t>
            </a:r>
            <a:endParaRPr lang="en-US" sz="1100" dirty="0"/>
          </a:p>
        </p:txBody>
      </p:sp>
      <p:sp>
        <p:nvSpPr>
          <p:cNvPr id="32" name="s460"/>
          <p:cNvSpPr/>
          <p:nvPr/>
        </p:nvSpPr>
        <p:spPr>
          <a:xfrm>
            <a:off x="2103120" y="4754880"/>
            <a:ext cx="82296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3" name="s461"/>
          <p:cNvSpPr/>
          <p:nvPr/>
        </p:nvSpPr>
        <p:spPr>
          <a:xfrm>
            <a:off x="2926080" y="4754880"/>
            <a:ext cx="0" cy="704088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4" name="s462"/>
          <p:cNvSpPr/>
          <p:nvPr/>
        </p:nvSpPr>
        <p:spPr>
          <a:xfrm>
            <a:off x="2926080" y="5458968"/>
            <a:ext cx="164592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5" name="t463"/>
          <p:cNvSpPr txBox="1"/>
          <p:nvPr/>
        </p:nvSpPr>
        <p:spPr>
          <a:xfrm>
            <a:off x="539496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100" dirty="0"/>
          </a:p>
        </p:txBody>
      </p:sp>
      <p:sp>
        <p:nvSpPr>
          <p:cNvPr id="36" name="s464"/>
          <p:cNvSpPr/>
          <p:nvPr/>
        </p:nvSpPr>
        <p:spPr>
          <a:xfrm>
            <a:off x="6236208" y="4846320"/>
            <a:ext cx="0" cy="41148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37" name="s465"/>
          <p:cNvSpPr/>
          <p:nvPr/>
        </p:nvSpPr>
        <p:spPr>
          <a:xfrm flipV="1">
            <a:off x="9692640" y="2377440"/>
            <a:ext cx="0" cy="182880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</a:ln>
        </p:spPr>
      </p:sp>
      <p:sp>
        <p:nvSpPr>
          <p:cNvPr id="38" name="s466"/>
          <p:cNvSpPr/>
          <p:nvPr/>
        </p:nvSpPr>
        <p:spPr>
          <a:xfrm>
            <a:off x="9692640" y="2377440"/>
            <a:ext cx="548640" cy="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9" name="s467"/>
          <p:cNvSpPr/>
          <p:nvPr/>
        </p:nvSpPr>
        <p:spPr>
          <a:xfrm>
            <a:off x="10241280" y="1783080"/>
            <a:ext cx="1280160" cy="11430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0" name="s468"/>
          <p:cNvSpPr/>
          <p:nvPr/>
        </p:nvSpPr>
        <p:spPr>
          <a:xfrm>
            <a:off x="10287000" y="2606040"/>
            <a:ext cx="1188720" cy="274320"/>
          </a:xfrm>
          <a:prstGeom prst="rect">
            <a:avLst/>
          </a:prstGeom>
          <a:solidFill>
            <a:srgbClr val="6B5236"/>
          </a:solidFill>
          <a:ln/>
        </p:spPr>
      </p:sp>
      <p:sp>
        <p:nvSpPr>
          <p:cNvPr id="41" name="s469"/>
          <p:cNvSpPr/>
          <p:nvPr/>
        </p:nvSpPr>
        <p:spPr>
          <a:xfrm>
            <a:off x="10287000" y="2240280"/>
            <a:ext cx="1188720" cy="365760"/>
          </a:xfrm>
          <a:prstGeom prst="rect">
            <a:avLst/>
          </a:prstGeom>
          <a:solidFill>
            <a:srgbClr val="6B5236"/>
          </a:solidFill>
          <a:ln/>
        </p:spPr>
      </p:sp>
      <p:sp>
        <p:nvSpPr>
          <p:cNvPr id="42" name="t470"/>
          <p:cNvSpPr txBox="1"/>
          <p:nvPr/>
        </p:nvSpPr>
        <p:spPr>
          <a:xfrm>
            <a:off x="9875520" y="2953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 / RERUN TANK</a:t>
            </a:r>
            <a:endParaRPr lang="en-US" sz="1100" dirty="0"/>
          </a:p>
        </p:txBody>
      </p:sp>
      <p:sp>
        <p:nvSpPr>
          <p:cNvPr id="43" name="s471"/>
          <p:cNvSpPr/>
          <p:nvPr/>
        </p:nvSpPr>
        <p:spPr>
          <a:xfrm>
            <a:off x="548640" y="1371600"/>
            <a:ext cx="3108960" cy="2194560"/>
          </a:xfrm>
          <a:prstGeom prst="roundRect">
            <a:avLst>
              <a:gd name="adj" fmla="val 5000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44" name="t472"/>
          <p:cNvSpPr txBox="1"/>
          <p:nvPr/>
        </p:nvSpPr>
        <p:spPr>
          <a:xfrm>
            <a:off x="7315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– RETURNING OIL</a:t>
            </a:r>
            <a:endParaRPr lang="en-US" sz="1200" dirty="0"/>
          </a:p>
        </p:txBody>
      </p:sp>
      <p:sp>
        <p:nvSpPr>
          <p:cNvPr id="45" name="s473"/>
          <p:cNvSpPr/>
          <p:nvPr/>
        </p:nvSpPr>
        <p:spPr>
          <a:xfrm>
            <a:off x="1051560" y="1874520"/>
            <a:ext cx="27432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s474"/>
          <p:cNvSpPr/>
          <p:nvPr/>
        </p:nvSpPr>
        <p:spPr>
          <a:xfrm>
            <a:off x="868680" y="2103120"/>
            <a:ext cx="640080" cy="12344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7" name="s475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F2D58A"/>
          </a:solidFill>
          <a:ln/>
        </p:spPr>
      </p:sp>
      <p:sp>
        <p:nvSpPr>
          <p:cNvPr id="48" name="s476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C79A3C"/>
          </a:solidFill>
          <a:ln/>
        </p:spPr>
      </p:sp>
      <p:sp>
        <p:nvSpPr>
          <p:cNvPr id="49" name="s477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5A4025"/>
          </a:solidFill>
          <a:ln/>
        </p:spPr>
      </p:sp>
      <p:sp>
        <p:nvSpPr>
          <p:cNvPr id="50" name="s478"/>
          <p:cNvSpPr/>
          <p:nvPr/>
        </p:nvSpPr>
        <p:spPr>
          <a:xfrm>
            <a:off x="914400" y="2377440"/>
            <a:ext cx="548640" cy="914400"/>
          </a:xfrm>
          <a:prstGeom prst="roundRect">
            <a:avLst>
              <a:gd name="adj" fmla="val 16667"/>
            </a:avLst>
          </a:prstGeom>
          <a:solidFill>
            <a:srgbClr val="1C1F21"/>
          </a:solidFill>
          <a:ln/>
        </p:spPr>
      </p:sp>
      <p:sp>
        <p:nvSpPr>
          <p:cNvPr id="51" name="t479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flushing oil</a:t>
            </a:r>
            <a:endParaRPr lang="en-US" sz="1400" dirty="0"/>
          </a:p>
        </p:txBody>
      </p:sp>
      <p:sp>
        <p:nvSpPr>
          <p:cNvPr id="52" name="t480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– picking up deposits</a:t>
            </a:r>
            <a:endParaRPr lang="en-US" sz="1400" dirty="0"/>
          </a:p>
        </p:txBody>
      </p:sp>
      <p:sp>
        <p:nvSpPr>
          <p:cNvPr id="53" name="t481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 with each pass</a:t>
            </a:r>
            <a:endParaRPr lang="en-US" sz="1400" dirty="0"/>
          </a:p>
        </p:txBody>
      </p:sp>
      <p:sp>
        <p:nvSpPr>
          <p:cNvPr id="54" name="t482"/>
          <p:cNvSpPr txBox="1"/>
          <p:nvPr/>
        </p:nvSpPr>
        <p:spPr>
          <a:xfrm>
            <a:off x="1691640" y="2331720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– flush complete</a:t>
            </a:r>
            <a:endParaRPr lang="en-US" sz="1400" dirty="0"/>
          </a:p>
        </p:txBody>
      </p:sp>
      <p:sp>
        <p:nvSpPr>
          <p:cNvPr id="55" name="s483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56" name="t48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Heavy bottoms, coker and quench circuits hold tar-like deposits that steam alone cannot shift.</a:t>
            </a:r>
            <a:endParaRPr lang="en-US" sz="1400" dirty="0"/>
          </a:p>
        </p:txBody>
      </p:sp>
      <p:sp>
        <p:nvSpPr>
          <p:cNvPr id="57" name="t48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Hot flushing oil (cutter stock) fills the bottoms circuit: column → pump → exchangers → column.</a:t>
            </a:r>
            <a:endParaRPr lang="en-US" sz="1400" dirty="0"/>
          </a:p>
        </p:txBody>
      </p:sp>
      <p:sp>
        <p:nvSpPr>
          <p:cNvPr id="58" name="t48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The oil circulates continuously through the circuit.</a:t>
            </a:r>
            <a:endParaRPr lang="en-US" sz="1400" dirty="0"/>
          </a:p>
        </p:txBody>
      </p:sp>
      <p:sp>
        <p:nvSpPr>
          <p:cNvPr id="59" name="t48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Oil-based solvent is added – it penetrates and softens the heavy deposits; the returning oil turns dark.</a:t>
            </a:r>
            <a:endParaRPr lang="en-US" sz="1400" dirty="0"/>
          </a:p>
        </p:txBody>
      </p:sp>
      <p:sp>
        <p:nvSpPr>
          <p:cNvPr id="60" name="t48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Pass after pass the deposits dissolve – the exchanger and column clean up and the sample gets lighter.</a:t>
            </a:r>
            <a:endParaRPr lang="en-US" sz="1400" dirty="0"/>
          </a:p>
        </p:txBody>
      </p:sp>
      <p:sp>
        <p:nvSpPr>
          <p:cNvPr id="61" name="t48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loaded oil is sent to the slop / rerun tank – not to effluent.</a:t>
            </a:r>
            <a:endParaRPr lang="en-US" sz="1400" dirty="0"/>
          </a:p>
        </p:txBody>
      </p:sp>
      <p:sp>
        <p:nvSpPr>
          <p:cNvPr id="62" name="t49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Circuit clean – followed by vapour-phase for final gas-freeing.</a:t>
            </a:r>
            <a:endParaRPr lang="en-US" sz="1400" dirty="0"/>
          </a:p>
        </p:txBody>
      </p:sp>
      <p:sp>
        <p:nvSpPr>
          <p:cNvPr id="63" name="s49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49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49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49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49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49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49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s49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s49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2" name="s500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501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502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503"/>
          <p:cNvSpPr/>
          <p:nvPr/>
        </p:nvSpPr>
        <p:spPr>
          <a:xfrm>
            <a:off x="6144768" y="475488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50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50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50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50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508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509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510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511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512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513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514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515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516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517"/>
          <p:cNvSpPr/>
          <p:nvPr/>
        </p:nvSpPr>
        <p:spPr>
          <a:xfrm>
            <a:off x="6355080" y="5367528"/>
            <a:ext cx="182880" cy="182880"/>
          </a:xfrm>
          <a:prstGeom prst="ellipse">
            <a:avLst/>
          </a:prstGeom>
          <a:solidFill>
            <a:srgbClr val="D9A44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518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519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520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521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522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523"/>
          <p:cNvSpPr/>
          <p:nvPr/>
        </p:nvSpPr>
        <p:spPr>
          <a:xfrm>
            <a:off x="9601200" y="4114800"/>
            <a:ext cx="182880" cy="182880"/>
          </a:xfrm>
          <a:prstGeom prst="ellipse">
            <a:avLst/>
          </a:prstGeom>
          <a:solidFill>
            <a:srgbClr val="6B523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s524"/>
          <p:cNvSpPr/>
          <p:nvPr/>
        </p:nvSpPr>
        <p:spPr>
          <a:xfrm>
            <a:off x="4111142" y="1737360"/>
            <a:ext cx="921715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7" name="s525"/>
          <p:cNvSpPr/>
          <p:nvPr/>
        </p:nvSpPr>
        <p:spPr>
          <a:xfrm>
            <a:off x="548640" y="3703320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8" name="t526"/>
          <p:cNvSpPr txBox="1"/>
          <p:nvPr/>
        </p:nvSpPr>
        <p:spPr>
          <a:xfrm>
            <a:off x="548640" y="3703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VAPOUR-PHASE GAS-FREEING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100"/>
                            </p:stCondLst>
                            <p:childTnLst>
                              <p:par>
                                <p:cTn id="3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4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700"/>
                            </p:stCondLst>
                            <p:childTnLst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300"/>
                            </p:stCondLst>
                            <p:childTnLst>
                              <p:par>
                                <p:cTn id="5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69" dur="42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75" dur="42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1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87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3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9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0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1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8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3" dur="24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39" dur="24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45" dur="24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835 0.0893 L 0.2835 -0.0933 L -0.0465 -0.0933 E" pathEditMode="relative" ptsTypes="AAAAA">
                                      <p:cBhvr>
                                        <p:cTn id="151" dur="2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57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48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3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53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69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58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75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6" presetID="1" presetClass="exit" presetSubtype="0" fill="hold" grpId="1" nodeType="withEffect">
                                  <p:stCondLst>
                                    <p:cond delay="63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1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1" dur="4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2" presetID="1" presetClass="exit" presetSubtype="0" fill="hold" grpId="1" nodeType="withEffect">
                                  <p:stCondLst>
                                    <p:cond delay="68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" presetClass="entr" presetSubtype="0" fill="hold" grpId="0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187" dur="4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8" presetID="1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8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14" dur="4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0" dur="4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26" dur="4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7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2" dur="4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38" dur="4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44" dur="4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0" dur="42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2663 0.0000 L 0.2663 -0.1827 L -0.0638 -0.1827 L -0.0638 -0.3960 L -0.1538 -0.3960 L -0.1538 0.0000 L -0.0338 0.0000 E" pathEditMode="relative" ptsTypes="AAAAAAAA">
                                      <p:cBhvr>
                                        <p:cTn id="256" dur="42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7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9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4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6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77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2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3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0000 0.1267 E" pathEditMode="relative" ptsTypes="AA">
                                      <p:cBhvr>
                                        <p:cTn id="287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8" presetID="10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2" dur="9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7" fill="hold">
                      <p:stCondLst>
                        <p:cond delay="indefinite"/>
                      </p:stCondLst>
                      <p:childTnLst>
                        <p:par>
                          <p:cTn id="298" fill="hold">
                            <p:stCondLst>
                              <p:cond delay="0"/>
                            </p:stCondLst>
                            <p:childTnLst>
                              <p:par>
                                <p:cTn id="2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6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3" dur="13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19" dur="13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25" dur="13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6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1" dur="13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2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37" dur="13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8" presetID="1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0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-0.2667 L 0.0675 -0.2667 E" pathEditMode="relative" ptsTypes="AAA">
                                      <p:cBhvr>
                                        <p:cTn id="343" dur="13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44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8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9" presetID="22" presetClass="entr" presetSubtype="4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1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2" fill="hold">
                      <p:stCondLst>
                        <p:cond delay="indefinite"/>
                      </p:stCondLst>
                      <p:childTnLst>
                        <p:par>
                          <p:cTn id="353" fill="hold">
                            <p:stCondLst>
                              <p:cond delay="0"/>
                            </p:stCondLst>
                            <p:childTnLst>
                              <p:par>
                                <p:cTn id="3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0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1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12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3" fill="hold">
                            <p:stCondLst>
                              <p:cond delay="1200"/>
                            </p:stCondLst>
                            <p:childTnLst>
                              <p:par>
                                <p:cTn id="37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4467 E" pathEditMode="relative" ptsTypes="AA">
                                      <p:cBhvr>
                                        <p:cTn id="377" dur="11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8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9" dur="3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1" fill="hold">
                            <p:stCondLst>
                              <p:cond delay="2500"/>
                            </p:stCondLst>
                            <p:childTnLst>
                              <p:par>
                                <p:cTn id="38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9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2" fill="hold">
                            <p:stCondLst>
                              <p:cond delay="3000"/>
                            </p:stCondLst>
                            <p:childTnLst>
                              <p:par>
                                <p:cTn id="39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4" dur="40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9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96" dur="400" autoRev="1" fill="hold"/>
                                        <p:tgtEl>
                                          <p:spTgt spid="9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6" grpId="0" animBg="1"/>
      <p:bldP spid="56" grpId="1" animBg="1"/>
      <p:bldP spid="57" grpId="0" animBg="1"/>
      <p:bldP spid="32" grpId="0" animBg="1"/>
      <p:bldP spid="33" grpId="0" animBg="1"/>
      <p:bldP spid="34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57" grpId="1" animBg="1"/>
      <p:bldP spid="58" grpId="0" animBg="1"/>
      <p:bldP spid="63" grpId="0" animBg="1"/>
      <p:bldP spid="63" grpId="3" animBg="1"/>
      <p:bldP spid="63" grpId="1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58" grpId="1" animBg="1"/>
      <p:bldP spid="59" grpId="0" animBg="1"/>
      <p:bldP spid="36" grpId="0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50" grpId="0" animBg="1"/>
      <p:bldP spid="51" grpId="1" animBg="1"/>
      <p:bldP spid="52" grpId="0" animBg="1"/>
      <p:bldP spid="7" grpId="1" animBg="1"/>
      <p:bldP spid="15" grpId="1" animBg="1"/>
      <p:bldP spid="59" grpId="1" animBg="1"/>
      <p:bldP spid="60" grpId="0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50" grpId="1" animBg="1"/>
      <p:bldP spid="49" grpId="0" animBg="1"/>
      <p:bldP spid="52" grpId="1" animBg="1"/>
      <p:bldP spid="53" grpId="0" animBg="1"/>
      <p:bldP spid="6" grpId="1" animBg="1"/>
      <p:bldP spid="14" grpId="1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49" grpId="1" animBg="1"/>
      <p:bldP spid="48" grpId="0" animBg="1"/>
      <p:bldP spid="60" grpId="1" animBg="1"/>
      <p:bldP spid="61" grpId="0" animBg="1"/>
      <p:bldP spid="37" grpId="0" animBg="1"/>
      <p:bldP spid="38" grpId="0" animBg="1"/>
      <p:bldP spid="90" grpId="0" animBg="1"/>
      <p:bldP spid="90" grpId="3" animBg="1"/>
      <p:bldP spid="90" grpId="1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40" grpId="0" animBg="1"/>
      <p:bldP spid="41" grpId="0" animBg="1"/>
      <p:bldP spid="61" grpId="1" animBg="1"/>
      <p:bldP spid="62" grpId="0" animBg="1"/>
      <p:bldP spid="5" grpId="1" animBg="1"/>
      <p:bldP spid="13" grpId="1" animBg="1"/>
      <p:bldP spid="48" grpId="1" animBg="1"/>
      <p:bldP spid="53" grpId="1" animBg="1"/>
      <p:bldP spid="54" grpId="0" animBg="1"/>
      <p:bldP spid="96" grpId="0" animBg="1"/>
      <p:bldP spid="96" grpId="3" animBg="1"/>
      <p:bldP spid="96" grpId="1" animBg="1"/>
      <p:bldP spid="97" grpId="0" animBg="1"/>
      <p:bldP spid="98" grpId="0" animBg="1"/>
      <p:bldP spid="97" grpId="2" animBg="1"/>
      <p:bldP spid="98" grpId="2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Chemical circulation – tanks &amp; heat-limited vessels</a:t>
            </a:r>
            <a:endParaRPr lang="en-US" sz="2800" dirty="0"/>
          </a:p>
        </p:txBody>
      </p:sp>
      <p:sp>
        <p:nvSpPr>
          <p:cNvPr id="3" name="s527"/>
          <p:cNvSpPr/>
          <p:nvPr/>
        </p:nvSpPr>
        <p:spPr>
          <a:xfrm>
            <a:off x="4572000" y="1874520"/>
            <a:ext cx="3108960" cy="2880360"/>
          </a:xfrm>
          <a:prstGeom prst="roundRect">
            <a:avLst>
              <a:gd name="adj" fmla="val 9524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4" name="s528"/>
          <p:cNvSpPr/>
          <p:nvPr/>
        </p:nvSpPr>
        <p:spPr>
          <a:xfrm>
            <a:off x="4945075" y="2039112"/>
            <a:ext cx="559613" cy="255117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5" name="s529"/>
          <p:cNvSpPr/>
          <p:nvPr/>
        </p:nvSpPr>
        <p:spPr>
          <a:xfrm>
            <a:off x="4572000" y="1874520"/>
            <a:ext cx="3108960" cy="2880360"/>
          </a:xfrm>
          <a:prstGeom prst="roundRect">
            <a:avLst>
              <a:gd name="adj" fmla="val 9524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6" name="s530"/>
          <p:cNvSpPr/>
          <p:nvPr/>
        </p:nvSpPr>
        <p:spPr>
          <a:xfrm>
            <a:off x="4572000" y="1874520"/>
            <a:ext cx="3108960" cy="2880360"/>
          </a:xfrm>
          <a:prstGeom prst="roundRect">
            <a:avLst>
              <a:gd name="adj" fmla="val 9524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531"/>
          <p:cNvSpPr/>
          <p:nvPr/>
        </p:nvSpPr>
        <p:spPr>
          <a:xfrm>
            <a:off x="4572000" y="1874520"/>
            <a:ext cx="3108960" cy="2880360"/>
          </a:xfrm>
          <a:prstGeom prst="roundRect">
            <a:avLst>
              <a:gd name="adj" fmla="val 9524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532"/>
          <p:cNvSpPr/>
          <p:nvPr/>
        </p:nvSpPr>
        <p:spPr>
          <a:xfrm>
            <a:off x="6281928" y="2392985"/>
            <a:ext cx="91440" cy="691286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9" name="s533"/>
          <p:cNvSpPr/>
          <p:nvPr/>
        </p:nvSpPr>
        <p:spPr>
          <a:xfrm>
            <a:off x="6810451" y="3257093"/>
            <a:ext cx="91440" cy="576072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0" name="s534"/>
          <p:cNvSpPr/>
          <p:nvPr/>
        </p:nvSpPr>
        <p:spPr>
          <a:xfrm>
            <a:off x="5877763" y="3775558"/>
            <a:ext cx="91440" cy="460858"/>
          </a:xfrm>
          <a:prstGeom prst="roundRect">
            <a:avLst>
              <a:gd name="adj" fmla="val 50000"/>
            </a:avLst>
          </a:prstGeom>
          <a:solidFill>
            <a:srgbClr val="3E2F20"/>
          </a:solidFill>
          <a:ln/>
        </p:spPr>
      </p:sp>
      <p:sp>
        <p:nvSpPr>
          <p:cNvPr id="11" name="t535"/>
          <p:cNvSpPr txBox="1"/>
          <p:nvPr/>
        </p:nvSpPr>
        <p:spPr>
          <a:xfrm>
            <a:off x="429768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 / temperature-limited vessel</a:t>
            </a:r>
            <a:endParaRPr lang="en-US" sz="1100" dirty="0"/>
          </a:p>
        </p:txBody>
      </p:sp>
      <p:sp>
        <p:nvSpPr>
          <p:cNvPr id="12" name="t536"/>
          <p:cNvSpPr txBox="1"/>
          <p:nvPr/>
        </p:nvSpPr>
        <p:spPr>
          <a:xfrm>
            <a:off x="4297680" y="5029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steam: lined, coated or low design temperature</a:t>
            </a:r>
            <a:endParaRPr lang="en-US" sz="1100" dirty="0"/>
          </a:p>
        </p:txBody>
      </p:sp>
      <p:sp>
        <p:nvSpPr>
          <p:cNvPr id="13" name="s537"/>
          <p:cNvSpPr/>
          <p:nvPr/>
        </p:nvSpPr>
        <p:spPr>
          <a:xfrm flipV="1">
            <a:off x="6949440" y="1280160"/>
            <a:ext cx="0" cy="59436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4" name="t538"/>
          <p:cNvSpPr txBox="1"/>
          <p:nvPr/>
        </p:nvSpPr>
        <p:spPr>
          <a:xfrm>
            <a:off x="70866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flare / closed vent</a:t>
            </a:r>
            <a:endParaRPr lang="en-US" sz="1100" dirty="0"/>
          </a:p>
        </p:txBody>
      </p:sp>
      <p:sp>
        <p:nvSpPr>
          <p:cNvPr id="15" name="s539"/>
          <p:cNvSpPr/>
          <p:nvPr/>
        </p:nvSpPr>
        <p:spPr>
          <a:xfrm>
            <a:off x="731520" y="3291840"/>
            <a:ext cx="1280160" cy="1280160"/>
          </a:xfrm>
          <a:prstGeom prst="roundRect">
            <a:avLst>
              <a:gd name="adj" fmla="val 10714"/>
            </a:avLst>
          </a:prstGeom>
          <a:solidFill>
            <a:srgbClr val="EAF6EC"/>
          </a:solidFill>
          <a:ln w="19050">
            <a:solidFill>
              <a:srgbClr val="3AB54A"/>
            </a:solidFill>
            <a:prstDash val="solid"/>
          </a:ln>
        </p:spPr>
      </p:sp>
      <p:sp>
        <p:nvSpPr>
          <p:cNvPr id="16" name="t540"/>
          <p:cNvSpPr txBox="1"/>
          <p:nvPr/>
        </p:nvSpPr>
        <p:spPr>
          <a:xfrm>
            <a:off x="548640" y="4617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tank</a:t>
            </a:r>
            <a:endParaRPr lang="en-US" sz="1100" dirty="0"/>
          </a:p>
        </p:txBody>
      </p:sp>
      <p:sp>
        <p:nvSpPr>
          <p:cNvPr id="17" name="s541"/>
          <p:cNvSpPr/>
          <p:nvPr/>
        </p:nvSpPr>
        <p:spPr>
          <a:xfrm>
            <a:off x="2743200" y="4983480"/>
            <a:ext cx="411480" cy="4114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8" name="t542"/>
          <p:cNvSpPr txBox="1"/>
          <p:nvPr/>
        </p:nvSpPr>
        <p:spPr>
          <a:xfrm>
            <a:off x="2514600" y="54132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skid</a:t>
            </a:r>
            <a:endParaRPr lang="en-US" sz="1000" dirty="0"/>
          </a:p>
        </p:txBody>
      </p:sp>
      <p:sp>
        <p:nvSpPr>
          <p:cNvPr id="19" name="s543"/>
          <p:cNvSpPr/>
          <p:nvPr/>
        </p:nvSpPr>
        <p:spPr>
          <a:xfrm>
            <a:off x="1371600" y="4572000"/>
            <a:ext cx="0" cy="61264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0" name="s544"/>
          <p:cNvSpPr/>
          <p:nvPr/>
        </p:nvSpPr>
        <p:spPr>
          <a:xfrm>
            <a:off x="1371600" y="5184648"/>
            <a:ext cx="13716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1" name="s545"/>
          <p:cNvSpPr/>
          <p:nvPr/>
        </p:nvSpPr>
        <p:spPr>
          <a:xfrm>
            <a:off x="3154680" y="5184648"/>
            <a:ext cx="105156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2" name="s546"/>
          <p:cNvSpPr/>
          <p:nvPr/>
        </p:nvSpPr>
        <p:spPr>
          <a:xfrm flipV="1">
            <a:off x="4206240" y="4389120"/>
            <a:ext cx="0" cy="795528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3" name="s547"/>
          <p:cNvSpPr/>
          <p:nvPr/>
        </p:nvSpPr>
        <p:spPr>
          <a:xfrm>
            <a:off x="4206240" y="4389120"/>
            <a:ext cx="36576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24" name="s548"/>
          <p:cNvSpPr/>
          <p:nvPr/>
        </p:nvSpPr>
        <p:spPr>
          <a:xfrm flipH="1">
            <a:off x="1371600" y="2377440"/>
            <a:ext cx="320040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25" name="s549"/>
          <p:cNvSpPr/>
          <p:nvPr/>
        </p:nvSpPr>
        <p:spPr>
          <a:xfrm>
            <a:off x="1371600" y="2377440"/>
            <a:ext cx="0" cy="91440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26" name="s550"/>
          <p:cNvSpPr/>
          <p:nvPr/>
        </p:nvSpPr>
        <p:spPr>
          <a:xfrm>
            <a:off x="8412480" y="1417320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27" name="t551"/>
          <p:cNvSpPr txBox="1"/>
          <p:nvPr/>
        </p:nvSpPr>
        <p:spPr>
          <a:xfrm>
            <a:off x="8595360" y="1527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RETURN-LINE MONITORING</a:t>
            </a:r>
            <a:endParaRPr lang="en-US" sz="1200" dirty="0"/>
          </a:p>
        </p:txBody>
      </p:sp>
      <p:sp>
        <p:nvSpPr>
          <p:cNvPr id="28" name="t552"/>
          <p:cNvSpPr txBox="1"/>
          <p:nvPr/>
        </p:nvSpPr>
        <p:spPr>
          <a:xfrm>
            <a:off x="8595360" y="1920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29" name="t553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00" dirty="0"/>
          </a:p>
        </p:txBody>
      </p:sp>
      <p:sp>
        <p:nvSpPr>
          <p:cNvPr id="30" name="t554"/>
          <p:cNvSpPr txBox="1"/>
          <p:nvPr/>
        </p:nvSpPr>
        <p:spPr>
          <a:xfrm>
            <a:off x="978408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✓</a:t>
            </a:r>
            <a:endParaRPr lang="en-US" sz="1300" dirty="0"/>
          </a:p>
        </p:txBody>
      </p:sp>
      <p:sp>
        <p:nvSpPr>
          <p:cNvPr id="31" name="t555"/>
          <p:cNvSpPr txBox="1"/>
          <p:nvPr/>
        </p:nvSpPr>
        <p:spPr>
          <a:xfrm>
            <a:off x="8595360" y="2377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400" dirty="0"/>
          </a:p>
        </p:txBody>
      </p:sp>
      <p:sp>
        <p:nvSpPr>
          <p:cNvPr id="32" name="t556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Off-spec</a:t>
            </a:r>
            <a:endParaRPr lang="en-US" sz="1300" dirty="0"/>
          </a:p>
        </p:txBody>
      </p:sp>
      <p:sp>
        <p:nvSpPr>
          <p:cNvPr id="33" name="t557"/>
          <p:cNvSpPr txBox="1"/>
          <p:nvPr/>
        </p:nvSpPr>
        <p:spPr>
          <a:xfrm>
            <a:off x="978408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✓</a:t>
            </a:r>
            <a:endParaRPr lang="en-US" sz="1300" dirty="0"/>
          </a:p>
        </p:txBody>
      </p:sp>
      <p:sp>
        <p:nvSpPr>
          <p:cNvPr id="34" name="t558"/>
          <p:cNvSpPr txBox="1"/>
          <p:nvPr/>
        </p:nvSpPr>
        <p:spPr>
          <a:xfrm>
            <a:off x="8595360" y="2834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(Fe)</a:t>
            </a:r>
            <a:endParaRPr lang="en-US" sz="1400" dirty="0"/>
          </a:p>
        </p:txBody>
      </p:sp>
      <p:sp>
        <p:nvSpPr>
          <p:cNvPr id="35" name="t559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</a:t>
            </a:r>
            <a:endParaRPr lang="en-US" sz="1300" dirty="0"/>
          </a:p>
        </p:txBody>
      </p:sp>
      <p:sp>
        <p:nvSpPr>
          <p:cNvPr id="36" name="t560"/>
          <p:cNvSpPr txBox="1"/>
          <p:nvPr/>
        </p:nvSpPr>
        <p:spPr>
          <a:xfrm>
            <a:off x="9784080" y="2834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✓</a:t>
            </a:r>
            <a:endParaRPr lang="en-US" sz="1300" dirty="0"/>
          </a:p>
        </p:txBody>
      </p:sp>
      <p:sp>
        <p:nvSpPr>
          <p:cNvPr id="37" name="t561"/>
          <p:cNvSpPr txBox="1"/>
          <p:nvPr/>
        </p:nvSpPr>
        <p:spPr>
          <a:xfrm>
            <a:off x="859536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</a:t>
            </a:r>
            <a:endParaRPr lang="en-US" sz="1400" dirty="0"/>
          </a:p>
        </p:txBody>
      </p:sp>
      <p:sp>
        <p:nvSpPr>
          <p:cNvPr id="38" name="t562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limit</a:t>
            </a:r>
            <a:endParaRPr lang="en-US" sz="1300" dirty="0"/>
          </a:p>
        </p:txBody>
      </p:sp>
      <p:sp>
        <p:nvSpPr>
          <p:cNvPr id="39" name="t563"/>
          <p:cNvSpPr txBox="1"/>
          <p:nvPr/>
        </p:nvSpPr>
        <p:spPr>
          <a:xfrm>
            <a:off x="978408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✓</a:t>
            </a:r>
            <a:endParaRPr lang="en-US" sz="1300" dirty="0"/>
          </a:p>
        </p:txBody>
      </p:sp>
      <p:sp>
        <p:nvSpPr>
          <p:cNvPr id="40" name="s564"/>
          <p:cNvSpPr/>
          <p:nvPr/>
        </p:nvSpPr>
        <p:spPr>
          <a:xfrm>
            <a:off x="7680960" y="4526280"/>
            <a:ext cx="233172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1" name="s565"/>
          <p:cNvSpPr/>
          <p:nvPr/>
        </p:nvSpPr>
        <p:spPr>
          <a:xfrm>
            <a:off x="10012680" y="411480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2" name="s566"/>
          <p:cNvSpPr/>
          <p:nvPr/>
        </p:nvSpPr>
        <p:spPr>
          <a:xfrm>
            <a:off x="10058400" y="484632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43" name="s567"/>
          <p:cNvSpPr/>
          <p:nvPr/>
        </p:nvSpPr>
        <p:spPr>
          <a:xfrm>
            <a:off x="10058400" y="448056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44" name="t568"/>
          <p:cNvSpPr txBox="1"/>
          <p:nvPr/>
        </p:nvSpPr>
        <p:spPr>
          <a:xfrm>
            <a:off x="9646920" y="5193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45" name="s569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46" name="t57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Tanks and temperature-limited vessels (lined, coated, low design temperature) cannot be steamed.</a:t>
            </a:r>
            <a:endParaRPr lang="en-US" sz="1400" dirty="0"/>
          </a:p>
        </p:txBody>
      </p:sp>
      <p:sp>
        <p:nvSpPr>
          <p:cNvPr id="47" name="t57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A temporary circulation skid is set up: mixing tank and pump, hosed to the equipment.</a:t>
            </a:r>
            <a:endParaRPr lang="en-US" sz="1400" dirty="0"/>
          </a:p>
        </p:txBody>
      </p:sp>
      <p:sp>
        <p:nvSpPr>
          <p:cNvPr id="48" name="t57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Decon solution is circulated continuously through the equipment and back to the mixing tank.</a:t>
            </a:r>
            <a:endParaRPr lang="en-US" sz="1400" dirty="0"/>
          </a:p>
        </p:txBody>
      </p:sp>
      <p:sp>
        <p:nvSpPr>
          <p:cNvPr id="49" name="t57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H₂S is converted into stable compounds and FeS is oxidised; LEL / benzene vapours are vented to the flare.</a:t>
            </a:r>
            <a:endParaRPr lang="en-US" sz="1400" dirty="0"/>
          </a:p>
        </p:txBody>
      </p:sp>
      <p:sp>
        <p:nvSpPr>
          <p:cNvPr id="50" name="t57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The return line is monitored until H₂S is low, pH is neutral and the iron level is stable.</a:t>
            </a:r>
            <a:endParaRPr lang="en-US" sz="1400" dirty="0"/>
          </a:p>
        </p:txBody>
      </p:sp>
      <p:sp>
        <p:nvSpPr>
          <p:cNvPr id="51" name="t57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The solution is drained to the effluent tank and a neutralising rinse follows.</a:t>
            </a:r>
            <a:endParaRPr lang="en-US" sz="1400" dirty="0"/>
          </a:p>
        </p:txBody>
      </p:sp>
      <p:sp>
        <p:nvSpPr>
          <p:cNvPr id="52" name="t57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Gas tests confirm the entry criteria – safe entry.</a:t>
            </a:r>
            <a:endParaRPr lang="en-US" sz="1400" dirty="0"/>
          </a:p>
        </p:txBody>
      </p:sp>
      <p:sp>
        <p:nvSpPr>
          <p:cNvPr id="53" name="tag577"/>
          <p:cNvSpPr/>
          <p:nvPr/>
        </p:nvSpPr>
        <p:spPr>
          <a:xfrm>
            <a:off x="5029200" y="22402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54" name="tag578"/>
          <p:cNvSpPr/>
          <p:nvPr/>
        </p:nvSpPr>
        <p:spPr>
          <a:xfrm>
            <a:off x="6126480" y="22402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5" name="s579"/>
          <p:cNvSpPr/>
          <p:nvPr/>
        </p:nvSpPr>
        <p:spPr>
          <a:xfrm>
            <a:off x="4965192" y="3840480"/>
            <a:ext cx="1042416" cy="457200"/>
          </a:xfrm>
          <a:prstGeom prst="roundRect">
            <a:avLst>
              <a:gd name="adj" fmla="val 50000"/>
            </a:avLst>
          </a:prstGeom>
          <a:solidFill>
            <a:srgbClr val="FF8C1A">
              <a:alpha val="4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56" name="tag580"/>
          <p:cNvSpPr/>
          <p:nvPr/>
        </p:nvSpPr>
        <p:spPr>
          <a:xfrm>
            <a:off x="5029200" y="390448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57" name="tag581"/>
          <p:cNvSpPr/>
          <p:nvPr/>
        </p:nvSpPr>
        <p:spPr>
          <a:xfrm>
            <a:off x="4937760" y="22402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58" name="tag582"/>
          <p:cNvSpPr/>
          <p:nvPr/>
        </p:nvSpPr>
        <p:spPr>
          <a:xfrm>
            <a:off x="4937760" y="390448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200" dirty="0"/>
          </a:p>
        </p:txBody>
      </p:sp>
      <p:sp>
        <p:nvSpPr>
          <p:cNvPr id="59" name="s58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58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58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58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s58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58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58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59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7" name="s59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59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59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s594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1" name="s595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2" name="s596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597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4" name="s598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599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600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601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602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603"/>
          <p:cNvSpPr/>
          <p:nvPr/>
        </p:nvSpPr>
        <p:spPr>
          <a:xfrm>
            <a:off x="1280160" y="4480560"/>
            <a:ext cx="182880" cy="182880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604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605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606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607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608"/>
          <p:cNvSpPr/>
          <p:nvPr/>
        </p:nvSpPr>
        <p:spPr>
          <a:xfrm>
            <a:off x="7406640" y="4434840"/>
            <a:ext cx="182880" cy="182880"/>
          </a:xfrm>
          <a:prstGeom prst="ellipse">
            <a:avLst/>
          </a:prstGeom>
          <a:solidFill>
            <a:srgbClr val="8E9AA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609"/>
          <p:cNvSpPr/>
          <p:nvPr/>
        </p:nvSpPr>
        <p:spPr>
          <a:xfrm>
            <a:off x="4820717" y="1965960"/>
            <a:ext cx="2611526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86" name="s610"/>
          <p:cNvSpPr/>
          <p:nvPr/>
        </p:nvSpPr>
        <p:spPr>
          <a:xfrm>
            <a:off x="4572000" y="5321808"/>
            <a:ext cx="310896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87" name="t611"/>
          <p:cNvSpPr txBox="1"/>
          <p:nvPr/>
        </p:nvSpPr>
        <p:spPr>
          <a:xfrm>
            <a:off x="4572000" y="53218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3000" fill="hold" grpId="2" nodeType="withEffect">
                                  <p:stCondLst>
                                    <p:cond delay="4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5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00"/>
                            </p:stCondLst>
                            <p:childTnLst>
                              <p:par>
                                <p:cTn id="4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5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2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4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700"/>
                            </p:stCondLst>
                            <p:childTnLst>
                              <p:par>
                                <p:cTn id="5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9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200"/>
                            </p:stCondLst>
                            <p:childTnLst>
                              <p:par>
                                <p:cTn id="6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78" dur="42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84" dur="42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46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90" dur="42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0" presetClass="path" presetSubtype="0" fill="hold" grpId="3" nodeType="withEffect">
                                  <p:stCondLst>
                                    <p:cond delay="135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96" dur="42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7" presetID="1" presetClass="exit" presetSubtype="0" fill="hold" grpId="1" nodeType="withEffect">
                                  <p:stCondLst>
                                    <p:cond delay="55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0" presetClass="path" presetSubtype="0" fill="hold" grpId="3" nodeType="withEffect">
                                  <p:stCondLst>
                                    <p:cond delay="18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02" dur="42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grpId="3" nodeType="withEffect">
                                  <p:stCondLst>
                                    <p:cond delay="225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08" dur="42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64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14" dur="42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69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31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0" presetClass="path" presetSubtype="0" fill="hold" grpId="3" nodeType="withEffect">
                                  <p:stCondLst>
                                    <p:cond delay="315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20" dur="42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1" presetID="1" presetClass="exit" presetSubtype="0" fill="hold" grpId="1" nodeType="withEffect">
                                  <p:stCondLst>
                                    <p:cond delay="73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26" dur="42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78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39" dur="4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45" dur="42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6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51" dur="42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57" dur="42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8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63" dur="42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4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169" dur="42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3" dur="300" autoRev="1" fill="hold"/>
                                        <p:tgtEl>
                                          <p:spTgt spid="5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74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675 -0.1200 L 0.0675 -0.1867 E" pathEditMode="relative" ptsTypes="AAA">
                                      <p:cBhvr>
                                        <p:cTn id="190" dur="1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1" presetID="10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1" nodeType="withEffect">
                                  <p:stCondLst>
                                    <p:cond delay="1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indefinite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07" dur="42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8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13" dur="42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4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19" dur="42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25" dur="42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1" presetClass="exit" presetSubtype="0" fill="hold" grpId="1" nodeType="withEffect">
                                  <p:stCondLst>
                                    <p:cond delay="57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8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31" dur="42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2" presetID="1" presetClass="exit" presetSubtype="0" fill="hold" grpId="1" nodeType="withEffect">
                                  <p:stCondLst>
                                    <p:cond delay="62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0.0893 L 0.2325 0.0893 L 0.2325 -0.0267 L 0.3075 -0.0267 L 0.3075 -0.3200 L 0.0000 -0.3200 L 0.0000 -0.1867 E" pathEditMode="relative" ptsTypes="AAAAAAAA">
                                      <p:cBhvr>
                                        <p:cTn id="237" dur="42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8" presetID="1" presetClass="exit" presetSubtype="0" fill="hold" grpId="1" nodeType="withEffect">
                                  <p:stCondLst>
                                    <p:cond delay="67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0" presetID="1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1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2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53" presetClass="entr" presetSubtype="16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8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9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1050 E" pathEditMode="relative" ptsTypes="AA">
                                      <p:cBhvr>
                                        <p:cTn id="265" dur="1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0000 0.1050 E" pathEditMode="relative" ptsTypes="AA">
                                      <p:cBhvr>
                                        <p:cTn id="270" dur="1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1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00 0.1050 E" pathEditMode="relative" ptsTypes="AA">
                                      <p:cBhvr>
                                        <p:cTn id="275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6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9" fill="hold">
                      <p:stCondLst>
                        <p:cond delay="indefinite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2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295" dur="12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6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0" presetID="0" presetClass="path" presetSubtype="0" fill="hold" grpId="3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301" dur="1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2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4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307" dur="1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8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313" dur="1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4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6" presetID="1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0" presetClass="path" presetSubtype="0" fill="hold" grpId="3" nodeType="with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2250 0.0000 E" pathEditMode="relative" ptsTypes="AA">
                                      <p:cBhvr>
                                        <p:cTn id="319" dur="1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20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2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4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22" presetClass="entr" presetSubtype="4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7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1" nodeType="withEffect">
                                  <p:stCondLst>
                                    <p:cond delay="1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1" fill="hold">
                            <p:stCondLst>
                              <p:cond delay="3100"/>
                            </p:stCondLst>
                            <p:childTnLst>
                              <p:par>
                                <p:cTn id="3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3600 E" pathEditMode="relative" ptsTypes="AA">
                                      <p:cBhvr>
                                        <p:cTn id="335" dur="11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6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7" dur="3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9" fill="hold">
                      <p:stCondLst>
                        <p:cond delay="indefinite"/>
                      </p:stCondLst>
                      <p:childTnLst>
                        <p:par>
                          <p:cTn id="340" fill="hold">
                            <p:stCondLst>
                              <p:cond delay="0"/>
                            </p:stCondLst>
                            <p:childTnLst>
                              <p:par>
                                <p:cTn id="3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0" dur="4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1" dur="4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3" fill="hold">
                            <p:stCondLst>
                              <p:cond delay="800"/>
                            </p:stCondLst>
                            <p:childTnLst>
                              <p:par>
                                <p:cTn id="35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6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7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1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2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3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4" fill="hold">
                            <p:stCondLst>
                              <p:cond delay="1300"/>
                            </p:stCondLst>
                            <p:childTnLst>
                              <p:par>
                                <p:cTn id="365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6" dur="400" autoRev="1" fill="hold"/>
                                        <p:tgtEl>
                                          <p:spTgt spid="8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6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68" dur="400" autoRev="1" fill="hold"/>
                                        <p:tgtEl>
                                          <p:spTgt spid="8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6" grpId="0" animBg="1"/>
      <p:bldP spid="55" grpId="2" animBg="1"/>
      <p:bldP spid="46" grpId="1" animBg="1"/>
      <p:bldP spid="47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47" grpId="1" animBg="1"/>
      <p:bldP spid="48" grpId="0" animBg="1"/>
      <p:bldP spid="59" grpId="0" animBg="1"/>
      <p:bldP spid="59" grpId="3" animBg="1"/>
      <p:bldP spid="59" grpId="1" animBg="1"/>
      <p:bldP spid="60" grpId="0" animBg="1"/>
      <p:bldP spid="60" grpId="3" animBg="1"/>
      <p:bldP spid="60" grpId="1" animBg="1"/>
      <p:bldP spid="61" grpId="0" animBg="1"/>
      <p:bldP spid="61" grpId="3" animBg="1"/>
      <p:bldP spid="61" grpId="1" animBg="1"/>
      <p:bldP spid="62" grpId="0" animBg="1"/>
      <p:bldP spid="62" grpId="3" animBg="1"/>
      <p:bldP spid="62" grpId="1" animBg="1"/>
      <p:bldP spid="63" grpId="0" animBg="1"/>
      <p:bldP spid="63" grpId="3" animBg="1"/>
      <p:bldP spid="63" grpId="1" animBg="1"/>
      <p:bldP spid="64" grpId="0" animBg="1"/>
      <p:bldP spid="64" grpId="3" animBg="1"/>
      <p:bldP spid="64" grpId="1" animBg="1"/>
      <p:bldP spid="65" grpId="0" animBg="1"/>
      <p:bldP spid="65" grpId="3" animBg="1"/>
      <p:bldP spid="65" grpId="1" animBg="1"/>
      <p:bldP spid="66" grpId="0" animBg="1"/>
      <p:bldP spid="66" grpId="3" animBg="1"/>
      <p:bldP spid="66" grpId="1" animBg="1"/>
      <p:bldP spid="67" grpId="0" animBg="1"/>
      <p:bldP spid="67" grpId="3" animBg="1"/>
      <p:bldP spid="67" grpId="1" animBg="1"/>
      <p:bldP spid="48" grpId="1" animBg="1"/>
      <p:bldP spid="49" grpId="0" animBg="1"/>
      <p:bldP spid="68" grpId="0" animBg="1"/>
      <p:bldP spid="68" grpId="3" animBg="1"/>
      <p:bldP spid="68" grpId="1" animBg="1"/>
      <p:bldP spid="69" grpId="0" animBg="1"/>
      <p:bldP spid="69" grpId="3" animBg="1"/>
      <p:bldP spid="69" grpId="1" animBg="1"/>
      <p:bldP spid="70" grpId="0" animBg="1"/>
      <p:bldP spid="70" grpId="3" animBg="1"/>
      <p:bldP spid="70" grpId="1" animBg="1"/>
      <p:bldP spid="71" grpId="0" animBg="1"/>
      <p:bldP spid="71" grpId="3" animBg="1"/>
      <p:bldP spid="71" grpId="1" animBg="1"/>
      <p:bldP spid="72" grpId="0" animBg="1"/>
      <p:bldP spid="72" grpId="3" animBg="1"/>
      <p:bldP spid="72" grpId="1" animBg="1"/>
      <p:bldP spid="73" grpId="0" animBg="1"/>
      <p:bldP spid="73" grpId="3" animBg="1"/>
      <p:bldP spid="73" grpId="1" animBg="1"/>
      <p:bldP spid="53" grpId="2" animBg="1"/>
      <p:bldP spid="53" grpId="1" animBg="1"/>
      <p:bldP spid="57" grpId="0" animBg="1"/>
      <p:bldP spid="55" grpId="1" animBg="1"/>
      <p:bldP spid="56" grpId="1" animBg="1"/>
      <p:bldP spid="58" grpId="0" animBg="1"/>
      <p:bldP spid="54" grpId="3" animBg="1"/>
      <p:bldP spid="54" grpId="1" animBg="1"/>
      <p:bldP spid="7" grpId="1" animBg="1"/>
      <p:bldP spid="49" grpId="1" animBg="1"/>
      <p:bldP spid="50" grpId="0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29" grpId="1" animBg="1"/>
      <p:bldP spid="30" grpId="0" animBg="1"/>
      <p:bldP spid="32" grpId="1" animBg="1"/>
      <p:bldP spid="33" grpId="0" animBg="1"/>
      <p:bldP spid="35" grpId="1" animBg="1"/>
      <p:bldP spid="36" grpId="0" animBg="1"/>
      <p:bldP spid="6" grpId="1" animBg="1"/>
      <p:bldP spid="8" grpId="3" animBg="1"/>
      <p:bldP spid="8" grpId="1" animBg="1"/>
      <p:bldP spid="9" grpId="3" animBg="1"/>
      <p:bldP spid="9" grpId="1" animBg="1"/>
      <p:bldP spid="10" grpId="3" animBg="1"/>
      <p:bldP spid="10" grpId="1" animBg="1"/>
      <p:bldP spid="50" grpId="1" animBg="1"/>
      <p:bldP spid="51" grpId="0" animBg="1"/>
      <p:bldP spid="57" grpId="1" animBg="1"/>
      <p:bldP spid="58" grpId="1" animBg="1"/>
      <p:bldP spid="80" grpId="0" animBg="1"/>
      <p:bldP spid="80" grpId="3" animBg="1"/>
      <p:bldP spid="80" grpId="1" animBg="1"/>
      <p:bldP spid="81" grpId="0" animBg="1"/>
      <p:bldP spid="81" grpId="3" animBg="1"/>
      <p:bldP spid="81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42" grpId="0" animBg="1"/>
      <p:bldP spid="43" grpId="0" animBg="1"/>
      <p:bldP spid="5" grpId="1" animBg="1"/>
      <p:bldP spid="85" grpId="0" animBg="1"/>
      <p:bldP spid="85" grpId="3" animBg="1"/>
      <p:bldP spid="85" grpId="1" animBg="1"/>
      <p:bldP spid="51" grpId="1" animBg="1"/>
      <p:bldP spid="52" grpId="0" animBg="1"/>
      <p:bldP spid="38" grpId="1" animBg="1"/>
      <p:bldP spid="39" grpId="0" animBg="1"/>
      <p:bldP spid="86" grpId="0" animBg="1"/>
      <p:bldP spid="87" grpId="0" animBg="1"/>
      <p:bldP spid="86" grpId="2" animBg="1"/>
      <p:bldP spid="87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Packing pre- &amp; post-treatment – packed columns</a:t>
            </a:r>
            <a:endParaRPr lang="en-US" sz="2800" dirty="0"/>
          </a:p>
        </p:txBody>
      </p:sp>
      <p:sp>
        <p:nvSpPr>
          <p:cNvPr id="3" name="ph0"/>
          <p:cNvSpPr/>
          <p:nvPr/>
        </p:nvSpPr>
        <p:spPr>
          <a:xfrm>
            <a:off x="548640" y="1417320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4" name="tag612"/>
          <p:cNvSpPr/>
          <p:nvPr/>
        </p:nvSpPr>
        <p:spPr>
          <a:xfrm>
            <a:off x="548640" y="1417320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PRE-TREATMENT</a:t>
            </a:r>
            <a:endParaRPr lang="en-US" sz="1200" dirty="0"/>
          </a:p>
        </p:txBody>
      </p:sp>
      <p:sp>
        <p:nvSpPr>
          <p:cNvPr id="5" name="ph1"/>
          <p:cNvSpPr/>
          <p:nvPr/>
        </p:nvSpPr>
        <p:spPr>
          <a:xfrm>
            <a:off x="548640" y="1856232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6" name="tag613"/>
          <p:cNvSpPr/>
          <p:nvPr/>
        </p:nvSpPr>
        <p:spPr>
          <a:xfrm>
            <a:off x="548640" y="1856232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VAPOUR-PHASE</a:t>
            </a:r>
            <a:endParaRPr lang="en-US" sz="1200" dirty="0"/>
          </a:p>
        </p:txBody>
      </p:sp>
      <p:sp>
        <p:nvSpPr>
          <p:cNvPr id="7" name="ph2"/>
          <p:cNvSpPr/>
          <p:nvPr/>
        </p:nvSpPr>
        <p:spPr>
          <a:xfrm>
            <a:off x="548640" y="2295144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F3F7FA"/>
          </a:solidFill>
          <a:ln w="12700">
            <a:solidFill>
              <a:srgbClr val="E1E8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8" name="tag614"/>
          <p:cNvSpPr/>
          <p:nvPr/>
        </p:nvSpPr>
        <p:spPr>
          <a:xfrm>
            <a:off x="548640" y="2295144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POST-TREATMENT</a:t>
            </a:r>
            <a:endParaRPr lang="en-US" sz="1200" dirty="0"/>
          </a:p>
        </p:txBody>
      </p:sp>
      <p:sp>
        <p:nvSpPr>
          <p:cNvPr id="9" name="s615"/>
          <p:cNvSpPr/>
          <p:nvPr/>
        </p:nvSpPr>
        <p:spPr>
          <a:xfrm>
            <a:off x="4937760" y="1691640"/>
            <a:ext cx="1280160" cy="361188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10" name="s616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" name="s617"/>
          <p:cNvSpPr/>
          <p:nvPr/>
        </p:nvSpPr>
        <p:spPr>
          <a:xfrm>
            <a:off x="5029200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2" name="s618"/>
          <p:cNvSpPr/>
          <p:nvPr/>
        </p:nvSpPr>
        <p:spPr>
          <a:xfrm>
            <a:off x="5248656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3" name="s619"/>
          <p:cNvSpPr/>
          <p:nvPr/>
        </p:nvSpPr>
        <p:spPr>
          <a:xfrm>
            <a:off x="5468112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4" name="s620"/>
          <p:cNvSpPr/>
          <p:nvPr/>
        </p:nvSpPr>
        <p:spPr>
          <a:xfrm>
            <a:off x="5687568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5" name="s621"/>
          <p:cNvSpPr/>
          <p:nvPr/>
        </p:nvSpPr>
        <p:spPr>
          <a:xfrm>
            <a:off x="5907024" y="210312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16" name="s622"/>
          <p:cNvSpPr/>
          <p:nvPr/>
        </p:nvSpPr>
        <p:spPr>
          <a:xfrm>
            <a:off x="5029200" y="210312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</p:sp>
      <p:sp>
        <p:nvSpPr>
          <p:cNvPr id="17" name="s623"/>
          <p:cNvSpPr/>
          <p:nvPr/>
        </p:nvSpPr>
        <p:spPr>
          <a:xfrm>
            <a:off x="4974336" y="206654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</p:sp>
      <p:sp>
        <p:nvSpPr>
          <p:cNvPr id="18" name="s624"/>
          <p:cNvSpPr/>
          <p:nvPr/>
        </p:nvSpPr>
        <p:spPr>
          <a:xfrm>
            <a:off x="4956048" y="205740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19" name="s625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s626"/>
          <p:cNvSpPr/>
          <p:nvPr/>
        </p:nvSpPr>
        <p:spPr>
          <a:xfrm>
            <a:off x="5029200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1" name="s627"/>
          <p:cNvSpPr/>
          <p:nvPr/>
        </p:nvSpPr>
        <p:spPr>
          <a:xfrm>
            <a:off x="5248656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2" name="s628"/>
          <p:cNvSpPr/>
          <p:nvPr/>
        </p:nvSpPr>
        <p:spPr>
          <a:xfrm>
            <a:off x="5468112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3" name="s629"/>
          <p:cNvSpPr/>
          <p:nvPr/>
        </p:nvSpPr>
        <p:spPr>
          <a:xfrm>
            <a:off x="5687568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4" name="s630"/>
          <p:cNvSpPr/>
          <p:nvPr/>
        </p:nvSpPr>
        <p:spPr>
          <a:xfrm>
            <a:off x="5907024" y="306324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25" name="s631"/>
          <p:cNvSpPr/>
          <p:nvPr/>
        </p:nvSpPr>
        <p:spPr>
          <a:xfrm>
            <a:off x="5029200" y="306324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</p:sp>
      <p:sp>
        <p:nvSpPr>
          <p:cNvPr id="26" name="s632"/>
          <p:cNvSpPr/>
          <p:nvPr/>
        </p:nvSpPr>
        <p:spPr>
          <a:xfrm>
            <a:off x="4974336" y="302666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</p:sp>
      <p:sp>
        <p:nvSpPr>
          <p:cNvPr id="27" name="s633"/>
          <p:cNvSpPr/>
          <p:nvPr/>
        </p:nvSpPr>
        <p:spPr>
          <a:xfrm>
            <a:off x="4956048" y="301752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28" name="s634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C9B9A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s635"/>
          <p:cNvSpPr/>
          <p:nvPr/>
        </p:nvSpPr>
        <p:spPr>
          <a:xfrm>
            <a:off x="5029200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0" name="s636"/>
          <p:cNvSpPr/>
          <p:nvPr/>
        </p:nvSpPr>
        <p:spPr>
          <a:xfrm>
            <a:off x="5248656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1" name="s637"/>
          <p:cNvSpPr/>
          <p:nvPr/>
        </p:nvSpPr>
        <p:spPr>
          <a:xfrm>
            <a:off x="5468112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2" name="s638"/>
          <p:cNvSpPr/>
          <p:nvPr/>
        </p:nvSpPr>
        <p:spPr>
          <a:xfrm>
            <a:off x="5687568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3" name="s639"/>
          <p:cNvSpPr/>
          <p:nvPr/>
        </p:nvSpPr>
        <p:spPr>
          <a:xfrm>
            <a:off x="5907024" y="4023360"/>
            <a:ext cx="219456" cy="685800"/>
          </a:xfrm>
          <a:prstGeom prst="line">
            <a:avLst/>
          </a:prstGeom>
          <a:noFill/>
          <a:ln w="9525">
            <a:solidFill>
              <a:srgbClr val="9C8A70"/>
            </a:solidFill>
            <a:prstDash val="solid"/>
          </a:ln>
        </p:spPr>
      </p:sp>
      <p:sp>
        <p:nvSpPr>
          <p:cNvPr id="34" name="s640"/>
          <p:cNvSpPr/>
          <p:nvPr/>
        </p:nvSpPr>
        <p:spPr>
          <a:xfrm>
            <a:off x="5029200" y="4023360"/>
            <a:ext cx="1097280" cy="685800"/>
          </a:xfrm>
          <a:prstGeom prst="rect">
            <a:avLst/>
          </a:prstGeom>
          <a:solidFill>
            <a:srgbClr val="7A5C3E">
              <a:alpha val="85000"/>
            </a:srgbClr>
          </a:solidFill>
          <a:ln w="12700">
            <a:solidFill>
              <a:srgbClr val="5C4630"/>
            </a:solidFill>
            <a:prstDash val="solid"/>
          </a:ln>
        </p:spPr>
      </p:sp>
      <p:sp>
        <p:nvSpPr>
          <p:cNvPr id="35" name="s641"/>
          <p:cNvSpPr/>
          <p:nvPr/>
        </p:nvSpPr>
        <p:spPr>
          <a:xfrm>
            <a:off x="4974336" y="3986784"/>
            <a:ext cx="1207008" cy="758952"/>
          </a:xfrm>
          <a:prstGeom prst="rect">
            <a:avLst/>
          </a:prstGeom>
          <a:solidFill>
            <a:srgbClr val="3AB54A">
              <a:alpha val="30000"/>
            </a:srgbClr>
          </a:solidFill>
          <a:ln w="31750">
            <a:solidFill>
              <a:srgbClr val="3AB54A"/>
            </a:solidFill>
            <a:prstDash val="solid"/>
          </a:ln>
        </p:spPr>
      </p:sp>
      <p:sp>
        <p:nvSpPr>
          <p:cNvPr id="36" name="s642"/>
          <p:cNvSpPr/>
          <p:nvPr/>
        </p:nvSpPr>
        <p:spPr>
          <a:xfrm>
            <a:off x="4956048" y="3977640"/>
            <a:ext cx="1243584" cy="777240"/>
          </a:xfrm>
          <a:prstGeom prst="rect">
            <a:avLst/>
          </a:prstGeom>
          <a:solidFill>
            <a:srgbClr val="FF8C1A">
              <a:alpha val="55000"/>
            </a:srgbClr>
          </a:solidFill>
          <a:ln w="25400">
            <a:solidFill>
              <a:srgbClr val="FF8C1A"/>
            </a:solidFill>
            <a:prstDash val="solid"/>
          </a:ln>
        </p:spPr>
      </p:sp>
      <p:sp>
        <p:nvSpPr>
          <p:cNvPr id="37" name="t643"/>
          <p:cNvSpPr txBox="1"/>
          <p:nvPr/>
        </p:nvSpPr>
        <p:spPr>
          <a:xfrm>
            <a:off x="466344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Packed column</a:t>
            </a:r>
            <a:endParaRPr lang="en-US" sz="1100" dirty="0"/>
          </a:p>
        </p:txBody>
      </p:sp>
      <p:sp>
        <p:nvSpPr>
          <p:cNvPr id="38" name="s644"/>
          <p:cNvSpPr/>
          <p:nvPr/>
        </p:nvSpPr>
        <p:spPr>
          <a:xfrm>
            <a:off x="3931920" y="1417320"/>
            <a:ext cx="1645920" cy="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</a:ln>
        </p:spPr>
      </p:sp>
      <p:sp>
        <p:nvSpPr>
          <p:cNvPr id="39" name="s645"/>
          <p:cNvSpPr/>
          <p:nvPr/>
        </p:nvSpPr>
        <p:spPr>
          <a:xfrm>
            <a:off x="5577840" y="1417320"/>
            <a:ext cx="0" cy="274320"/>
          </a:xfrm>
          <a:prstGeom prst="line">
            <a:avLst/>
          </a:prstGeom>
          <a:noFill/>
          <a:ln w="508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40" name="t646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 CHEMISTRY</a:t>
            </a:r>
            <a:endParaRPr lang="en-US" sz="1200" dirty="0"/>
          </a:p>
        </p:txBody>
      </p:sp>
      <p:sp>
        <p:nvSpPr>
          <p:cNvPr id="41" name="t647"/>
          <p:cNvSpPr txBox="1"/>
          <p:nvPr/>
        </p:nvSpPr>
        <p:spPr>
          <a:xfrm>
            <a:off x="3657600" y="1115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OXIDISER SOLUTION</a:t>
            </a:r>
            <a:endParaRPr lang="en-US" sz="1200" dirty="0"/>
          </a:p>
        </p:txBody>
      </p:sp>
      <p:sp>
        <p:nvSpPr>
          <p:cNvPr id="42" name="s648"/>
          <p:cNvSpPr/>
          <p:nvPr/>
        </p:nvSpPr>
        <p:spPr>
          <a:xfrm>
            <a:off x="3840480" y="4846320"/>
            <a:ext cx="109728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43" name="t649"/>
          <p:cNvSpPr txBox="1"/>
          <p:nvPr/>
        </p:nvSpPr>
        <p:spPr>
          <a:xfrm>
            <a:off x="3840480" y="4553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200" dirty="0"/>
          </a:p>
        </p:txBody>
      </p:sp>
      <p:sp>
        <p:nvSpPr>
          <p:cNvPr id="44" name="s650"/>
          <p:cNvSpPr/>
          <p:nvPr/>
        </p:nvSpPr>
        <p:spPr>
          <a:xfrm flipV="1">
            <a:off x="5897880" y="1463040"/>
            <a:ext cx="0" cy="2743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5" name="s651"/>
          <p:cNvSpPr/>
          <p:nvPr/>
        </p:nvSpPr>
        <p:spPr>
          <a:xfrm>
            <a:off x="5897880" y="1463040"/>
            <a:ext cx="26974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6" name="s652"/>
          <p:cNvSpPr/>
          <p:nvPr/>
        </p:nvSpPr>
        <p:spPr>
          <a:xfrm>
            <a:off x="8595360" y="1463040"/>
            <a:ext cx="0" cy="6400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7" name="s653"/>
          <p:cNvSpPr/>
          <p:nvPr/>
        </p:nvSpPr>
        <p:spPr>
          <a:xfrm>
            <a:off x="8595360" y="210312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8" name="s654"/>
          <p:cNvSpPr/>
          <p:nvPr/>
        </p:nvSpPr>
        <p:spPr>
          <a:xfrm>
            <a:off x="8778240" y="1737360"/>
            <a:ext cx="182880" cy="1188720"/>
          </a:xfrm>
          <a:prstGeom prst="rect">
            <a:avLst/>
          </a:prstGeom>
          <a:solidFill>
            <a:srgbClr val="B4C2D3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9" name="s655"/>
          <p:cNvSpPr/>
          <p:nvPr/>
        </p:nvSpPr>
        <p:spPr>
          <a:xfrm>
            <a:off x="8650224" y="1234440"/>
            <a:ext cx="438912" cy="548640"/>
          </a:xfrm>
          <a:prstGeom prst="ellipse">
            <a:avLst/>
          </a:prstGeom>
          <a:solidFill>
            <a:srgbClr val="F7C548"/>
          </a:solidFill>
          <a:ln/>
        </p:spPr>
      </p:sp>
      <p:sp>
        <p:nvSpPr>
          <p:cNvPr id="50" name="s656"/>
          <p:cNvSpPr/>
          <p:nvPr/>
        </p:nvSpPr>
        <p:spPr>
          <a:xfrm>
            <a:off x="8741664" y="1444752"/>
            <a:ext cx="256032" cy="329184"/>
          </a:xfrm>
          <a:prstGeom prst="ellipse">
            <a:avLst/>
          </a:prstGeom>
          <a:solidFill>
            <a:srgbClr val="FF8C1A"/>
          </a:solidFill>
          <a:ln/>
        </p:spPr>
      </p:sp>
      <p:sp>
        <p:nvSpPr>
          <p:cNvPr id="51" name="t657"/>
          <p:cNvSpPr txBox="1"/>
          <p:nvPr/>
        </p:nvSpPr>
        <p:spPr>
          <a:xfrm>
            <a:off x="8321040" y="2971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VENT</a:t>
            </a:r>
            <a:endParaRPr lang="en-US" sz="1100" dirty="0"/>
          </a:p>
        </p:txBody>
      </p:sp>
      <p:sp>
        <p:nvSpPr>
          <p:cNvPr id="52" name="tag658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3" name="tag659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4" name="tag660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Packing pre-wetted</a:t>
            </a:r>
            <a:endParaRPr lang="en-US" sz="1200" dirty="0"/>
          </a:p>
        </p:txBody>
      </p:sp>
      <p:sp>
        <p:nvSpPr>
          <p:cNvPr id="55" name="tag661"/>
          <p:cNvSpPr/>
          <p:nvPr/>
        </p:nvSpPr>
        <p:spPr>
          <a:xfrm>
            <a:off x="6400800" y="228600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56" name="tag662"/>
          <p:cNvSpPr/>
          <p:nvPr/>
        </p:nvSpPr>
        <p:spPr>
          <a:xfrm>
            <a:off x="6400800" y="32461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57" name="tag663"/>
          <p:cNvSpPr/>
          <p:nvPr/>
        </p:nvSpPr>
        <p:spPr>
          <a:xfrm>
            <a:off x="6400800" y="228600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8" name="tag664"/>
          <p:cNvSpPr/>
          <p:nvPr/>
        </p:nvSpPr>
        <p:spPr>
          <a:xfrm>
            <a:off x="6400800" y="324612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59" name="tag665"/>
          <p:cNvSpPr/>
          <p:nvPr/>
        </p:nvSpPr>
        <p:spPr>
          <a:xfrm>
            <a:off x="6400800" y="42062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A052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60" name="s666"/>
          <p:cNvSpPr/>
          <p:nvPr/>
        </p:nvSpPr>
        <p:spPr>
          <a:xfrm>
            <a:off x="6400800" y="4617720"/>
            <a:ext cx="566928" cy="502920"/>
          </a:xfrm>
          <a:prstGeom prst="triangle">
            <a:avLst/>
          </a:prstGeom>
          <a:solidFill>
            <a:srgbClr val="F7C548"/>
          </a:solidFill>
          <a:ln w="19050">
            <a:solidFill>
              <a:srgbClr val="FF8C1A"/>
            </a:solidFill>
            <a:prstDash val="solid"/>
          </a:ln>
        </p:spPr>
      </p:sp>
      <p:sp>
        <p:nvSpPr>
          <p:cNvPr id="61" name="t667"/>
          <p:cNvSpPr txBox="1"/>
          <p:nvPr/>
        </p:nvSpPr>
        <p:spPr>
          <a:xfrm>
            <a:off x="6400800" y="470916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62" name="t668"/>
          <p:cNvSpPr txBox="1"/>
          <p:nvPr/>
        </p:nvSpPr>
        <p:spPr>
          <a:xfrm>
            <a:off x="7086600" y="45720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Pyrophoric FeS left on the packing – ignites in air</a:t>
            </a:r>
            <a:endParaRPr lang="en-US" sz="1300" dirty="0"/>
          </a:p>
        </p:txBody>
      </p:sp>
      <p:sp>
        <p:nvSpPr>
          <p:cNvPr id="63" name="s669"/>
          <p:cNvSpPr/>
          <p:nvPr/>
        </p:nvSpPr>
        <p:spPr>
          <a:xfrm>
            <a:off x="5577840" y="5303520"/>
            <a:ext cx="0" cy="2286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64" name="s670"/>
          <p:cNvSpPr/>
          <p:nvPr/>
        </p:nvSpPr>
        <p:spPr>
          <a:xfrm>
            <a:off x="5577840" y="5532120"/>
            <a:ext cx="32004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65" name="s671"/>
          <p:cNvSpPr/>
          <p:nvPr/>
        </p:nvSpPr>
        <p:spPr>
          <a:xfrm flipV="1">
            <a:off x="8778240" y="5074920"/>
            <a:ext cx="0" cy="45720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66" name="s672"/>
          <p:cNvSpPr/>
          <p:nvPr/>
        </p:nvSpPr>
        <p:spPr>
          <a:xfrm>
            <a:off x="8778240" y="5074920"/>
            <a:ext cx="36576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7" name="s673"/>
          <p:cNvSpPr/>
          <p:nvPr/>
        </p:nvSpPr>
        <p:spPr>
          <a:xfrm>
            <a:off x="9144000" y="4343400"/>
            <a:ext cx="1371600" cy="109728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68" name="s674"/>
          <p:cNvSpPr/>
          <p:nvPr/>
        </p:nvSpPr>
        <p:spPr>
          <a:xfrm>
            <a:off x="9189720" y="5120640"/>
            <a:ext cx="128016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69" name="s675"/>
          <p:cNvSpPr/>
          <p:nvPr/>
        </p:nvSpPr>
        <p:spPr>
          <a:xfrm>
            <a:off x="9189720" y="4754880"/>
            <a:ext cx="128016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70" name="t676"/>
          <p:cNvSpPr txBox="1"/>
          <p:nvPr/>
        </p:nvSpPr>
        <p:spPr>
          <a:xfrm>
            <a:off x="8778240" y="5468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71" name="s677"/>
          <p:cNvSpPr/>
          <p:nvPr/>
        </p:nvSpPr>
        <p:spPr>
          <a:xfrm>
            <a:off x="548640" y="288036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72" name="t678"/>
          <p:cNvSpPr txBox="1"/>
          <p:nvPr/>
        </p:nvSpPr>
        <p:spPr>
          <a:xfrm>
            <a:off x="731520" y="2990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73" name="t679"/>
          <p:cNvSpPr txBox="1"/>
          <p:nvPr/>
        </p:nvSpPr>
        <p:spPr>
          <a:xfrm>
            <a:off x="731520" y="33832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74" name="t680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75" name="t681"/>
          <p:cNvSpPr txBox="1"/>
          <p:nvPr/>
        </p:nvSpPr>
        <p:spPr>
          <a:xfrm>
            <a:off x="1737360" y="33832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6" name="t682"/>
          <p:cNvSpPr txBox="1"/>
          <p:nvPr/>
        </p:nvSpPr>
        <p:spPr>
          <a:xfrm>
            <a:off x="731520" y="37947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77" name="t683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78" name="t684"/>
          <p:cNvSpPr txBox="1"/>
          <p:nvPr/>
        </p:nvSpPr>
        <p:spPr>
          <a:xfrm>
            <a:off x="1737360" y="3794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79" name="t685"/>
          <p:cNvSpPr txBox="1"/>
          <p:nvPr/>
        </p:nvSpPr>
        <p:spPr>
          <a:xfrm>
            <a:off x="731520" y="42062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80" name="t686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81" name="t687"/>
          <p:cNvSpPr txBox="1"/>
          <p:nvPr/>
        </p:nvSpPr>
        <p:spPr>
          <a:xfrm>
            <a:off x="1737360" y="4206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82" name="s688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83" name="t68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Packed beds hold hydrocarbon film and pyrophoric iron sulphide deep inside the packing geometry.</a:t>
            </a:r>
            <a:endParaRPr lang="en-US" sz="1400" dirty="0"/>
          </a:p>
        </p:txBody>
      </p:sp>
      <p:sp>
        <p:nvSpPr>
          <p:cNvPr id="84" name="t69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PRE-TREATMENT: decon chemistry is fed from the top and coats every surface of the packing.</a:t>
            </a:r>
            <a:endParaRPr lang="en-US" sz="1400" dirty="0"/>
          </a:p>
        </p:txBody>
      </p:sp>
      <p:sp>
        <p:nvSpPr>
          <p:cNvPr id="85" name="t69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With the packing pre-wetted, the vapour-phase that follows reaches deep into every bed.</a:t>
            </a:r>
            <a:endParaRPr lang="en-US" sz="1400" dirty="0"/>
          </a:p>
        </p:txBody>
      </p:sp>
      <p:sp>
        <p:nvSpPr>
          <p:cNvPr id="86" name="t69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VAPOUR-PHASE: steam carries the chemistry up through the beds – LEL and benzene go to flare.</a:t>
            </a:r>
            <a:endParaRPr lang="en-US" sz="1400" dirty="0"/>
          </a:p>
        </p:txBody>
      </p:sp>
      <p:sp>
        <p:nvSpPr>
          <p:cNvPr id="87" name="t693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Pyrophoric FeS can remain on the packing – it would self-heat once the column is opened.</a:t>
            </a:r>
            <a:endParaRPr lang="en-US" sz="1400" dirty="0"/>
          </a:p>
        </p:txBody>
      </p:sp>
      <p:sp>
        <p:nvSpPr>
          <p:cNvPr id="88" name="t694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POST-TREATMENT: an oxidiser wash trickles through each bed – FeS becomes stable iron oxide.</a:t>
            </a:r>
            <a:endParaRPr lang="en-US" sz="1400" dirty="0"/>
          </a:p>
        </p:txBody>
      </p:sp>
      <p:sp>
        <p:nvSpPr>
          <p:cNvPr id="89" name="t69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The spent wash drains to the effluent tank.</a:t>
            </a:r>
            <a:endParaRPr lang="en-US" sz="1400" dirty="0"/>
          </a:p>
        </p:txBody>
      </p:sp>
      <p:sp>
        <p:nvSpPr>
          <p:cNvPr id="90" name="t69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pass – the column is safe to open and the packing safe to unload.</a:t>
            </a:r>
            <a:endParaRPr lang="en-US" sz="1400" dirty="0"/>
          </a:p>
        </p:txBody>
      </p:sp>
      <p:sp>
        <p:nvSpPr>
          <p:cNvPr id="91" name="s697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698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699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700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701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6" name="s702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7" name="s703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s704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9" name="s705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706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707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s708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3" name="s709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4" name="s710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s711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6" name="s712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7" name="s713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714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715"/>
          <p:cNvSpPr/>
          <p:nvPr/>
        </p:nvSpPr>
        <p:spPr>
          <a:xfrm>
            <a:off x="5038344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s716"/>
          <p:cNvSpPr/>
          <p:nvPr/>
        </p:nvSpPr>
        <p:spPr>
          <a:xfrm>
            <a:off x="5340096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1" name="s717"/>
          <p:cNvSpPr/>
          <p:nvPr/>
        </p:nvSpPr>
        <p:spPr>
          <a:xfrm>
            <a:off x="5641848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s718"/>
          <p:cNvSpPr/>
          <p:nvPr/>
        </p:nvSpPr>
        <p:spPr>
          <a:xfrm>
            <a:off x="5943600" y="476402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3" name="s719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4" name="s720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5" name="s721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722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s723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8" name="s724"/>
          <p:cNvSpPr/>
          <p:nvPr/>
        </p:nvSpPr>
        <p:spPr>
          <a:xfrm>
            <a:off x="5093208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s725"/>
          <p:cNvSpPr/>
          <p:nvPr/>
        </p:nvSpPr>
        <p:spPr>
          <a:xfrm>
            <a:off x="5294376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0" name="s726"/>
          <p:cNvSpPr/>
          <p:nvPr/>
        </p:nvSpPr>
        <p:spPr>
          <a:xfrm>
            <a:off x="5495544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1" name="s727"/>
          <p:cNvSpPr/>
          <p:nvPr/>
        </p:nvSpPr>
        <p:spPr>
          <a:xfrm>
            <a:off x="5696712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2" name="s728"/>
          <p:cNvSpPr/>
          <p:nvPr/>
        </p:nvSpPr>
        <p:spPr>
          <a:xfrm>
            <a:off x="5897880" y="170992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729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730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s731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6" name="s732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7" name="s733"/>
          <p:cNvSpPr/>
          <p:nvPr/>
        </p:nvSpPr>
        <p:spPr>
          <a:xfrm>
            <a:off x="5477256" y="4928616"/>
            <a:ext cx="201168" cy="201168"/>
          </a:xfrm>
          <a:prstGeom prst="ellipse">
            <a:avLst/>
          </a:prstGeom>
          <a:solidFill>
            <a:srgbClr val="A0522D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8" name="s734"/>
          <p:cNvSpPr/>
          <p:nvPr/>
        </p:nvSpPr>
        <p:spPr>
          <a:xfrm>
            <a:off x="548640" y="4846320"/>
            <a:ext cx="301752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129" name="t735"/>
          <p:cNvSpPr txBox="1"/>
          <p:nvPr/>
        </p:nvSpPr>
        <p:spPr>
          <a:xfrm>
            <a:off x="548640" y="4846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SAFE TO OPEN &amp; UNLOAD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4" dur="500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repeatCount="2000" fill="hold" grpId="2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16" dur="50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9" dur="22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0" presetClass="path" presetSubtype="0" fill="hold" grpId="3" nodeType="withEffect">
                                  <p:stCondLst>
                                    <p:cond delay="11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5" dur="22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1" nodeType="withEffect">
                                  <p:stCondLst>
                                    <p:cond delay="33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0" presetClass="path" presetSubtype="0" fill="hold" grpId="3" nodeType="withEffect">
                                  <p:stCondLst>
                                    <p:cond delay="13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51" dur="22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1" nodeType="withEffect">
                                  <p:stCondLst>
                                    <p:cond delay="35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0" presetClass="path" presetSubtype="0" fill="hold" grpId="3" nodeType="withEffect">
                                  <p:stCondLst>
                                    <p:cond delay="15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57" dur="22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37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0" presetClass="path" presetSubtype="0" fill="hold" grpId="3" nodeType="withEffect">
                                  <p:stCondLst>
                                    <p:cond delay="17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3" dur="22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" presetID="1" presetClass="exit" presetSubtype="0" fill="hold" grpId="1" nodeType="withEffect">
                                  <p:stCondLst>
                                    <p:cond delay="39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69" dur="22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3" nodeType="withEffect">
                                  <p:stCondLst>
                                    <p:cond delay="22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75" dur="22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4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24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3" nodeType="withEffect">
                                  <p:stCondLst>
                                    <p:cond delay="24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81" dur="22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4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0" presetClass="path" presetSubtype="0" fill="hold" grpId="3" nodeType="withEffect">
                                  <p:stCondLst>
                                    <p:cond delay="26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87" dur="22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4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0" presetClass="path" presetSubtype="0" fill="hold" grpId="3" nodeType="withEffect">
                                  <p:stCondLst>
                                    <p:cond delay="28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93" dur="22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1" nodeType="withEffect">
                                  <p:stCondLst>
                                    <p:cond delay="5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3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8" dur="4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0" dur="4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32" dur="4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67" dur="18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8" presetID="1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2" presetID="0" presetClass="path" presetSubtype="0" fill="hold" grpId="3" nodeType="with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73" dur="18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4" presetID="1" presetClass="exit" presetSubtype="0" fill="hold" grpId="1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8" presetID="0" presetClass="path" presetSubtype="0" fill="hold" grpId="3" nodeType="withEffect">
                                  <p:stCondLst>
                                    <p:cond delay="1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79" dur="18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85" dur="18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6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91" dur="18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2" presetID="1" presetClass="exit" presetSubtype="0" fill="hold" grpId="1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0" presetClass="path" presetSubtype="0" fill="hold" grpId="3" nodeType="withEffect">
                                  <p:stCondLst>
                                    <p:cond delay="1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197" dur="18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8" presetID="1" presetClass="exit" presetSubtype="0" fill="hold" grpId="1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03" dur="18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4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1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0" presetClass="path" presetSubtype="0" fill="hold" grpId="3" nodeType="withEffect">
                                  <p:stCondLst>
                                    <p:cond delay="21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09" dur="18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" presetClass="exit" presetSubtype="0" fill="hold" grpId="1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2" presetID="1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0" presetClass="path" presetSubtype="0" fill="hold" grpId="3" nodeType="withEffect">
                                  <p:stCondLst>
                                    <p:cond delay="23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15" dur="18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6" presetID="1" presetClass="exit" presetSubtype="0" fill="hold" grpId="1" nodeType="withEffect">
                                  <p:stCondLst>
                                    <p:cond delay="41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0" presetClass="path" presetSubtype="0" fill="hold" grpId="3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21" dur="18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2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0" presetClass="path" presetSubtype="0" fill="hold" grpId="3" nodeType="withEffect">
                                  <p:stCondLst>
                                    <p:cond delay="27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27" dur="1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8" presetID="1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ntr" presetSubtype="0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2" presetID="0" presetClass="path" presetSubtype="0" fill="hold" grpId="3" nodeType="withEffect">
                                  <p:stCondLst>
                                    <p:cond delay="2900"/>
                                  </p:stCondLst>
                                  <p:childTnLst>
                                    <p:animMotion origin="layout" path="M 0 0 L 0.0000 -0.4333 E" pathEditMode="relative" ptsTypes="AA">
                                      <p:cBhvr>
                                        <p:cTn id="233" dur="18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4" presetID="1" presetClass="exit" presetSubtype="0" fill="hold" grpId="1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4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0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presetID="22" presetClass="entr" presetSubtype="8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3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0" presetClass="path" presetSubtype="0" fill="hold" grpId="3" nodeType="withEffect">
                                  <p:stCondLst>
                                    <p:cond delay="2600"/>
                                  </p:stCondLst>
                                  <p:childTnLst>
                                    <p:animMotion origin="layout" path="M 0 0 L -0.0413 -0.1200 L 0.1725 -0.1400 L 0.1950 -0.0533 E" pathEditMode="relative" ptsTypes="AAAA">
                                      <p:cBhvr>
                                        <p:cTn id="255" dur="1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1" nodeType="withEffect">
                                  <p:stCondLst>
                                    <p:cond delay="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0" presetClass="path" presetSubtype="0" fill="hold" grpId="3" nodeType="withEffect">
                                  <p:stCondLst>
                                    <p:cond delay="3100"/>
                                  </p:stCondLst>
                                  <p:childTnLst>
                                    <p:animMotion origin="layout" path="M 0 0 L -0.0413 -0.2600 L 0.1725 -0.2800 L 0.1950 -0.1933 E" pathEditMode="relative" ptsTypes="AAAA">
                                      <p:cBhvr>
                                        <p:cTn id="260" dur="1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1" presetID="10" presetClass="exit" presetSubtype="0" fill="hold" grpId="1" nodeType="withEffect">
                                  <p:stCondLst>
                                    <p:cond delay="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4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265" dur="350" autoRev="1" fill="hold"/>
                                        <p:tgtEl>
                                          <p:spTgt spid="49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266" presetID="6" presetClass="emph" presetSubtype="0" repeatCount="3000" fill="hold" grpId="2" nodeType="withEffect">
                                  <p:stCondLst>
                                    <p:cond delay="3800"/>
                                  </p:stCondLst>
                                  <p:childTnLst>
                                    <p:animScale>
                                      <p:cBhvr>
                                        <p:cTn id="267" dur="350" autoRev="1" fill="hold"/>
                                        <p:tgtEl>
                                          <p:spTgt spid="50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2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8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xit" presetSubtype="0" fill="hold" grpId="1" nodeType="withEffect">
                                  <p:stCondLst>
                                    <p:cond delay="2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8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4" dur="8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8" presetID="53" presetClass="entr" presetSubtype="16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0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1" dur="4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2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1" presetClass="exit" presetSubtype="0" fill="hold" grpId="1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53" presetClass="entr" presetSubtype="16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7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8" dur="4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" presetClass="exit" presetSubtype="0" fill="hold" grpId="1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2" presetID="53" presetClass="entr" presetSubtype="16" fill="hold" grpId="0" nodeType="withEffect">
                                  <p:stCondLst>
                                    <p:cond delay="540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4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5" dur="4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6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7" fill="hold">
                      <p:stCondLst>
                        <p:cond delay="indefinite"/>
                      </p:stCondLst>
                      <p:childTnLst>
                        <p:par>
                          <p:cTn id="308" fill="hold">
                            <p:stCondLst>
                              <p:cond delay="0"/>
                            </p:stCondLst>
                            <p:childTnLst>
                              <p:par>
                                <p:cTn id="30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3" dur="3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3" fill="hold">
                            <p:stCondLst>
                              <p:cond delay="500"/>
                            </p:stCondLst>
                            <p:childTnLst>
                              <p:par>
                                <p:cTn id="324" presetID="6" presetClass="emph" presetSubtype="0" repeatCount="3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5" dur="4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26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7" dur="45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28" presetID="6" presetClass="emph" presetSubtype="0" repeatCount="3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29" dur="4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  <p:par>
                                <p:cTn id="3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2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3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8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5" fill="hold">
                      <p:stCondLst>
                        <p:cond delay="indefinite"/>
                      </p:stCondLst>
                      <p:childTnLst>
                        <p:par>
                          <p:cTn id="346" fill="hold">
                            <p:stCondLst>
                              <p:cond delay="0"/>
                            </p:stCondLst>
                            <p:childTnLst>
                              <p:par>
                                <p:cTn id="3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0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1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64" dur="22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5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9" presetID="0" presetClass="path" presetSubtype="0" fill="hold" grpId="3" nodeType="withEffect">
                                  <p:stCondLst>
                                    <p:cond delay="6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70" dur="22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1" presetID="1" presetClass="exit" presetSubtype="0" fill="hold" grpId="1" nodeType="withEffect">
                                  <p:stCondLst>
                                    <p:cond delay="282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0" presetClass="path" presetSubtype="0" fill="hold" grpId="3" nodeType="withEffect">
                                  <p:stCondLst>
                                    <p:cond delay="8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76" dur="22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7" presetID="1" presetClass="exit" presetSubtype="0" fill="hold" grpId="1" nodeType="withEffect">
                                  <p:stCondLst>
                                    <p:cond delay="304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1" presetID="0" presetClass="path" presetSubtype="0" fill="hold" grpId="3" nodeType="withEffect">
                                  <p:stCondLst>
                                    <p:cond delay="10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82" dur="22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3" presetID="1" presetClass="exit" presetSubtype="0" fill="hold" grpId="1" nodeType="withEffect">
                                  <p:stCondLst>
                                    <p:cond delay="326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7" presetID="0" presetClass="path" presetSubtype="0" fill="hold" grpId="3" nodeType="withEffect">
                                  <p:stCondLst>
                                    <p:cond delay="12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88" dur="22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9" presetID="1" presetClass="exit" presetSubtype="0" fill="hold" grpId="1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3" presetID="0" presetClass="path" presetSubtype="0" fill="hold" grpId="3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394" dur="22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5" presetID="1" presetClass="exit" presetSubtype="0" fill="hold" grpId="1" nodeType="withEffect">
                                  <p:stCondLst>
                                    <p:cond delay="370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0" presetClass="path" presetSubtype="0" fill="hold" grpId="3" nodeType="withEffect">
                                  <p:stCondLst>
                                    <p:cond delay="172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00" dur="22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1" presetID="1" presetClass="exit" presetSubtype="0" fill="hold" grpId="1" nodeType="withEffect">
                                  <p:stCondLst>
                                    <p:cond delay="392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0" presetClass="path" presetSubtype="0" fill="hold" grpId="3" nodeType="withEffect">
                                  <p:stCondLst>
                                    <p:cond delay="194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06" dur="22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07" presetID="1" presetClass="exit" presetSubtype="0" fill="hold" grpId="1" nodeType="withEffect">
                                  <p:stCondLst>
                                    <p:cond delay="414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0" presetClass="path" presetSubtype="0" fill="hold" grpId="3" nodeType="withEffect">
                                  <p:stCondLst>
                                    <p:cond delay="216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12" dur="22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3" presetID="1" presetClass="exit" presetSubtype="0" fill="hold" grpId="1" nodeType="withEffect">
                                  <p:stCondLst>
                                    <p:cond delay="436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presetID="0" presetClass="path" presetSubtype="0" fill="hold" grpId="3" nodeType="withEffect">
                                  <p:stCondLst>
                                    <p:cond delay="2380"/>
                                  </p:stCondLst>
                                  <p:childTnLst>
                                    <p:animMotion origin="layout" path="M 0 0 L 0.0000 0.4600 E" pathEditMode="relative" ptsTypes="AA">
                                      <p:cBhvr>
                                        <p:cTn id="418" dur="2200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9" presetID="1" presetClass="exit" presetSubtype="0" fill="hold" grpId="1" nodeType="withEffect">
                                  <p:stCondLst>
                                    <p:cond delay="458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8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8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9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1" presetID="42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6" presetID="10" presetClass="exit" presetSubtype="0" fill="hold" grpId="1" nodeType="withEffect">
                                  <p:stCondLst>
                                    <p:cond delay="2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6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9" presetID="42" presetClass="entr" presetSubtype="0" fill="hold" grpId="0" nodeType="with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4" fill="hold">
                      <p:stCondLst>
                        <p:cond delay="indefinite"/>
                      </p:stCondLst>
                      <p:childTnLst>
                        <p:par>
                          <p:cTn id="455" fill="hold">
                            <p:stCondLst>
                              <p:cond delay="0"/>
                            </p:stCondLst>
                            <p:childTnLst>
                              <p:par>
                                <p:cTn id="45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0" dur="3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0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2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73" dur="18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4" presetID="1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6" presetID="1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8" presetID="0" presetClass="path" presetSubtype="0" fill="hold" grpId="3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79" dur="1800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0" presetID="1" presetClass="exit" presetSubtype="0" fill="hold" grpId="1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2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4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85" dur="18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6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8" presetID="1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0" presetID="0" presetClass="path" presetSubtype="0" fill="hold" grpId="3" nodeType="withEffect">
                                  <p:stCondLst>
                                    <p:cond delay="105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91" dur="1800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2" presetID="1" presetClass="exit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4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6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0000 0.0733 L 0.2625 0.0733 L 0.2625 0.0067 L 0.3113 0.0067 E" pathEditMode="relative" ptsTypes="AAAAA">
                                      <p:cBhvr>
                                        <p:cTn id="497" dur="1800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8" presetID="1" presetClass="exit" presetSubtype="0" fill="hold" grpId="1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0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2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3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5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6" fill="hold">
                      <p:stCondLst>
                        <p:cond delay="indefinite"/>
                      </p:stCondLst>
                      <p:childTnLst>
                        <p:par>
                          <p:cTn id="507" fill="hold">
                            <p:stCondLst>
                              <p:cond delay="0"/>
                            </p:stCondLst>
                            <p:childTnLst>
                              <p:par>
                                <p:cTn id="50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2" dur="3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3" fill="hold">
                            <p:stCondLst>
                              <p:cond delay="500"/>
                            </p:stCondLst>
                            <p:childTnLst>
                              <p:par>
                                <p:cTn id="5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6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7" dur="500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8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1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2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3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4" fill="hold">
                            <p:stCondLst>
                              <p:cond delay="1000"/>
                            </p:stCondLst>
                            <p:childTnLst>
                              <p:par>
                                <p:cTn id="525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26" dur="400" autoRev="1" fill="hold"/>
                                        <p:tgtEl>
                                          <p:spTgt spid="128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527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28" dur="400" autoRev="1" fill="hold"/>
                                        <p:tgtEl>
                                          <p:spTgt spid="129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 animBg="1"/>
      <p:bldP spid="83" grpId="0" animBg="1"/>
      <p:bldP spid="16" grpId="2" animBg="1"/>
      <p:bldP spid="25" grpId="2" animBg="1"/>
      <p:bldP spid="34" grpId="2" animBg="1"/>
      <p:bldP spid="83" grpId="1" animBg="1"/>
      <p:bldP spid="84" grpId="0" animBg="1"/>
      <p:bldP spid="4" grpId="0" animBg="1"/>
      <p:bldP spid="40" grpId="0" animBg="1"/>
      <p:bldP spid="38" grpId="0" animBg="1"/>
      <p:bldP spid="39" grpId="0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95" grpId="0" animBg="1"/>
      <p:bldP spid="95" grpId="3" animBg="1"/>
      <p:bldP spid="95" grpId="1" animBg="1"/>
      <p:bldP spid="96" grpId="0" animBg="1"/>
      <p:bldP spid="96" grpId="3" animBg="1"/>
      <p:bldP spid="96" grpId="1" animBg="1"/>
      <p:bldP spid="97" grpId="0" animBg="1"/>
      <p:bldP spid="97" grpId="3" animBg="1"/>
      <p:bldP spid="97" grpId="1" animBg="1"/>
      <p:bldP spid="98" grpId="0" animBg="1"/>
      <p:bldP spid="98" grpId="3" animBg="1"/>
      <p:bldP spid="98" grpId="1" animBg="1"/>
      <p:bldP spid="99" grpId="0" animBg="1"/>
      <p:bldP spid="99" grpId="3" animBg="1"/>
      <p:bldP spid="99" grpId="1" animBg="1"/>
      <p:bldP spid="100" grpId="0" animBg="1"/>
      <p:bldP spid="100" grpId="3" animBg="1"/>
      <p:bldP spid="100" grpId="1" animBg="1"/>
      <p:bldP spid="17" grpId="0" animBg="1"/>
      <p:bldP spid="52" grpId="0" animBg="1"/>
      <p:bldP spid="26" grpId="0" animBg="1"/>
      <p:bldP spid="53" grpId="0" animBg="1"/>
      <p:bldP spid="35" grpId="0" animBg="1"/>
      <p:bldP spid="54" grpId="0" animBg="1"/>
      <p:bldP spid="84" grpId="1" animBg="1"/>
      <p:bldP spid="85" grpId="0" animBg="1"/>
      <p:bldP spid="17" grpId="2" animBg="1"/>
      <p:bldP spid="26" grpId="2" animBg="1"/>
      <p:bldP spid="35" grpId="2" animBg="1"/>
      <p:bldP spid="85" grpId="1" animBg="1"/>
      <p:bldP spid="86" grpId="0" animBg="1"/>
      <p:bldP spid="4" grpId="1" animBg="1"/>
      <p:bldP spid="40" grpId="1" animBg="1"/>
      <p:bldP spid="52" grpId="1" animBg="1"/>
      <p:bldP spid="53" grpId="1" animBg="1"/>
      <p:bldP spid="54" grpId="1" animBg="1"/>
      <p:bldP spid="6" grpId="0" animBg="1"/>
      <p:bldP spid="42" grpId="0" animBg="1"/>
      <p:bldP spid="43" grpId="0" animBg="1"/>
      <p:bldP spid="101" grpId="0" animBg="1"/>
      <p:bldP spid="101" grpId="3" animBg="1"/>
      <p:bldP spid="101" grpId="1" animBg="1"/>
      <p:bldP spid="102" grpId="0" animBg="1"/>
      <p:bldP spid="102" grpId="3" animBg="1"/>
      <p:bldP spid="102" grpId="1" animBg="1"/>
      <p:bldP spid="103" grpId="0" animBg="1"/>
      <p:bldP spid="103" grpId="3" animBg="1"/>
      <p:bldP spid="103" grpId="1" animBg="1"/>
      <p:bldP spid="104" grpId="0" animBg="1"/>
      <p:bldP spid="104" grpId="3" animBg="1"/>
      <p:bldP spid="104" grpId="1" animBg="1"/>
      <p:bldP spid="105" grpId="0" animBg="1"/>
      <p:bldP spid="105" grpId="3" animBg="1"/>
      <p:bldP spid="105" grpId="1" animBg="1"/>
      <p:bldP spid="106" grpId="0" animBg="1"/>
      <p:bldP spid="106" grpId="3" animBg="1"/>
      <p:bldP spid="106" grpId="1" animBg="1"/>
      <p:bldP spid="107" grpId="0" animBg="1"/>
      <p:bldP spid="107" grpId="3" animBg="1"/>
      <p:bldP spid="107" grpId="1" animBg="1"/>
      <p:bldP spid="108" grpId="0" animBg="1"/>
      <p:bldP spid="108" grpId="3" animBg="1"/>
      <p:bldP spid="108" grpId="1" animBg="1"/>
      <p:bldP spid="109" grpId="0" animBg="1"/>
      <p:bldP spid="109" grpId="3" animBg="1"/>
      <p:bldP spid="109" grpId="1" animBg="1"/>
      <p:bldP spid="110" grpId="0" animBg="1"/>
      <p:bldP spid="110" grpId="3" animBg="1"/>
      <p:bldP spid="110" grpId="1" animBg="1"/>
      <p:bldP spid="111" grpId="0" animBg="1"/>
      <p:bldP spid="111" grpId="3" animBg="1"/>
      <p:bldP spid="111" grpId="1" animBg="1"/>
      <p:bldP spid="112" grpId="0" animBg="1"/>
      <p:bldP spid="112" grpId="3" animBg="1"/>
      <p:bldP spid="112" grpId="1" animBg="1"/>
      <p:bldP spid="55" grpId="0" animBg="1"/>
      <p:bldP spid="56" grpId="0" animBg="1"/>
      <p:bldP spid="44" grpId="0" animBg="1"/>
      <p:bldP spid="45" grpId="0" animBg="1"/>
      <p:bldP spid="46" grpId="0" animBg="1"/>
      <p:bldP spid="47" grpId="0" animBg="1"/>
      <p:bldP spid="55" grpId="3" animBg="1"/>
      <p:bldP spid="55" grpId="1" animBg="1"/>
      <p:bldP spid="56" grpId="3" animBg="1"/>
      <p:bldP spid="56" grpId="1" animBg="1"/>
      <p:bldP spid="49" grpId="2" animBg="1"/>
      <p:bldP spid="50" grpId="2" animBg="1"/>
      <p:bldP spid="16" grpId="1" animBg="1"/>
      <p:bldP spid="25" grpId="1" animBg="1"/>
      <p:bldP spid="34" grpId="1" animBg="1"/>
      <p:bldP spid="17" grpId="1" animBg="1"/>
      <p:bldP spid="26" grpId="1" animBg="1"/>
      <p:bldP spid="35" grpId="1" animBg="1"/>
      <p:bldP spid="74" grpId="1" animBg="1"/>
      <p:bldP spid="75" grpId="0" animBg="1"/>
      <p:bldP spid="77" grpId="1" animBg="1"/>
      <p:bldP spid="78" grpId="0" animBg="1"/>
      <p:bldP spid="80" grpId="1" animBg="1"/>
      <p:bldP spid="81" grpId="0" animBg="1"/>
      <p:bldP spid="86" grpId="1" animBg="1"/>
      <p:bldP spid="87" grpId="0" animBg="1"/>
      <p:bldP spid="18" grpId="0" animBg="1"/>
      <p:bldP spid="27" grpId="0" animBg="1"/>
      <p:bldP spid="36" grpId="0" animBg="1"/>
      <p:bldP spid="18" grpId="2" animBg="1"/>
      <p:bldP spid="27" grpId="2" animBg="1"/>
      <p:bldP spid="36" grpId="2" animBg="1"/>
      <p:bldP spid="60" grpId="0" animBg="1"/>
      <p:bldP spid="61" grpId="0" animBg="1"/>
      <p:bldP spid="62" grpId="0" animBg="1"/>
      <p:bldP spid="87" grpId="1" animBg="1"/>
      <p:bldP spid="88" grpId="0" animBg="1"/>
      <p:bldP spid="6" grpId="1" animBg="1"/>
      <p:bldP spid="8" grpId="0" animBg="1"/>
      <p:bldP spid="41" grpId="0" animBg="1"/>
      <p:bldP spid="113" grpId="0" animBg="1"/>
      <p:bldP spid="113" grpId="3" animBg="1"/>
      <p:bldP spid="113" grpId="1" animBg="1"/>
      <p:bldP spid="114" grpId="0" animBg="1"/>
      <p:bldP spid="114" grpId="3" animBg="1"/>
      <p:bldP spid="114" grpId="1" animBg="1"/>
      <p:bldP spid="115" grpId="0" animBg="1"/>
      <p:bldP spid="115" grpId="3" animBg="1"/>
      <p:bldP spid="115" grpId="1" animBg="1"/>
      <p:bldP spid="116" grpId="0" animBg="1"/>
      <p:bldP spid="116" grpId="3" animBg="1"/>
      <p:bldP spid="116" grpId="1" animBg="1"/>
      <p:bldP spid="117" grpId="0" animBg="1"/>
      <p:bldP spid="117" grpId="3" animBg="1"/>
      <p:bldP spid="117" grpId="1" animBg="1"/>
      <p:bldP spid="118" grpId="0" animBg="1"/>
      <p:bldP spid="118" grpId="3" animBg="1"/>
      <p:bldP spid="118" grpId="1" animBg="1"/>
      <p:bldP spid="119" grpId="0" animBg="1"/>
      <p:bldP spid="119" grpId="3" animBg="1"/>
      <p:bldP spid="119" grpId="1" animBg="1"/>
      <p:bldP spid="120" grpId="0" animBg="1"/>
      <p:bldP spid="120" grpId="3" animBg="1"/>
      <p:bldP spid="120" grpId="1" animBg="1"/>
      <p:bldP spid="121" grpId="0" animBg="1"/>
      <p:bldP spid="121" grpId="3" animBg="1"/>
      <p:bldP spid="121" grpId="1" animBg="1"/>
      <p:bldP spid="122" grpId="0" animBg="1"/>
      <p:bldP spid="122" grpId="3" animBg="1"/>
      <p:bldP spid="122" grpId="1" animBg="1"/>
      <p:bldP spid="60" grpId="1" animBg="1"/>
      <p:bldP spid="61" grpId="1" animBg="1"/>
      <p:bldP spid="62" grpId="1" animBg="1"/>
      <p:bldP spid="18" grpId="1" animBg="1"/>
      <p:bldP spid="57" grpId="0" animBg="1"/>
      <p:bldP spid="27" grpId="1" animBg="1"/>
      <p:bldP spid="58" grpId="0" animBg="1"/>
      <p:bldP spid="36" grpId="1" animBg="1"/>
      <p:bldP spid="59" grpId="0" animBg="1"/>
      <p:bldP spid="88" grpId="1" animBg="1"/>
      <p:bldP spid="89" grpId="0" animBg="1"/>
      <p:bldP spid="57" grpId="1" animBg="1"/>
      <p:bldP spid="58" grpId="1" animBg="1"/>
      <p:bldP spid="59" grpId="1" animBg="1"/>
      <p:bldP spid="123" grpId="0" animBg="1"/>
      <p:bldP spid="123" grpId="3" animBg="1"/>
      <p:bldP spid="123" grpId="1" animBg="1"/>
      <p:bldP spid="124" grpId="0" animBg="1"/>
      <p:bldP spid="124" grpId="3" animBg="1"/>
      <p:bldP spid="124" grpId="1" animBg="1"/>
      <p:bldP spid="125" grpId="0" animBg="1"/>
      <p:bldP spid="125" grpId="3" animBg="1"/>
      <p:bldP spid="125" grpId="1" animBg="1"/>
      <p:bldP spid="126" grpId="0" animBg="1"/>
      <p:bldP spid="126" grpId="3" animBg="1"/>
      <p:bldP spid="126" grpId="1" animBg="1"/>
      <p:bldP spid="127" grpId="0" animBg="1"/>
      <p:bldP spid="127" grpId="3" animBg="1"/>
      <p:bldP spid="127" grpId="1" animBg="1"/>
      <p:bldP spid="68" grpId="0" animBg="1"/>
      <p:bldP spid="69" grpId="0" animBg="1"/>
      <p:bldP spid="89" grpId="1" animBg="1"/>
      <p:bldP spid="90" grpId="0" animBg="1"/>
      <p:bldP spid="128" grpId="0" animBg="1"/>
      <p:bldP spid="129" grpId="0" animBg="1"/>
      <p:bldP spid="128" grpId="2" animBg="1"/>
      <p:bldP spid="129" grpId="2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Tank decontamination – gamma-jet circulation</a:t>
            </a:r>
            <a:endParaRPr lang="en-US" sz="2800" dirty="0"/>
          </a:p>
        </p:txBody>
      </p:sp>
      <p:sp>
        <p:nvSpPr>
          <p:cNvPr id="3" name="s736"/>
          <p:cNvSpPr/>
          <p:nvPr/>
        </p:nvSpPr>
        <p:spPr>
          <a:xfrm>
            <a:off x="3840480" y="489204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" name="s737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BFDDF2"/>
          </a:solidFill>
          <a:ln w="25400">
            <a:solidFill>
              <a:srgbClr val="0C74BC"/>
            </a:solidFill>
            <a:prstDash val="solid"/>
          </a:ln>
        </p:spPr>
      </p:sp>
      <p:sp>
        <p:nvSpPr>
          <p:cNvPr id="5" name="s738"/>
          <p:cNvSpPr/>
          <p:nvPr/>
        </p:nvSpPr>
        <p:spPr>
          <a:xfrm>
            <a:off x="4345229" y="2267712"/>
            <a:ext cx="757123" cy="2825496"/>
          </a:xfrm>
          <a:prstGeom prst="roundRect">
            <a:avLst>
              <a:gd name="adj" fmla="val 50000"/>
            </a:avLst>
          </a:prstGeom>
          <a:solidFill>
            <a:srgbClr val="E3F0FA"/>
          </a:solidFill>
          <a:ln/>
        </p:spPr>
      </p:sp>
      <p:sp>
        <p:nvSpPr>
          <p:cNvPr id="6" name="s739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A08467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7" name="s740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7A5C3E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8" name="s741"/>
          <p:cNvSpPr/>
          <p:nvPr/>
        </p:nvSpPr>
        <p:spPr>
          <a:xfrm>
            <a:off x="3840480" y="2240280"/>
            <a:ext cx="4206240" cy="2880360"/>
          </a:xfrm>
          <a:prstGeom prst="roundRect">
            <a:avLst>
              <a:gd name="adj" fmla="val 1587"/>
            </a:avLst>
          </a:prstGeom>
          <a:solidFill>
            <a:srgbClr val="5C4630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9" name="s742"/>
          <p:cNvSpPr/>
          <p:nvPr/>
        </p:nvSpPr>
        <p:spPr>
          <a:xfrm>
            <a:off x="3840480" y="2011680"/>
            <a:ext cx="4206240" cy="457200"/>
          </a:xfrm>
          <a:prstGeom prst="ellipse">
            <a:avLst/>
          </a:prstGeom>
          <a:solidFill>
            <a:srgbClr val="DDE5EE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10" name="s743"/>
          <p:cNvSpPr/>
          <p:nvPr/>
        </p:nvSpPr>
        <p:spPr>
          <a:xfrm>
            <a:off x="3886200" y="4343400"/>
            <a:ext cx="4114800" cy="731520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11" name="s744"/>
          <p:cNvSpPr/>
          <p:nvPr/>
        </p:nvSpPr>
        <p:spPr>
          <a:xfrm>
            <a:off x="3886200" y="4800600"/>
            <a:ext cx="4114800" cy="274320"/>
          </a:xfrm>
          <a:prstGeom prst="rect">
            <a:avLst/>
          </a:prstGeom>
          <a:solidFill>
            <a:srgbClr val="7A5C3E"/>
          </a:solidFill>
          <a:ln/>
        </p:spPr>
      </p:sp>
      <p:sp>
        <p:nvSpPr>
          <p:cNvPr id="12" name="t745"/>
          <p:cNvSpPr txBox="1"/>
          <p:nvPr/>
        </p:nvSpPr>
        <p:spPr>
          <a:xfrm>
            <a:off x="5029200" y="5376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tank</a:t>
            </a:r>
            <a:endParaRPr lang="en-US" sz="1100" dirty="0"/>
          </a:p>
        </p:txBody>
      </p:sp>
      <p:sp>
        <p:nvSpPr>
          <p:cNvPr id="13" name="s746"/>
          <p:cNvSpPr/>
          <p:nvPr/>
        </p:nvSpPr>
        <p:spPr>
          <a:xfrm>
            <a:off x="5943600" y="1737360"/>
            <a:ext cx="0" cy="1600200"/>
          </a:xfrm>
          <a:prstGeom prst="line">
            <a:avLst/>
          </a:prstGeom>
          <a:noFill/>
          <a:ln w="38100">
            <a:solidFill>
              <a:srgbClr val="0C74BC"/>
            </a:solidFill>
            <a:prstDash val="solid"/>
          </a:ln>
        </p:spPr>
      </p:sp>
      <p:sp>
        <p:nvSpPr>
          <p:cNvPr id="14" name="s747"/>
          <p:cNvSpPr/>
          <p:nvPr/>
        </p:nvSpPr>
        <p:spPr>
          <a:xfrm>
            <a:off x="5074920" y="2697480"/>
            <a:ext cx="1737360" cy="1737360"/>
          </a:xfrm>
          <a:prstGeom prst="star24">
            <a:avLst/>
          </a:prstGeom>
          <a:solidFill>
            <a:srgbClr val="7FB8E3">
              <a:alpha val="55000"/>
            </a:srgbClr>
          </a:solidFill>
          <a:ln w="12700">
            <a:solidFill>
              <a:srgbClr val="0C74BC">
                <a:alpha val="70000"/>
              </a:srgbClr>
            </a:solidFill>
            <a:prstDash val="solid"/>
          </a:ln>
        </p:spPr>
      </p:sp>
      <p:sp>
        <p:nvSpPr>
          <p:cNvPr id="15" name="s748"/>
          <p:cNvSpPr/>
          <p:nvPr/>
        </p:nvSpPr>
        <p:spPr>
          <a:xfrm>
            <a:off x="5833872" y="3456432"/>
            <a:ext cx="219456" cy="219456"/>
          </a:xfrm>
          <a:prstGeom prst="ellipse">
            <a:avLst/>
          </a:prstGeom>
          <a:solidFill>
            <a:srgbClr val="0C74BC"/>
          </a:solidFill>
          <a:ln/>
        </p:spPr>
      </p:sp>
      <p:sp>
        <p:nvSpPr>
          <p:cNvPr id="16" name="t749"/>
          <p:cNvSpPr txBox="1"/>
          <p:nvPr/>
        </p:nvSpPr>
        <p:spPr>
          <a:xfrm>
            <a:off x="5029200" y="4462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Gamma-jet nozzle</a:t>
            </a:r>
            <a:endParaRPr lang="en-US" sz="1100" dirty="0"/>
          </a:p>
        </p:txBody>
      </p:sp>
      <p:sp>
        <p:nvSpPr>
          <p:cNvPr id="17" name="s750"/>
          <p:cNvSpPr/>
          <p:nvPr/>
        </p:nvSpPr>
        <p:spPr>
          <a:xfrm flipV="1">
            <a:off x="4572000" y="1691640"/>
            <a:ext cx="0" cy="41148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18" name="s751"/>
          <p:cNvSpPr/>
          <p:nvPr/>
        </p:nvSpPr>
        <p:spPr>
          <a:xfrm flipH="1">
            <a:off x="3108960" y="1691640"/>
            <a:ext cx="14630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752"/>
          <p:cNvSpPr/>
          <p:nvPr/>
        </p:nvSpPr>
        <p:spPr>
          <a:xfrm>
            <a:off x="2377440" y="1463040"/>
            <a:ext cx="731520" cy="822960"/>
          </a:xfrm>
          <a:prstGeom prst="roundRect">
            <a:avLst>
              <a:gd name="adj" fmla="val 15000"/>
            </a:avLst>
          </a:prstGeom>
          <a:solidFill>
            <a:srgbClr val="4A5560"/>
          </a:solidFill>
          <a:ln w="12700">
            <a:solidFill>
              <a:srgbClr val="1F3A52"/>
            </a:solidFill>
            <a:prstDash val="solid"/>
          </a:ln>
        </p:spPr>
      </p:sp>
      <p:sp>
        <p:nvSpPr>
          <p:cNvPr id="20" name="s753"/>
          <p:cNvSpPr/>
          <p:nvPr/>
        </p:nvSpPr>
        <p:spPr>
          <a:xfrm>
            <a:off x="2468880" y="16459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</p:sp>
      <p:sp>
        <p:nvSpPr>
          <p:cNvPr id="21" name="s754"/>
          <p:cNvSpPr/>
          <p:nvPr/>
        </p:nvSpPr>
        <p:spPr>
          <a:xfrm>
            <a:off x="2468880" y="18745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</p:sp>
      <p:sp>
        <p:nvSpPr>
          <p:cNvPr id="22" name="s755"/>
          <p:cNvSpPr/>
          <p:nvPr/>
        </p:nvSpPr>
        <p:spPr>
          <a:xfrm>
            <a:off x="2468880" y="2103120"/>
            <a:ext cx="548640" cy="0"/>
          </a:xfrm>
          <a:prstGeom prst="line">
            <a:avLst/>
          </a:prstGeom>
          <a:noFill/>
          <a:ln w="12700">
            <a:solidFill>
              <a:srgbClr val="7C8794"/>
            </a:solidFill>
            <a:prstDash val="solid"/>
          </a:ln>
        </p:spPr>
      </p:sp>
      <p:sp>
        <p:nvSpPr>
          <p:cNvPr id="23" name="t756"/>
          <p:cNvSpPr txBox="1"/>
          <p:nvPr/>
        </p:nvSpPr>
        <p:spPr>
          <a:xfrm>
            <a:off x="201168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FILTER</a:t>
            </a:r>
            <a:endParaRPr lang="en-US" sz="1100" dirty="0"/>
          </a:p>
        </p:txBody>
      </p:sp>
      <p:sp>
        <p:nvSpPr>
          <p:cNvPr id="24" name="s757"/>
          <p:cNvSpPr/>
          <p:nvPr/>
        </p:nvSpPr>
        <p:spPr>
          <a:xfrm flipV="1">
            <a:off x="2743200" y="1188720"/>
            <a:ext cx="0" cy="274320"/>
          </a:xfrm>
          <a:prstGeom prst="line">
            <a:avLst/>
          </a:prstGeom>
          <a:noFill/>
          <a:ln w="3175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25" name="t758"/>
          <p:cNvSpPr txBox="1"/>
          <p:nvPr/>
        </p:nvSpPr>
        <p:spPr>
          <a:xfrm>
            <a:off x="2834640" y="1115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vent</a:t>
            </a:r>
            <a:endParaRPr lang="en-US" sz="1000" dirty="0"/>
          </a:p>
        </p:txBody>
      </p:sp>
      <p:sp>
        <p:nvSpPr>
          <p:cNvPr id="26" name="s759"/>
          <p:cNvSpPr/>
          <p:nvPr/>
        </p:nvSpPr>
        <p:spPr>
          <a:xfrm>
            <a:off x="8046720" y="4892040"/>
            <a:ext cx="54864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</p:sp>
      <p:sp>
        <p:nvSpPr>
          <p:cNvPr id="27" name="s760"/>
          <p:cNvSpPr/>
          <p:nvPr/>
        </p:nvSpPr>
        <p:spPr>
          <a:xfrm>
            <a:off x="8595360" y="46634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A52"/>
            </a:solidFill>
            <a:prstDash val="solid"/>
          </a:ln>
        </p:spPr>
      </p:sp>
      <p:sp>
        <p:nvSpPr>
          <p:cNvPr id="28" name="t761"/>
          <p:cNvSpPr txBox="1"/>
          <p:nvPr/>
        </p:nvSpPr>
        <p:spPr>
          <a:xfrm>
            <a:off x="8046720" y="51389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pump</a:t>
            </a:r>
            <a:endParaRPr lang="en-US" sz="1000" dirty="0"/>
          </a:p>
        </p:txBody>
      </p:sp>
      <p:sp>
        <p:nvSpPr>
          <p:cNvPr id="29" name="s762"/>
          <p:cNvSpPr/>
          <p:nvPr/>
        </p:nvSpPr>
        <p:spPr>
          <a:xfrm>
            <a:off x="9052560" y="4892040"/>
            <a:ext cx="365760" cy="0"/>
          </a:xfrm>
          <a:prstGeom prst="line">
            <a:avLst/>
          </a:prstGeom>
          <a:noFill/>
          <a:ln w="50800">
            <a:solidFill>
              <a:srgbClr val="7A5C3E"/>
            </a:solidFill>
            <a:prstDash val="solid"/>
            <a:tailEnd type="triangle"/>
          </a:ln>
        </p:spPr>
      </p:sp>
      <p:sp>
        <p:nvSpPr>
          <p:cNvPr id="30" name="s763"/>
          <p:cNvSpPr/>
          <p:nvPr/>
        </p:nvSpPr>
        <p:spPr>
          <a:xfrm>
            <a:off x="9418320" y="4160520"/>
            <a:ext cx="1371600" cy="105156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31" name="s764"/>
          <p:cNvSpPr/>
          <p:nvPr/>
        </p:nvSpPr>
        <p:spPr>
          <a:xfrm>
            <a:off x="9464040" y="4892040"/>
            <a:ext cx="1280160" cy="274320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32" name="s765"/>
          <p:cNvSpPr/>
          <p:nvPr/>
        </p:nvSpPr>
        <p:spPr>
          <a:xfrm>
            <a:off x="9464040" y="4526280"/>
            <a:ext cx="1280160" cy="365760"/>
          </a:xfrm>
          <a:prstGeom prst="rect">
            <a:avLst/>
          </a:prstGeom>
          <a:solidFill>
            <a:srgbClr val="5C4630"/>
          </a:solidFill>
          <a:ln/>
        </p:spPr>
      </p:sp>
      <p:sp>
        <p:nvSpPr>
          <p:cNvPr id="33" name="t766"/>
          <p:cNvSpPr txBox="1"/>
          <p:nvPr/>
        </p:nvSpPr>
        <p:spPr>
          <a:xfrm>
            <a:off x="90525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DISPOSAL</a:t>
            </a:r>
            <a:endParaRPr lang="en-US" sz="1100" dirty="0"/>
          </a:p>
        </p:txBody>
      </p:sp>
      <p:sp>
        <p:nvSpPr>
          <p:cNvPr id="34" name="s767"/>
          <p:cNvSpPr/>
          <p:nvPr/>
        </p:nvSpPr>
        <p:spPr>
          <a:xfrm>
            <a:off x="8046720" y="4023360"/>
            <a:ext cx="100584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35" name="s768"/>
          <p:cNvSpPr/>
          <p:nvPr/>
        </p:nvSpPr>
        <p:spPr>
          <a:xfrm>
            <a:off x="9052560" y="37947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4BC"/>
            </a:solidFill>
            <a:prstDash val="solid"/>
          </a:ln>
        </p:spPr>
      </p:sp>
      <p:sp>
        <p:nvSpPr>
          <p:cNvPr id="36" name="t769"/>
          <p:cNvSpPr txBox="1"/>
          <p:nvPr/>
        </p:nvSpPr>
        <p:spPr>
          <a:xfrm>
            <a:off x="8503920" y="3520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Circulation pump</a:t>
            </a:r>
            <a:endParaRPr lang="en-US" sz="1000" dirty="0"/>
          </a:p>
        </p:txBody>
      </p:sp>
      <p:sp>
        <p:nvSpPr>
          <p:cNvPr id="37" name="s770"/>
          <p:cNvSpPr/>
          <p:nvPr/>
        </p:nvSpPr>
        <p:spPr>
          <a:xfrm flipV="1">
            <a:off x="9281160" y="1508760"/>
            <a:ext cx="0" cy="22860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</p:sp>
      <p:sp>
        <p:nvSpPr>
          <p:cNvPr id="38" name="s771"/>
          <p:cNvSpPr/>
          <p:nvPr/>
        </p:nvSpPr>
        <p:spPr>
          <a:xfrm flipH="1">
            <a:off x="5943600" y="1508760"/>
            <a:ext cx="3337560" cy="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</a:ln>
        </p:spPr>
      </p:sp>
      <p:sp>
        <p:nvSpPr>
          <p:cNvPr id="39" name="s772"/>
          <p:cNvSpPr/>
          <p:nvPr/>
        </p:nvSpPr>
        <p:spPr>
          <a:xfrm>
            <a:off x="5943600" y="1508760"/>
            <a:ext cx="0" cy="228600"/>
          </a:xfrm>
          <a:prstGeom prst="line">
            <a:avLst/>
          </a:prstGeom>
          <a:noFill/>
          <a:ln w="50800">
            <a:solidFill>
              <a:srgbClr val="0C74BC"/>
            </a:solidFill>
            <a:prstDash val="solid"/>
            <a:tailEnd type="triangle"/>
          </a:ln>
        </p:spPr>
      </p:sp>
      <p:sp>
        <p:nvSpPr>
          <p:cNvPr id="40" name="t773"/>
          <p:cNvSpPr txBox="1"/>
          <p:nvPr/>
        </p:nvSpPr>
        <p:spPr>
          <a:xfrm>
            <a:off x="603504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C7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Recirculated wash water + chemistry</a:t>
            </a:r>
            <a:endParaRPr lang="en-US" sz="1100" dirty="0"/>
          </a:p>
        </p:txBody>
      </p:sp>
      <p:sp>
        <p:nvSpPr>
          <p:cNvPr id="41" name="s774"/>
          <p:cNvSpPr/>
          <p:nvPr/>
        </p:nvSpPr>
        <p:spPr>
          <a:xfrm flipH="1">
            <a:off x="9281160" y="1920240"/>
            <a:ext cx="1325880" cy="0"/>
          </a:xfrm>
          <a:prstGeom prst="line">
            <a:avLst/>
          </a:prstGeom>
          <a:noFill/>
          <a:ln w="38100">
            <a:solidFill>
              <a:srgbClr val="3AB54A"/>
            </a:solidFill>
            <a:prstDash val="solid"/>
            <a:tailEnd type="triangle"/>
          </a:ln>
        </p:spPr>
      </p:sp>
      <p:sp>
        <p:nvSpPr>
          <p:cNvPr id="42" name="t775"/>
          <p:cNvSpPr txBox="1"/>
          <p:nvPr/>
        </p:nvSpPr>
        <p:spPr>
          <a:xfrm>
            <a:off x="9509760" y="16276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CHEMISTRY</a:t>
            </a:r>
            <a:endParaRPr lang="en-US" sz="1000" dirty="0"/>
          </a:p>
        </p:txBody>
      </p:sp>
      <p:sp>
        <p:nvSpPr>
          <p:cNvPr id="43" name="s776"/>
          <p:cNvSpPr/>
          <p:nvPr/>
        </p:nvSpPr>
        <p:spPr>
          <a:xfrm>
            <a:off x="9509760" y="4023360"/>
            <a:ext cx="54864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4" name="s777"/>
          <p:cNvSpPr/>
          <p:nvPr/>
        </p:nvSpPr>
        <p:spPr>
          <a:xfrm flipV="1">
            <a:off x="10058400" y="3291840"/>
            <a:ext cx="0" cy="73152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5" name="s778"/>
          <p:cNvSpPr/>
          <p:nvPr/>
        </p:nvSpPr>
        <p:spPr>
          <a:xfrm>
            <a:off x="10058400" y="3291840"/>
            <a:ext cx="18288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6" name="s779"/>
          <p:cNvSpPr/>
          <p:nvPr/>
        </p:nvSpPr>
        <p:spPr>
          <a:xfrm>
            <a:off x="10241280" y="2606040"/>
            <a:ext cx="1188720" cy="914400"/>
          </a:xfrm>
          <a:prstGeom prst="rect">
            <a:avLst/>
          </a:prstGeom>
          <a:solidFill>
            <a:srgbClr val="EEF2F6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47" name="s780"/>
          <p:cNvSpPr/>
          <p:nvPr/>
        </p:nvSpPr>
        <p:spPr>
          <a:xfrm>
            <a:off x="10287000" y="3200400"/>
            <a:ext cx="1097280" cy="27432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48" name="s781"/>
          <p:cNvSpPr/>
          <p:nvPr/>
        </p:nvSpPr>
        <p:spPr>
          <a:xfrm>
            <a:off x="10287000" y="2834640"/>
            <a:ext cx="1097280" cy="365760"/>
          </a:xfrm>
          <a:prstGeom prst="rect">
            <a:avLst/>
          </a:prstGeom>
          <a:solidFill>
            <a:srgbClr val="B8A68F"/>
          </a:solidFill>
          <a:ln/>
        </p:spPr>
      </p:sp>
      <p:sp>
        <p:nvSpPr>
          <p:cNvPr id="49" name="t782"/>
          <p:cNvSpPr txBox="1"/>
          <p:nvPr/>
        </p:nvSpPr>
        <p:spPr>
          <a:xfrm>
            <a:off x="9875520" y="35478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TANK</a:t>
            </a:r>
            <a:endParaRPr lang="en-US" sz="1100" dirty="0"/>
          </a:p>
        </p:txBody>
      </p:sp>
      <p:sp>
        <p:nvSpPr>
          <p:cNvPr id="50" name="s783"/>
          <p:cNvSpPr/>
          <p:nvPr/>
        </p:nvSpPr>
        <p:spPr>
          <a:xfrm>
            <a:off x="548640" y="3063240"/>
            <a:ext cx="2743200" cy="1737360"/>
          </a:xfrm>
          <a:prstGeom prst="roundRect">
            <a:avLst>
              <a:gd name="adj" fmla="val 6316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51" name="t784"/>
          <p:cNvSpPr txBox="1"/>
          <p:nvPr/>
        </p:nvSpPr>
        <p:spPr>
          <a:xfrm>
            <a:off x="731520" y="3172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 AT MANWAY</a:t>
            </a:r>
            <a:endParaRPr lang="en-US" sz="1200" dirty="0"/>
          </a:p>
        </p:txBody>
      </p:sp>
      <p:sp>
        <p:nvSpPr>
          <p:cNvPr id="52" name="t785"/>
          <p:cNvSpPr txBox="1"/>
          <p:nvPr/>
        </p:nvSpPr>
        <p:spPr>
          <a:xfrm>
            <a:off x="731520" y="35661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400" dirty="0"/>
          </a:p>
        </p:txBody>
      </p:sp>
      <p:sp>
        <p:nvSpPr>
          <p:cNvPr id="53" name="t786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54" name="t787"/>
          <p:cNvSpPr txBox="1"/>
          <p:nvPr/>
        </p:nvSpPr>
        <p:spPr>
          <a:xfrm>
            <a:off x="1737360" y="35661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55" name="t788"/>
          <p:cNvSpPr txBox="1"/>
          <p:nvPr/>
        </p:nvSpPr>
        <p:spPr>
          <a:xfrm>
            <a:off x="731520" y="39776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400" dirty="0"/>
          </a:p>
        </p:txBody>
      </p:sp>
      <p:sp>
        <p:nvSpPr>
          <p:cNvPr id="56" name="t789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57" name="t790"/>
          <p:cNvSpPr txBox="1"/>
          <p:nvPr/>
        </p:nvSpPr>
        <p:spPr>
          <a:xfrm>
            <a:off x="173736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58" name="t791"/>
          <p:cNvSpPr txBox="1"/>
          <p:nvPr/>
        </p:nvSpPr>
        <p:spPr>
          <a:xfrm>
            <a:off x="731520" y="43891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400" dirty="0"/>
          </a:p>
        </p:txBody>
      </p:sp>
      <p:sp>
        <p:nvSpPr>
          <p:cNvPr id="59" name="t792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above limit</a:t>
            </a:r>
            <a:endParaRPr lang="en-US" sz="1300" dirty="0"/>
          </a:p>
        </p:txBody>
      </p:sp>
      <p:sp>
        <p:nvSpPr>
          <p:cNvPr id="60" name="t793"/>
          <p:cNvSpPr txBox="1"/>
          <p:nvPr/>
        </p:nvSpPr>
        <p:spPr>
          <a:xfrm>
            <a:off x="1737360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OK</a:t>
            </a:r>
            <a:endParaRPr lang="en-US" sz="1300" dirty="0"/>
          </a:p>
        </p:txBody>
      </p:sp>
      <p:sp>
        <p:nvSpPr>
          <p:cNvPr id="61" name="s794"/>
          <p:cNvSpPr/>
          <p:nvPr/>
        </p:nvSpPr>
        <p:spPr>
          <a:xfrm>
            <a:off x="548640" y="5852160"/>
            <a:ext cx="10515600" cy="713232"/>
          </a:xfrm>
          <a:prstGeom prst="roundRect">
            <a:avLst>
              <a:gd name="adj" fmla="val 25641"/>
            </a:avLst>
          </a:prstGeom>
          <a:solidFill>
            <a:srgbClr val="EAF3FA"/>
          </a:solidFill>
          <a:ln/>
        </p:spPr>
      </p:sp>
      <p:sp>
        <p:nvSpPr>
          <p:cNvPr id="62" name="t795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Crude and product tanks: bottom sludge, and benzene, LEL and H₂S in the vapour space – entry is not allowed.</a:t>
            </a:r>
            <a:endParaRPr lang="en-US" sz="1400" dirty="0"/>
          </a:p>
        </p:txBody>
      </p:sp>
      <p:sp>
        <p:nvSpPr>
          <p:cNvPr id="63" name="t796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The tank vent is routed through a carbon filter – vapours are treated before release.</a:t>
            </a:r>
            <a:endParaRPr lang="en-US" sz="1400" dirty="0"/>
          </a:p>
        </p:txBody>
      </p:sp>
      <p:sp>
        <p:nvSpPr>
          <p:cNvPr id="64" name="t797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Bulk sludge is removed first: a vacuum pump transfers it to a waste tank for licensed disposal.</a:t>
            </a:r>
            <a:endParaRPr lang="en-US" sz="1400" dirty="0"/>
          </a:p>
        </p:txBody>
      </p:sp>
      <p:sp>
        <p:nvSpPr>
          <p:cNvPr id="65" name="t798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A gamma-jet nozzle is lowered through the roof manway; wash water with decon chemistry is circulated to it.</a:t>
            </a:r>
            <a:endParaRPr lang="en-US" sz="1400" dirty="0"/>
          </a:p>
        </p:txBody>
      </p:sp>
      <p:sp>
        <p:nvSpPr>
          <p:cNvPr id="66" name="t799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Gamma-jetting and circulation run for 8–12 hours – the jets sweep shell, roof and floor.</a:t>
            </a:r>
            <a:endParaRPr lang="en-US" sz="1400" dirty="0"/>
          </a:p>
        </p:txBody>
      </p:sp>
      <p:sp>
        <p:nvSpPr>
          <p:cNvPr id="67" name="t800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H₂S is converted into stable compounds; benzene and LEL vapours leave through the carbon filter.</a:t>
            </a:r>
            <a:endParaRPr lang="en-US" sz="1400" dirty="0"/>
          </a:p>
        </p:txBody>
      </p:sp>
      <p:sp>
        <p:nvSpPr>
          <p:cNvPr id="68" name="t801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 Walls and floor are clean – the spent wash is drained to the effluent tank.</a:t>
            </a:r>
            <a:endParaRPr lang="en-US" sz="1400" dirty="0"/>
          </a:p>
        </p:txBody>
      </p:sp>
      <p:sp>
        <p:nvSpPr>
          <p:cNvPr id="69" name="t802"/>
          <p:cNvSpPr txBox="1"/>
          <p:nvPr/>
        </p:nvSpPr>
        <p:spPr>
          <a:xfrm>
            <a:off x="777240" y="585216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Gas tests confirm the entry criteria – safe entry.</a:t>
            </a:r>
            <a:endParaRPr lang="en-US" sz="1400" dirty="0"/>
          </a:p>
        </p:txBody>
      </p:sp>
      <p:sp>
        <p:nvSpPr>
          <p:cNvPr id="70" name="tag803"/>
          <p:cNvSpPr/>
          <p:nvPr/>
        </p:nvSpPr>
        <p:spPr>
          <a:xfrm>
            <a:off x="420624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71" name="tag804"/>
          <p:cNvSpPr/>
          <p:nvPr/>
        </p:nvSpPr>
        <p:spPr>
          <a:xfrm>
            <a:off x="6766560" y="265176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72" name="tag805"/>
          <p:cNvSpPr/>
          <p:nvPr/>
        </p:nvSpPr>
        <p:spPr>
          <a:xfrm>
            <a:off x="6766560" y="31546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73" name="tag806"/>
          <p:cNvSpPr/>
          <p:nvPr/>
        </p:nvSpPr>
        <p:spPr>
          <a:xfrm>
            <a:off x="4114800" y="26517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salt</a:t>
            </a:r>
            <a:endParaRPr lang="en-US" sz="1200" dirty="0"/>
          </a:p>
        </p:txBody>
      </p:sp>
      <p:sp>
        <p:nvSpPr>
          <p:cNvPr id="74" name="s807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5" name="s808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809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810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s811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9" name="s812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813"/>
          <p:cNvSpPr/>
          <p:nvPr/>
        </p:nvSpPr>
        <p:spPr>
          <a:xfrm>
            <a:off x="7955280" y="4800600"/>
            <a:ext cx="182880" cy="182880"/>
          </a:xfrm>
          <a:prstGeom prst="ellipse">
            <a:avLst/>
          </a:prstGeom>
          <a:solidFill>
            <a:srgbClr val="5C463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1" name="s814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2" name="s815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3" name="s816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817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818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s819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7" name="s820"/>
          <p:cNvSpPr/>
          <p:nvPr/>
        </p:nvSpPr>
        <p:spPr>
          <a:xfrm>
            <a:off x="7964424" y="3941064"/>
            <a:ext cx="164592" cy="164592"/>
          </a:xfrm>
          <a:prstGeom prst="ellipse">
            <a:avLst/>
          </a:prstGeom>
          <a:solidFill>
            <a:srgbClr val="0C74B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8" name="s821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9" name="s822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0" name="s823"/>
          <p:cNvSpPr/>
          <p:nvPr/>
        </p:nvSpPr>
        <p:spPr>
          <a:xfrm>
            <a:off x="10533888" y="1847088"/>
            <a:ext cx="146304" cy="146304"/>
          </a:xfrm>
          <a:prstGeom prst="ellipse">
            <a:avLst/>
          </a:prstGeom>
          <a:solidFill>
            <a:srgbClr val="3AB5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s824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825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826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s827"/>
          <p:cNvSpPr/>
          <p:nvPr/>
        </p:nvSpPr>
        <p:spPr>
          <a:xfrm>
            <a:off x="9427464" y="3941064"/>
            <a:ext cx="164592" cy="164592"/>
          </a:xfrm>
          <a:prstGeom prst="ellipse">
            <a:avLst/>
          </a:prstGeom>
          <a:solidFill>
            <a:srgbClr val="B8A68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5" name="s828"/>
          <p:cNvSpPr/>
          <p:nvPr/>
        </p:nvSpPr>
        <p:spPr>
          <a:xfrm>
            <a:off x="4176979" y="2331720"/>
            <a:ext cx="3533242" cy="164592"/>
          </a:xfrm>
          <a:prstGeom prst="roundRect">
            <a:avLst>
              <a:gd name="adj" fmla="val 50000"/>
            </a:avLst>
          </a:prstGeom>
          <a:solidFill>
            <a:srgbClr val="FFFFFF">
              <a:alpha val="65000"/>
            </a:srgbClr>
          </a:solidFill>
          <a:ln/>
        </p:spPr>
      </p:sp>
      <p:sp>
        <p:nvSpPr>
          <p:cNvPr id="96" name="s829"/>
          <p:cNvSpPr/>
          <p:nvPr/>
        </p:nvSpPr>
        <p:spPr>
          <a:xfrm>
            <a:off x="548640" y="4800600"/>
            <a:ext cx="2743200" cy="64008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7" name="t830"/>
          <p:cNvSpPr txBox="1"/>
          <p:nvPr/>
        </p:nvSpPr>
        <p:spPr>
          <a:xfrm>
            <a:off x="548640" y="4800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READY FOR SAFE ENTRY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6" presetClass="emph" presetSubtype="0" repeatCount="2000" fill="hold" grpId="2" nodeType="withEffect">
                                  <p:stCondLst>
                                    <p:cond delay="900"/>
                                  </p:stCondLst>
                                  <p:childTnLst>
                                    <p:animScale>
                                      <p:cBhvr>
                                        <p:cTn id="25" dur="35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48" dur="1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54" dur="10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0" presetClass="path" presetSubtype="0" fill="hold" grpId="3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0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66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2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3" nodeType="withEffect">
                                  <p:stCondLst>
                                    <p:cond delay="19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78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3" nodeType="withEffect">
                                  <p:stCondLst>
                                    <p:cond delay="2200"/>
                                  </p:stCondLst>
                                  <p:childTnLst>
                                    <p:animMotion origin="layout" path="M 0 0 L 0.1313 0.0000 E" pathEditMode="relative" ptsTypes="AA">
                                      <p:cBhvr>
                                        <p:cTn id="84" dur="1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2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21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22" presetClass="entr" presetSubtype="4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4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5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1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6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4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2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2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8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500"/>
                            </p:stCondLst>
                            <p:childTnLst>
                              <p:par>
                                <p:cTn id="142" presetID="6" presetClass="emph" presetSubtype="0" repeatCount="8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3" dur="3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1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47" dur="22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8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53" dur="22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1" presetClass="exit" presetSubtype="0" fill="hold" grpId="1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59" dur="22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0" presetClass="path" presetSubtype="0" fill="hold" grpId="3" nodeType="with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65" dur="22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6" presetID="1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0" presetClass="path" presetSubtype="0" fill="hold" grpId="3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71" dur="22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2" presetID="1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0" presetClass="path" presetSubtype="0" fill="hold" grpId="3" nodeType="withEffect">
                                  <p:stCondLst>
                                    <p:cond delay="20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77" dur="22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8" presetID="1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2" presetID="0" presetClass="path" presetSubtype="0" fill="hold" grpId="3" nodeType="withEffect">
                                  <p:stCondLst>
                                    <p:cond delay="2400"/>
                                  </p:stCondLst>
                                  <p:childTnLst>
                                    <p:animMotion origin="layout" path="M 0 0 L 0.1013 0.0000 L 0.1013 -0.3667 L -0.1725 -0.3667 L -0.1725 -0.0800 E" pathEditMode="relative" ptsTypes="AAAAA">
                                      <p:cBhvr>
                                        <p:cTn id="183" dur="22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4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8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189" dur="7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2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195" dur="7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6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0" presetClass="path" presetSubtype="0" fill="hold" grpId="3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-0.1088 0.0000 E" pathEditMode="relative" ptsTypes="AA">
                                      <p:cBhvr>
                                        <p:cTn id="201" dur="7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2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3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12" dur="300" autoRev="1" fill="hold"/>
                                        <p:tgtEl>
                                          <p:spTgt spid="70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213" presetID="10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4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0" presetClass="path" presetSubtype="0" fill="hold" grpId="3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2175 0.0000 L -0.2175 -0.1640 L -0.3375 -0.1640 E" pathEditMode="relative" ptsTypes="AAAA">
                                      <p:cBhvr>
                                        <p:cTn id="220" dur="18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1" presetID="10" presetClass="exit" presetSubtype="0" fill="hold" grpId="1" nodeType="withEffect">
                                  <p:stCondLst>
                                    <p:cond delay="2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2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0" presetClass="path" presetSubtype="0" fill="hold" grpId="3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-0.2175 0.0000 L -0.2175 -0.2373 L -0.3375 -0.2373 E" pathEditMode="relative" ptsTypes="AAAA">
                                      <p:cBhvr>
                                        <p:cTn id="225" dur="18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6" presetClass="emph" presetSubtype="0" repeatCount="3000" fill="hold" grpId="2" nodeType="withEffect">
                                  <p:stCondLst>
                                    <p:cond delay="1900"/>
                                  </p:stCondLst>
                                  <p:childTnLst>
                                    <p:animScale>
                                      <p:cBhvr>
                                        <p:cTn id="230" dur="30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by x="114999" y="114999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indefinite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8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2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7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6" presetID="22" presetClass="entr" presetSubtype="8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8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9" presetID="22" presetClass="entr" presetSubtype="1" fill="hold" grpId="0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22" presetClass="entr" presetSubtype="8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4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0" presetClass="path" presetSubtype="0" fill="hold" grpId="3" nodeType="withEffect">
                                  <p:stCondLst>
                                    <p:cond delay="33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268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9" presetID="1" presetClass="exit" presetSubtype="0" fill="hold" grpId="1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0" presetClass="path" presetSubtype="0" fill="hold" grpId="3" nodeType="withEffect">
                                  <p:stCondLst>
                                    <p:cond delay="36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274" dur="1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5" presetID="1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presetID="0" presetClass="path" presetSubtype="0" fill="hold" grpId="3" nodeType="withEffect">
                                  <p:stCondLst>
                                    <p:cond delay="39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280" dur="1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1" presetID="1" presetClass="exit" presetSubtype="0" fill="hold" grpId="1" nodeType="withEffect">
                                  <p:stCondLst>
                                    <p:cond delay="490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0" presetClass="path" presetSubtype="0" fill="hold" grpId="3" nodeType="withEffect">
                                  <p:stCondLst>
                                    <p:cond delay="4200"/>
                                  </p:stCondLst>
                                  <p:childTnLst>
                                    <p:animMotion origin="layout" path="M 0 0 L 0.0450 0.0000 L 0.0450 -0.1067 L 0.0825 -0.1067 E" pathEditMode="relative" ptsTypes="AAAA">
                                      <p:cBhvr>
                                        <p:cTn id="286" dur="1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7" presetID="1" presetClass="exit" presetSubtype="0" fill="hold" grpId="1" nodeType="withEffect">
                                  <p:stCondLst>
                                    <p:cond delay="520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22" presetClass="entr" presetSubtype="4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1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22" presetClass="entr" presetSubtype="4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4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5" fill="hold">
                            <p:stCondLst>
                              <p:cond delay="5700"/>
                            </p:stCondLst>
                            <p:childTnLst>
                              <p:par>
                                <p:cTn id="29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3600 E" pathEditMode="relative" ptsTypes="AA">
                                      <p:cBhvr>
                                        <p:cTn id="299" dur="11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00" presetID="10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1" dur="3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3" fill="hold">
                      <p:stCondLst>
                        <p:cond delay="indefinite"/>
                      </p:stCondLst>
                      <p:childTnLst>
                        <p:par>
                          <p:cTn id="304" fill="hold">
                            <p:stCondLst>
                              <p:cond delay="0"/>
                            </p:stCondLst>
                            <p:childTnLst>
                              <p:par>
                                <p:cTn id="30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" presetClass="exit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2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4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5" dur="4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6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1" dur="4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4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3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8" dur="4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9" dur="4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3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4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5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9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0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2" fill="hold">
                            <p:stCondLst>
                              <p:cond delay="2500"/>
                            </p:stCondLst>
                            <p:childTnLst>
                              <p:par>
                                <p:cTn id="343" presetID="6" presetClass="emph" presetSubtype="0" repeatCount="2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4" dur="400" autoRev="1" fill="hold"/>
                                        <p:tgtEl>
                                          <p:spTgt spid="96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345" presetID="6" presetClass="emph" presetSubtype="0" repeatCount="2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46" dur="400" autoRev="1" fill="hold"/>
                                        <p:tgtEl>
                                          <p:spTgt spid="97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62" grpId="0" animBg="1"/>
      <p:bldP spid="62" grpId="1" animBg="1"/>
      <p:bldP spid="63" grpId="0" animBg="1"/>
      <p:bldP spid="17" grpId="0" animBg="1"/>
      <p:bldP spid="18" grpId="0" animBg="1"/>
      <p:bldP spid="19" grpId="2" animBg="1"/>
      <p:bldP spid="24" grpId="0" animBg="1"/>
      <p:bldP spid="25" grpId="0" animBg="1"/>
      <p:bldP spid="63" grpId="1" animBg="1"/>
      <p:bldP spid="64" grpId="0" animBg="1"/>
      <p:bldP spid="26" grpId="0" animBg="1"/>
      <p:bldP spid="29" grpId="0" animBg="1"/>
      <p:bldP spid="74" grpId="0" animBg="1"/>
      <p:bldP spid="74" grpId="3" animBg="1"/>
      <p:bldP spid="74" grpId="1" animBg="1"/>
      <p:bldP spid="75" grpId="0" animBg="1"/>
      <p:bldP spid="75" grpId="3" animBg="1"/>
      <p:bldP spid="75" grpId="1" animBg="1"/>
      <p:bldP spid="76" grpId="0" animBg="1"/>
      <p:bldP spid="76" grpId="3" animBg="1"/>
      <p:bldP spid="76" grpId="1" animBg="1"/>
      <p:bldP spid="77" grpId="0" animBg="1"/>
      <p:bldP spid="77" grpId="3" animBg="1"/>
      <p:bldP spid="77" grpId="1" animBg="1"/>
      <p:bldP spid="78" grpId="0" animBg="1"/>
      <p:bldP spid="78" grpId="3" animBg="1"/>
      <p:bldP spid="78" grpId="1" animBg="1"/>
      <p:bldP spid="79" grpId="0" animBg="1"/>
      <p:bldP spid="79" grpId="3" animBg="1"/>
      <p:bldP spid="79" grpId="1" animBg="1"/>
      <p:bldP spid="80" grpId="0" animBg="1"/>
      <p:bldP spid="80" grpId="3" animBg="1"/>
      <p:bldP spid="80" grpId="1" animBg="1"/>
      <p:bldP spid="10" grpId="1" animBg="1"/>
      <p:bldP spid="31" grpId="0" animBg="1"/>
      <p:bldP spid="32" grpId="0" animBg="1"/>
      <p:bldP spid="64" grpId="1" animBg="1"/>
      <p:bldP spid="65" grpId="0" animBg="1"/>
      <p:bldP spid="13" grpId="0" animBg="1"/>
      <p:bldP spid="15" grpId="0" animBg="1"/>
      <p:bldP spid="34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65" grpId="1" animBg="1"/>
      <p:bldP spid="66" grpId="0" animBg="1"/>
      <p:bldP spid="14" grpId="0" animBg="1"/>
      <p:bldP spid="14" grpId="2" animBg="1"/>
      <p:bldP spid="81" grpId="0" animBg="1"/>
      <p:bldP spid="81" grpId="3" animBg="1"/>
      <p:bldP spid="81" grpId="1" animBg="1"/>
      <p:bldP spid="82" grpId="0" animBg="1"/>
      <p:bldP spid="82" grpId="3" animBg="1"/>
      <p:bldP spid="82" grpId="1" animBg="1"/>
      <p:bldP spid="83" grpId="0" animBg="1"/>
      <p:bldP spid="83" grpId="3" animBg="1"/>
      <p:bldP spid="83" grpId="1" animBg="1"/>
      <p:bldP spid="84" grpId="0" animBg="1"/>
      <p:bldP spid="84" grpId="3" animBg="1"/>
      <p:bldP spid="84" grpId="1" animBg="1"/>
      <p:bldP spid="85" grpId="0" animBg="1"/>
      <p:bldP spid="85" grpId="3" animBg="1"/>
      <p:bldP spid="85" grpId="1" animBg="1"/>
      <p:bldP spid="86" grpId="0" animBg="1"/>
      <p:bldP spid="86" grpId="3" animBg="1"/>
      <p:bldP spid="86" grpId="1" animBg="1"/>
      <p:bldP spid="87" grpId="0" animBg="1"/>
      <p:bldP spid="87" grpId="3" animBg="1"/>
      <p:bldP spid="87" grpId="1" animBg="1"/>
      <p:bldP spid="88" grpId="0" animBg="1"/>
      <p:bldP spid="88" grpId="3" animBg="1"/>
      <p:bldP spid="88" grpId="1" animBg="1"/>
      <p:bldP spid="89" grpId="0" animBg="1"/>
      <p:bldP spid="89" grpId="3" animBg="1"/>
      <p:bldP spid="89" grpId="1" animBg="1"/>
      <p:bldP spid="90" grpId="0" animBg="1"/>
      <p:bldP spid="90" grpId="3" animBg="1"/>
      <p:bldP spid="90" grpId="1" animBg="1"/>
      <p:bldP spid="66" grpId="1" animBg="1"/>
      <p:bldP spid="67" grpId="0" animBg="1"/>
      <p:bldP spid="70" grpId="2" animBg="1"/>
      <p:bldP spid="70" grpId="1" animBg="1"/>
      <p:bldP spid="73" grpId="0" animBg="1"/>
      <p:bldP spid="71" grpId="3" animBg="1"/>
      <p:bldP spid="71" grpId="1" animBg="1"/>
      <p:bldP spid="72" grpId="3" animBg="1"/>
      <p:bldP spid="72" grpId="1" animBg="1"/>
      <p:bldP spid="67" grpId="1" animBg="1"/>
      <p:bldP spid="68" grpId="0" animBg="1"/>
      <p:bldP spid="73" grpId="1" animBg="1"/>
      <p:bldP spid="11" grpId="1" animBg="1"/>
      <p:bldP spid="14" grpId="1" animBg="1"/>
      <p:bldP spid="8" grpId="1" animBg="1"/>
      <p:bldP spid="7" grpId="1" animBg="1"/>
      <p:bldP spid="6" grpId="1" animBg="1"/>
      <p:bldP spid="43" grpId="0" animBg="1"/>
      <p:bldP spid="44" grpId="0" animBg="1"/>
      <p:bldP spid="45" grpId="0" animBg="1"/>
      <p:bldP spid="91" grpId="0" animBg="1"/>
      <p:bldP spid="91" grpId="3" animBg="1"/>
      <p:bldP spid="91" grpId="1" animBg="1"/>
      <p:bldP spid="92" grpId="0" animBg="1"/>
      <p:bldP spid="92" grpId="3" animBg="1"/>
      <p:bldP spid="92" grpId="1" animBg="1"/>
      <p:bldP spid="93" grpId="0" animBg="1"/>
      <p:bldP spid="93" grpId="3" animBg="1"/>
      <p:bldP spid="93" grpId="1" animBg="1"/>
      <p:bldP spid="94" grpId="0" animBg="1"/>
      <p:bldP spid="94" grpId="3" animBg="1"/>
      <p:bldP spid="94" grpId="1" animBg="1"/>
      <p:bldP spid="47" grpId="0" animBg="1"/>
      <p:bldP spid="48" grpId="0" animBg="1"/>
      <p:bldP spid="95" grpId="0" animBg="1"/>
      <p:bldP spid="95" grpId="3" animBg="1"/>
      <p:bldP spid="95" grpId="1" animBg="1"/>
      <p:bldP spid="68" grpId="1" animBg="1"/>
      <p:bldP spid="69" grpId="0" animBg="1"/>
      <p:bldP spid="53" grpId="1" animBg="1"/>
      <p:bldP spid="54" grpId="0" animBg="1"/>
      <p:bldP spid="56" grpId="1" animBg="1"/>
      <p:bldP spid="57" grpId="0" animBg="1"/>
      <p:bldP spid="59" grpId="1" animBg="1"/>
      <p:bldP spid="60" grpId="0" animBg="1"/>
      <p:bldP spid="96" grpId="0" animBg="1"/>
      <p:bldP spid="97" grpId="0" animBg="1"/>
      <p:bldP spid="96" grpId="2" animBg="1"/>
      <p:bldP spid="97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each contaminant go?</a:t>
            </a:r>
            <a:endParaRPr lang="en-US" sz="2800" dirty="0"/>
          </a:p>
        </p:txBody>
      </p:sp>
      <p:sp>
        <p:nvSpPr>
          <p:cNvPr id="3" name="s831"/>
          <p:cNvSpPr/>
          <p:nvPr/>
        </p:nvSpPr>
        <p:spPr>
          <a:xfrm>
            <a:off x="320040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832"/>
          <p:cNvSpPr/>
          <p:nvPr/>
        </p:nvSpPr>
        <p:spPr>
          <a:xfrm>
            <a:off x="3429000" y="1554480"/>
            <a:ext cx="640080" cy="64008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5" name="i8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82619" y="1708099"/>
            <a:ext cx="332842" cy="332842"/>
          </a:xfrm>
          <a:prstGeom prst="rect">
            <a:avLst/>
          </a:prstGeom>
        </p:spPr>
      </p:pic>
      <p:sp>
        <p:nvSpPr>
          <p:cNvPr id="6" name="t834"/>
          <p:cNvSpPr txBox="1"/>
          <p:nvPr/>
        </p:nvSpPr>
        <p:spPr>
          <a:xfrm>
            <a:off x="416052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Flare / closed vent</a:t>
            </a:r>
            <a:endParaRPr lang="en-US" sz="1500" dirty="0"/>
          </a:p>
        </p:txBody>
      </p:sp>
      <p:sp>
        <p:nvSpPr>
          <p:cNvPr id="7" name="t835"/>
          <p:cNvSpPr txBox="1"/>
          <p:nvPr/>
        </p:nvSpPr>
        <p:spPr>
          <a:xfrm>
            <a:off x="342900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Vapours swept out with the steam or vented</a:t>
            </a:r>
            <a:endParaRPr lang="en-US" sz="1200" dirty="0"/>
          </a:p>
        </p:txBody>
      </p:sp>
      <p:sp>
        <p:nvSpPr>
          <p:cNvPr id="8" name="s836"/>
          <p:cNvSpPr/>
          <p:nvPr/>
        </p:nvSpPr>
        <p:spPr>
          <a:xfrm>
            <a:off x="598932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837"/>
          <p:cNvSpPr/>
          <p:nvPr/>
        </p:nvSpPr>
        <p:spPr>
          <a:xfrm>
            <a:off x="6217920" y="1554480"/>
            <a:ext cx="640080" cy="64008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0" name="i83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539" y="1708099"/>
            <a:ext cx="332842" cy="332842"/>
          </a:xfrm>
          <a:prstGeom prst="rect">
            <a:avLst/>
          </a:prstGeom>
        </p:spPr>
      </p:pic>
      <p:sp>
        <p:nvSpPr>
          <p:cNvPr id="11" name="t839"/>
          <p:cNvSpPr txBox="1"/>
          <p:nvPr/>
        </p:nvSpPr>
        <p:spPr>
          <a:xfrm>
            <a:off x="694944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&amp; drained</a:t>
            </a:r>
            <a:endParaRPr lang="en-US" sz="1500" dirty="0"/>
          </a:p>
        </p:txBody>
      </p:sp>
      <p:sp>
        <p:nvSpPr>
          <p:cNvPr id="12" name="t840"/>
          <p:cNvSpPr txBox="1"/>
          <p:nvPr/>
        </p:nvSpPr>
        <p:spPr>
          <a:xfrm>
            <a:off x="621792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stable in the equipment, then drained to the effluent tank</a:t>
            </a:r>
            <a:endParaRPr lang="en-US" sz="1200" dirty="0"/>
          </a:p>
        </p:txBody>
      </p:sp>
      <p:sp>
        <p:nvSpPr>
          <p:cNvPr id="13" name="s841"/>
          <p:cNvSpPr/>
          <p:nvPr/>
        </p:nvSpPr>
        <p:spPr>
          <a:xfrm>
            <a:off x="8778240" y="1371600"/>
            <a:ext cx="2651760" cy="42976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842"/>
          <p:cNvSpPr/>
          <p:nvPr/>
        </p:nvSpPr>
        <p:spPr>
          <a:xfrm>
            <a:off x="9006840" y="1554480"/>
            <a:ext cx="640080" cy="640080"/>
          </a:xfrm>
          <a:prstGeom prst="ellipse">
            <a:avLst/>
          </a:prstGeom>
          <a:solidFill>
            <a:srgbClr val="7A5C3E"/>
          </a:solidFill>
          <a:ln/>
        </p:spPr>
      </p:sp>
      <p:pic>
        <p:nvPicPr>
          <p:cNvPr id="15" name="i84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0459" y="1708099"/>
            <a:ext cx="332842" cy="332842"/>
          </a:xfrm>
          <a:prstGeom prst="rect">
            <a:avLst/>
          </a:prstGeom>
        </p:spPr>
      </p:pic>
      <p:sp>
        <p:nvSpPr>
          <p:cNvPr id="16" name="t844"/>
          <p:cNvSpPr txBox="1"/>
          <p:nvPr/>
        </p:nvSpPr>
        <p:spPr>
          <a:xfrm>
            <a:off x="9738360" y="15544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oil</a:t>
            </a:r>
            <a:endParaRPr lang="en-US" sz="1500" dirty="0"/>
          </a:p>
        </p:txBody>
      </p:sp>
      <p:sp>
        <p:nvSpPr>
          <p:cNvPr id="17" name="t845"/>
          <p:cNvSpPr txBox="1"/>
          <p:nvPr/>
        </p:nvSpPr>
        <p:spPr>
          <a:xfrm>
            <a:off x="9006840" y="2286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to the slop / rerun tank</a:t>
            </a:r>
            <a:endParaRPr lang="en-US" sz="1200" dirty="0"/>
          </a:p>
        </p:txBody>
      </p:sp>
      <p:sp>
        <p:nvSpPr>
          <p:cNvPr id="18" name="tag846"/>
          <p:cNvSpPr/>
          <p:nvPr/>
        </p:nvSpPr>
        <p:spPr>
          <a:xfrm>
            <a:off x="548640" y="141732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</a:t>
            </a:r>
            <a:endParaRPr lang="en-US" sz="1200" dirty="0"/>
          </a:p>
        </p:txBody>
      </p:sp>
      <p:sp>
        <p:nvSpPr>
          <p:cNvPr id="19" name="tag847"/>
          <p:cNvSpPr/>
          <p:nvPr/>
        </p:nvSpPr>
        <p:spPr>
          <a:xfrm>
            <a:off x="548640" y="194767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</a:t>
            </a:r>
            <a:endParaRPr lang="en-US" sz="1200" dirty="0"/>
          </a:p>
        </p:txBody>
      </p:sp>
      <p:sp>
        <p:nvSpPr>
          <p:cNvPr id="20" name="tag848"/>
          <p:cNvSpPr/>
          <p:nvPr/>
        </p:nvSpPr>
        <p:spPr>
          <a:xfrm>
            <a:off x="548640" y="247802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</a:t>
            </a:r>
            <a:endParaRPr lang="en-US" sz="1200" dirty="0"/>
          </a:p>
        </p:txBody>
      </p:sp>
      <p:sp>
        <p:nvSpPr>
          <p:cNvPr id="21" name="tag849"/>
          <p:cNvSpPr/>
          <p:nvPr/>
        </p:nvSpPr>
        <p:spPr>
          <a:xfrm>
            <a:off x="548640" y="3008376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</a:t>
            </a:r>
            <a:endParaRPr lang="en-US" sz="1200" dirty="0"/>
          </a:p>
        </p:txBody>
      </p:sp>
      <p:sp>
        <p:nvSpPr>
          <p:cNvPr id="22" name="tag850"/>
          <p:cNvSpPr/>
          <p:nvPr/>
        </p:nvSpPr>
        <p:spPr>
          <a:xfrm>
            <a:off x="548640" y="3538728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</a:t>
            </a:r>
            <a:endParaRPr lang="en-US" sz="1200" dirty="0"/>
          </a:p>
        </p:txBody>
      </p:sp>
      <p:sp>
        <p:nvSpPr>
          <p:cNvPr id="23" name="tag851"/>
          <p:cNvSpPr/>
          <p:nvPr/>
        </p:nvSpPr>
        <p:spPr>
          <a:xfrm>
            <a:off x="548640" y="40690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</a:t>
            </a:r>
            <a:endParaRPr lang="en-US" sz="1200" dirty="0"/>
          </a:p>
        </p:txBody>
      </p:sp>
      <p:sp>
        <p:nvSpPr>
          <p:cNvPr id="24" name="tag852"/>
          <p:cNvSpPr/>
          <p:nvPr/>
        </p:nvSpPr>
        <p:spPr>
          <a:xfrm>
            <a:off x="548640" y="4599432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</a:t>
            </a:r>
            <a:endParaRPr lang="en-US" sz="1200" dirty="0"/>
          </a:p>
        </p:txBody>
      </p:sp>
      <p:sp>
        <p:nvSpPr>
          <p:cNvPr id="25" name="tag853"/>
          <p:cNvSpPr/>
          <p:nvPr/>
        </p:nvSpPr>
        <p:spPr>
          <a:xfrm>
            <a:off x="548640" y="5129784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</a:t>
            </a:r>
            <a:endParaRPr lang="en-US" sz="1200" dirty="0"/>
          </a:p>
        </p:txBody>
      </p:sp>
      <p:sp>
        <p:nvSpPr>
          <p:cNvPr id="26" name="tag854"/>
          <p:cNvSpPr/>
          <p:nvPr/>
        </p:nvSpPr>
        <p:spPr>
          <a:xfrm>
            <a:off x="621792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→ stable salt</a:t>
            </a:r>
            <a:endParaRPr lang="en-US" sz="1200" dirty="0"/>
          </a:p>
        </p:txBody>
      </p:sp>
      <p:sp>
        <p:nvSpPr>
          <p:cNvPr id="27" name="tag855"/>
          <p:cNvSpPr/>
          <p:nvPr/>
        </p:nvSpPr>
        <p:spPr>
          <a:xfrm>
            <a:off x="6217920" y="35204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 → iron oxide</a:t>
            </a:r>
            <a:endParaRPr lang="en-US" sz="1200" dirty="0"/>
          </a:p>
        </p:txBody>
      </p:sp>
      <p:sp>
        <p:nvSpPr>
          <p:cNvPr id="28" name="tag856"/>
          <p:cNvSpPr/>
          <p:nvPr/>
        </p:nvSpPr>
        <p:spPr>
          <a:xfrm>
            <a:off x="6217920" y="3977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NH₃ → neutralised</a:t>
            </a:r>
            <a:endParaRPr lang="en-US" sz="1200" dirty="0"/>
          </a:p>
        </p:txBody>
      </p:sp>
      <p:sp>
        <p:nvSpPr>
          <p:cNvPr id="29" name="tag857"/>
          <p:cNvSpPr/>
          <p:nvPr/>
        </p:nvSpPr>
        <p:spPr>
          <a:xfrm>
            <a:off x="6217920" y="44348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8E9AA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Mercaptans → converted</a:t>
            </a:r>
            <a:endParaRPr lang="en-US" sz="1200" dirty="0"/>
          </a:p>
        </p:txBody>
      </p:sp>
      <p:sp>
        <p:nvSpPr>
          <p:cNvPr id="30" name="tag858"/>
          <p:cNvSpPr/>
          <p:nvPr/>
        </p:nvSpPr>
        <p:spPr>
          <a:xfrm>
            <a:off x="6217920" y="48920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7A5C3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Sludge → emulsified</a:t>
            </a:r>
            <a:endParaRPr lang="en-US" sz="1200" dirty="0"/>
          </a:p>
        </p:txBody>
      </p:sp>
      <p:sp>
        <p:nvSpPr>
          <p:cNvPr id="31" name="tag859"/>
          <p:cNvSpPr/>
          <p:nvPr/>
        </p:nvSpPr>
        <p:spPr>
          <a:xfrm>
            <a:off x="9006840" y="30632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C463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oil → slop / rerun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363 0.2400 E" pathEditMode="relative" ptsTypes="AA">
                                      <p:cBhvr>
                                        <p:cTn id="6" dur="1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2363 0.2293 E" pathEditMode="relative" ptsTypes="AA">
                                      <p:cBhvr>
                                        <p:cTn id="8" dur="1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4650 0.0853 E" pathEditMode="relative" ptsTypes="AA">
                                      <p:cBhvr>
                                        <p:cTn id="12" dur="11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0" presetClass="path" presetSubtype="0" fill="hold" grpId="3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.4650 0.0747 E" pathEditMode="relative" ptsTypes="AA">
                                      <p:cBhvr>
                                        <p:cTn id="20" dur="1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0" presetClass="path" presetSubtype="0" fill="hold" grpId="3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4650 0.0640 E" pathEditMode="relative" ptsTypes="AA">
                                      <p:cBhvr>
                                        <p:cTn id="28" dur="1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3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4650 0.0533 E" pathEditMode="relative" ptsTypes="AA">
                                      <p:cBhvr>
                                        <p:cTn id="36" dur="1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0" presetClass="path" presetSubtype="0" fill="hold" grpId="3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4650 0.0427 E" pathEditMode="relative" ptsTypes="AA">
                                      <p:cBhvr>
                                        <p:cTn id="44" dur="11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1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0" presetClass="pat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6938 -0.3013 E" pathEditMode="relative" ptsTypes="AA">
                                      <p:cBhvr>
                                        <p:cTn id="54" dur="1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3" animBg="1"/>
      <p:bldP spid="19" grpId="3" animBg="1"/>
      <p:bldP spid="20" grpId="3" animBg="1"/>
      <p:bldP spid="20" grpId="1" animBg="1"/>
      <p:bldP spid="26" grpId="0" animBg="1"/>
      <p:bldP spid="21" grpId="3" animBg="1"/>
      <p:bldP spid="21" grpId="1" animBg="1"/>
      <p:bldP spid="27" grpId="0" animBg="1"/>
      <p:bldP spid="22" grpId="3" animBg="1"/>
      <p:bldP spid="22" grpId="1" animBg="1"/>
      <p:bldP spid="28" grpId="0" animBg="1"/>
      <p:bldP spid="23" grpId="3" animBg="1"/>
      <p:bldP spid="23" grpId="1" animBg="1"/>
      <p:bldP spid="29" grpId="0" animBg="1"/>
      <p:bldP spid="24" grpId="3" animBg="1"/>
      <p:bldP spid="24" grpId="1" animBg="1"/>
      <p:bldP spid="30" grpId="0" animBg="1"/>
      <p:bldP spid="25" grpId="3" animBg="1"/>
      <p:bldP spid="25" grpId="1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Decontamination chemistry toolkit</a:t>
            </a:r>
            <a:endParaRPr lang="en-US" sz="2800" dirty="0"/>
          </a:p>
        </p:txBody>
      </p:sp>
      <p:sp>
        <p:nvSpPr>
          <p:cNvPr id="3" name="s860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861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86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742846"/>
            <a:ext cx="309067" cy="309067"/>
          </a:xfrm>
          <a:prstGeom prst="rect">
            <a:avLst/>
          </a:prstGeom>
        </p:spPr>
      </p:pic>
      <p:sp>
        <p:nvSpPr>
          <p:cNvPr id="6" name="t863"/>
          <p:cNvSpPr txBox="1"/>
          <p:nvPr/>
        </p:nvSpPr>
        <p:spPr>
          <a:xfrm>
            <a:off x="150876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degreaser</a:t>
            </a:r>
            <a:endParaRPr lang="en-US" sz="1500" dirty="0"/>
          </a:p>
        </p:txBody>
      </p:sp>
      <p:sp>
        <p:nvSpPr>
          <p:cNvPr id="7" name="t864"/>
          <p:cNvSpPr txBox="1"/>
          <p:nvPr/>
        </p:nvSpPr>
        <p:spPr>
          <a:xfrm>
            <a:off x="77724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by steam; lifts hydrocarbons and releases LEL / benzene for safe venting.</a:t>
            </a:r>
            <a:endParaRPr lang="en-US" sz="1300" dirty="0"/>
          </a:p>
        </p:txBody>
      </p:sp>
      <p:sp>
        <p:nvSpPr>
          <p:cNvPr id="8" name="t865"/>
          <p:cNvSpPr txBox="1"/>
          <p:nvPr/>
        </p:nvSpPr>
        <p:spPr>
          <a:xfrm>
            <a:off x="77724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Columns, overheads, exchangers</a:t>
            </a:r>
            <a:endParaRPr lang="en-US" sz="1200" dirty="0"/>
          </a:p>
        </p:txBody>
      </p:sp>
      <p:sp>
        <p:nvSpPr>
          <p:cNvPr id="9" name="s866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0" name="s867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1" name="i86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926" y="1742846"/>
            <a:ext cx="309067" cy="309067"/>
          </a:xfrm>
          <a:prstGeom prst="rect">
            <a:avLst/>
          </a:prstGeom>
        </p:spPr>
      </p:pic>
      <p:sp>
        <p:nvSpPr>
          <p:cNvPr id="12" name="t869"/>
          <p:cNvSpPr txBox="1"/>
          <p:nvPr/>
        </p:nvSpPr>
        <p:spPr>
          <a:xfrm>
            <a:off x="525780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Water-based solvent</a:t>
            </a:r>
            <a:endParaRPr lang="en-US" sz="1500" dirty="0"/>
          </a:p>
        </p:txBody>
      </p:sp>
      <p:sp>
        <p:nvSpPr>
          <p:cNvPr id="13" name="t870"/>
          <p:cNvSpPr txBox="1"/>
          <p:nvPr/>
        </p:nvSpPr>
        <p:spPr>
          <a:xfrm>
            <a:off x="452628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Emulsifies oil and sludge in water; non-flammable, low odour.</a:t>
            </a:r>
            <a:endParaRPr lang="en-US" sz="1300" dirty="0"/>
          </a:p>
        </p:txBody>
      </p:sp>
      <p:sp>
        <p:nvSpPr>
          <p:cNvPr id="14" name="t871"/>
          <p:cNvSpPr txBox="1"/>
          <p:nvPr/>
        </p:nvSpPr>
        <p:spPr>
          <a:xfrm>
            <a:off x="452628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Boil-out, circulation, tanks</a:t>
            </a:r>
            <a:endParaRPr lang="en-US" sz="1200" dirty="0"/>
          </a:p>
        </p:txBody>
      </p:sp>
      <p:sp>
        <p:nvSpPr>
          <p:cNvPr id="15" name="s872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6" name="s873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7" name="i87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1742846"/>
            <a:ext cx="309067" cy="309067"/>
          </a:xfrm>
          <a:prstGeom prst="rect">
            <a:avLst/>
          </a:prstGeom>
        </p:spPr>
      </p:pic>
      <p:sp>
        <p:nvSpPr>
          <p:cNvPr id="18" name="t875"/>
          <p:cNvSpPr txBox="1"/>
          <p:nvPr/>
        </p:nvSpPr>
        <p:spPr>
          <a:xfrm>
            <a:off x="9006840" y="1600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Oil-based solvent</a:t>
            </a:r>
            <a:endParaRPr lang="en-US" sz="1500" dirty="0"/>
          </a:p>
        </p:txBody>
      </p:sp>
      <p:sp>
        <p:nvSpPr>
          <p:cNvPr id="19" name="t876"/>
          <p:cNvSpPr txBox="1"/>
          <p:nvPr/>
        </p:nvSpPr>
        <p:spPr>
          <a:xfrm>
            <a:off x="8275320" y="2286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Boosts flushing oil to penetrate heavy deposits, tar and coke.</a:t>
            </a:r>
            <a:endParaRPr lang="en-US" sz="1300" dirty="0"/>
          </a:p>
        </p:txBody>
      </p:sp>
      <p:sp>
        <p:nvSpPr>
          <p:cNvPr id="20" name="t877"/>
          <p:cNvSpPr txBox="1"/>
          <p:nvPr/>
        </p:nvSpPr>
        <p:spPr>
          <a:xfrm>
            <a:off x="8275320" y="3063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flush, coker, quench oil</a:t>
            </a:r>
            <a:endParaRPr lang="en-US" sz="1200" dirty="0"/>
          </a:p>
        </p:txBody>
      </p:sp>
      <p:sp>
        <p:nvSpPr>
          <p:cNvPr id="21" name="s878"/>
          <p:cNvSpPr/>
          <p:nvPr/>
        </p:nvSpPr>
        <p:spPr>
          <a:xfrm>
            <a:off x="54864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2" name="s879"/>
          <p:cNvSpPr/>
          <p:nvPr/>
        </p:nvSpPr>
        <p:spPr>
          <a:xfrm>
            <a:off x="77724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3" name="i88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074566"/>
            <a:ext cx="309067" cy="309067"/>
          </a:xfrm>
          <a:prstGeom prst="rect">
            <a:avLst/>
          </a:prstGeom>
        </p:spPr>
      </p:pic>
      <p:sp>
        <p:nvSpPr>
          <p:cNvPr id="24" name="t881"/>
          <p:cNvSpPr txBox="1"/>
          <p:nvPr/>
        </p:nvSpPr>
        <p:spPr>
          <a:xfrm>
            <a:off x="150876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Sulphide / pyrophoric oxidiser</a:t>
            </a:r>
            <a:endParaRPr lang="en-US" sz="1500" dirty="0"/>
          </a:p>
        </p:txBody>
      </p:sp>
      <p:sp>
        <p:nvSpPr>
          <p:cNvPr id="25" name="t882"/>
          <p:cNvSpPr txBox="1"/>
          <p:nvPr/>
        </p:nvSpPr>
        <p:spPr>
          <a:xfrm>
            <a:off x="77724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H₂S and pyrophoric FeS into stable compounds.</a:t>
            </a:r>
            <a:endParaRPr lang="en-US" sz="1300" dirty="0"/>
          </a:p>
        </p:txBody>
      </p:sp>
      <p:sp>
        <p:nvSpPr>
          <p:cNvPr id="26" name="t883"/>
          <p:cNvSpPr txBox="1"/>
          <p:nvPr/>
        </p:nvSpPr>
        <p:spPr>
          <a:xfrm>
            <a:off x="77724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Post-treatment wash, packed beds, SWS, SRU</a:t>
            </a:r>
            <a:endParaRPr lang="en-US" sz="1200" dirty="0"/>
          </a:p>
        </p:txBody>
      </p:sp>
      <p:sp>
        <p:nvSpPr>
          <p:cNvPr id="27" name="s884"/>
          <p:cNvSpPr/>
          <p:nvPr/>
        </p:nvSpPr>
        <p:spPr>
          <a:xfrm>
            <a:off x="429768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8" name="s885"/>
          <p:cNvSpPr/>
          <p:nvPr/>
        </p:nvSpPr>
        <p:spPr>
          <a:xfrm>
            <a:off x="4526280" y="3931920"/>
            <a:ext cx="594360" cy="5943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9" name="i88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926" y="4074566"/>
            <a:ext cx="309067" cy="309067"/>
          </a:xfrm>
          <a:prstGeom prst="rect">
            <a:avLst/>
          </a:prstGeom>
        </p:spPr>
      </p:pic>
      <p:sp>
        <p:nvSpPr>
          <p:cNvPr id="30" name="t887"/>
          <p:cNvSpPr txBox="1"/>
          <p:nvPr/>
        </p:nvSpPr>
        <p:spPr>
          <a:xfrm>
            <a:off x="525780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Neutraliser</a:t>
            </a:r>
            <a:endParaRPr lang="en-US" sz="1500" dirty="0"/>
          </a:p>
        </p:txBody>
      </p:sp>
      <p:sp>
        <p:nvSpPr>
          <p:cNvPr id="31" name="t888"/>
          <p:cNvSpPr txBox="1"/>
          <p:nvPr/>
        </p:nvSpPr>
        <p:spPr>
          <a:xfrm>
            <a:off x="452628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Corrects pH and treats ammonia / acid residues for disposal.</a:t>
            </a:r>
            <a:endParaRPr lang="en-US" sz="1300" dirty="0"/>
          </a:p>
        </p:txBody>
      </p:sp>
      <p:sp>
        <p:nvSpPr>
          <p:cNvPr id="32" name="t889"/>
          <p:cNvSpPr txBox="1"/>
          <p:nvPr/>
        </p:nvSpPr>
        <p:spPr>
          <a:xfrm>
            <a:off x="452628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Post-rinse, effluent tanks</a:t>
            </a:r>
            <a:endParaRPr lang="en-US" sz="1200" dirty="0"/>
          </a:p>
        </p:txBody>
      </p:sp>
      <p:sp>
        <p:nvSpPr>
          <p:cNvPr id="33" name="s890"/>
          <p:cNvSpPr/>
          <p:nvPr/>
        </p:nvSpPr>
        <p:spPr>
          <a:xfrm>
            <a:off x="804672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34" name="s891"/>
          <p:cNvSpPr/>
          <p:nvPr/>
        </p:nvSpPr>
        <p:spPr>
          <a:xfrm>
            <a:off x="8275320" y="3931920"/>
            <a:ext cx="594360" cy="5943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35" name="i89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966" y="4074566"/>
            <a:ext cx="309067" cy="309067"/>
          </a:xfrm>
          <a:prstGeom prst="rect">
            <a:avLst/>
          </a:prstGeom>
        </p:spPr>
      </p:pic>
      <p:sp>
        <p:nvSpPr>
          <p:cNvPr id="36" name="t893"/>
          <p:cNvSpPr txBox="1"/>
          <p:nvPr/>
        </p:nvSpPr>
        <p:spPr>
          <a:xfrm>
            <a:off x="900684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Antifoam / dispersant</a:t>
            </a:r>
            <a:endParaRPr lang="en-US" sz="1500" dirty="0"/>
          </a:p>
        </p:txBody>
      </p:sp>
      <p:sp>
        <p:nvSpPr>
          <p:cNvPr id="37" name="t894"/>
          <p:cNvSpPr txBox="1"/>
          <p:nvPr/>
        </p:nvSpPr>
        <p:spPr>
          <a:xfrm>
            <a:off x="8275320" y="4617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foaming and keeps solids dispersed.</a:t>
            </a:r>
            <a:endParaRPr lang="en-US" sz="1300" dirty="0"/>
          </a:p>
        </p:txBody>
      </p:sp>
      <p:sp>
        <p:nvSpPr>
          <p:cNvPr id="38" name="t895"/>
          <p:cNvSpPr txBox="1"/>
          <p:nvPr/>
        </p:nvSpPr>
        <p:spPr>
          <a:xfrm>
            <a:off x="8275320" y="5394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</a:t>
            </a:r>
            <a:pPr indent="0" marL="0"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Amine systems, boil-outs</a:t>
            </a:r>
            <a:endParaRPr lang="en-US" sz="1200" dirty="0"/>
          </a:p>
        </p:txBody>
      </p:sp>
      <p:sp>
        <p:nvSpPr>
          <p:cNvPr id="39" name="t896"/>
          <p:cNvSpPr txBox="1"/>
          <p:nvPr/>
        </p:nvSpPr>
        <p:spPr>
          <a:xfrm>
            <a:off x="548640" y="6080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 is selected per unit after a compatibility check; product data and SDS are shared with the client.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897"/>
          <p:cNvSpPr/>
          <p:nvPr/>
        </p:nvSpPr>
        <p:spPr>
          <a:xfrm>
            <a:off x="8778240" y="1097280"/>
            <a:ext cx="4572000" cy="4572000"/>
          </a:xfrm>
          <a:prstGeom prst="ellipse">
            <a:avLst/>
          </a:prstGeom>
          <a:solidFill>
            <a:srgbClr val="D3E6F4"/>
          </a:solidFill>
          <a:ln/>
        </p:spPr>
      </p:sp>
      <p:pic>
        <p:nvPicPr>
          <p:cNvPr id="3" name="i89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4552" y="274320"/>
            <a:ext cx="502920" cy="658368"/>
          </a:xfrm>
          <a:prstGeom prst="rect">
            <a:avLst/>
          </a:prstGeom>
        </p:spPr>
      </p:pic>
      <p:sp>
        <p:nvSpPr>
          <p:cNvPr id="4" name="t899"/>
          <p:cNvSpPr txBox="1"/>
          <p:nvPr/>
        </p:nvSpPr>
        <p:spPr>
          <a:xfrm>
            <a:off x="685800" y="1600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C74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600" dirty="0"/>
          </a:p>
        </p:txBody>
      </p:sp>
      <p:sp>
        <p:nvSpPr>
          <p:cNvPr id="5" name="t900"/>
          <p:cNvSpPr txBox="1"/>
          <p:nvPr/>
        </p:nvSpPr>
        <p:spPr>
          <a:xfrm>
            <a:off x="685800" y="292608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and why Delight</a:t>
            </a:r>
            <a:endParaRPr lang="en-US" sz="3400" dirty="0"/>
          </a:p>
        </p:txBody>
      </p:sp>
      <p:sp>
        <p:nvSpPr>
          <p:cNvPr id="6" name="t901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site survey to handover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execute</a:t>
            </a:r>
            <a:endParaRPr lang="en-US" sz="2800" dirty="0"/>
          </a:p>
        </p:txBody>
      </p:sp>
      <p:sp>
        <p:nvSpPr>
          <p:cNvPr id="3" name="s902"/>
          <p:cNvSpPr/>
          <p:nvPr/>
        </p:nvSpPr>
        <p:spPr>
          <a:xfrm>
            <a:off x="1097280" y="2423160"/>
            <a:ext cx="9966960" cy="0"/>
          </a:xfrm>
          <a:prstGeom prst="line">
            <a:avLst/>
          </a:prstGeom>
          <a:noFill/>
          <a:ln w="38100">
            <a:solidFill>
              <a:srgbClr val="C6D3E0"/>
            </a:solidFill>
            <a:prstDash val="solid"/>
          </a:ln>
        </p:spPr>
      </p:sp>
      <p:sp>
        <p:nvSpPr>
          <p:cNvPr id="4" name="s903"/>
          <p:cNvSpPr/>
          <p:nvPr/>
        </p:nvSpPr>
        <p:spPr>
          <a:xfrm>
            <a:off x="105156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0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1016" y="2185416"/>
            <a:ext cx="475488" cy="475488"/>
          </a:xfrm>
          <a:prstGeom prst="rect">
            <a:avLst/>
          </a:prstGeom>
        </p:spPr>
      </p:pic>
      <p:sp>
        <p:nvSpPr>
          <p:cNvPr id="6" name="t905"/>
          <p:cNvSpPr txBox="1"/>
          <p:nvPr/>
        </p:nvSpPr>
        <p:spPr>
          <a:xfrm>
            <a:off x="6400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survey</a:t>
            </a:r>
            <a:endParaRPr lang="en-US" sz="1500" dirty="0"/>
          </a:p>
        </p:txBody>
      </p:sp>
      <p:sp>
        <p:nvSpPr>
          <p:cNvPr id="7" name="t906"/>
          <p:cNvSpPr txBox="1"/>
          <p:nvPr/>
        </p:nvSpPr>
        <p:spPr>
          <a:xfrm>
            <a:off x="6400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P&amp;IDs, isometrics, data sheets, injection points</a:t>
            </a:r>
            <a:endParaRPr lang="en-US" sz="1300" dirty="0"/>
          </a:p>
        </p:txBody>
      </p:sp>
      <p:sp>
        <p:nvSpPr>
          <p:cNvPr id="8" name="s907"/>
          <p:cNvSpPr/>
          <p:nvPr/>
        </p:nvSpPr>
        <p:spPr>
          <a:xfrm>
            <a:off x="292608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9" name="i90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2185416"/>
            <a:ext cx="475488" cy="475488"/>
          </a:xfrm>
          <a:prstGeom prst="rect">
            <a:avLst/>
          </a:prstGeom>
        </p:spPr>
      </p:pic>
      <p:sp>
        <p:nvSpPr>
          <p:cNvPr id="10" name="t909"/>
          <p:cNvSpPr txBox="1"/>
          <p:nvPr/>
        </p:nvSpPr>
        <p:spPr>
          <a:xfrm>
            <a:off x="251460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plan</a:t>
            </a:r>
            <a:endParaRPr lang="en-US" sz="1500" dirty="0"/>
          </a:p>
        </p:txBody>
      </p:sp>
      <p:sp>
        <p:nvSpPr>
          <p:cNvPr id="11" name="t910"/>
          <p:cNvSpPr txBox="1"/>
          <p:nvPr/>
        </p:nvSpPr>
        <p:spPr>
          <a:xfrm>
            <a:off x="251460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statement, chemistry, volumes, waste plan</a:t>
            </a:r>
            <a:endParaRPr lang="en-US" sz="1300" dirty="0"/>
          </a:p>
        </p:txBody>
      </p:sp>
      <p:sp>
        <p:nvSpPr>
          <p:cNvPr id="12" name="s911"/>
          <p:cNvSpPr/>
          <p:nvPr/>
        </p:nvSpPr>
        <p:spPr>
          <a:xfrm>
            <a:off x="480060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3" name="i9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6" y="2185416"/>
            <a:ext cx="475488" cy="475488"/>
          </a:xfrm>
          <a:prstGeom prst="rect">
            <a:avLst/>
          </a:prstGeom>
        </p:spPr>
      </p:pic>
      <p:sp>
        <p:nvSpPr>
          <p:cNvPr id="14" name="t913"/>
          <p:cNvSpPr txBox="1"/>
          <p:nvPr/>
        </p:nvSpPr>
        <p:spPr>
          <a:xfrm>
            <a:off x="438912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 &amp; rig-up</a:t>
            </a:r>
            <a:endParaRPr lang="en-US" sz="1500" dirty="0"/>
          </a:p>
        </p:txBody>
      </p:sp>
      <p:sp>
        <p:nvSpPr>
          <p:cNvPr id="15" name="t914"/>
          <p:cNvSpPr txBox="1"/>
          <p:nvPr/>
        </p:nvSpPr>
        <p:spPr>
          <a:xfrm>
            <a:off x="438912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hoses, injection manifolds, effluent tanks</a:t>
            </a:r>
            <a:endParaRPr lang="en-US" sz="1300" dirty="0"/>
          </a:p>
        </p:txBody>
      </p:sp>
      <p:sp>
        <p:nvSpPr>
          <p:cNvPr id="16" name="s915"/>
          <p:cNvSpPr/>
          <p:nvPr/>
        </p:nvSpPr>
        <p:spPr>
          <a:xfrm>
            <a:off x="667512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7" name="i9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76" y="2185416"/>
            <a:ext cx="475488" cy="475488"/>
          </a:xfrm>
          <a:prstGeom prst="rect">
            <a:avLst/>
          </a:prstGeom>
        </p:spPr>
      </p:pic>
      <p:sp>
        <p:nvSpPr>
          <p:cNvPr id="18" name="t917"/>
          <p:cNvSpPr txBox="1"/>
          <p:nvPr/>
        </p:nvSpPr>
        <p:spPr>
          <a:xfrm>
            <a:off x="626364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Decontaminate</a:t>
            </a:r>
            <a:endParaRPr lang="en-US" sz="1500" dirty="0"/>
          </a:p>
        </p:txBody>
      </p:sp>
      <p:sp>
        <p:nvSpPr>
          <p:cNvPr id="19" name="t918"/>
          <p:cNvSpPr txBox="1"/>
          <p:nvPr/>
        </p:nvSpPr>
        <p:spPr>
          <a:xfrm>
            <a:off x="626364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Vapour-phase, boil-out, flush or circulation with live monitoring</a:t>
            </a:r>
            <a:endParaRPr lang="en-US" sz="1300" dirty="0"/>
          </a:p>
        </p:txBody>
      </p:sp>
      <p:sp>
        <p:nvSpPr>
          <p:cNvPr id="20" name="s919"/>
          <p:cNvSpPr/>
          <p:nvPr/>
        </p:nvSpPr>
        <p:spPr>
          <a:xfrm>
            <a:off x="8549640" y="1965960"/>
            <a:ext cx="914400" cy="9144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1" name="i92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9096" y="2185416"/>
            <a:ext cx="475488" cy="475488"/>
          </a:xfrm>
          <a:prstGeom prst="rect">
            <a:avLst/>
          </a:prstGeom>
        </p:spPr>
      </p:pic>
      <p:sp>
        <p:nvSpPr>
          <p:cNvPr id="22" name="t921"/>
          <p:cNvSpPr txBox="1"/>
          <p:nvPr/>
        </p:nvSpPr>
        <p:spPr>
          <a:xfrm>
            <a:off x="813816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hand over</a:t>
            </a:r>
            <a:endParaRPr lang="en-US" sz="1500" dirty="0"/>
          </a:p>
        </p:txBody>
      </p:sp>
      <p:sp>
        <p:nvSpPr>
          <p:cNvPr id="23" name="t922"/>
          <p:cNvSpPr txBox="1"/>
          <p:nvPr/>
        </p:nvSpPr>
        <p:spPr>
          <a:xfrm>
            <a:off x="813816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tests against entry criteria, sign-off</a:t>
            </a:r>
            <a:endParaRPr lang="en-US" sz="1300" dirty="0"/>
          </a:p>
        </p:txBody>
      </p:sp>
      <p:sp>
        <p:nvSpPr>
          <p:cNvPr id="24" name="s923"/>
          <p:cNvSpPr/>
          <p:nvPr/>
        </p:nvSpPr>
        <p:spPr>
          <a:xfrm>
            <a:off x="10424160" y="1965960"/>
            <a:ext cx="914400" cy="9144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5" name="i92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43616" y="2185416"/>
            <a:ext cx="475488" cy="475488"/>
          </a:xfrm>
          <a:prstGeom prst="rect">
            <a:avLst/>
          </a:prstGeom>
        </p:spPr>
      </p:pic>
      <p:sp>
        <p:nvSpPr>
          <p:cNvPr id="26" name="t925"/>
          <p:cNvSpPr txBox="1"/>
          <p:nvPr/>
        </p:nvSpPr>
        <p:spPr>
          <a:xfrm>
            <a:off x="100126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&amp; demob</a:t>
            </a:r>
            <a:endParaRPr lang="en-US" sz="1500" dirty="0"/>
          </a:p>
        </p:txBody>
      </p:sp>
      <p:sp>
        <p:nvSpPr>
          <p:cNvPr id="27" name="t926"/>
          <p:cNvSpPr txBox="1"/>
          <p:nvPr/>
        </p:nvSpPr>
        <p:spPr>
          <a:xfrm>
            <a:off x="10012680" y="365760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Neutralise, test and dispose via licensed contractor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8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300"/>
                            </p:stCondLst>
                            <p:childTnLst>
                              <p:par>
                                <p:cTn id="7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800"/>
                            </p:stCondLst>
                            <p:childTnLst>
                              <p:par>
                                <p:cTn id="9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3300"/>
                            </p:stCondLst>
                            <p:childTnLst>
                              <p:par>
                                <p:cTn id="1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Division of responsibilities</a:t>
            </a:r>
            <a:endParaRPr lang="en-US" sz="2800" dirty="0"/>
          </a:p>
        </p:txBody>
      </p:sp>
      <p:sp>
        <p:nvSpPr>
          <p:cNvPr id="3" name="s927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928"/>
          <p:cNvSpPr/>
          <p:nvPr/>
        </p:nvSpPr>
        <p:spPr>
          <a:xfrm>
            <a:off x="82296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0C74BC"/>
          </a:solidFill>
          <a:ln/>
        </p:spPr>
      </p:sp>
      <p:sp>
        <p:nvSpPr>
          <p:cNvPr id="5" name="t929"/>
          <p:cNvSpPr txBox="1"/>
          <p:nvPr/>
        </p:nvSpPr>
        <p:spPr>
          <a:xfrm>
            <a:off x="8229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</a:t>
            </a:r>
            <a:endParaRPr lang="en-US" sz="1500" dirty="0"/>
          </a:p>
        </p:txBody>
      </p:sp>
      <p:sp>
        <p:nvSpPr>
          <p:cNvPr id="6" name="t930"/>
          <p:cNvSpPr txBox="1"/>
          <p:nvPr/>
        </p:nvSpPr>
        <p:spPr>
          <a:xfrm>
            <a:off x="96012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 engineering and method statement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supervisors and technicians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chemistry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Pumps, skids, injection hoses and manifolds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monitoring during decontamination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neutralisation and waste coordination</a:t>
            </a:r>
            <a:endParaRPr lang="en-US" sz="1500" dirty="0"/>
          </a:p>
        </p:txBody>
      </p:sp>
      <p:sp>
        <p:nvSpPr>
          <p:cNvPr id="7" name="s931"/>
          <p:cNvSpPr/>
          <p:nvPr/>
        </p:nvSpPr>
        <p:spPr>
          <a:xfrm>
            <a:off x="6172200" y="137160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8" name="s932"/>
          <p:cNvSpPr/>
          <p:nvPr/>
        </p:nvSpPr>
        <p:spPr>
          <a:xfrm>
            <a:off x="6446520" y="1645920"/>
            <a:ext cx="4846320" cy="548640"/>
          </a:xfrm>
          <a:prstGeom prst="roundRect">
            <a:avLst>
              <a:gd name="adj" fmla="val 50000"/>
            </a:avLst>
          </a:prstGeom>
          <a:solidFill>
            <a:srgbClr val="3AB54A"/>
          </a:solidFill>
          <a:ln/>
        </p:spPr>
      </p:sp>
      <p:sp>
        <p:nvSpPr>
          <p:cNvPr id="9" name="t933"/>
          <p:cNvSpPr txBox="1"/>
          <p:nvPr/>
        </p:nvSpPr>
        <p:spPr>
          <a:xfrm>
            <a:off x="644652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</p:txBody>
      </p:sp>
      <p:sp>
        <p:nvSpPr>
          <p:cNvPr id="10" name="t934"/>
          <p:cNvSpPr txBox="1"/>
          <p:nvPr/>
        </p:nvSpPr>
        <p:spPr>
          <a:xfrm>
            <a:off x="6583680" y="246888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Isolation, de-inventory and permits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Steam, water, nitrogen and power utilities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control room / DCS readings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to drain low points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support for sample analysis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contact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and validation</a:t>
            </a:r>
            <a:endParaRPr lang="en-US" sz="2800" dirty="0"/>
          </a:p>
        </p:txBody>
      </p:sp>
      <p:sp>
        <p:nvSpPr>
          <p:cNvPr id="3" name="s935"/>
          <p:cNvSpPr/>
          <p:nvPr/>
        </p:nvSpPr>
        <p:spPr>
          <a:xfrm>
            <a:off x="548640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936"/>
          <p:cNvSpPr/>
          <p:nvPr/>
        </p:nvSpPr>
        <p:spPr>
          <a:xfrm>
            <a:off x="1371600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2029" y="1922069"/>
            <a:ext cx="499262" cy="499262"/>
          </a:xfrm>
          <a:prstGeom prst="rect">
            <a:avLst/>
          </a:prstGeom>
        </p:spPr>
      </p:pic>
      <p:sp>
        <p:nvSpPr>
          <p:cNvPr id="6" name="t938"/>
          <p:cNvSpPr txBox="1"/>
          <p:nvPr/>
        </p:nvSpPr>
        <p:spPr>
          <a:xfrm>
            <a:off x="685800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Multi-gas meter</a:t>
            </a:r>
            <a:endParaRPr lang="en-US" sz="1600" dirty="0"/>
          </a:p>
        </p:txBody>
      </p:sp>
      <p:sp>
        <p:nvSpPr>
          <p:cNvPr id="7" name="t939"/>
          <p:cNvSpPr txBox="1"/>
          <p:nvPr/>
        </p:nvSpPr>
        <p:spPr>
          <a:xfrm>
            <a:off x="731520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LEL, H₂S, O₂ and CO at vents and manways</a:t>
            </a:r>
            <a:endParaRPr lang="en-US" sz="1400" dirty="0"/>
          </a:p>
        </p:txBody>
      </p:sp>
      <p:sp>
        <p:nvSpPr>
          <p:cNvPr id="8" name="s940"/>
          <p:cNvSpPr/>
          <p:nvPr/>
        </p:nvSpPr>
        <p:spPr>
          <a:xfrm>
            <a:off x="3364992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941"/>
          <p:cNvSpPr/>
          <p:nvPr/>
        </p:nvSpPr>
        <p:spPr>
          <a:xfrm>
            <a:off x="4187952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94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1922069"/>
            <a:ext cx="499262" cy="499262"/>
          </a:xfrm>
          <a:prstGeom prst="rect">
            <a:avLst/>
          </a:prstGeom>
        </p:spPr>
      </p:pic>
      <p:sp>
        <p:nvSpPr>
          <p:cNvPr id="11" name="t943"/>
          <p:cNvSpPr txBox="1"/>
          <p:nvPr/>
        </p:nvSpPr>
        <p:spPr>
          <a:xfrm>
            <a:off x="3502152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Benzene / VOC meter</a:t>
            </a:r>
            <a:endParaRPr lang="en-US" sz="1600" dirty="0"/>
          </a:p>
        </p:txBody>
      </p:sp>
      <p:sp>
        <p:nvSpPr>
          <p:cNvPr id="12" name="t944"/>
          <p:cNvSpPr txBox="1"/>
          <p:nvPr/>
        </p:nvSpPr>
        <p:spPr>
          <a:xfrm>
            <a:off x="3547872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readings and detector tubes for benzene</a:t>
            </a:r>
            <a:endParaRPr lang="en-US" sz="1400" dirty="0"/>
          </a:p>
        </p:txBody>
      </p:sp>
      <p:sp>
        <p:nvSpPr>
          <p:cNvPr id="13" name="s945"/>
          <p:cNvSpPr/>
          <p:nvPr/>
        </p:nvSpPr>
        <p:spPr>
          <a:xfrm>
            <a:off x="6181344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946"/>
          <p:cNvSpPr/>
          <p:nvPr/>
        </p:nvSpPr>
        <p:spPr>
          <a:xfrm>
            <a:off x="7004304" y="1691640"/>
            <a:ext cx="960120" cy="96012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9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733" y="1922069"/>
            <a:ext cx="499262" cy="499262"/>
          </a:xfrm>
          <a:prstGeom prst="rect">
            <a:avLst/>
          </a:prstGeom>
        </p:spPr>
      </p:pic>
      <p:sp>
        <p:nvSpPr>
          <p:cNvPr id="16" name="t948"/>
          <p:cNvSpPr txBox="1"/>
          <p:nvPr/>
        </p:nvSpPr>
        <p:spPr>
          <a:xfrm>
            <a:off x="6318504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sampling</a:t>
            </a:r>
            <a:endParaRPr lang="en-US" sz="1600" dirty="0"/>
          </a:p>
        </p:txBody>
      </p:sp>
      <p:sp>
        <p:nvSpPr>
          <p:cNvPr id="17" name="t949"/>
          <p:cNvSpPr txBox="1"/>
          <p:nvPr/>
        </p:nvSpPr>
        <p:spPr>
          <a:xfrm>
            <a:off x="6364224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bombs to the client laboratory where required</a:t>
            </a:r>
            <a:endParaRPr lang="en-US" sz="1400" dirty="0"/>
          </a:p>
        </p:txBody>
      </p:sp>
      <p:sp>
        <p:nvSpPr>
          <p:cNvPr id="18" name="s950"/>
          <p:cNvSpPr/>
          <p:nvPr/>
        </p:nvSpPr>
        <p:spPr>
          <a:xfrm>
            <a:off x="8997696" y="1417320"/>
            <a:ext cx="2606040" cy="3108960"/>
          </a:xfrm>
          <a:prstGeom prst="roundRect">
            <a:avLst>
              <a:gd name="adj" fmla="val 3509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951"/>
          <p:cNvSpPr/>
          <p:nvPr/>
        </p:nvSpPr>
        <p:spPr>
          <a:xfrm>
            <a:off x="9820656" y="1691640"/>
            <a:ext cx="960120" cy="96012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95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1085" y="1922069"/>
            <a:ext cx="499262" cy="499262"/>
          </a:xfrm>
          <a:prstGeom prst="rect">
            <a:avLst/>
          </a:prstGeom>
        </p:spPr>
      </p:pic>
      <p:sp>
        <p:nvSpPr>
          <p:cNvPr id="21" name="t953"/>
          <p:cNvSpPr txBox="1"/>
          <p:nvPr/>
        </p:nvSpPr>
        <p:spPr>
          <a:xfrm>
            <a:off x="9134856" y="27889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Effluent checks</a:t>
            </a:r>
            <a:endParaRPr lang="en-US" sz="1600" dirty="0"/>
          </a:p>
        </p:txBody>
      </p:sp>
      <p:sp>
        <p:nvSpPr>
          <p:cNvPr id="22" name="t954"/>
          <p:cNvSpPr txBox="1"/>
          <p:nvPr/>
        </p:nvSpPr>
        <p:spPr>
          <a:xfrm>
            <a:off x="9180576" y="329184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pH, COD and oil content before disposal</a:t>
            </a:r>
            <a:endParaRPr lang="en-US" sz="1400" dirty="0"/>
          </a:p>
        </p:txBody>
      </p:sp>
      <p:sp>
        <p:nvSpPr>
          <p:cNvPr id="23" name="s955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EAF6EC"/>
          </a:solidFill>
          <a:ln/>
        </p:spPr>
      </p:sp>
      <p:sp>
        <p:nvSpPr>
          <p:cNvPr id="24" name="t956"/>
          <p:cNvSpPr txBox="1"/>
          <p:nvPr/>
        </p:nvSpPr>
        <p:spPr>
          <a:xfrm>
            <a:off x="777240" y="4892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is complete when the client’s entry criteria are met and confirmed by validation readings – then the equipment is handed over for opening.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0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800"/>
                            </p:stCondLst>
                            <p:childTnLst>
                              <p:par>
                                <p:cTn id="8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waste, less exposure</a:t>
            </a:r>
            <a:endParaRPr lang="en-US" sz="2800" dirty="0"/>
          </a:p>
        </p:txBody>
      </p:sp>
      <p:sp>
        <p:nvSpPr>
          <p:cNvPr id="3" name="s957"/>
          <p:cNvSpPr/>
          <p:nvPr/>
        </p:nvSpPr>
        <p:spPr>
          <a:xfrm>
            <a:off x="731520" y="1417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4" name="i95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1614830"/>
            <a:ext cx="427939" cy="427939"/>
          </a:xfrm>
          <a:prstGeom prst="rect">
            <a:avLst/>
          </a:prstGeom>
        </p:spPr>
      </p:pic>
      <p:sp>
        <p:nvSpPr>
          <p:cNvPr id="5" name="t959"/>
          <p:cNvSpPr txBox="1"/>
          <p:nvPr/>
        </p:nvSpPr>
        <p:spPr>
          <a:xfrm>
            <a:off x="1828800" y="1399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water than water washing</a:t>
            </a:r>
            <a:endParaRPr lang="en-US" sz="1800" dirty="0"/>
          </a:p>
        </p:txBody>
      </p:sp>
      <p:sp>
        <p:nvSpPr>
          <p:cNvPr id="6" name="t960"/>
          <p:cNvSpPr txBox="1"/>
          <p:nvPr/>
        </p:nvSpPr>
        <p:spPr>
          <a:xfrm>
            <a:off x="1828800" y="1828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Vapour-phase uses steam already available on the unit.</a:t>
            </a:r>
            <a:endParaRPr lang="en-US" sz="1500" dirty="0"/>
          </a:p>
        </p:txBody>
      </p:sp>
      <p:sp>
        <p:nvSpPr>
          <p:cNvPr id="7" name="s961"/>
          <p:cNvSpPr/>
          <p:nvPr/>
        </p:nvSpPr>
        <p:spPr>
          <a:xfrm>
            <a:off x="731520" y="2560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8" name="i96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30" y="2757830"/>
            <a:ext cx="427939" cy="427939"/>
          </a:xfrm>
          <a:prstGeom prst="rect">
            <a:avLst/>
          </a:prstGeom>
        </p:spPr>
      </p:pic>
      <p:sp>
        <p:nvSpPr>
          <p:cNvPr id="9" name="t963"/>
          <p:cNvSpPr txBox="1"/>
          <p:nvPr/>
        </p:nvSpPr>
        <p:spPr>
          <a:xfrm>
            <a:off x="1828800" y="2542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confined-space entry</a:t>
            </a:r>
            <a:endParaRPr lang="en-US" sz="1800" dirty="0"/>
          </a:p>
        </p:txBody>
      </p:sp>
      <p:sp>
        <p:nvSpPr>
          <p:cNvPr id="10" name="t964"/>
          <p:cNvSpPr txBox="1"/>
          <p:nvPr/>
        </p:nvSpPr>
        <p:spPr>
          <a:xfrm>
            <a:off x="1828800" y="2971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is gas-free and pyrophoric-safe before it is opened.</a:t>
            </a:r>
            <a:endParaRPr lang="en-US" sz="1500" dirty="0"/>
          </a:p>
        </p:txBody>
      </p:sp>
      <p:sp>
        <p:nvSpPr>
          <p:cNvPr id="11" name="s965"/>
          <p:cNvSpPr/>
          <p:nvPr/>
        </p:nvSpPr>
        <p:spPr>
          <a:xfrm>
            <a:off x="731520" y="3703320"/>
            <a:ext cx="822960" cy="82296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2" name="i96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3900830"/>
            <a:ext cx="427939" cy="427939"/>
          </a:xfrm>
          <a:prstGeom prst="rect">
            <a:avLst/>
          </a:prstGeom>
        </p:spPr>
      </p:pic>
      <p:sp>
        <p:nvSpPr>
          <p:cNvPr id="13" name="t967"/>
          <p:cNvSpPr txBox="1"/>
          <p:nvPr/>
        </p:nvSpPr>
        <p:spPr>
          <a:xfrm>
            <a:off x="1828800" y="3685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effluent</a:t>
            </a:r>
            <a:endParaRPr lang="en-US" sz="1800" dirty="0"/>
          </a:p>
        </p:txBody>
      </p:sp>
      <p:sp>
        <p:nvSpPr>
          <p:cNvPr id="14" name="t968"/>
          <p:cNvSpPr txBox="1"/>
          <p:nvPr/>
        </p:nvSpPr>
        <p:spPr>
          <a:xfrm>
            <a:off x="1828800" y="4114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in holding tanks, neutralised and tested before disposal.</a:t>
            </a:r>
            <a:endParaRPr lang="en-US" sz="1500" dirty="0"/>
          </a:p>
        </p:txBody>
      </p:sp>
      <p:sp>
        <p:nvSpPr>
          <p:cNvPr id="15" name="s969"/>
          <p:cNvSpPr/>
          <p:nvPr/>
        </p:nvSpPr>
        <p:spPr>
          <a:xfrm>
            <a:off x="731520" y="4846320"/>
            <a:ext cx="822960" cy="82296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6" name="i97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030" y="5043830"/>
            <a:ext cx="427939" cy="427939"/>
          </a:xfrm>
          <a:prstGeom prst="rect">
            <a:avLst/>
          </a:prstGeom>
        </p:spPr>
      </p:pic>
      <p:sp>
        <p:nvSpPr>
          <p:cNvPr id="17" name="t971"/>
          <p:cNvSpPr txBox="1"/>
          <p:nvPr/>
        </p:nvSpPr>
        <p:spPr>
          <a:xfrm>
            <a:off x="1828800" y="4828032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recovered, not wasted</a:t>
            </a:r>
            <a:endParaRPr lang="en-US" sz="1800" dirty="0"/>
          </a:p>
        </p:txBody>
      </p:sp>
      <p:sp>
        <p:nvSpPr>
          <p:cNvPr id="18" name="t972"/>
          <p:cNvSpPr txBox="1"/>
          <p:nvPr/>
        </p:nvSpPr>
        <p:spPr>
          <a:xfrm>
            <a:off x="1828800" y="52578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Flushing oil goes back to slop / rerun.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47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Delight</a:t>
            </a:r>
            <a:endParaRPr lang="en-US" sz="2800" dirty="0"/>
          </a:p>
        </p:txBody>
      </p:sp>
      <p:sp>
        <p:nvSpPr>
          <p:cNvPr id="3" name="s973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4" name="s974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5" name="i97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10512"/>
            <a:ext cx="356616" cy="356616"/>
          </a:xfrm>
          <a:prstGeom prst="rect">
            <a:avLst/>
          </a:prstGeom>
        </p:spPr>
      </p:pic>
      <p:sp>
        <p:nvSpPr>
          <p:cNvPr id="6" name="t976"/>
          <p:cNvSpPr txBox="1"/>
          <p:nvPr/>
        </p:nvSpPr>
        <p:spPr>
          <a:xfrm>
            <a:off x="160020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QHSE</a:t>
            </a:r>
            <a:endParaRPr lang="en-US" sz="1600" dirty="0"/>
          </a:p>
        </p:txBody>
      </p:sp>
      <p:sp>
        <p:nvSpPr>
          <p:cNvPr id="7" name="t977"/>
          <p:cNvSpPr txBox="1"/>
          <p:nvPr/>
        </p:nvSpPr>
        <p:spPr>
          <a:xfrm>
            <a:off x="77724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9001, ISO 14001 and ISO 45001 management system</a:t>
            </a:r>
            <a:endParaRPr lang="en-US" sz="1400" dirty="0"/>
          </a:p>
        </p:txBody>
      </p:sp>
      <p:sp>
        <p:nvSpPr>
          <p:cNvPr id="8" name="s978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9" name="s979"/>
          <p:cNvSpPr/>
          <p:nvPr/>
        </p:nvSpPr>
        <p:spPr>
          <a:xfrm>
            <a:off x="4526280" y="164592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10" name="i98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1810512"/>
            <a:ext cx="356616" cy="356616"/>
          </a:xfrm>
          <a:prstGeom prst="rect">
            <a:avLst/>
          </a:prstGeom>
        </p:spPr>
      </p:pic>
      <p:sp>
        <p:nvSpPr>
          <p:cNvPr id="11" name="t981"/>
          <p:cNvSpPr txBox="1"/>
          <p:nvPr/>
        </p:nvSpPr>
        <p:spPr>
          <a:xfrm>
            <a:off x="534924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</a:t>
            </a:r>
            <a:endParaRPr lang="en-US" sz="1600" dirty="0"/>
          </a:p>
        </p:txBody>
      </p:sp>
      <p:sp>
        <p:nvSpPr>
          <p:cNvPr id="12" name="t982"/>
          <p:cNvSpPr txBox="1"/>
          <p:nvPr/>
        </p:nvSpPr>
        <p:spPr>
          <a:xfrm>
            <a:off x="452628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UAE, Saudi Arabia, Oman, Qatar and India</a:t>
            </a:r>
            <a:endParaRPr lang="en-US" sz="1400" dirty="0"/>
          </a:p>
        </p:txBody>
      </p:sp>
      <p:sp>
        <p:nvSpPr>
          <p:cNvPr id="13" name="s983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4" name="s984"/>
          <p:cNvSpPr/>
          <p:nvPr/>
        </p:nvSpPr>
        <p:spPr>
          <a:xfrm>
            <a:off x="8275320" y="164592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15" name="i98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1810512"/>
            <a:ext cx="356616" cy="356616"/>
          </a:xfrm>
          <a:prstGeom prst="rect">
            <a:avLst/>
          </a:prstGeom>
        </p:spPr>
      </p:pic>
      <p:sp>
        <p:nvSpPr>
          <p:cNvPr id="16" name="t986"/>
          <p:cNvSpPr txBox="1"/>
          <p:nvPr/>
        </p:nvSpPr>
        <p:spPr>
          <a:xfrm>
            <a:off x="9098280" y="1664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services</a:t>
            </a:r>
            <a:endParaRPr lang="en-US" sz="1600" dirty="0"/>
          </a:p>
        </p:txBody>
      </p:sp>
      <p:sp>
        <p:nvSpPr>
          <p:cNvPr id="17" name="t987"/>
          <p:cNvSpPr txBox="1"/>
          <p:nvPr/>
        </p:nvSpPr>
        <p:spPr>
          <a:xfrm>
            <a:off x="8275320" y="24688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Decontamination, chemical cleaning, hydro jetting, bundle extraction</a:t>
            </a:r>
            <a:endParaRPr lang="en-US" sz="1400" dirty="0"/>
          </a:p>
        </p:txBody>
      </p:sp>
      <p:sp>
        <p:nvSpPr>
          <p:cNvPr id="18" name="s988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19" name="s989"/>
          <p:cNvSpPr/>
          <p:nvPr/>
        </p:nvSpPr>
        <p:spPr>
          <a:xfrm>
            <a:off x="77724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20" name="i99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187952"/>
            <a:ext cx="356616" cy="356616"/>
          </a:xfrm>
          <a:prstGeom prst="rect">
            <a:avLst/>
          </a:prstGeom>
        </p:spPr>
      </p:pic>
      <p:sp>
        <p:nvSpPr>
          <p:cNvPr id="21" name="t991"/>
          <p:cNvSpPr txBox="1"/>
          <p:nvPr/>
        </p:nvSpPr>
        <p:spPr>
          <a:xfrm>
            <a:off x="160020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fleet</a:t>
            </a:r>
            <a:endParaRPr lang="en-US" sz="1600" dirty="0"/>
          </a:p>
        </p:txBody>
      </p:sp>
      <p:sp>
        <p:nvSpPr>
          <p:cNvPr id="22" name="t992"/>
          <p:cNvSpPr txBox="1"/>
          <p:nvPr/>
        </p:nvSpPr>
        <p:spPr>
          <a:xfrm>
            <a:off x="77724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/ UHP units and 22 T – 65 T bundle extractors</a:t>
            </a:r>
            <a:endParaRPr lang="en-US" sz="1400" dirty="0"/>
          </a:p>
        </p:txBody>
      </p:sp>
      <p:sp>
        <p:nvSpPr>
          <p:cNvPr id="23" name="s993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4" name="s994"/>
          <p:cNvSpPr/>
          <p:nvPr/>
        </p:nvSpPr>
        <p:spPr>
          <a:xfrm>
            <a:off x="4526280" y="4023360"/>
            <a:ext cx="685800" cy="685800"/>
          </a:xfrm>
          <a:prstGeom prst="ellipse">
            <a:avLst/>
          </a:prstGeom>
          <a:solidFill>
            <a:srgbClr val="0C74BC"/>
          </a:solidFill>
          <a:ln/>
        </p:spPr>
      </p:sp>
      <p:pic>
        <p:nvPicPr>
          <p:cNvPr id="25" name="i99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872" y="4187952"/>
            <a:ext cx="356616" cy="356616"/>
          </a:xfrm>
          <a:prstGeom prst="rect">
            <a:avLst/>
          </a:prstGeom>
        </p:spPr>
      </p:pic>
      <p:sp>
        <p:nvSpPr>
          <p:cNvPr id="26" name="t996"/>
          <p:cNvSpPr txBox="1"/>
          <p:nvPr/>
        </p:nvSpPr>
        <p:spPr>
          <a:xfrm>
            <a:off x="534924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crews</a:t>
            </a:r>
            <a:endParaRPr lang="en-US" sz="1600" dirty="0"/>
          </a:p>
        </p:txBody>
      </p:sp>
      <p:sp>
        <p:nvSpPr>
          <p:cNvPr id="27" name="t997"/>
          <p:cNvSpPr txBox="1"/>
          <p:nvPr/>
        </p:nvSpPr>
        <p:spPr>
          <a:xfrm>
            <a:off x="452628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supervisors and technicians for shutdown work</a:t>
            </a:r>
            <a:endParaRPr lang="en-US" sz="1400" dirty="0"/>
          </a:p>
        </p:txBody>
      </p:sp>
      <p:sp>
        <p:nvSpPr>
          <p:cNvPr id="28" name="s998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3F7FA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22000"/>
              </a:srgbClr>
            </a:outerShdw>
          </a:effectLst>
        </p:spPr>
      </p:sp>
      <p:sp>
        <p:nvSpPr>
          <p:cNvPr id="29" name="s999"/>
          <p:cNvSpPr/>
          <p:nvPr/>
        </p:nvSpPr>
        <p:spPr>
          <a:xfrm>
            <a:off x="8275320" y="4023360"/>
            <a:ext cx="685800" cy="685800"/>
          </a:xfrm>
          <a:prstGeom prst="ellipse">
            <a:avLst/>
          </a:prstGeom>
          <a:solidFill>
            <a:srgbClr val="3AB54A"/>
          </a:solidFill>
          <a:ln/>
        </p:spPr>
      </p:sp>
      <p:pic>
        <p:nvPicPr>
          <p:cNvPr id="30" name="i100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9912" y="4187952"/>
            <a:ext cx="356616" cy="356616"/>
          </a:xfrm>
          <a:prstGeom prst="rect">
            <a:avLst/>
          </a:prstGeom>
        </p:spPr>
      </p:pic>
      <p:sp>
        <p:nvSpPr>
          <p:cNvPr id="31" name="t1001"/>
          <p:cNvSpPr txBox="1"/>
          <p:nvPr/>
        </p:nvSpPr>
        <p:spPr>
          <a:xfrm>
            <a:off x="9098280" y="4041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point of responsibility</a:t>
            </a:r>
            <a:endParaRPr lang="en-US" sz="1600" dirty="0"/>
          </a:p>
        </p:txBody>
      </p:sp>
      <p:sp>
        <p:nvSpPr>
          <p:cNvPr id="32" name="t1002"/>
          <p:cNvSpPr txBox="1"/>
          <p:nvPr/>
        </p:nvSpPr>
        <p:spPr>
          <a:xfrm>
            <a:off x="827532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survey and planning to waste handling and handover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003"/>
          <p:cNvSpPr/>
          <p:nvPr/>
        </p:nvSpPr>
        <p:spPr>
          <a:xfrm>
            <a:off x="8229600" y="-1280160"/>
            <a:ext cx="5303520" cy="5303520"/>
          </a:xfrm>
          <a:prstGeom prst="ellipse">
            <a:avLst/>
          </a:prstGeom>
          <a:solidFill>
            <a:srgbClr val="D3E6F4"/>
          </a:solidFill>
          <a:ln/>
        </p:spPr>
      </p:sp>
      <p:sp>
        <p:nvSpPr>
          <p:cNvPr id="3" name="s1004"/>
          <p:cNvSpPr/>
          <p:nvPr/>
        </p:nvSpPr>
        <p:spPr>
          <a:xfrm>
            <a:off x="9692640" y="3931920"/>
            <a:ext cx="3474720" cy="3474720"/>
          </a:xfrm>
          <a:prstGeom prst="ellipse">
            <a:avLst/>
          </a:prstGeom>
          <a:solidFill>
            <a:srgbClr val="D9EFDC"/>
          </a:solidFill>
          <a:ln/>
        </p:spPr>
      </p:sp>
      <p:pic>
        <p:nvPicPr>
          <p:cNvPr id="4" name="i100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48640"/>
            <a:ext cx="914400" cy="1197864"/>
          </a:xfrm>
          <a:prstGeom prst="rect">
            <a:avLst/>
          </a:prstGeom>
        </p:spPr>
      </p:pic>
      <p:sp>
        <p:nvSpPr>
          <p:cNvPr id="5" name="t1006"/>
          <p:cNvSpPr txBox="1"/>
          <p:nvPr/>
        </p:nvSpPr>
        <p:spPr>
          <a:xfrm>
            <a:off x="685800" y="21488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6" name="t1007"/>
          <p:cNvSpPr txBox="1"/>
          <p:nvPr/>
        </p:nvSpPr>
        <p:spPr>
          <a:xfrm>
            <a:off x="685800" y="31089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plan the decontamination for your next shutdown.</a:t>
            </a:r>
            <a:endParaRPr lang="en-US" sz="2000" dirty="0"/>
          </a:p>
        </p:txBody>
      </p:sp>
      <p:sp>
        <p:nvSpPr>
          <p:cNvPr id="7" name="t1008"/>
          <p:cNvSpPr txBox="1"/>
          <p:nvPr/>
        </p:nvSpPr>
        <p:spPr>
          <a:xfrm>
            <a:off x="685800" y="4297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Delight Equipment International L.L.C.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P.O. Box 2932, Abu Dhabi, United Arab Emirates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 +971 2 5515641  ·  info@delightintl.ae  ·  www.delightintl.ae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 (Jubail) +966 59348 1459  ·  India (Udupi) +91 9686433661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Decontamination across the oil &amp; gas value chain</dc:title>
  <dc:subject>PptxGenJS Presentation</dc:subject>
  <dc:creator>Delight International</dc:creator>
  <cp:lastModifiedBy>Delight International</cp:lastModifiedBy>
  <cp:revision>1</cp:revision>
  <dcterms:created xsi:type="dcterms:W3CDTF">2026-10-06T06:54:06Z</dcterms:created>
  <dcterms:modified xsi:type="dcterms:W3CDTF">2026-10-06T06:54:06Z</dcterms:modified>
</cp:coreProperties>
</file>