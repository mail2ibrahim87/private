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Pre-treatment and post-treatment use the same circulation/spray route. Pre-treatment coats the packing geometry so the vapour-phase works deeper; post-treatment is the oxidation wash for pyrophoric FeS before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Tanks are atmospheric: no flare. Vapours are vented through a carbon filter. Bulk sludge is vacuumed to a waste tank for licensed disposal (no oil recovery), then gamma-jetting and circulation run for 8–12 hours; spent wash goes to the effluent tank.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2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4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6" name="t5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7" name="t6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7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10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11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2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3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5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6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7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8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20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21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2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23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5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6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7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</p:sp>
      <p:sp>
        <p:nvSpPr>
          <p:cNvPr id="24" name="t28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 &amp; post-treatment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0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9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</p:sp>
      <p:sp>
        <p:nvSpPr>
          <p:cNvPr id="72" name="t30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10" grpId="0" animBg="1"/>
      <p:bldP spid="24" grpId="0" animBg="1"/>
      <p:bldP spid="26" grpId="0" animBg="1"/>
      <p:bldP spid="40" grpId="0" animBg="1"/>
      <p:bldP spid="42" grpId="0" animBg="1"/>
      <p:bldP spid="56" grpId="0" animBg="1"/>
      <p:bldP spid="58" grpId="0" animBg="1"/>
      <p:bldP spid="7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7" grpId="0" animBg="1"/>
      <p:bldP spid="28" grpId="0" animBg="1"/>
      <p:bldP spid="31" grpId="0" animBg="1"/>
      <p:bldP spid="32" grpId="0" animBg="1"/>
      <p:bldP spid="35" grpId="0" animBg="1"/>
      <p:bldP spid="36" grpId="0" animBg="1"/>
      <p:bldP spid="39" grpId="0" animBg="1"/>
      <p:bldP spid="43" grpId="0" animBg="1"/>
      <p:bldP spid="44" grpId="0" animBg="1"/>
      <p:bldP spid="47" grpId="0" animBg="1"/>
      <p:bldP spid="48" grpId="0" animBg="1"/>
      <p:bldP spid="51" grpId="0" animBg="1"/>
      <p:bldP spid="52" grpId="0" animBg="1"/>
      <p:bldP spid="55" grpId="0" animBg="1"/>
      <p:bldP spid="59" grpId="0" animBg="1"/>
      <p:bldP spid="60" grpId="0" animBg="1"/>
      <p:bldP spid="63" grpId="0" animBg="1"/>
      <p:bldP spid="64" grpId="0" animBg="1"/>
      <p:bldP spid="67" grpId="0" animBg="1"/>
      <p:bldP spid="68" grpId="0" animBg="1"/>
      <p:bldP spid="13" grpId="0" animBg="1"/>
      <p:bldP spid="17" grpId="0" animBg="1"/>
      <p:bldP spid="21" grpId="0" animBg="1"/>
      <p:bldP spid="29" grpId="0" animBg="1"/>
      <p:bldP spid="33" grpId="0" animBg="1"/>
      <p:bldP spid="37" grpId="0" animBg="1"/>
      <p:bldP spid="45" grpId="0" animBg="1"/>
      <p:bldP spid="49" grpId="0" animBg="1"/>
      <p:bldP spid="53" grpId="0" animBg="1"/>
      <p:bldP spid="61" grpId="0" animBg="1"/>
      <p:bldP spid="65" grpId="0" animBg="1"/>
      <p:bldP spid="69" grpId="0" animBg="1"/>
      <p:bldP spid="71" grpId="0" animBg="1"/>
      <p:bldP spid="72" grpId="0" animBg="1"/>
      <p:bldP spid="13" grpId="2" animBg="1"/>
      <p:bldP spid="17" grpId="2" animBg="1"/>
      <p:bldP spid="21" grpId="2" animBg="1"/>
      <p:bldP spid="29" grpId="2" animBg="1"/>
      <p:bldP spid="33" grpId="2" animBg="1"/>
      <p:bldP spid="37" grpId="2" animBg="1"/>
      <p:bldP spid="45" grpId="2" animBg="1"/>
      <p:bldP spid="49" grpId="2" animBg="1"/>
      <p:bldP spid="53" grpId="2" animBg="1"/>
      <p:bldP spid="61" grpId="2" animBg="1"/>
      <p:bldP spid="65" grpId="2" animBg="1"/>
      <p:bldP spid="69" grpId="2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13" name="!!bri1" descr="preencoded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1_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1_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!!mki1_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0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31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2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33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4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35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6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37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8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71" name="t39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0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40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41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42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3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80" name="t44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5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2" name="t46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7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4" name="t48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0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9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50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91" name="t51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2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3" name="t53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4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95" name="t55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1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6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7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65" name="t58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9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7" name="t60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61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62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1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3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4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6" name="t65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6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78" name="t67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8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0" name="t69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70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82" name="t71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6" name="!!mki1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2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3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9" name="t74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5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91" name="t76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7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3" name="t78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2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8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8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2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7" name="t83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4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85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6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1" name="t87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2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9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91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0" name="t92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3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82" name="t94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5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4" name="t96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2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8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1" name="t99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100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93" name="t101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2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5" name="t103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5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5" name="t106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7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108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9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110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1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2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76" name="t113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4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78" name="t115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6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0" name="t117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4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8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9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7" name="t120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21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89" name="t122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3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1" name="t124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5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6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" name="t127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8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" name="t129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30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9" name="t131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2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1" name="t133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4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3" name="t135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6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5" name="t137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8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tag139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40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41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7" name="tag142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3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4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tag145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6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7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3" name="tag148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9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50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tag151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2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3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tag154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5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6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57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5" name="t158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9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60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61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62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10" name="t163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4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5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6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67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15" name="t168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9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70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71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72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20" name="t173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4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5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76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1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178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5" name="t179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6" name="t180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81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82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3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4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5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Pre/post-treat</a:t>
            </a:r>
            <a:endParaRPr lang="en-US" sz="1300" dirty="0"/>
          </a:p>
        </p:txBody>
      </p:sp>
      <p:sp>
        <p:nvSpPr>
          <p:cNvPr id="8" name="t186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7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0" name="t188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9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2" name="s190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3" name="s191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4" name="s192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15" name="t193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4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7" name="s195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8" name="s196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9" name="t197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8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1" name="s199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2" name="s200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3" name="s201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24" name="t202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3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6" name="s204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7" name="s205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8" name="s206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29" name="t207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8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1" name="s209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2" name="s210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33" name="t211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12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5" name="s213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6" name="t214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216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217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218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219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220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221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222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223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224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225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4" name="s226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227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228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229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t230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31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0" name="s232"/>
          <p:cNvSpPr/>
          <p:nvPr/>
        </p:nvSpPr>
        <p:spPr>
          <a:xfrm>
            <a:off x="5349240" y="1417320"/>
            <a:ext cx="46634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233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s234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23" name="s235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24" name="t236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7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6" name="s238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239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240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t241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42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1" name="s243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s244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3" name="t245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6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7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36" name="t248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9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8" name="s250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9" name="t251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40" name="t252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3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2" name="t25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5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6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5" name="t25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8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9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8" name="t26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9" name="s261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0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70"/>
          <p:cNvSpPr/>
          <p:nvPr/>
        </p:nvSpPr>
        <p:spPr>
          <a:xfrm>
            <a:off x="4892040" y="20574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71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72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3"/>
          <p:cNvSpPr/>
          <p:nvPr/>
        </p:nvSpPr>
        <p:spPr>
          <a:xfrm>
            <a:off x="4828032" y="365760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2" name="tag274"/>
          <p:cNvSpPr/>
          <p:nvPr/>
        </p:nvSpPr>
        <p:spPr>
          <a:xfrm>
            <a:off x="4892040" y="37216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5"/>
          <p:cNvSpPr/>
          <p:nvPr/>
        </p:nvSpPr>
        <p:spPr>
          <a:xfrm>
            <a:off x="4800600" y="20574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6"/>
          <p:cNvSpPr/>
          <p:nvPr/>
        </p:nvSpPr>
        <p:spPr>
          <a:xfrm>
            <a:off x="4800600" y="372160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6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7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8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9" name="s28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0" name="s28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1" name="s28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2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287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288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289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290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291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292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293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294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295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296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297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298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299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01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02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03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04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3" name="s305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4" name="t306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26" dur="2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2" dur="2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32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8" dur="2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35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44" dur="2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38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0" dur="2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42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6" dur="2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62" dur="2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78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84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0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6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2" dur="24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8" dur="24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2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950"/>
                            </p:stCondLst>
                            <p:childTnLst>
                              <p:par>
                                <p:cTn id="131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37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3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9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55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4800"/>
                            </p:stCondLst>
                            <p:childTnLst>
                              <p:par>
                                <p:cTn id="15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79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4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9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000"/>
                            </p:stCondLst>
                            <p:childTnLst>
                              <p:par>
                                <p:cTn id="194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0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6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2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8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9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4050 -0.1973 E" pathEditMode="relative" ptsTypes="AAA">
                                      <p:cBhvr>
                                        <p:cTn id="229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4050 -0.2773 E" pathEditMode="relative" ptsTypes="AAA">
                                      <p:cBhvr>
                                        <p:cTn id="234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39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0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41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45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51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67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3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9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85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3000"/>
                            </p:stCondLst>
                            <p:childTnLst>
                              <p:par>
                                <p:cTn id="28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2" fill="hold">
                            <p:stCondLst>
                              <p:cond delay="4200"/>
                            </p:stCondLst>
                            <p:childTnLst>
                              <p:par>
                                <p:cTn id="29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296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2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5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1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2" fill="hold">
                            <p:stCondLst>
                              <p:cond delay="2500"/>
                            </p:stCondLst>
                            <p:childTnLst>
                              <p:par>
                                <p:cTn id="34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4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4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6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  <p:bldP spid="61" grpId="2" animBg="1"/>
      <p:bldP spid="50" grpId="1" animBg="1"/>
      <p:bldP spid="51" grpId="0" animBg="1"/>
      <p:bldP spid="35" grpId="0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1" grpId="1" animBg="1"/>
      <p:bldP spid="52" grpId="0" animBg="1"/>
      <p:bldP spid="37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" grpId="1" animBg="1"/>
      <p:bldP spid="52" grpId="1" animBg="1"/>
      <p:bldP spid="53" grpId="0" animBg="1"/>
      <p:bldP spid="58" grpId="2" animBg="1"/>
      <p:bldP spid="58" grpId="1" animBg="1"/>
      <p:bldP spid="63" grpId="0" animBg="1"/>
      <p:bldP spid="63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31" grpId="0" animBg="1"/>
      <p:bldP spid="53" grpId="1" animBg="1"/>
      <p:bldP spid="54" grpId="0" animBg="1"/>
      <p:bldP spid="61" grpId="1" animBg="1"/>
      <p:bldP spid="62" grpId="1" animBg="1"/>
      <p:bldP spid="64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64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4" grpId="1" animBg="1"/>
      <p:bldP spid="55" grpId="0" animBg="1"/>
      <p:bldP spid="59" grpId="3" animBg="1"/>
      <p:bldP spid="59" grpId="1" animBg="1"/>
      <p:bldP spid="60" grpId="3" animBg="1"/>
      <p:bldP spid="60" grpId="1" animBg="1"/>
      <p:bldP spid="22" grpId="2" animBg="1"/>
      <p:bldP spid="23" grpId="2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55" grpId="1" animBg="1"/>
      <p:bldP spid="56" grpId="0" animBg="1"/>
      <p:bldP spid="6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5" grpId="1" animBg="1"/>
      <p:bldP spid="92" grpId="0" animBg="1"/>
      <p:bldP spid="92" grpId="3" animBg="1"/>
      <p:bldP spid="92" grpId="1" animBg="1"/>
      <p:bldP spid="32" grpId="0" animBg="1"/>
      <p:bldP spid="56" grpId="1" animBg="1"/>
      <p:bldP spid="5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93" grpId="0" animBg="1"/>
      <p:bldP spid="94" grpId="0" animBg="1"/>
      <p:bldP spid="93" grpId="2" animBg="1"/>
      <p:bldP spid="94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308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309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310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311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312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313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314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315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2" name="s316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</p:sp>
      <p:sp>
        <p:nvSpPr>
          <p:cNvPr id="13" name="t317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8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5" name="s319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320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" name="s321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18" name="s322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19" name="t323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4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5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</p:sp>
      <p:sp>
        <p:nvSpPr>
          <p:cNvPr id="22" name="s326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3" name="s327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4" name="s328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5" name="t329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30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7" name="s331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332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333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0" name="s334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1" name="s335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t336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7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4" name="s338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5" name="s339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6" name="t340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41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8" name="t34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39" name="t343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1" name="t345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6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4" name="t348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9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5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7" name="t351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52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9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7" name="tag361"/>
          <p:cNvSpPr/>
          <p:nvPr/>
        </p:nvSpPr>
        <p:spPr>
          <a:xfrm>
            <a:off x="484632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8" name="tag362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3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4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1" name="tag365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6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7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369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370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371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372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69" name="s373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0" name="s374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1" name="s375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2" name="s376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3" name="s377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4" name="s378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5" name="s379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6" name="s380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7" name="s381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8" name="s382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9" name="s383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0" name="s384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1" name="s385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2" name="s386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3" name="s387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4" name="s388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5" name="s389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6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93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94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95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96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3" name="s397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4" name="s398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5" name="s399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6" name="s400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7" name="s401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8" name="s402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9" name="s403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0" name="s404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1" name="s405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2" name="s406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3" name="s407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4" name="s408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5" name="s409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6" name="s410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7" name="s411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8" name="s412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9" name="s413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10" name="s414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415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416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417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418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419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420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421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425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426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427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428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5" name="s429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6" name="t430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195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01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2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07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13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19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25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1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7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3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4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9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5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1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7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3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9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5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1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2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7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3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4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9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5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1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7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3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45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49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53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4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57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61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65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9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3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0.1200 E" pathEditMode="relative" ptsTypes="AA">
                                      <p:cBhvr>
                                        <p:cTn id="382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900"/>
                            </p:stCondLst>
                            <p:childTnLst>
                              <p:par>
                                <p:cTn id="38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394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5" fill="hold">
                            <p:stCondLst>
                              <p:cond delay="1700"/>
                            </p:stCondLst>
                            <p:childTnLst>
                              <p:par>
                                <p:cTn id="39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3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8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13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7" fill="hold">
                      <p:stCondLst>
                        <p:cond delay="indefinite"/>
                      </p:stCondLst>
                      <p:childTnLst>
                        <p:par>
                          <p:cTn id="418" fill="hold">
                            <p:stCondLst>
                              <p:cond delay="0"/>
                            </p:stCondLst>
                            <p:childTnLst>
                              <p:par>
                                <p:cTn id="4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25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30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1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7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46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57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3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9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5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1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7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8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9" fill="hold">
                            <p:stCondLst>
                              <p:cond delay="3800"/>
                            </p:stCondLst>
                            <p:childTnLst>
                              <p:par>
                                <p:cTn id="5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3" fill="hold">
                            <p:stCondLst>
                              <p:cond delay="4800"/>
                            </p:stCondLst>
                            <p:childTnLst>
                              <p:par>
                                <p:cTn id="5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07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1" fill="hold">
                      <p:stCondLst>
                        <p:cond delay="indefinite"/>
                      </p:stCondLst>
                      <p:childTnLst>
                        <p:par>
                          <p:cTn id="512" fill="hold">
                            <p:stCondLst>
                              <p:cond delay="0"/>
                            </p:stCondLst>
                            <p:childTnLst>
                              <p:par>
                                <p:cTn id="5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2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9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6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8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9" fill="hold">
                            <p:stCondLst>
                              <p:cond delay="2000"/>
                            </p:stCondLst>
                            <p:childTnLst>
                              <p:par>
                                <p:cTn id="5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2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5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2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5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4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60" grpId="2" animBg="1"/>
      <p:bldP spid="49" grpId="1" animBg="1"/>
      <p:bldP spid="50" grpId="0" animBg="1"/>
      <p:bldP spid="12" grpId="0" animBg="1"/>
      <p:bldP spid="50" grpId="1" animBg="1"/>
      <p:bldP spid="51" grpId="0" animBg="1"/>
      <p:bldP spid="21" grpId="0" animBg="1"/>
      <p:bldP spid="22" grpId="0" animBg="1"/>
      <p:bldP spid="23" grpId="0" animBg="1"/>
      <p:bldP spid="24" grpId="0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34" grpId="0" animBg="1"/>
      <p:bldP spid="36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26" grpId="0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" grpId="1" animBg="1"/>
      <p:bldP spid="7" grpId="1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52" grpId="1" animBg="1"/>
      <p:bldP spid="53" grpId="0" animBg="1"/>
      <p:bldP spid="57" grpId="3" animBg="1"/>
      <p:bldP spid="57" grpId="1" animBg="1"/>
      <p:bldP spid="62" grpId="0" animBg="1"/>
      <p:bldP spid="60" grpId="1" animBg="1"/>
      <p:bldP spid="61" grpId="3" animBg="1"/>
      <p:bldP spid="61" grpId="1" animBg="1"/>
      <p:bldP spid="63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3" grpId="1" animBg="1"/>
      <p:bldP spid="54" grpId="0" animBg="1"/>
      <p:bldP spid="58" grpId="3" animBg="1"/>
      <p:bldP spid="58" grpId="1" animBg="1"/>
      <p:bldP spid="59" grpId="3" animBg="1"/>
      <p:bldP spid="59" grpId="1" animBg="1"/>
      <p:bldP spid="17" grpId="2" animBg="1"/>
      <p:bldP spid="18" grpId="2" animBg="1"/>
      <p:bldP spid="54" grpId="1" animBg="1"/>
      <p:bldP spid="55" grpId="0" animBg="1"/>
      <p:bldP spid="12" grpId="1" animBg="1"/>
      <p:bldP spid="62" grpId="1" animBg="1"/>
      <p:bldP spid="63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30" grpId="0" animBg="1"/>
      <p:bldP spid="31" grpId="0" animBg="1"/>
      <p:bldP spid="6" grpId="1" animBg="1"/>
      <p:bldP spid="5" grpId="1" animBg="1"/>
      <p:bldP spid="124" grpId="0" animBg="1"/>
      <p:bldP spid="124" grpId="3" animBg="1"/>
      <p:bldP spid="124" grpId="1" animBg="1"/>
      <p:bldP spid="55" grpId="1" animBg="1"/>
      <p:bldP spid="5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125" grpId="0" animBg="1"/>
      <p:bldP spid="126" grpId="0" animBg="1"/>
      <p:bldP spid="125" grpId="2" animBg="1"/>
      <p:bldP spid="126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432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433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434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435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436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437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438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439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13" name="s441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4" name="s442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5" name="s443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6" name="s444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7" name="s445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8" name="s446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9" name="t447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8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1" name="t449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50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3" name="s451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4" name="s452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5" name="s453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6" name="s454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455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8" name="s456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9" name="s457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0" name="s458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31" name="t459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60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3" name="s461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4" name="s462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5" name="t463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4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7" name="s465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8" name="s466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9" name="s467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468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1" name="s469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2" name="t470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71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44" name="t47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3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s474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7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</p:sp>
      <p:sp>
        <p:nvSpPr>
          <p:cNvPr id="48" name="s476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</p:sp>
      <p:sp>
        <p:nvSpPr>
          <p:cNvPr id="49" name="s477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</p:sp>
      <p:sp>
        <p:nvSpPr>
          <p:cNvPr id="50" name="s478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</p:sp>
      <p:sp>
        <p:nvSpPr>
          <p:cNvPr id="51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80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81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82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55" name="s48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6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9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49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49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49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01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02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03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51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51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51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521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522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523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524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7" name="s525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8" name="t526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6" grpId="1" animBg="1"/>
      <p:bldP spid="57" grpId="0" animBg="1"/>
      <p:bldP spid="32" grpId="0" animBg="1"/>
      <p:bldP spid="33" grpId="0" animBg="1"/>
      <p:bldP spid="34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57" grpId="1" animBg="1"/>
      <p:bldP spid="58" grpId="0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8" grpId="1" animBg="1"/>
      <p:bldP spid="59" grpId="0" animBg="1"/>
      <p:bldP spid="36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50" grpId="0" animBg="1"/>
      <p:bldP spid="51" grpId="1" animBg="1"/>
      <p:bldP spid="52" grpId="0" animBg="1"/>
      <p:bldP spid="7" grpId="1" animBg="1"/>
      <p:bldP spid="15" grpId="1" animBg="1"/>
      <p:bldP spid="59" grpId="1" animBg="1"/>
      <p:bldP spid="60" grpId="0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50" grpId="1" animBg="1"/>
      <p:bldP spid="49" grpId="0" animBg="1"/>
      <p:bldP spid="52" grpId="1" animBg="1"/>
      <p:bldP spid="53" grpId="0" animBg="1"/>
      <p:bldP spid="6" grpId="1" animBg="1"/>
      <p:bldP spid="14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49" grpId="1" animBg="1"/>
      <p:bldP spid="48" grpId="0" animBg="1"/>
      <p:bldP spid="60" grpId="1" animBg="1"/>
      <p:bldP spid="61" grpId="0" animBg="1"/>
      <p:bldP spid="37" grpId="0" animBg="1"/>
      <p:bldP spid="38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40" grpId="0" animBg="1"/>
      <p:bldP spid="41" grpId="0" animBg="1"/>
      <p:bldP spid="61" grpId="1" animBg="1"/>
      <p:bldP spid="62" grpId="0" animBg="1"/>
      <p:bldP spid="5" grpId="1" animBg="1"/>
      <p:bldP spid="13" grpId="1" animBg="1"/>
      <p:bldP spid="48" grpId="1" animBg="1"/>
      <p:bldP spid="53" grpId="1" animBg="1"/>
      <p:bldP spid="54" grpId="0" animBg="1"/>
      <p:bldP spid="96" grpId="0" animBg="1"/>
      <p:bldP spid="96" grpId="3" animBg="1"/>
      <p:bldP spid="96" grpId="1" animBg="1"/>
      <p:bldP spid="97" grpId="0" animBg="1"/>
      <p:bldP spid="98" grpId="0" animBg="1"/>
      <p:bldP spid="97" grpId="2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7"/>
          <p:cNvSpPr/>
          <p:nvPr/>
        </p:nvSpPr>
        <p:spPr>
          <a:xfrm>
            <a:off x="480060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s528"/>
          <p:cNvSpPr/>
          <p:nvPr/>
        </p:nvSpPr>
        <p:spPr>
          <a:xfrm>
            <a:off x="690372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" name="s529"/>
          <p:cNvSpPr/>
          <p:nvPr/>
        </p:nvSpPr>
        <p:spPr>
          <a:xfrm>
            <a:off x="4480560" y="4462272"/>
            <a:ext cx="329184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" name="s530"/>
          <p:cNvSpPr/>
          <p:nvPr/>
        </p:nvSpPr>
        <p:spPr>
          <a:xfrm>
            <a:off x="477316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s531"/>
          <p:cNvSpPr/>
          <p:nvPr/>
        </p:nvSpPr>
        <p:spPr>
          <a:xfrm>
            <a:off x="724204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532"/>
          <p:cNvSpPr/>
          <p:nvPr/>
        </p:nvSpPr>
        <p:spPr>
          <a:xfrm>
            <a:off x="445312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533"/>
          <p:cNvSpPr/>
          <p:nvPr/>
        </p:nvSpPr>
        <p:spPr>
          <a:xfrm>
            <a:off x="760780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s534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11" name="s535"/>
          <p:cNvSpPr/>
          <p:nvPr/>
        </p:nvSpPr>
        <p:spPr>
          <a:xfrm>
            <a:off x="4667098" y="2585923"/>
            <a:ext cx="691286" cy="1320394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12" name="s536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13" name="s537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14" name="s538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15" name="s539"/>
          <p:cNvSpPr/>
          <p:nvPr/>
        </p:nvSpPr>
        <p:spPr>
          <a:xfrm>
            <a:off x="6318504" y="2690165"/>
            <a:ext cx="91440" cy="41696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6" name="s540"/>
          <p:cNvSpPr/>
          <p:nvPr/>
        </p:nvSpPr>
        <p:spPr>
          <a:xfrm>
            <a:off x="6971386" y="3211373"/>
            <a:ext cx="91440" cy="3474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7" name="s541"/>
          <p:cNvSpPr/>
          <p:nvPr/>
        </p:nvSpPr>
        <p:spPr>
          <a:xfrm>
            <a:off x="5819242" y="3524098"/>
            <a:ext cx="91440" cy="27797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8" name="t542"/>
          <p:cNvSpPr txBox="1"/>
          <p:nvPr/>
        </p:nvSpPr>
        <p:spPr>
          <a:xfrm>
            <a:off x="4023360" y="45537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vessel – temperature-limited</a:t>
            </a:r>
            <a:endParaRPr lang="en-US" sz="1100" dirty="0"/>
          </a:p>
        </p:txBody>
      </p:sp>
      <p:sp>
        <p:nvSpPr>
          <p:cNvPr id="19" name="t543"/>
          <p:cNvSpPr txBox="1"/>
          <p:nvPr/>
        </p:nvSpPr>
        <p:spPr>
          <a:xfrm>
            <a:off x="4023360" y="4828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20" name="s544"/>
          <p:cNvSpPr/>
          <p:nvPr/>
        </p:nvSpPr>
        <p:spPr>
          <a:xfrm flipV="1">
            <a:off x="7315200" y="14630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t545"/>
          <p:cNvSpPr txBox="1"/>
          <p:nvPr/>
        </p:nvSpPr>
        <p:spPr>
          <a:xfrm>
            <a:off x="539496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22" name="s546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</p:sp>
      <p:sp>
        <p:nvSpPr>
          <p:cNvPr id="23" name="t547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24" name="s548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5" name="t549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26" name="s550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7" name="s551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8" name="s552"/>
          <p:cNvSpPr/>
          <p:nvPr/>
        </p:nvSpPr>
        <p:spPr>
          <a:xfrm>
            <a:off x="315468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9" name="s553"/>
          <p:cNvSpPr/>
          <p:nvPr/>
        </p:nvSpPr>
        <p:spPr>
          <a:xfrm flipV="1">
            <a:off x="4526280" y="4114800"/>
            <a:ext cx="0" cy="10698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0" name="s554"/>
          <p:cNvSpPr/>
          <p:nvPr/>
        </p:nvSpPr>
        <p:spPr>
          <a:xfrm flipV="1">
            <a:off x="4846320" y="2011680"/>
            <a:ext cx="0" cy="1828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1" name="s555"/>
          <p:cNvSpPr/>
          <p:nvPr/>
        </p:nvSpPr>
        <p:spPr>
          <a:xfrm flipH="1">
            <a:off x="1371600" y="2011680"/>
            <a:ext cx="34747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2" name="s556"/>
          <p:cNvSpPr/>
          <p:nvPr/>
        </p:nvSpPr>
        <p:spPr>
          <a:xfrm>
            <a:off x="1371600" y="2011680"/>
            <a:ext cx="0" cy="128016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3" name="s557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4" name="t558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35" name="t559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36" name="t560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37" name="t561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8" name="t562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9" name="t563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40" name="t564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41" name="t565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42" name="t566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43" name="t567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44" name="t568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45" name="t569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46" name="t570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7" name="s571"/>
          <p:cNvSpPr/>
          <p:nvPr/>
        </p:nvSpPr>
        <p:spPr>
          <a:xfrm>
            <a:off x="768096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8" name="s572"/>
          <p:cNvSpPr/>
          <p:nvPr/>
        </p:nvSpPr>
        <p:spPr>
          <a:xfrm>
            <a:off x="7680960" y="434340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9" name="s573"/>
          <p:cNvSpPr/>
          <p:nvPr/>
        </p:nvSpPr>
        <p:spPr>
          <a:xfrm>
            <a:off x="10012680" y="39319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50" name="s574"/>
          <p:cNvSpPr/>
          <p:nvPr/>
        </p:nvSpPr>
        <p:spPr>
          <a:xfrm>
            <a:off x="10058400" y="46634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1" name="s575"/>
          <p:cNvSpPr/>
          <p:nvPr/>
        </p:nvSpPr>
        <p:spPr>
          <a:xfrm>
            <a:off x="10058400" y="42976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2" name="t576"/>
          <p:cNvSpPr txBox="1"/>
          <p:nvPr/>
        </p:nvSpPr>
        <p:spPr>
          <a:xfrm>
            <a:off x="9646920" y="5010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3" name="s577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4" name="t57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55" name="t57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56" name="t58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57" name="t5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8" name="t58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9" name="t58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60" name="t5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61" name="tag585"/>
          <p:cNvSpPr/>
          <p:nvPr/>
        </p:nvSpPr>
        <p:spPr>
          <a:xfrm>
            <a:off x="51206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2" name="tag586"/>
          <p:cNvSpPr/>
          <p:nvPr/>
        </p:nvSpPr>
        <p:spPr>
          <a:xfrm>
            <a:off x="630936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3" name="s587"/>
          <p:cNvSpPr/>
          <p:nvPr/>
        </p:nvSpPr>
        <p:spPr>
          <a:xfrm>
            <a:off x="5605272" y="3456432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4" name="tag588"/>
          <p:cNvSpPr/>
          <p:nvPr/>
        </p:nvSpPr>
        <p:spPr>
          <a:xfrm>
            <a:off x="5669280" y="35204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5" name="tag589"/>
          <p:cNvSpPr/>
          <p:nvPr/>
        </p:nvSpPr>
        <p:spPr>
          <a:xfrm>
            <a:off x="5029200" y="26060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6" name="tag590"/>
          <p:cNvSpPr/>
          <p:nvPr/>
        </p:nvSpPr>
        <p:spPr>
          <a:xfrm>
            <a:off x="5577840" y="35204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7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60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60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60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60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60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60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61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61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612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613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614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615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616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617"/>
          <p:cNvSpPr/>
          <p:nvPr/>
        </p:nvSpPr>
        <p:spPr>
          <a:xfrm>
            <a:off x="4513478" y="2468880"/>
            <a:ext cx="3226003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4" name="s618"/>
          <p:cNvSpPr/>
          <p:nvPr/>
        </p:nvSpPr>
        <p:spPr>
          <a:xfrm>
            <a:off x="4572000" y="516636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5" name="t619"/>
          <p:cNvSpPr txBox="1"/>
          <p:nvPr/>
        </p:nvSpPr>
        <p:spPr>
          <a:xfrm>
            <a:off x="457200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78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84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0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6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02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08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4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0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6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39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45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1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3" dur="3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450 -0.0867 L 0.0450 -0.1800 E" pathEditMode="relative" ptsTypes="AAA">
                                      <p:cBhvr>
                                        <p:cTn id="190" dur="1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07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13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19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5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1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7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1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3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65" dur="1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70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75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295" dur="1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01" dur="1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07" dur="1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13" dur="1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19" dur="1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4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3100"/>
                            </p:stCondLst>
                            <p:childTnLst>
                              <p:par>
                                <p:cTn id="3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933 E" pathEditMode="relative" ptsTypes="AA">
                                      <p:cBhvr>
                                        <p:cTn id="335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1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800"/>
                            </p:stCondLst>
                            <p:childTnLst>
                              <p:par>
                                <p:cTn id="3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6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8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1300"/>
                            </p:stCondLst>
                            <p:childTnLst>
                              <p:par>
                                <p:cTn id="36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6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8" dur="400" autoRev="1" fill="hold"/>
                                        <p:tgtEl>
                                          <p:spTgt spid="9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4" grpId="0" animBg="1"/>
      <p:bldP spid="63" grpId="2" animBg="1"/>
      <p:bldP spid="54" grpId="1" animBg="1"/>
      <p:bldP spid="55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55" grpId="1" animBg="1"/>
      <p:bldP spid="56" grpId="0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56" grpId="1" animBg="1"/>
      <p:bldP spid="57" grpId="0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61" grpId="2" animBg="1"/>
      <p:bldP spid="61" grpId="1" animBg="1"/>
      <p:bldP spid="65" grpId="0" animBg="1"/>
      <p:bldP spid="63" grpId="1" animBg="1"/>
      <p:bldP spid="64" grpId="1" animBg="1"/>
      <p:bldP spid="66" grpId="0" animBg="1"/>
      <p:bldP spid="62" grpId="3" animBg="1"/>
      <p:bldP spid="62" grpId="1" animBg="1"/>
      <p:bldP spid="14" grpId="1" animBg="1"/>
      <p:bldP spid="57" grpId="1" animBg="1"/>
      <p:bldP spid="58" grpId="0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36" grpId="1" animBg="1"/>
      <p:bldP spid="37" grpId="0" animBg="1"/>
      <p:bldP spid="39" grpId="1" animBg="1"/>
      <p:bldP spid="40" grpId="0" animBg="1"/>
      <p:bldP spid="42" grpId="1" animBg="1"/>
      <p:bldP spid="43" grpId="0" animBg="1"/>
      <p:bldP spid="13" grpId="1" animBg="1"/>
      <p:bldP spid="15" grpId="3" animBg="1"/>
      <p:bldP spid="15" grpId="1" animBg="1"/>
      <p:bldP spid="16" grpId="3" animBg="1"/>
      <p:bldP spid="16" grpId="1" animBg="1"/>
      <p:bldP spid="17" grpId="3" animBg="1"/>
      <p:bldP spid="17" grpId="1" animBg="1"/>
      <p:bldP spid="58" grpId="1" animBg="1"/>
      <p:bldP spid="59" grpId="0" animBg="1"/>
      <p:bldP spid="65" grpId="1" animBg="1"/>
      <p:bldP spid="66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50" grpId="0" animBg="1"/>
      <p:bldP spid="51" grpId="0" animBg="1"/>
      <p:bldP spid="12" grpId="1" animBg="1"/>
      <p:bldP spid="93" grpId="0" animBg="1"/>
      <p:bldP spid="93" grpId="3" animBg="1"/>
      <p:bldP spid="93" grpId="1" animBg="1"/>
      <p:bldP spid="59" grpId="1" animBg="1"/>
      <p:bldP spid="60" grpId="0" animBg="1"/>
      <p:bldP spid="45" grpId="1" animBg="1"/>
      <p:bldP spid="46" grpId="0" animBg="1"/>
      <p:bldP spid="94" grpId="0" animBg="1"/>
      <p:bldP spid="95" grpId="0" animBg="1"/>
      <p:bldP spid="94" grpId="2" animBg="1"/>
      <p:bldP spid="95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 &amp; post-treatment – packed columns</a:t>
            </a:r>
            <a:endParaRPr lang="en-US" sz="2800" dirty="0"/>
          </a:p>
        </p:txBody>
      </p:sp>
      <p:sp>
        <p:nvSpPr>
          <p:cNvPr id="3" name="ph0"/>
          <p:cNvSpPr/>
          <p:nvPr/>
        </p:nvSpPr>
        <p:spPr>
          <a:xfrm>
            <a:off x="548640" y="14173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4" name="tag620"/>
          <p:cNvSpPr/>
          <p:nvPr/>
        </p:nvSpPr>
        <p:spPr>
          <a:xfrm>
            <a:off x="548640" y="14173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5" name="ph1"/>
          <p:cNvSpPr/>
          <p:nvPr/>
        </p:nvSpPr>
        <p:spPr>
          <a:xfrm>
            <a:off x="548640" y="1856232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6" name="tag621"/>
          <p:cNvSpPr/>
          <p:nvPr/>
        </p:nvSpPr>
        <p:spPr>
          <a:xfrm>
            <a:off x="548640" y="1856232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7" name="ph2"/>
          <p:cNvSpPr/>
          <p:nvPr/>
        </p:nvSpPr>
        <p:spPr>
          <a:xfrm>
            <a:off x="548640" y="2295144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8" name="tag622"/>
          <p:cNvSpPr/>
          <p:nvPr/>
        </p:nvSpPr>
        <p:spPr>
          <a:xfrm>
            <a:off x="548640" y="2295144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9" name="s623"/>
          <p:cNvSpPr/>
          <p:nvPr/>
        </p:nvSpPr>
        <p:spPr>
          <a:xfrm>
            <a:off x="4937760" y="1691640"/>
            <a:ext cx="1280160" cy="36118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10" name="s624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s625"/>
          <p:cNvSpPr/>
          <p:nvPr/>
        </p:nvSpPr>
        <p:spPr>
          <a:xfrm>
            <a:off x="5029200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2" name="s626"/>
          <p:cNvSpPr/>
          <p:nvPr/>
        </p:nvSpPr>
        <p:spPr>
          <a:xfrm>
            <a:off x="5248656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3" name="s627"/>
          <p:cNvSpPr/>
          <p:nvPr/>
        </p:nvSpPr>
        <p:spPr>
          <a:xfrm>
            <a:off x="5468112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4" name="s628"/>
          <p:cNvSpPr/>
          <p:nvPr/>
        </p:nvSpPr>
        <p:spPr>
          <a:xfrm>
            <a:off x="5687568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5" name="s629"/>
          <p:cNvSpPr/>
          <p:nvPr/>
        </p:nvSpPr>
        <p:spPr>
          <a:xfrm>
            <a:off x="5907024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6" name="s630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17" name="s631"/>
          <p:cNvSpPr/>
          <p:nvPr/>
        </p:nvSpPr>
        <p:spPr>
          <a:xfrm>
            <a:off x="4974336" y="206654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18" name="s632"/>
          <p:cNvSpPr/>
          <p:nvPr/>
        </p:nvSpPr>
        <p:spPr>
          <a:xfrm>
            <a:off x="4956048" y="205740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19" name="s633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634"/>
          <p:cNvSpPr/>
          <p:nvPr/>
        </p:nvSpPr>
        <p:spPr>
          <a:xfrm>
            <a:off x="5029200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1" name="s635"/>
          <p:cNvSpPr/>
          <p:nvPr/>
        </p:nvSpPr>
        <p:spPr>
          <a:xfrm>
            <a:off x="5248656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2" name="s636"/>
          <p:cNvSpPr/>
          <p:nvPr/>
        </p:nvSpPr>
        <p:spPr>
          <a:xfrm>
            <a:off x="5468112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3" name="s637"/>
          <p:cNvSpPr/>
          <p:nvPr/>
        </p:nvSpPr>
        <p:spPr>
          <a:xfrm>
            <a:off x="5687568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4" name="s638"/>
          <p:cNvSpPr/>
          <p:nvPr/>
        </p:nvSpPr>
        <p:spPr>
          <a:xfrm>
            <a:off x="5907024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5" name="s639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26" name="s640"/>
          <p:cNvSpPr/>
          <p:nvPr/>
        </p:nvSpPr>
        <p:spPr>
          <a:xfrm>
            <a:off x="4974336" y="302666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27" name="s641"/>
          <p:cNvSpPr/>
          <p:nvPr/>
        </p:nvSpPr>
        <p:spPr>
          <a:xfrm>
            <a:off x="4956048" y="30175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28" name="s642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643"/>
          <p:cNvSpPr/>
          <p:nvPr/>
        </p:nvSpPr>
        <p:spPr>
          <a:xfrm>
            <a:off x="5029200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0" name="s644"/>
          <p:cNvSpPr/>
          <p:nvPr/>
        </p:nvSpPr>
        <p:spPr>
          <a:xfrm>
            <a:off x="5248656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1" name="s645"/>
          <p:cNvSpPr/>
          <p:nvPr/>
        </p:nvSpPr>
        <p:spPr>
          <a:xfrm>
            <a:off x="5468112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2" name="s646"/>
          <p:cNvSpPr/>
          <p:nvPr/>
        </p:nvSpPr>
        <p:spPr>
          <a:xfrm>
            <a:off x="5687568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3" name="s647"/>
          <p:cNvSpPr/>
          <p:nvPr/>
        </p:nvSpPr>
        <p:spPr>
          <a:xfrm>
            <a:off x="5907024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4" name="s648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35" name="s649"/>
          <p:cNvSpPr/>
          <p:nvPr/>
        </p:nvSpPr>
        <p:spPr>
          <a:xfrm>
            <a:off x="4974336" y="398678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36" name="s650"/>
          <p:cNvSpPr/>
          <p:nvPr/>
        </p:nvSpPr>
        <p:spPr>
          <a:xfrm>
            <a:off x="4956048" y="39776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37" name="t651"/>
          <p:cNvSpPr txBox="1"/>
          <p:nvPr/>
        </p:nvSpPr>
        <p:spPr>
          <a:xfrm>
            <a:off x="46634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38" name="s652"/>
          <p:cNvSpPr/>
          <p:nvPr/>
        </p:nvSpPr>
        <p:spPr>
          <a:xfrm>
            <a:off x="3931920" y="1417320"/>
            <a:ext cx="16459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9" name="s653"/>
          <p:cNvSpPr/>
          <p:nvPr/>
        </p:nvSpPr>
        <p:spPr>
          <a:xfrm>
            <a:off x="5577840" y="1417320"/>
            <a:ext cx="0" cy="27432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40" name="t654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 CHEMISTRY</a:t>
            </a:r>
            <a:endParaRPr lang="en-US" sz="1200" dirty="0"/>
          </a:p>
        </p:txBody>
      </p:sp>
      <p:sp>
        <p:nvSpPr>
          <p:cNvPr id="41" name="t655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42" name="s656"/>
          <p:cNvSpPr/>
          <p:nvPr/>
        </p:nvSpPr>
        <p:spPr>
          <a:xfrm>
            <a:off x="3840480" y="4846320"/>
            <a:ext cx="109728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3" name="t657"/>
          <p:cNvSpPr txBox="1"/>
          <p:nvPr/>
        </p:nvSpPr>
        <p:spPr>
          <a:xfrm>
            <a:off x="384048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44" name="s658"/>
          <p:cNvSpPr/>
          <p:nvPr/>
        </p:nvSpPr>
        <p:spPr>
          <a:xfrm flipV="1">
            <a:off x="5897880" y="146304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5" name="s659"/>
          <p:cNvSpPr/>
          <p:nvPr/>
        </p:nvSpPr>
        <p:spPr>
          <a:xfrm>
            <a:off x="5897880" y="1463040"/>
            <a:ext cx="26974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6" name="s660"/>
          <p:cNvSpPr/>
          <p:nvPr/>
        </p:nvSpPr>
        <p:spPr>
          <a:xfrm>
            <a:off x="8595360" y="1463040"/>
            <a:ext cx="0" cy="6400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7" name="s661"/>
          <p:cNvSpPr/>
          <p:nvPr/>
        </p:nvSpPr>
        <p:spPr>
          <a:xfrm>
            <a:off x="8595360" y="210312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8" name="s662"/>
          <p:cNvSpPr/>
          <p:nvPr/>
        </p:nvSpPr>
        <p:spPr>
          <a:xfrm>
            <a:off x="8778240" y="173736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9" name="s663"/>
          <p:cNvSpPr/>
          <p:nvPr/>
        </p:nvSpPr>
        <p:spPr>
          <a:xfrm>
            <a:off x="8650224" y="123444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50" name="s664"/>
          <p:cNvSpPr/>
          <p:nvPr/>
        </p:nvSpPr>
        <p:spPr>
          <a:xfrm>
            <a:off x="8741664" y="144475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51" name="t665"/>
          <p:cNvSpPr txBox="1"/>
          <p:nvPr/>
        </p:nvSpPr>
        <p:spPr>
          <a:xfrm>
            <a:off x="83210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52" name="tag666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3" name="tag667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4" name="tag668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5" name="tag669"/>
          <p:cNvSpPr/>
          <p:nvPr/>
        </p:nvSpPr>
        <p:spPr>
          <a:xfrm>
            <a:off x="6400800" y="22860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6" name="tag670"/>
          <p:cNvSpPr/>
          <p:nvPr/>
        </p:nvSpPr>
        <p:spPr>
          <a:xfrm>
            <a:off x="6400800" y="3246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7" name="tag671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8" name="tag672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9" name="tag673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60" name="s674"/>
          <p:cNvSpPr/>
          <p:nvPr/>
        </p:nvSpPr>
        <p:spPr>
          <a:xfrm>
            <a:off x="6400800" y="4617720"/>
            <a:ext cx="566928" cy="5029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</p:sp>
      <p:sp>
        <p:nvSpPr>
          <p:cNvPr id="61" name="t675"/>
          <p:cNvSpPr txBox="1"/>
          <p:nvPr/>
        </p:nvSpPr>
        <p:spPr>
          <a:xfrm>
            <a:off x="6400800" y="47091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62" name="t676"/>
          <p:cNvSpPr txBox="1"/>
          <p:nvPr/>
        </p:nvSpPr>
        <p:spPr>
          <a:xfrm>
            <a:off x="7086600" y="4572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left on the packing – ignites in air</a:t>
            </a:r>
            <a:endParaRPr lang="en-US" sz="1300" dirty="0"/>
          </a:p>
        </p:txBody>
      </p:sp>
      <p:sp>
        <p:nvSpPr>
          <p:cNvPr id="63" name="s677"/>
          <p:cNvSpPr/>
          <p:nvPr/>
        </p:nvSpPr>
        <p:spPr>
          <a:xfrm>
            <a:off x="5577840" y="530352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4" name="s678"/>
          <p:cNvSpPr/>
          <p:nvPr/>
        </p:nvSpPr>
        <p:spPr>
          <a:xfrm>
            <a:off x="5577840" y="553212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5" name="s679"/>
          <p:cNvSpPr/>
          <p:nvPr/>
        </p:nvSpPr>
        <p:spPr>
          <a:xfrm flipV="1">
            <a:off x="8778240" y="5074920"/>
            <a:ext cx="0" cy="4572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6" name="s680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7" name="s681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68" name="s682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69" name="s683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70" name="t684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71" name="s685"/>
          <p:cNvSpPr/>
          <p:nvPr/>
        </p:nvSpPr>
        <p:spPr>
          <a:xfrm>
            <a:off x="548640" y="2880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2" name="t686"/>
          <p:cNvSpPr txBox="1"/>
          <p:nvPr/>
        </p:nvSpPr>
        <p:spPr>
          <a:xfrm>
            <a:off x="731520" y="2990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73" name="t687"/>
          <p:cNvSpPr txBox="1"/>
          <p:nvPr/>
        </p:nvSpPr>
        <p:spPr>
          <a:xfrm>
            <a:off x="731520" y="3383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74" name="t688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5" name="t689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6" name="t690"/>
          <p:cNvSpPr txBox="1"/>
          <p:nvPr/>
        </p:nvSpPr>
        <p:spPr>
          <a:xfrm>
            <a:off x="731520" y="3794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77" name="t691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8" name="t692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9" name="t693"/>
          <p:cNvSpPr txBox="1"/>
          <p:nvPr/>
        </p:nvSpPr>
        <p:spPr>
          <a:xfrm>
            <a:off x="731520" y="4206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80" name="t694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81" name="t695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82" name="s696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83" name="t69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hold hydrocarbon film and pyrophoric iron sulphide deep inside the packing geometry.</a:t>
            </a:r>
            <a:endParaRPr lang="en-US" sz="1400" dirty="0"/>
          </a:p>
        </p:txBody>
      </p:sp>
      <p:sp>
        <p:nvSpPr>
          <p:cNvPr id="84" name="t69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PRE-TREATMENT: decon chemistry is fed from the top and coats every surface of the packing.</a:t>
            </a:r>
            <a:endParaRPr lang="en-US" sz="1400" dirty="0"/>
          </a:p>
        </p:txBody>
      </p:sp>
      <p:sp>
        <p:nvSpPr>
          <p:cNvPr id="85" name="t69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With the packing pre-wetted, the vapour-phase that follows reaches deep into every bed.</a:t>
            </a:r>
            <a:endParaRPr lang="en-US" sz="1400" dirty="0"/>
          </a:p>
        </p:txBody>
      </p:sp>
      <p:sp>
        <p:nvSpPr>
          <p:cNvPr id="86" name="t70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VAPOUR-PHASE: steam carries the chemistry up through the beds – LEL and benzene go to flare.</a:t>
            </a:r>
            <a:endParaRPr lang="en-US" sz="1400" dirty="0"/>
          </a:p>
        </p:txBody>
      </p:sp>
      <p:sp>
        <p:nvSpPr>
          <p:cNvPr id="87" name="t70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can remain on the packing – it would self-heat once the column is opened.</a:t>
            </a:r>
            <a:endParaRPr lang="en-US" sz="1400" dirty="0"/>
          </a:p>
        </p:txBody>
      </p:sp>
      <p:sp>
        <p:nvSpPr>
          <p:cNvPr id="88" name="t70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POST-TREATMENT: an oxidiser wash trickles through each bed – FeS becomes stable iron oxide.</a:t>
            </a:r>
            <a:endParaRPr lang="en-US" sz="1400" dirty="0"/>
          </a:p>
        </p:txBody>
      </p:sp>
      <p:sp>
        <p:nvSpPr>
          <p:cNvPr id="89" name="t70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spent wash drains to the effluent tank.</a:t>
            </a:r>
            <a:endParaRPr lang="en-US" sz="1400" dirty="0"/>
          </a:p>
        </p:txBody>
      </p:sp>
      <p:sp>
        <p:nvSpPr>
          <p:cNvPr id="90" name="t70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pass – the column is safe to open and the packing safe to unload.</a:t>
            </a:r>
            <a:endParaRPr lang="en-US" sz="1400" dirty="0"/>
          </a:p>
        </p:txBody>
      </p:sp>
      <p:sp>
        <p:nvSpPr>
          <p:cNvPr id="91" name="s705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706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707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708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709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710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711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712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713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714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715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716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717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718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719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720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721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722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723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724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725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726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727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728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729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730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731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732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733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734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735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736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737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738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s739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s740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7" name="s741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8" name="s742"/>
          <p:cNvSpPr/>
          <p:nvPr/>
        </p:nvSpPr>
        <p:spPr>
          <a:xfrm>
            <a:off x="548640" y="484632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9" name="t743"/>
          <p:cNvSpPr txBox="1"/>
          <p:nvPr/>
        </p:nvSpPr>
        <p:spPr>
          <a:xfrm>
            <a:off x="548640" y="4846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3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3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1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3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7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37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3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3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1" nodeType="withEffect">
                                  <p:stCondLst>
                                    <p:cond delay="3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9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5" dur="22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1" dur="22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7" dur="22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28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3" dur="22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5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8" dur="4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0" dur="4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2" dur="4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67" dur="18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3" dur="18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9" dur="18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85" dur="18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1" dur="18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7" dur="18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3" dur="18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4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9" dur="18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15" dur="18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6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1" dur="1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7" dur="1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3" dur="18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0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-0.0413 -0.1200 L 0.1725 -0.1400 L 0.1950 -0.0533 E" pathEditMode="relative" ptsTypes="AAAA">
                                      <p:cBhvr>
                                        <p:cTn id="255" dur="1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-0.0413 -0.2600 L 0.1725 -0.2800 L 0.1950 -0.1933 E" pathEditMode="relative" ptsTypes="AAAA">
                                      <p:cBhvr>
                                        <p:cTn id="260" dur="1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5" dur="35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6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7" dur="350" autoRev="1" fill="hold"/>
                                        <p:tgtEl>
                                          <p:spTgt spid="50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8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53" presetClass="entr" presetSubtype="16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0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1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" presetClass="exit" presetSubtype="0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" presetClass="exit" presetSubtype="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53" presetClass="entr" presetSubtype="16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4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5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6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500"/>
                            </p:stCondLst>
                            <p:childTnLst>
                              <p:par>
                                <p:cTn id="324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5" dur="4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6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7" dur="4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8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9" dur="4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64" dur="22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0" dur="22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xit" presetSubtype="0" fill="hold" grpId="1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3" nodeType="withEffect">
                                  <p:stCondLst>
                                    <p:cond delay="8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6" dur="22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1" presetClass="exit" presetSubtype="0" fill="hold" grpId="1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10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2" dur="22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3" nodeType="with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8" dur="22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4" dur="22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0" presetClass="path" presetSubtype="0" fill="hold" grpId="3" nodeType="withEffect">
                                  <p:stCondLst>
                                    <p:cond delay="17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0" dur="22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1" presetID="1" presetClass="exit" presetSubtype="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0" presetClass="path" presetSubtype="0" fill="hold" grpId="3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6" dur="22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7" presetID="1" presetClass="exit" presetSubtype="0" fill="hold" grpId="1" nodeType="withEffect">
                                  <p:stCondLst>
                                    <p:cond delay="414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2" dur="22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3" presetID="1" presetClass="exit" presetSubtype="0" fill="hold" grpId="1" nodeType="withEffect">
                                  <p:stCondLst>
                                    <p:cond delay="436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8" dur="22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1" presetClass="exit" presetSubtype="0" fill="hold" grpId="1" nodeType="withEffect">
                                  <p:stCondLst>
                                    <p:cond delay="458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4" fill="hold">
                      <p:stCondLst>
                        <p:cond delay="indefinite"/>
                      </p:stCondLst>
                      <p:childTnLst>
                        <p:par>
                          <p:cTn id="455" fill="hold">
                            <p:stCondLst>
                              <p:cond delay="0"/>
                            </p:stCondLst>
                            <p:childTnLst>
                              <p:par>
                                <p:cTn id="4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3" dur="18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4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9" dur="18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0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85" dur="18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8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1" dur="18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2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4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7" dur="18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8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5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6" fill="hold">
                      <p:stCondLst>
                        <p:cond delay="indefinite"/>
                      </p:stCondLst>
                      <p:childTnLst>
                        <p:par>
                          <p:cTn id="507" fill="hold">
                            <p:stCondLst>
                              <p:cond delay="0"/>
                            </p:stCondLst>
                            <p:childTnLst>
                              <p:par>
                                <p:cTn id="50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3" fill="hold">
                            <p:stCondLst>
                              <p:cond delay="500"/>
                            </p:stCondLst>
                            <p:childTnLst>
                              <p:par>
                                <p:cTn id="5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6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7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1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2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3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1000"/>
                            </p:stCondLst>
                            <p:childTnLst>
                              <p:par>
                                <p:cTn id="52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6" dur="40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8" dur="40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animBg="1"/>
      <p:bldP spid="83" grpId="0" animBg="1"/>
      <p:bldP spid="16" grpId="2" animBg="1"/>
      <p:bldP spid="25" grpId="2" animBg="1"/>
      <p:bldP spid="34" grpId="2" animBg="1"/>
      <p:bldP spid="83" grpId="1" animBg="1"/>
      <p:bldP spid="84" grpId="0" animBg="1"/>
      <p:bldP spid="4" grpId="0" animBg="1"/>
      <p:bldP spid="40" grpId="0" animBg="1"/>
      <p:bldP spid="38" grpId="0" animBg="1"/>
      <p:bldP spid="39" grpId="0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7" grpId="0" animBg="1"/>
      <p:bldP spid="52" grpId="0" animBg="1"/>
      <p:bldP spid="26" grpId="0" animBg="1"/>
      <p:bldP spid="53" grpId="0" animBg="1"/>
      <p:bldP spid="35" grpId="0" animBg="1"/>
      <p:bldP spid="54" grpId="0" animBg="1"/>
      <p:bldP spid="84" grpId="1" animBg="1"/>
      <p:bldP spid="85" grpId="0" animBg="1"/>
      <p:bldP spid="17" grpId="2" animBg="1"/>
      <p:bldP spid="26" grpId="2" animBg="1"/>
      <p:bldP spid="35" grpId="2" animBg="1"/>
      <p:bldP spid="85" grpId="1" animBg="1"/>
      <p:bldP spid="86" grpId="0" animBg="1"/>
      <p:bldP spid="4" grpId="1" animBg="1"/>
      <p:bldP spid="40" grpId="1" animBg="1"/>
      <p:bldP spid="52" grpId="1" animBg="1"/>
      <p:bldP spid="53" grpId="1" animBg="1"/>
      <p:bldP spid="54" grpId="1" animBg="1"/>
      <p:bldP spid="6" grpId="0" animBg="1"/>
      <p:bldP spid="42" grpId="0" animBg="1"/>
      <p:bldP spid="43" grpId="0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0" grpId="0" animBg="1"/>
      <p:bldP spid="110" grpId="3" animBg="1"/>
      <p:bldP spid="110" grpId="1" animBg="1"/>
      <p:bldP spid="111" grpId="0" animBg="1"/>
      <p:bldP spid="111" grpId="3" animBg="1"/>
      <p:bldP spid="111" grpId="1" animBg="1"/>
      <p:bldP spid="112" grpId="0" animBg="1"/>
      <p:bldP spid="112" grpId="3" animBg="1"/>
      <p:bldP spid="112" grpId="1" animBg="1"/>
      <p:bldP spid="55" grpId="0" animBg="1"/>
      <p:bldP spid="56" grpId="0" animBg="1"/>
      <p:bldP spid="44" grpId="0" animBg="1"/>
      <p:bldP spid="45" grpId="0" animBg="1"/>
      <p:bldP spid="46" grpId="0" animBg="1"/>
      <p:bldP spid="47" grpId="0" animBg="1"/>
      <p:bldP spid="55" grpId="3" animBg="1"/>
      <p:bldP spid="55" grpId="1" animBg="1"/>
      <p:bldP spid="56" grpId="3" animBg="1"/>
      <p:bldP spid="56" grpId="1" animBg="1"/>
      <p:bldP spid="49" grpId="2" animBg="1"/>
      <p:bldP spid="50" grpId="2" animBg="1"/>
      <p:bldP spid="16" grpId="1" animBg="1"/>
      <p:bldP spid="25" grpId="1" animBg="1"/>
      <p:bldP spid="34" grpId="1" animBg="1"/>
      <p:bldP spid="17" grpId="1" animBg="1"/>
      <p:bldP spid="26" grpId="1" animBg="1"/>
      <p:bldP spid="35" grpId="1" animBg="1"/>
      <p:bldP spid="74" grpId="1" animBg="1"/>
      <p:bldP spid="75" grpId="0" animBg="1"/>
      <p:bldP spid="77" grpId="1" animBg="1"/>
      <p:bldP spid="78" grpId="0" animBg="1"/>
      <p:bldP spid="80" grpId="1" animBg="1"/>
      <p:bldP spid="81" grpId="0" animBg="1"/>
      <p:bldP spid="86" grpId="1" animBg="1"/>
      <p:bldP spid="87" grpId="0" animBg="1"/>
      <p:bldP spid="18" grpId="0" animBg="1"/>
      <p:bldP spid="27" grpId="0" animBg="1"/>
      <p:bldP spid="36" grpId="0" animBg="1"/>
      <p:bldP spid="18" grpId="2" animBg="1"/>
      <p:bldP spid="27" grpId="2" animBg="1"/>
      <p:bldP spid="36" grpId="2" animBg="1"/>
      <p:bldP spid="60" grpId="0" animBg="1"/>
      <p:bldP spid="61" grpId="0" animBg="1"/>
      <p:bldP spid="62" grpId="0" animBg="1"/>
      <p:bldP spid="87" grpId="1" animBg="1"/>
      <p:bldP spid="88" grpId="0" animBg="1"/>
      <p:bldP spid="6" grpId="1" animBg="1"/>
      <p:bldP spid="8" grpId="0" animBg="1"/>
      <p:bldP spid="41" grpId="0" animBg="1"/>
      <p:bldP spid="113" grpId="0" animBg="1"/>
      <p:bldP spid="113" grpId="3" animBg="1"/>
      <p:bldP spid="113" grpId="1" animBg="1"/>
      <p:bldP spid="114" grpId="0" animBg="1"/>
      <p:bldP spid="114" grpId="3" animBg="1"/>
      <p:bldP spid="114" grpId="1" animBg="1"/>
      <p:bldP spid="115" grpId="0" animBg="1"/>
      <p:bldP spid="115" grpId="3" animBg="1"/>
      <p:bldP spid="115" grpId="1" animBg="1"/>
      <p:bldP spid="116" grpId="0" animBg="1"/>
      <p:bldP spid="116" grpId="3" animBg="1"/>
      <p:bldP spid="116" grpId="1" animBg="1"/>
      <p:bldP spid="117" grpId="0" animBg="1"/>
      <p:bldP spid="117" grpId="3" animBg="1"/>
      <p:bldP spid="117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60" grpId="1" animBg="1"/>
      <p:bldP spid="61" grpId="1" animBg="1"/>
      <p:bldP spid="62" grpId="1" animBg="1"/>
      <p:bldP spid="18" grpId="1" animBg="1"/>
      <p:bldP spid="57" grpId="0" animBg="1"/>
      <p:bldP spid="27" grpId="1" animBg="1"/>
      <p:bldP spid="58" grpId="0" animBg="1"/>
      <p:bldP spid="36" grpId="1" animBg="1"/>
      <p:bldP spid="59" grpId="0" animBg="1"/>
      <p:bldP spid="88" grpId="1" animBg="1"/>
      <p:bldP spid="89" grpId="0" animBg="1"/>
      <p:bldP spid="57" grpId="1" animBg="1"/>
      <p:bldP spid="58" grpId="1" animBg="1"/>
      <p:bldP spid="59" grpId="1" animBg="1"/>
      <p:bldP spid="123" grpId="0" animBg="1"/>
      <p:bldP spid="123" grpId="3" animBg="1"/>
      <p:bldP spid="123" grpId="1" animBg="1"/>
      <p:bldP spid="124" grpId="0" animBg="1"/>
      <p:bldP spid="124" grpId="3" animBg="1"/>
      <p:bldP spid="124" grpId="1" animBg="1"/>
      <p:bldP spid="125" grpId="0" animBg="1"/>
      <p:bldP spid="125" grpId="3" animBg="1"/>
      <p:bldP spid="125" grpId="1" animBg="1"/>
      <p:bldP spid="126" grpId="0" animBg="1"/>
      <p:bldP spid="126" grpId="3" animBg="1"/>
      <p:bldP spid="126" grpId="1" animBg="1"/>
      <p:bldP spid="127" grpId="0" animBg="1"/>
      <p:bldP spid="127" grpId="3" animBg="1"/>
      <p:bldP spid="127" grpId="1" animBg="1"/>
      <p:bldP spid="68" grpId="0" animBg="1"/>
      <p:bldP spid="69" grpId="0" animBg="1"/>
      <p:bldP spid="89" grpId="1" animBg="1"/>
      <p:bldP spid="90" grpId="0" animBg="1"/>
      <p:bldP spid="128" grpId="0" animBg="1"/>
      <p:bldP spid="129" grpId="0" animBg="1"/>
      <p:bldP spid="128" grpId="2" animBg="1"/>
      <p:bldP spid="129" grpId="2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744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" name="s745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5" name="s746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6" name="s747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748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749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9" name="s750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0" name="s751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1" name="s752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</p:sp>
      <p:sp>
        <p:nvSpPr>
          <p:cNvPr id="12" name="t753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754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</p:sp>
      <p:sp>
        <p:nvSpPr>
          <p:cNvPr id="14" name="s755"/>
          <p:cNvSpPr/>
          <p:nvPr/>
        </p:nvSpPr>
        <p:spPr>
          <a:xfrm flipH="1" flipV="1">
            <a:off x="397764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5" name="s756"/>
          <p:cNvSpPr/>
          <p:nvPr/>
        </p:nvSpPr>
        <p:spPr>
          <a:xfrm flipH="1">
            <a:off x="397764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6" name="s757"/>
          <p:cNvSpPr/>
          <p:nvPr/>
        </p:nvSpPr>
        <p:spPr>
          <a:xfrm flipH="1">
            <a:off x="41148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7" name="s758"/>
          <p:cNvSpPr/>
          <p:nvPr/>
        </p:nvSpPr>
        <p:spPr>
          <a:xfrm flipH="1">
            <a:off x="512064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8" name="s759"/>
          <p:cNvSpPr/>
          <p:nvPr/>
        </p:nvSpPr>
        <p:spPr>
          <a:xfrm>
            <a:off x="594360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9" name="s760"/>
          <p:cNvSpPr/>
          <p:nvPr/>
        </p:nvSpPr>
        <p:spPr>
          <a:xfrm>
            <a:off x="59436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0" name="s761"/>
          <p:cNvSpPr/>
          <p:nvPr/>
        </p:nvSpPr>
        <p:spPr>
          <a:xfrm>
            <a:off x="594360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1" name="s762"/>
          <p:cNvSpPr/>
          <p:nvPr/>
        </p:nvSpPr>
        <p:spPr>
          <a:xfrm flipV="1">
            <a:off x="594360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2" name="s763"/>
          <p:cNvSpPr/>
          <p:nvPr/>
        </p:nvSpPr>
        <p:spPr>
          <a:xfrm flipH="1" flipV="1">
            <a:off x="484632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3" name="s764"/>
          <p:cNvSpPr/>
          <p:nvPr/>
        </p:nvSpPr>
        <p:spPr>
          <a:xfrm flipV="1">
            <a:off x="594360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4" name="s765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25" name="t766"/>
          <p:cNvSpPr txBox="1"/>
          <p:nvPr/>
        </p:nvSpPr>
        <p:spPr>
          <a:xfrm>
            <a:off x="5029200" y="4462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26" name="s767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768"/>
          <p:cNvSpPr/>
          <p:nvPr/>
        </p:nvSpPr>
        <p:spPr>
          <a:xfrm flipH="1">
            <a:off x="3108960" y="1691640"/>
            <a:ext cx="14630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769"/>
          <p:cNvSpPr/>
          <p:nvPr/>
        </p:nvSpPr>
        <p:spPr>
          <a:xfrm>
            <a:off x="2377440" y="1463040"/>
            <a:ext cx="731520" cy="822960"/>
          </a:xfrm>
          <a:prstGeom prst="roundRect">
            <a:avLst>
              <a:gd name="adj" fmla="val 15000"/>
            </a:avLst>
          </a:prstGeom>
          <a:solidFill>
            <a:srgbClr val="4A5560"/>
          </a:solidFill>
          <a:ln w="12700">
            <a:solidFill>
              <a:srgbClr val="1F3A52"/>
            </a:solidFill>
            <a:prstDash val="solid"/>
          </a:ln>
        </p:spPr>
      </p:sp>
      <p:sp>
        <p:nvSpPr>
          <p:cNvPr id="29" name="s770"/>
          <p:cNvSpPr/>
          <p:nvPr/>
        </p:nvSpPr>
        <p:spPr>
          <a:xfrm>
            <a:off x="2468880" y="16459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0" name="s771"/>
          <p:cNvSpPr/>
          <p:nvPr/>
        </p:nvSpPr>
        <p:spPr>
          <a:xfrm>
            <a:off x="2468880" y="18745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1" name="s772"/>
          <p:cNvSpPr/>
          <p:nvPr/>
        </p:nvSpPr>
        <p:spPr>
          <a:xfrm>
            <a:off x="2468880" y="21031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2" name="t773"/>
          <p:cNvSpPr txBox="1"/>
          <p:nvPr/>
        </p:nvSpPr>
        <p:spPr>
          <a:xfrm>
            <a:off x="201168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FILTER</a:t>
            </a:r>
            <a:endParaRPr lang="en-US" sz="1100" dirty="0"/>
          </a:p>
        </p:txBody>
      </p:sp>
      <p:sp>
        <p:nvSpPr>
          <p:cNvPr id="33" name="s774"/>
          <p:cNvSpPr/>
          <p:nvPr/>
        </p:nvSpPr>
        <p:spPr>
          <a:xfrm flipV="1">
            <a:off x="2743200" y="1188720"/>
            <a:ext cx="0" cy="274320"/>
          </a:xfrm>
          <a:prstGeom prst="line">
            <a:avLst/>
          </a:prstGeom>
          <a:noFill/>
          <a:ln w="3175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4" name="t775"/>
          <p:cNvSpPr txBox="1"/>
          <p:nvPr/>
        </p:nvSpPr>
        <p:spPr>
          <a:xfrm>
            <a:off x="2834640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vent</a:t>
            </a:r>
            <a:endParaRPr lang="en-US" sz="1000" dirty="0"/>
          </a:p>
        </p:txBody>
      </p:sp>
      <p:sp>
        <p:nvSpPr>
          <p:cNvPr id="35" name="s776"/>
          <p:cNvSpPr/>
          <p:nvPr/>
        </p:nvSpPr>
        <p:spPr>
          <a:xfrm>
            <a:off x="8046720" y="4892040"/>
            <a:ext cx="54864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36" name="s777"/>
          <p:cNvSpPr/>
          <p:nvPr/>
        </p:nvSpPr>
        <p:spPr>
          <a:xfrm>
            <a:off x="8595360" y="46634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2"/>
            </a:solidFill>
            <a:prstDash val="solid"/>
          </a:ln>
        </p:spPr>
      </p:sp>
      <p:sp>
        <p:nvSpPr>
          <p:cNvPr id="37" name="t778"/>
          <p:cNvSpPr txBox="1"/>
          <p:nvPr/>
        </p:nvSpPr>
        <p:spPr>
          <a:xfrm>
            <a:off x="804672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pump</a:t>
            </a:r>
            <a:endParaRPr lang="en-US" sz="1000" dirty="0"/>
          </a:p>
        </p:txBody>
      </p:sp>
      <p:sp>
        <p:nvSpPr>
          <p:cNvPr id="38" name="s779"/>
          <p:cNvSpPr/>
          <p:nvPr/>
        </p:nvSpPr>
        <p:spPr>
          <a:xfrm>
            <a:off x="9052560" y="4892040"/>
            <a:ext cx="36576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39" name="s780"/>
          <p:cNvSpPr/>
          <p:nvPr/>
        </p:nvSpPr>
        <p:spPr>
          <a:xfrm>
            <a:off x="9418320" y="41605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781"/>
          <p:cNvSpPr/>
          <p:nvPr/>
        </p:nvSpPr>
        <p:spPr>
          <a:xfrm>
            <a:off x="9464040" y="4892040"/>
            <a:ext cx="1280160" cy="2743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41" name="s782"/>
          <p:cNvSpPr/>
          <p:nvPr/>
        </p:nvSpPr>
        <p:spPr>
          <a:xfrm>
            <a:off x="9464040" y="4526280"/>
            <a:ext cx="1280160" cy="36576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42" name="t783"/>
          <p:cNvSpPr txBox="1"/>
          <p:nvPr/>
        </p:nvSpPr>
        <p:spPr>
          <a:xfrm>
            <a:off x="9052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DISPOSAL</a:t>
            </a:r>
            <a:endParaRPr lang="en-US" sz="1100" dirty="0"/>
          </a:p>
        </p:txBody>
      </p:sp>
      <p:sp>
        <p:nvSpPr>
          <p:cNvPr id="43" name="s784"/>
          <p:cNvSpPr/>
          <p:nvPr/>
        </p:nvSpPr>
        <p:spPr>
          <a:xfrm>
            <a:off x="8046720" y="4023360"/>
            <a:ext cx="100584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4" name="s785"/>
          <p:cNvSpPr/>
          <p:nvPr/>
        </p:nvSpPr>
        <p:spPr>
          <a:xfrm>
            <a:off x="9052560" y="37947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45" name="t786"/>
          <p:cNvSpPr txBox="1"/>
          <p:nvPr/>
        </p:nvSpPr>
        <p:spPr>
          <a:xfrm>
            <a:off x="850392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 pump</a:t>
            </a:r>
            <a:endParaRPr lang="en-US" sz="1000" dirty="0"/>
          </a:p>
        </p:txBody>
      </p:sp>
      <p:sp>
        <p:nvSpPr>
          <p:cNvPr id="46" name="s787"/>
          <p:cNvSpPr/>
          <p:nvPr/>
        </p:nvSpPr>
        <p:spPr>
          <a:xfrm flipV="1">
            <a:off x="9281160" y="1508760"/>
            <a:ext cx="0" cy="22860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47" name="s788"/>
          <p:cNvSpPr/>
          <p:nvPr/>
        </p:nvSpPr>
        <p:spPr>
          <a:xfrm flipH="1">
            <a:off x="5943600" y="1508760"/>
            <a:ext cx="333756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48" name="s789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9" name="t790"/>
          <p:cNvSpPr txBox="1"/>
          <p:nvPr/>
        </p:nvSpPr>
        <p:spPr>
          <a:xfrm>
            <a:off x="60350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50" name="s791"/>
          <p:cNvSpPr/>
          <p:nvPr/>
        </p:nvSpPr>
        <p:spPr>
          <a:xfrm flipH="1">
            <a:off x="9281160" y="1920240"/>
            <a:ext cx="1325880" cy="0"/>
          </a:xfrm>
          <a:prstGeom prst="line">
            <a:avLst/>
          </a:prstGeom>
          <a:noFill/>
          <a:ln w="381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51" name="t792"/>
          <p:cNvSpPr txBox="1"/>
          <p:nvPr/>
        </p:nvSpPr>
        <p:spPr>
          <a:xfrm>
            <a:off x="950976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000" dirty="0"/>
          </a:p>
        </p:txBody>
      </p:sp>
      <p:sp>
        <p:nvSpPr>
          <p:cNvPr id="52" name="s793"/>
          <p:cNvSpPr/>
          <p:nvPr/>
        </p:nvSpPr>
        <p:spPr>
          <a:xfrm>
            <a:off x="9509760" y="402336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53" name="s794"/>
          <p:cNvSpPr/>
          <p:nvPr/>
        </p:nvSpPr>
        <p:spPr>
          <a:xfrm flipV="1">
            <a:off x="10058400" y="32918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54" name="s795"/>
          <p:cNvSpPr/>
          <p:nvPr/>
        </p:nvSpPr>
        <p:spPr>
          <a:xfrm>
            <a:off x="10058400" y="329184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5" name="s796"/>
          <p:cNvSpPr/>
          <p:nvPr/>
        </p:nvSpPr>
        <p:spPr>
          <a:xfrm>
            <a:off x="10241280" y="2606040"/>
            <a:ext cx="1188720" cy="9144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56" name="s797"/>
          <p:cNvSpPr/>
          <p:nvPr/>
        </p:nvSpPr>
        <p:spPr>
          <a:xfrm>
            <a:off x="10287000" y="3200400"/>
            <a:ext cx="109728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7" name="s798"/>
          <p:cNvSpPr/>
          <p:nvPr/>
        </p:nvSpPr>
        <p:spPr>
          <a:xfrm>
            <a:off x="10287000" y="2834640"/>
            <a:ext cx="109728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8" name="t799"/>
          <p:cNvSpPr txBox="1"/>
          <p:nvPr/>
        </p:nvSpPr>
        <p:spPr>
          <a:xfrm>
            <a:off x="9875520" y="3547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9" name="s800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60" name="t801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61" name="t802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62" name="t803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3" name="t804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4" name="t805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65" name="t806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6" name="t807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7" name="t808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68" name="t809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9" name="t810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0" name="s811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71" name="t81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72" name="t81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The tank vent is routed through a carbon filter – vapours are treated before release.</a:t>
            </a:r>
            <a:endParaRPr lang="en-US" sz="1400" dirty="0"/>
          </a:p>
        </p:txBody>
      </p:sp>
      <p:sp>
        <p:nvSpPr>
          <p:cNvPr id="73" name="t81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Bulk sludge is removed first: a vacuum pump transfers it to a waste tank for licensed disposal.</a:t>
            </a:r>
            <a:endParaRPr lang="en-US" sz="1400" dirty="0"/>
          </a:p>
        </p:txBody>
      </p:sp>
      <p:sp>
        <p:nvSpPr>
          <p:cNvPr id="74" name="t81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A gamma-jet nozzle is lowered through the roof manway; wash water with decon chemistry is circulated to it.</a:t>
            </a:r>
            <a:endParaRPr lang="en-US" sz="1400" dirty="0"/>
          </a:p>
        </p:txBody>
      </p:sp>
      <p:sp>
        <p:nvSpPr>
          <p:cNvPr id="75" name="t81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Gamma-jetting and circulation run for 8–12 hours – the jets sweep shell, roof and floor.</a:t>
            </a:r>
            <a:endParaRPr lang="en-US" sz="1400" dirty="0"/>
          </a:p>
        </p:txBody>
      </p:sp>
      <p:sp>
        <p:nvSpPr>
          <p:cNvPr id="76" name="t81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H₂S is converted into stable compounds; benzene and LEL vapours leave through the carbon filter.</a:t>
            </a:r>
            <a:endParaRPr lang="en-US" sz="1400" dirty="0"/>
          </a:p>
        </p:txBody>
      </p:sp>
      <p:sp>
        <p:nvSpPr>
          <p:cNvPr id="77" name="t81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Walls and floor are clean – the spent wash is drained to the effluent tank.</a:t>
            </a:r>
            <a:endParaRPr lang="en-US" sz="1400" dirty="0"/>
          </a:p>
        </p:txBody>
      </p:sp>
      <p:sp>
        <p:nvSpPr>
          <p:cNvPr id="78" name="t81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safe entry.</a:t>
            </a:r>
            <a:endParaRPr lang="en-US" sz="1400" dirty="0"/>
          </a:p>
        </p:txBody>
      </p:sp>
      <p:sp>
        <p:nvSpPr>
          <p:cNvPr id="79" name="tag820"/>
          <p:cNvSpPr/>
          <p:nvPr/>
        </p:nvSpPr>
        <p:spPr>
          <a:xfrm>
            <a:off x="420624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0" name="tag821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tag822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2" name="tag823"/>
          <p:cNvSpPr/>
          <p:nvPr/>
        </p:nvSpPr>
        <p:spPr>
          <a:xfrm>
            <a:off x="4114800" y="26517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83" name="s824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825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826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827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828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829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830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831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832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833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834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835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836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837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838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839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840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84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84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84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84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84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84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84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84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84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85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85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85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85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85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85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85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85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85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85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86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86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86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86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86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86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s86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s86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7" name="s86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8" name="s86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87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s871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s872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2" name="s873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3" name="s874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4" name="s875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5" name="s876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36" name="t877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repeatCount="2000" fill="hold" grpId="2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25" dur="3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48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54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0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6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8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84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6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39" dur="2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45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1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7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3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9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5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81" dur="7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87" dur="7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93" dur="7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29" dur="6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35" dur="6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241" dur="6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247" dur="65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8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253" dur="6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259" dur="65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265" dur="65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271" dur="6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2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277" dur="65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283" dur="65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4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89" dur="6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95" dur="6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01" dur="65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07" dur="65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13" dur="6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19" dur="6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25" dur="6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31" dur="65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37" dur="6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43" dur="6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49" dur="65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55" dur="65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6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61" dur="65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6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67" dur="6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73" dur="6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4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79" dur="6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0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85" dur="65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6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8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0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91" dur="6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2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4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97" dur="65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8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403" dur="6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6" fill="hold">
                      <p:stCondLst>
                        <p:cond delay="indefinite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3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4" dur="30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3375 -0.1640 E" pathEditMode="relative" ptsTypes="AAAA">
                                      <p:cBhvr>
                                        <p:cTn id="422" dur="18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3375 -0.2373 E" pathEditMode="relative" ptsTypes="AAAA">
                                      <p:cBhvr>
                                        <p:cTn id="427" dur="18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8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6" presetClass="emph" presetSubtype="0" repeatCount="3000" fill="hold" grpId="2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432" dur="3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4999" y="114999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3" fill="hold">
                      <p:stCondLst>
                        <p:cond delay="indefinite"/>
                      </p:stCondLst>
                      <p:childTnLst>
                        <p:par>
                          <p:cTn id="434" fill="hold">
                            <p:stCondLst>
                              <p:cond delay="0"/>
                            </p:stCondLst>
                            <p:childTnLst>
                              <p:par>
                                <p:cTn id="4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3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1" dur="8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4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6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22" presetClass="entr" presetSubtype="8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22" presetClass="entr" presetSubtype="1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1" presetID="22" presetClass="entr" presetSubtype="8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497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8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2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03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4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8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09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0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2" presetID="1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4" presetID="0" presetClass="path" presetSubtype="0" fill="hold" grpId="3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15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8" presetID="22" presetClass="entr" presetSubtype="4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0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22" presetClass="entr" presetSubtype="4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3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5700"/>
                            </p:stCondLst>
                            <p:childTnLst>
                              <p:par>
                                <p:cTn id="5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528" dur="11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0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2" fill="hold">
                      <p:stCondLst>
                        <p:cond delay="indefinite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3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3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4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8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0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1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7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8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9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0" fill="hold">
                            <p:stCondLst>
                              <p:cond delay="2000"/>
                            </p:stCondLst>
                            <p:childTnLst>
                              <p:par>
                                <p:cTn id="56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3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4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5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9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1" fill="hold">
                            <p:stCondLst>
                              <p:cond delay="2500"/>
                            </p:stCondLst>
                            <p:childTnLst>
                              <p:par>
                                <p:cTn id="572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3" dur="400" autoRev="1" fill="hold"/>
                                        <p:tgtEl>
                                          <p:spTgt spid="13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7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5" dur="400" autoRev="1" fill="hold"/>
                                        <p:tgtEl>
                                          <p:spTgt spid="13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1" grpId="1" animBg="1"/>
      <p:bldP spid="72" grpId="0" animBg="1"/>
      <p:bldP spid="26" grpId="0" animBg="1"/>
      <p:bldP spid="27" grpId="0" animBg="1"/>
      <p:bldP spid="28" grpId="2" animBg="1"/>
      <p:bldP spid="33" grpId="0" animBg="1"/>
      <p:bldP spid="34" grpId="0" animBg="1"/>
      <p:bldP spid="72" grpId="1" animBg="1"/>
      <p:bldP spid="73" grpId="0" animBg="1"/>
      <p:bldP spid="35" grpId="0" animBg="1"/>
      <p:bldP spid="38" grpId="0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10" grpId="1" animBg="1"/>
      <p:bldP spid="40" grpId="0" animBg="1"/>
      <p:bldP spid="41" grpId="0" animBg="1"/>
      <p:bldP spid="73" grpId="1" animBg="1"/>
      <p:bldP spid="74" grpId="0" animBg="1"/>
      <p:bldP spid="13" grpId="0" animBg="1"/>
      <p:bldP spid="24" grpId="0" animBg="1"/>
      <p:bldP spid="43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74" grpId="1" animBg="1"/>
      <p:bldP spid="75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0" grpId="0" animBg="1"/>
      <p:bldP spid="110" grpId="3" animBg="1"/>
      <p:bldP spid="110" grpId="1" animBg="1"/>
      <p:bldP spid="111" grpId="0" animBg="1"/>
      <p:bldP spid="111" grpId="3" animBg="1"/>
      <p:bldP spid="111" grpId="1" animBg="1"/>
      <p:bldP spid="112" grpId="0" animBg="1"/>
      <p:bldP spid="112" grpId="3" animBg="1"/>
      <p:bldP spid="112" grpId="1" animBg="1"/>
      <p:bldP spid="113" grpId="0" animBg="1"/>
      <p:bldP spid="113" grpId="3" animBg="1"/>
      <p:bldP spid="113" grpId="1" animBg="1"/>
      <p:bldP spid="114" grpId="0" animBg="1"/>
      <p:bldP spid="114" grpId="3" animBg="1"/>
      <p:bldP spid="114" grpId="1" animBg="1"/>
      <p:bldP spid="115" grpId="0" animBg="1"/>
      <p:bldP spid="115" grpId="3" animBg="1"/>
      <p:bldP spid="115" grpId="1" animBg="1"/>
      <p:bldP spid="116" grpId="0" animBg="1"/>
      <p:bldP spid="116" grpId="3" animBg="1"/>
      <p:bldP spid="116" grpId="1" animBg="1"/>
      <p:bldP spid="117" grpId="0" animBg="1"/>
      <p:bldP spid="117" grpId="3" animBg="1"/>
      <p:bldP spid="117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124" grpId="0" animBg="1"/>
      <p:bldP spid="124" grpId="3" animBg="1"/>
      <p:bldP spid="124" grpId="1" animBg="1"/>
      <p:bldP spid="125" grpId="0" animBg="1"/>
      <p:bldP spid="125" grpId="3" animBg="1"/>
      <p:bldP spid="125" grpId="1" animBg="1"/>
      <p:bldP spid="126" grpId="0" animBg="1"/>
      <p:bldP spid="126" grpId="3" animBg="1"/>
      <p:bldP spid="126" grpId="1" animBg="1"/>
      <p:bldP spid="127" grpId="0" animBg="1"/>
      <p:bldP spid="127" grpId="3" animBg="1"/>
      <p:bldP spid="127" grpId="1" animBg="1"/>
      <p:bldP spid="128" grpId="0" animBg="1"/>
      <p:bldP spid="128" grpId="3" animBg="1"/>
      <p:bldP spid="128" grpId="1" animBg="1"/>
      <p:bldP spid="129" grpId="0" animBg="1"/>
      <p:bldP spid="129" grpId="3" animBg="1"/>
      <p:bldP spid="129" grpId="1" animBg="1"/>
      <p:bldP spid="75" grpId="1" animBg="1"/>
      <p:bldP spid="76" grpId="0" animBg="1"/>
      <p:bldP spid="79" grpId="2" animBg="1"/>
      <p:bldP spid="79" grpId="1" animBg="1"/>
      <p:bldP spid="82" grpId="0" animBg="1"/>
      <p:bldP spid="80" grpId="3" animBg="1"/>
      <p:bldP spid="80" grpId="1" animBg="1"/>
      <p:bldP spid="81" grpId="3" animBg="1"/>
      <p:bldP spid="81" grpId="1" animBg="1"/>
      <p:bldP spid="76" grpId="1" animBg="1"/>
      <p:bldP spid="77" grpId="0" animBg="1"/>
      <p:bldP spid="82" grpId="1" animBg="1"/>
      <p:bldP spid="11" grpId="1" animBg="1"/>
      <p:bldP spid="14" grpId="1" animBg="1"/>
      <p:bldP spid="15" grpId="1" animBg="1"/>
      <p:bldP spid="16" grpId="1" animBg="1"/>
      <p:bldP spid="17" grpId="1" animBg="1"/>
      <p:bldP spid="18" grpId="1" animBg="1"/>
      <p:bldP spid="19" grpId="1" animBg="1"/>
      <p:bldP spid="20" grpId="1" animBg="1"/>
      <p:bldP spid="21" grpId="1" animBg="1"/>
      <p:bldP spid="22" grpId="1" animBg="1"/>
      <p:bldP spid="23" grpId="1" animBg="1"/>
      <p:bldP spid="8" grpId="1" animBg="1"/>
      <p:bldP spid="7" grpId="1" animBg="1"/>
      <p:bldP spid="6" grpId="1" animBg="1"/>
      <p:bldP spid="52" grpId="0" animBg="1"/>
      <p:bldP spid="53" grpId="0" animBg="1"/>
      <p:bldP spid="54" grpId="0" animBg="1"/>
      <p:bldP spid="130" grpId="0" animBg="1"/>
      <p:bldP spid="130" grpId="3" animBg="1"/>
      <p:bldP spid="130" grpId="1" animBg="1"/>
      <p:bldP spid="131" grpId="0" animBg="1"/>
      <p:bldP spid="131" grpId="3" animBg="1"/>
      <p:bldP spid="131" grpId="1" animBg="1"/>
      <p:bldP spid="132" grpId="0" animBg="1"/>
      <p:bldP spid="132" grpId="3" animBg="1"/>
      <p:bldP spid="132" grpId="1" animBg="1"/>
      <p:bldP spid="133" grpId="0" animBg="1"/>
      <p:bldP spid="133" grpId="3" animBg="1"/>
      <p:bldP spid="133" grpId="1" animBg="1"/>
      <p:bldP spid="56" grpId="0" animBg="1"/>
      <p:bldP spid="57" grpId="0" animBg="1"/>
      <p:bldP spid="134" grpId="0" animBg="1"/>
      <p:bldP spid="134" grpId="3" animBg="1"/>
      <p:bldP spid="134" grpId="1" animBg="1"/>
      <p:bldP spid="77" grpId="1" animBg="1"/>
      <p:bldP spid="78" grpId="0" animBg="1"/>
      <p:bldP spid="62" grpId="1" animBg="1"/>
      <p:bldP spid="63" grpId="0" animBg="1"/>
      <p:bldP spid="65" grpId="1" animBg="1"/>
      <p:bldP spid="66" grpId="0" animBg="1"/>
      <p:bldP spid="68" grpId="1" animBg="1"/>
      <p:bldP spid="69" grpId="0" animBg="1"/>
      <p:bldP spid="135" grpId="0" animBg="1"/>
      <p:bldP spid="136" grpId="0" animBg="1"/>
      <p:bldP spid="135" grpId="2" animBg="1"/>
      <p:bldP spid="136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878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79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5" name="i8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881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882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883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884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0" name="i8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886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887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888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889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</p:sp>
      <p:pic>
        <p:nvPicPr>
          <p:cNvPr id="15" name="i89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891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892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893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894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895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896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897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898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899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900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901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902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903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904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905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906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3" animBg="1"/>
      <p:bldP spid="20" grpId="1" animBg="1"/>
      <p:bldP spid="26" grpId="0" animBg="1"/>
      <p:bldP spid="21" grpId="3" animBg="1"/>
      <p:bldP spid="21" grpId="1" animBg="1"/>
      <p:bldP spid="27" grpId="0" animBg="1"/>
      <p:bldP spid="22" grpId="3" animBg="1"/>
      <p:bldP spid="22" grpId="1" animBg="1"/>
      <p:bldP spid="28" grpId="0" animBg="1"/>
      <p:bldP spid="23" grpId="3" animBg="1"/>
      <p:bldP spid="23" grpId="1" animBg="1"/>
      <p:bldP spid="29" grpId="0" animBg="1"/>
      <p:bldP spid="24" grpId="3" animBg="1"/>
      <p:bldP spid="24" grpId="1" animBg="1"/>
      <p:bldP spid="30" grpId="0" animBg="1"/>
      <p:bldP spid="25" grpId="3" animBg="1"/>
      <p:bldP spid="25" grpId="1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907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08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0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910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911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912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913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s914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1" name="i9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916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917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918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919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s920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7" name="i92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922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923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924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925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2" name="s926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3" name="i9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928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929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930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Post-treatment wash, packed beds, SWS, SRU</a:t>
            </a:r>
            <a:endParaRPr lang="en-US" sz="1200" dirty="0"/>
          </a:p>
        </p:txBody>
      </p:sp>
      <p:sp>
        <p:nvSpPr>
          <p:cNvPr id="27" name="s931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8" name="s932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9" name="i93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934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935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936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937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34" name="s938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5" name="i93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940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941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942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943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44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94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946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5" name="t947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6" name="t948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949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</p:sp>
      <p:sp>
        <p:nvSpPr>
          <p:cNvPr id="4" name="s950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952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953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954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9" name="i95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956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957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958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3" name="i95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960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961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962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7" name="i9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964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965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966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1" name="i96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968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969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970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5" name="i97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972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973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974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75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5" name="t976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977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978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8" name="s979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" name="t980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981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982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83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8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985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986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987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988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98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990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991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992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993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99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995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996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997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998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99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1000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1001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1002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</p:sp>
      <p:sp>
        <p:nvSpPr>
          <p:cNvPr id="24" name="t1003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1004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4" name="i10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1006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1007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1008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8" name="i10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1010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1011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1012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2" name="i10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1014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1015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1016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6" name="i101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1018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1019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goes back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1020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021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102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1023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1024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1025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026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02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1028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1029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1030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031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03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1033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1034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1035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036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103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1038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1039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1040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4" name="s1041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5" name="i104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1043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1044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1045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9" name="s1046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0" name="i104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1048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1049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50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1051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10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1053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1054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7" name="t1055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Delight International</cp:lastModifiedBy>
  <cp:revision>1</cp:revision>
  <dcterms:created xsi:type="dcterms:W3CDTF">2026-10-06T07:56:12Z</dcterms:created>
  <dcterms:modified xsi:type="dcterms:W3CDTF">2026-10-06T07:56:12Z</dcterms:modified>
</cp:coreProperties>
</file>