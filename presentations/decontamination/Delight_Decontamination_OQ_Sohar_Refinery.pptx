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Delight and the purpose: a decontamination approach tailored to OQ – Sohar Refinery.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Site-specific contaminants and focus. Unit details are confirmed in a joint site survey.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Steam is introduced first; the process vapour path is shown in light blue. Contaminants are released from the column internals.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FT">
    <p:bg>
      <p:bgPr>
        <a:solidFill>
          <a:srgbClr val="E9F2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International  |  Decontamination – OQ Sohar Refinery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229600" y="-1280160"/>
            <a:ext cx="5303520" cy="5303520"/>
          </a:xfrm>
          <a:prstGeom prst="ellipse">
            <a:avLst/>
          </a:prstGeom>
          <a:solidFill>
            <a:srgbClr val="D3E6F4"/>
          </a:solidFill>
          <a:ln/>
        </p:spPr>
      </p:sp>
      <p:sp>
        <p:nvSpPr>
          <p:cNvPr id="3" name="s_2"/>
          <p:cNvSpPr/>
          <p:nvPr/>
        </p:nvSpPr>
        <p:spPr>
          <a:xfrm>
            <a:off x="9692640" y="3931920"/>
            <a:ext cx="3474720" cy="3474720"/>
          </a:xfrm>
          <a:prstGeom prst="ellipse">
            <a:avLst/>
          </a:prstGeom>
          <a:solidFill>
            <a:srgbClr val="D9EFD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914400" cy="1197864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68580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SERVICES</a:t>
            </a:r>
            <a:endParaRPr lang="en-US" sz="16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274320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Safe, fast entry for OQ Sohar Refinery</a:t>
            </a:r>
            <a:endParaRPr lang="en-US" sz="4000" dirty="0"/>
          </a:p>
        </p:txBody>
      </p:sp>
      <p:sp>
        <p:nvSpPr>
          <p:cNvPr id="7" name="t_5"/>
          <p:cNvSpPr txBox="1"/>
          <p:nvPr/>
        </p:nvSpPr>
        <p:spPr>
          <a:xfrm>
            <a:off x="68580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Sohar Port, Al Batinah North</a:t>
            </a:r>
            <a:endParaRPr lang="en-US" sz="1800" dirty="0"/>
          </a:p>
        </p:txBody>
      </p:sp>
      <p:sp>
        <p:nvSpPr>
          <p:cNvPr id="8" name="t_6"/>
          <p:cNvSpPr txBox="1"/>
          <p:nvPr/>
        </p:nvSpPr>
        <p:spPr>
          <a:xfrm>
            <a:off x="68580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International  ·  Maintenance Simplified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3" name="t_1"/>
          <p:cNvSpPr txBox="1"/>
          <p:nvPr/>
        </p:nvSpPr>
        <p:spPr>
          <a:xfrm>
            <a:off x="685800" y="548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_2"/>
          <p:cNvSpPr/>
          <p:nvPr/>
        </p:nvSpPr>
        <p:spPr>
          <a:xfrm>
            <a:off x="731520" y="1737360"/>
            <a:ext cx="731520" cy="73152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7315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_4"/>
          <p:cNvSpPr txBox="1"/>
          <p:nvPr/>
        </p:nvSpPr>
        <p:spPr>
          <a:xfrm>
            <a:off x="1737360" y="18470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and your challenges</a:t>
            </a:r>
            <a:endParaRPr lang="en-US" sz="2200" dirty="0"/>
          </a:p>
        </p:txBody>
      </p:sp>
      <p:sp>
        <p:nvSpPr>
          <p:cNvPr id="7" name="s_5"/>
          <p:cNvSpPr/>
          <p:nvPr/>
        </p:nvSpPr>
        <p:spPr>
          <a:xfrm>
            <a:off x="731520" y="2788920"/>
            <a:ext cx="731520" cy="73152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8" name="t_6"/>
          <p:cNvSpPr txBox="1"/>
          <p:nvPr/>
        </p:nvSpPr>
        <p:spPr>
          <a:xfrm>
            <a:off x="73152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_7"/>
          <p:cNvSpPr txBox="1"/>
          <p:nvPr/>
        </p:nvSpPr>
        <p:spPr>
          <a:xfrm>
            <a:off x="1737360" y="28986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methods and chemistry</a:t>
            </a:r>
            <a:endParaRPr lang="en-US" sz="2200" dirty="0"/>
          </a:p>
        </p:txBody>
      </p:sp>
      <p:sp>
        <p:nvSpPr>
          <p:cNvPr id="10" name="s_8"/>
          <p:cNvSpPr/>
          <p:nvPr/>
        </p:nvSpPr>
        <p:spPr>
          <a:xfrm>
            <a:off x="731520" y="3840480"/>
            <a:ext cx="731520" cy="73152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11" name="t_9"/>
          <p:cNvSpPr txBox="1"/>
          <p:nvPr/>
        </p:nvSpPr>
        <p:spPr>
          <a:xfrm>
            <a:off x="73152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1737360" y="39502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OQ Sohar Refinery units we decontaminate</a:t>
            </a:r>
            <a:endParaRPr lang="en-US" sz="2200" dirty="0"/>
          </a:p>
        </p:txBody>
      </p:sp>
      <p:sp>
        <p:nvSpPr>
          <p:cNvPr id="13" name="s_11"/>
          <p:cNvSpPr/>
          <p:nvPr/>
        </p:nvSpPr>
        <p:spPr>
          <a:xfrm>
            <a:off x="731520" y="4892040"/>
            <a:ext cx="731520" cy="73152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14" name="t_12"/>
          <p:cNvSpPr txBox="1"/>
          <p:nvPr/>
        </p:nvSpPr>
        <p:spPr>
          <a:xfrm>
            <a:off x="731520" y="4892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_13"/>
          <p:cNvSpPr txBox="1"/>
          <p:nvPr/>
        </p:nvSpPr>
        <p:spPr>
          <a:xfrm>
            <a:off x="1737360" y="5001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monitoring and why Delight</a:t>
            </a:r>
            <a:endParaRPr lang="en-US" sz="22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and your challenges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OQ Sohar Refinery needs before equipment is opened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OQ Sohar Refinery: what has to be removed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pic>
        <p:nvPicPr>
          <p:cNvPr id="4" name="i_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457200" cy="457200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14173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822960" y="22402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Residue-upgrading refinery with a residue fluid catalytic cracker (RFCC), hydrotreating and sulphur recovery.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822960" y="3931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Sohar Port, Al Batinah North</a:t>
            </a:r>
            <a:endParaRPr lang="en-US" sz="1400" dirty="0"/>
          </a:p>
        </p:txBody>
      </p:sp>
      <p:sp>
        <p:nvSpPr>
          <p:cNvPr id="8" name="t_6"/>
          <p:cNvSpPr txBox="1"/>
          <p:nvPr/>
        </p:nvSpPr>
        <p:spPr>
          <a:xfrm>
            <a:off x="612648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CONTAMINANTS</a:t>
            </a:r>
            <a:endParaRPr lang="en-US" sz="1400" dirty="0"/>
          </a:p>
        </p:txBody>
      </p:sp>
      <p:sp>
        <p:nvSpPr>
          <p:cNvPr id="9" name="s_7"/>
          <p:cNvSpPr/>
          <p:nvPr/>
        </p:nvSpPr>
        <p:spPr>
          <a:xfrm>
            <a:off x="6126480" y="182880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0" name="t_8"/>
          <p:cNvSpPr txBox="1"/>
          <p:nvPr/>
        </p:nvSpPr>
        <p:spPr>
          <a:xfrm>
            <a:off x="6309360" y="1828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400" dirty="0"/>
          </a:p>
        </p:txBody>
      </p:sp>
      <p:sp>
        <p:nvSpPr>
          <p:cNvPr id="11" name="s_9"/>
          <p:cNvSpPr/>
          <p:nvPr/>
        </p:nvSpPr>
        <p:spPr>
          <a:xfrm>
            <a:off x="8869680" y="182880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2700">
            <a:solidFill>
              <a:srgbClr val="BFE3C4"/>
            </a:solidFill>
            <a:prstDash val="solid"/>
          </a:ln>
        </p:spPr>
      </p:sp>
      <p:sp>
        <p:nvSpPr>
          <p:cNvPr id="12" name="t_10"/>
          <p:cNvSpPr txBox="1"/>
          <p:nvPr/>
        </p:nvSpPr>
        <p:spPr>
          <a:xfrm>
            <a:off x="9052560" y="1828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6126480" y="2578608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4" name="t_12"/>
          <p:cNvSpPr txBox="1"/>
          <p:nvPr/>
        </p:nvSpPr>
        <p:spPr>
          <a:xfrm>
            <a:off x="6309360" y="25786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 (hydrocarbons)</a:t>
            </a:r>
            <a:endParaRPr lang="en-US" sz="1400" dirty="0"/>
          </a:p>
        </p:txBody>
      </p:sp>
      <p:sp>
        <p:nvSpPr>
          <p:cNvPr id="15" name="s_13"/>
          <p:cNvSpPr/>
          <p:nvPr/>
        </p:nvSpPr>
        <p:spPr>
          <a:xfrm>
            <a:off x="8869680" y="2578608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2700">
            <a:solidFill>
              <a:srgbClr val="BFE3C4"/>
            </a:solidFill>
            <a:prstDash val="solid"/>
          </a:ln>
        </p:spPr>
      </p:sp>
      <p:sp>
        <p:nvSpPr>
          <p:cNvPr id="16" name="t_14"/>
          <p:cNvSpPr txBox="1"/>
          <p:nvPr/>
        </p:nvSpPr>
        <p:spPr>
          <a:xfrm>
            <a:off x="9052560" y="25786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400" dirty="0"/>
          </a:p>
        </p:txBody>
      </p:sp>
      <p:sp>
        <p:nvSpPr>
          <p:cNvPr id="17" name="s_15"/>
          <p:cNvSpPr/>
          <p:nvPr/>
        </p:nvSpPr>
        <p:spPr>
          <a:xfrm>
            <a:off x="6126480" y="3328416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8" name="t_16"/>
          <p:cNvSpPr txBox="1"/>
          <p:nvPr/>
        </p:nvSpPr>
        <p:spPr>
          <a:xfrm>
            <a:off x="6309360" y="33284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Slurry &amp; catalyst fines</a:t>
            </a:r>
            <a:endParaRPr lang="en-US" sz="1400" dirty="0"/>
          </a:p>
        </p:txBody>
      </p:sp>
      <p:sp>
        <p:nvSpPr>
          <p:cNvPr id="19" name="s_17"/>
          <p:cNvSpPr/>
          <p:nvPr/>
        </p:nvSpPr>
        <p:spPr>
          <a:xfrm>
            <a:off x="8869680" y="3328416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2700">
            <a:solidFill>
              <a:srgbClr val="BFE3C4"/>
            </a:solidFill>
            <a:prstDash val="solid"/>
          </a:ln>
        </p:spPr>
      </p:sp>
      <p:sp>
        <p:nvSpPr>
          <p:cNvPr id="20" name="t_18"/>
          <p:cNvSpPr txBox="1"/>
          <p:nvPr/>
        </p:nvSpPr>
        <p:spPr>
          <a:xfrm>
            <a:off x="9052560" y="33284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oil &amp; sludge</a:t>
            </a:r>
            <a:endParaRPr lang="en-US" sz="1400" dirty="0"/>
          </a:p>
        </p:txBody>
      </p:sp>
      <p:sp>
        <p:nvSpPr>
          <p:cNvPr id="21" name="s_19"/>
          <p:cNvSpPr/>
          <p:nvPr/>
        </p:nvSpPr>
        <p:spPr>
          <a:xfrm>
            <a:off x="6126480" y="4078224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22" name="t_20"/>
          <p:cNvSpPr txBox="1"/>
          <p:nvPr/>
        </p:nvSpPr>
        <p:spPr>
          <a:xfrm>
            <a:off x="6309360" y="407822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Ammonia</a:t>
            </a:r>
            <a:endParaRPr lang="en-US" sz="1400" dirty="0"/>
          </a:p>
        </p:txBody>
      </p:sp>
      <p:sp>
        <p:nvSpPr>
          <p:cNvPr id="23" name="s_21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AF6EC"/>
          </a:solidFill>
          <a:ln/>
        </p:spPr>
      </p:sp>
      <p:sp>
        <p:nvSpPr>
          <p:cNvPr id="24" name="t_22"/>
          <p:cNvSpPr txBox="1"/>
          <p:nvPr/>
        </p:nvSpPr>
        <p:spPr>
          <a:xfrm>
            <a:off x="777240" y="5257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focus:  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of the crude, RFCC and treating units and tank farm so mechanical work can start safely on day one of the shutdown.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decontamination?</a:t>
            </a:r>
            <a:endParaRPr lang="en-US" sz="2800" dirty="0"/>
          </a:p>
        </p:txBody>
      </p:sp>
      <p:sp>
        <p:nvSpPr>
          <p:cNvPr id="3" name="t_1"/>
          <p:cNvSpPr txBox="1"/>
          <p:nvPr/>
        </p:nvSpPr>
        <p:spPr>
          <a:xfrm>
            <a:off x="548640" y="13258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prepares process equipment for safe entry and maintenance as quickly as possible – removing toxic and flammable gases, pyrophoric deposits and hydrocarbons before the equipment is opened.</a:t>
            </a:r>
            <a:endParaRPr lang="en-US" sz="1800" dirty="0"/>
          </a:p>
        </p:txBody>
      </p:sp>
      <p:sp>
        <p:nvSpPr>
          <p:cNvPr id="4" name="t_2"/>
          <p:cNvSpPr txBox="1"/>
          <p:nvPr/>
        </p:nvSpPr>
        <p:spPr>
          <a:xfrm>
            <a:off x="548640" y="2286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challenges at OQ Sohar Refinery: H₂S, Benzene, LEL (hydrocarbons), Pyrophoric FeS, Slurry &amp; catalyst fines.</a:t>
            </a:r>
            <a:endParaRPr lang="en-US" sz="1500" dirty="0"/>
          </a:p>
        </p:txBody>
      </p:sp>
      <p:sp>
        <p:nvSpPr>
          <p:cNvPr id="5" name="t_3"/>
          <p:cNvSpPr txBox="1"/>
          <p:nvPr/>
        </p:nvSpPr>
        <p:spPr>
          <a:xfrm>
            <a:off x="548640" y="3154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ELEMENTS WE PLAN FOR</a:t>
            </a:r>
            <a:endParaRPr lang="en-US" sz="1500" dirty="0"/>
          </a:p>
        </p:txBody>
      </p:sp>
      <p:sp>
        <p:nvSpPr>
          <p:cNvPr id="6" name="s_4"/>
          <p:cNvSpPr/>
          <p:nvPr/>
        </p:nvSpPr>
        <p:spPr>
          <a:xfrm>
            <a:off x="118872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7" name="i_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4000500"/>
            <a:ext cx="502920" cy="502920"/>
          </a:xfrm>
          <a:prstGeom prst="rect">
            <a:avLst/>
          </a:prstGeom>
        </p:spPr>
      </p:pic>
      <p:sp>
        <p:nvSpPr>
          <p:cNvPr id="8" name="t_6"/>
          <p:cNvSpPr txBox="1"/>
          <p:nvPr/>
        </p:nvSpPr>
        <p:spPr>
          <a:xfrm>
            <a:off x="86868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of application</a:t>
            </a:r>
            <a:endParaRPr lang="en-US" sz="1400" dirty="0"/>
          </a:p>
        </p:txBody>
      </p:sp>
      <p:sp>
        <p:nvSpPr>
          <p:cNvPr id="9" name="s_7"/>
          <p:cNvSpPr/>
          <p:nvPr/>
        </p:nvSpPr>
        <p:spPr>
          <a:xfrm>
            <a:off x="3429000" y="3749040"/>
            <a:ext cx="1005840" cy="10058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4000500"/>
            <a:ext cx="502920" cy="50292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310896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time</a:t>
            </a:r>
            <a:endParaRPr lang="en-US" sz="1400" dirty="0"/>
          </a:p>
        </p:txBody>
      </p:sp>
      <p:sp>
        <p:nvSpPr>
          <p:cNvPr id="12" name="s_10"/>
          <p:cNvSpPr/>
          <p:nvPr/>
        </p:nvSpPr>
        <p:spPr>
          <a:xfrm>
            <a:off x="566928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3" name="i_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4000500"/>
            <a:ext cx="502920" cy="502920"/>
          </a:xfrm>
          <a:prstGeom prst="rect">
            <a:avLst/>
          </a:prstGeom>
        </p:spPr>
      </p:pic>
      <p:sp>
        <p:nvSpPr>
          <p:cNvPr id="14" name="t_12"/>
          <p:cNvSpPr txBox="1"/>
          <p:nvPr/>
        </p:nvSpPr>
        <p:spPr>
          <a:xfrm>
            <a:off x="534924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cleaning needs</a:t>
            </a:r>
            <a:endParaRPr lang="en-US" sz="1400" dirty="0"/>
          </a:p>
        </p:txBody>
      </p:sp>
      <p:sp>
        <p:nvSpPr>
          <p:cNvPr id="15" name="s_13"/>
          <p:cNvSpPr/>
          <p:nvPr/>
        </p:nvSpPr>
        <p:spPr>
          <a:xfrm>
            <a:off x="7909560" y="3749040"/>
            <a:ext cx="1005840" cy="10058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6" name="i_1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0" y="4000500"/>
            <a:ext cx="502920" cy="502920"/>
          </a:xfrm>
          <a:prstGeom prst="rect">
            <a:avLst/>
          </a:prstGeom>
        </p:spPr>
      </p:pic>
      <p:sp>
        <p:nvSpPr>
          <p:cNvPr id="17" name="t_15"/>
          <p:cNvSpPr txBox="1"/>
          <p:nvPr/>
        </p:nvSpPr>
        <p:spPr>
          <a:xfrm>
            <a:off x="758952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requirements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1014984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9" name="i_1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300" y="4000500"/>
            <a:ext cx="502920" cy="502920"/>
          </a:xfrm>
          <a:prstGeom prst="rect">
            <a:avLst/>
          </a:prstGeom>
        </p:spPr>
      </p:pic>
      <p:sp>
        <p:nvSpPr>
          <p:cNvPr id="20" name="t_18"/>
          <p:cNvSpPr txBox="1"/>
          <p:nvPr/>
        </p:nvSpPr>
        <p:spPr>
          <a:xfrm>
            <a:off x="982980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effluent quality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2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8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400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objectives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4630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86868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_4"/>
          <p:cNvSpPr txBox="1"/>
          <p:nvPr/>
        </p:nvSpPr>
        <p:spPr>
          <a:xfrm>
            <a:off x="192024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De-oiling / de-sludging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192024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 heavy deposits for easier removal; reduce hazardous sludge and break up the rest.</a:t>
            </a:r>
            <a:endParaRPr lang="en-US" sz="1500" dirty="0"/>
          </a:p>
        </p:txBody>
      </p:sp>
      <p:sp>
        <p:nvSpPr>
          <p:cNvPr id="8" name="s_6"/>
          <p:cNvSpPr/>
          <p:nvPr/>
        </p:nvSpPr>
        <p:spPr>
          <a:xfrm>
            <a:off x="6172200" y="14630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6492240" y="18745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10" name="t_8"/>
          <p:cNvSpPr txBox="1"/>
          <p:nvPr/>
        </p:nvSpPr>
        <p:spPr>
          <a:xfrm>
            <a:off x="649224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_9"/>
          <p:cNvSpPr txBox="1"/>
          <p:nvPr/>
        </p:nvSpPr>
        <p:spPr>
          <a:xfrm>
            <a:off x="754380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oxidation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754380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 pyrophoric iron sulphide (FeS) and H₂S.</a:t>
            </a:r>
            <a:endParaRPr lang="en-US" sz="1500" dirty="0"/>
          </a:p>
        </p:txBody>
      </p:sp>
      <p:sp>
        <p:nvSpPr>
          <p:cNvPr id="13" name="s_11"/>
          <p:cNvSpPr/>
          <p:nvPr/>
        </p:nvSpPr>
        <p:spPr>
          <a:xfrm>
            <a:off x="548640" y="3794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68680" y="420624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15" name="t_13"/>
          <p:cNvSpPr txBox="1"/>
          <p:nvPr/>
        </p:nvSpPr>
        <p:spPr>
          <a:xfrm>
            <a:off x="86868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_14"/>
          <p:cNvSpPr txBox="1"/>
          <p:nvPr/>
        </p:nvSpPr>
        <p:spPr>
          <a:xfrm>
            <a:off x="192024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Degassing</a:t>
            </a:r>
            <a:endParaRPr lang="en-US" sz="2000" dirty="0"/>
          </a:p>
        </p:txBody>
      </p:sp>
      <p:sp>
        <p:nvSpPr>
          <p:cNvPr id="17" name="t_15"/>
          <p:cNvSpPr txBox="1"/>
          <p:nvPr/>
        </p:nvSpPr>
        <p:spPr>
          <a:xfrm>
            <a:off x="1920240" y="4663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flammable hydrocarbon gases (LEL), benzene and H₂S safely.</a:t>
            </a:r>
            <a:endParaRPr lang="en-US" sz="1500" dirty="0"/>
          </a:p>
        </p:txBody>
      </p:sp>
      <p:sp>
        <p:nvSpPr>
          <p:cNvPr id="18" name="s_16"/>
          <p:cNvSpPr/>
          <p:nvPr/>
        </p:nvSpPr>
        <p:spPr>
          <a:xfrm>
            <a:off x="6172200" y="3794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6492240" y="420624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20" name="t_18"/>
          <p:cNvSpPr txBox="1"/>
          <p:nvPr/>
        </p:nvSpPr>
        <p:spPr>
          <a:xfrm>
            <a:off x="649224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_19"/>
          <p:cNvSpPr txBox="1"/>
          <p:nvPr/>
        </p:nvSpPr>
        <p:spPr>
          <a:xfrm>
            <a:off x="754380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Neutralising</a:t>
            </a:r>
            <a:endParaRPr lang="en-US" sz="2000" dirty="0"/>
          </a:p>
        </p:txBody>
      </p:sp>
      <p:sp>
        <p:nvSpPr>
          <p:cNvPr id="22" name="t_20"/>
          <p:cNvSpPr txBox="1"/>
          <p:nvPr/>
        </p:nvSpPr>
        <p:spPr>
          <a:xfrm>
            <a:off x="7543800" y="4663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pH and treat ammonia so effluent can be handled and disposed of.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Simultaneous treatment in one application</a:t>
            </a:r>
            <a:endParaRPr lang="en-US" sz="2800" dirty="0"/>
          </a:p>
        </p:txBody>
      </p:sp>
      <p:sp>
        <p:nvSpPr>
          <p:cNvPr id="3" name="t_1"/>
          <p:cNvSpPr txBox="1"/>
          <p:nvPr/>
        </p:nvSpPr>
        <p:spPr>
          <a:xfrm>
            <a:off x="6858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500" dirty="0"/>
          </a:p>
        </p:txBody>
      </p:sp>
      <p:sp>
        <p:nvSpPr>
          <p:cNvPr id="4" name="s_2"/>
          <p:cNvSpPr/>
          <p:nvPr/>
        </p:nvSpPr>
        <p:spPr>
          <a:xfrm>
            <a:off x="868680" y="2103120"/>
            <a:ext cx="1234440" cy="1463040"/>
          </a:xfrm>
          <a:prstGeom prst="downArrow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6858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entry limit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25146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2697480" y="2103120"/>
            <a:ext cx="1234440" cy="1463040"/>
          </a:xfrm>
          <a:prstGeom prst="downArrow">
            <a:avLst/>
          </a:prstGeom>
          <a:solidFill>
            <a:srgbClr val="0C74BC"/>
          </a:solidFill>
          <a:ln/>
        </p:spPr>
      </p:sp>
      <p:sp>
        <p:nvSpPr>
          <p:cNvPr id="8" name="t_6"/>
          <p:cNvSpPr txBox="1"/>
          <p:nvPr/>
        </p:nvSpPr>
        <p:spPr>
          <a:xfrm>
            <a:off x="25146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Gas-free</a:t>
            </a:r>
            <a:endParaRPr lang="en-US" sz="1400" dirty="0"/>
          </a:p>
        </p:txBody>
      </p:sp>
      <p:sp>
        <p:nvSpPr>
          <p:cNvPr id="9" name="t_7"/>
          <p:cNvSpPr txBox="1"/>
          <p:nvPr/>
        </p:nvSpPr>
        <p:spPr>
          <a:xfrm>
            <a:off x="43434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&amp; mercaptans</a:t>
            </a:r>
            <a:endParaRPr lang="en-US" sz="1500" dirty="0"/>
          </a:p>
        </p:txBody>
      </p:sp>
      <p:sp>
        <p:nvSpPr>
          <p:cNvPr id="10" name="s_8"/>
          <p:cNvSpPr/>
          <p:nvPr/>
        </p:nvSpPr>
        <p:spPr>
          <a:xfrm>
            <a:off x="4526280" y="2103120"/>
            <a:ext cx="1234440" cy="1463040"/>
          </a:xfrm>
          <a:prstGeom prst="downArrow">
            <a:avLst/>
          </a:prstGeom>
          <a:solidFill>
            <a:srgbClr val="3AB54A"/>
          </a:solidFill>
          <a:ln/>
        </p:spPr>
      </p:sp>
      <p:sp>
        <p:nvSpPr>
          <p:cNvPr id="11" name="t_9"/>
          <p:cNvSpPr txBox="1"/>
          <p:nvPr/>
        </p:nvSpPr>
        <p:spPr>
          <a:xfrm>
            <a:off x="43434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entry limit</a:t>
            </a:r>
            <a:endParaRPr lang="en-US" sz="1400" dirty="0"/>
          </a:p>
        </p:txBody>
      </p:sp>
      <p:sp>
        <p:nvSpPr>
          <p:cNvPr id="12" name="t_10"/>
          <p:cNvSpPr txBox="1"/>
          <p:nvPr/>
        </p:nvSpPr>
        <p:spPr>
          <a:xfrm>
            <a:off x="61722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500" dirty="0"/>
          </a:p>
        </p:txBody>
      </p:sp>
      <p:sp>
        <p:nvSpPr>
          <p:cNvPr id="13" name="s_11"/>
          <p:cNvSpPr/>
          <p:nvPr/>
        </p:nvSpPr>
        <p:spPr>
          <a:xfrm>
            <a:off x="6355080" y="2103120"/>
            <a:ext cx="1234440" cy="1463040"/>
          </a:xfrm>
          <a:prstGeom prst="downArrow">
            <a:avLst/>
          </a:prstGeom>
          <a:solidFill>
            <a:srgbClr val="3AB54A"/>
          </a:solidFill>
          <a:ln/>
        </p:spPr>
      </p:sp>
      <p:sp>
        <p:nvSpPr>
          <p:cNvPr id="14" name="t_12"/>
          <p:cNvSpPr txBox="1"/>
          <p:nvPr/>
        </p:nvSpPr>
        <p:spPr>
          <a:xfrm>
            <a:off x="61722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Neutralised</a:t>
            </a:r>
            <a:endParaRPr lang="en-US" sz="1400" dirty="0"/>
          </a:p>
        </p:txBody>
      </p:sp>
      <p:sp>
        <p:nvSpPr>
          <p:cNvPr id="15" name="t_13"/>
          <p:cNvSpPr txBox="1"/>
          <p:nvPr/>
        </p:nvSpPr>
        <p:spPr>
          <a:xfrm>
            <a:off x="80010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organics</a:t>
            </a:r>
            <a:endParaRPr lang="en-US" sz="1500" dirty="0"/>
          </a:p>
        </p:txBody>
      </p:sp>
      <p:sp>
        <p:nvSpPr>
          <p:cNvPr id="16" name="s_14"/>
          <p:cNvSpPr/>
          <p:nvPr/>
        </p:nvSpPr>
        <p:spPr>
          <a:xfrm>
            <a:off x="8183880" y="2103120"/>
            <a:ext cx="1234440" cy="1463040"/>
          </a:xfrm>
          <a:prstGeom prst="downArrow">
            <a:avLst/>
          </a:prstGeom>
          <a:solidFill>
            <a:srgbClr val="1F5F8B"/>
          </a:solidFill>
          <a:ln/>
        </p:spPr>
      </p:sp>
      <p:sp>
        <p:nvSpPr>
          <p:cNvPr id="17" name="t_15"/>
          <p:cNvSpPr txBox="1"/>
          <p:nvPr/>
        </p:nvSpPr>
        <p:spPr>
          <a:xfrm>
            <a:off x="80010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Emulsified / removed</a:t>
            </a:r>
            <a:endParaRPr lang="en-US" sz="1400" dirty="0"/>
          </a:p>
        </p:txBody>
      </p:sp>
      <p:sp>
        <p:nvSpPr>
          <p:cNvPr id="18" name="t_16"/>
          <p:cNvSpPr txBox="1"/>
          <p:nvPr/>
        </p:nvSpPr>
        <p:spPr>
          <a:xfrm>
            <a:off x="98298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solids</a:t>
            </a:r>
            <a:endParaRPr lang="en-US" sz="1500" dirty="0"/>
          </a:p>
        </p:txBody>
      </p:sp>
      <p:sp>
        <p:nvSpPr>
          <p:cNvPr id="19" name="s_17"/>
          <p:cNvSpPr/>
          <p:nvPr/>
        </p:nvSpPr>
        <p:spPr>
          <a:xfrm>
            <a:off x="10012680" y="2103120"/>
            <a:ext cx="1234440" cy="1463040"/>
          </a:xfrm>
          <a:prstGeom prst="downArrow">
            <a:avLst/>
          </a:prstGeom>
          <a:solidFill>
            <a:srgbClr val="1F5F8B"/>
          </a:solidFill>
          <a:ln/>
        </p:spPr>
      </p:sp>
      <p:sp>
        <p:nvSpPr>
          <p:cNvPr id="20" name="t_18"/>
          <p:cNvSpPr txBox="1"/>
          <p:nvPr/>
        </p:nvSpPr>
        <p:spPr>
          <a:xfrm>
            <a:off x="98298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Conditioned</a:t>
            </a:r>
            <a:endParaRPr lang="en-US" sz="1400" dirty="0"/>
          </a:p>
        </p:txBody>
      </p:sp>
      <p:sp>
        <p:nvSpPr>
          <p:cNvPr id="21" name="s_19"/>
          <p:cNvSpPr/>
          <p:nvPr/>
        </p:nvSpPr>
        <p:spPr>
          <a:xfrm>
            <a:off x="685800" y="4434840"/>
            <a:ext cx="3429000" cy="0"/>
          </a:xfrm>
          <a:prstGeom prst="line">
            <a:avLst/>
          </a:prstGeom>
          <a:noFill/>
          <a:ln w="25400">
            <a:solidFill>
              <a:srgbClr val="0C74BC"/>
            </a:solidFill>
            <a:prstDash val="solid"/>
          </a:ln>
        </p:spPr>
      </p:sp>
      <p:sp>
        <p:nvSpPr>
          <p:cNvPr id="22" name="t_20"/>
          <p:cNvSpPr txBox="1"/>
          <p:nvPr/>
        </p:nvSpPr>
        <p:spPr>
          <a:xfrm>
            <a:off x="6858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</a:t>
            </a:r>
            <a:endParaRPr lang="en-US" sz="1600" dirty="0"/>
          </a:p>
        </p:txBody>
      </p:sp>
      <p:sp>
        <p:nvSpPr>
          <p:cNvPr id="23" name="s_21"/>
          <p:cNvSpPr/>
          <p:nvPr/>
        </p:nvSpPr>
        <p:spPr>
          <a:xfrm>
            <a:off x="4343400" y="4434840"/>
            <a:ext cx="3429000" cy="0"/>
          </a:xfrm>
          <a:prstGeom prst="line">
            <a:avLst/>
          </a:prstGeom>
          <a:noFill/>
          <a:ln w="25400">
            <a:solidFill>
              <a:srgbClr val="3AB54A"/>
            </a:solidFill>
            <a:prstDash val="solid"/>
          </a:ln>
        </p:spPr>
      </p:sp>
      <p:sp>
        <p:nvSpPr>
          <p:cNvPr id="24" name="t_22"/>
          <p:cNvSpPr txBox="1"/>
          <p:nvPr/>
        </p:nvSpPr>
        <p:spPr>
          <a:xfrm>
            <a:off x="43434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Oxidation</a:t>
            </a:r>
            <a:endParaRPr lang="en-US" sz="1600" dirty="0"/>
          </a:p>
        </p:txBody>
      </p:sp>
      <p:sp>
        <p:nvSpPr>
          <p:cNvPr id="25" name="s_23"/>
          <p:cNvSpPr/>
          <p:nvPr/>
        </p:nvSpPr>
        <p:spPr>
          <a:xfrm>
            <a:off x="8001000" y="4434840"/>
            <a:ext cx="3429000" cy="0"/>
          </a:xfrm>
          <a:prstGeom prst="line">
            <a:avLst/>
          </a:prstGeom>
          <a:noFill/>
          <a:ln w="25400">
            <a:solidFill>
              <a:srgbClr val="1F5F8B"/>
            </a:solidFill>
            <a:prstDash val="solid"/>
          </a:ln>
        </p:spPr>
      </p:sp>
      <p:sp>
        <p:nvSpPr>
          <p:cNvPr id="26" name="t_24"/>
          <p:cNvSpPr txBox="1"/>
          <p:nvPr/>
        </p:nvSpPr>
        <p:spPr>
          <a:xfrm>
            <a:off x="80010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600" dirty="0"/>
          </a:p>
        </p:txBody>
      </p:sp>
      <p:sp>
        <p:nvSpPr>
          <p:cNvPr id="27" name="t_25"/>
          <p:cNvSpPr txBox="1"/>
          <p:nvPr/>
        </p:nvSpPr>
        <p:spPr>
          <a:xfrm>
            <a:off x="685800" y="53035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entry criteria are agreed with the client and confirmed by gas testing before handover.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"/>
                            </p:stCondLst>
                            <p:childTnLst>
                              <p:par>
                                <p:cTn id="8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5" grpId="0" animBg="1"/>
      <p:bldP spid="7" grpId="0" animBg="1"/>
      <p:bldP spid="6" grpId="0" animBg="1"/>
      <p:bldP spid="8" grpId="0" animBg="1"/>
      <p:bldP spid="10" grpId="0" animBg="1"/>
      <p:bldP spid="9" grpId="0" animBg="1"/>
      <p:bldP spid="11" grpId="0" animBg="1"/>
      <p:bldP spid="13" grpId="0" animBg="1"/>
      <p:bldP spid="12" grpId="0" animBg="1"/>
      <p:bldP spid="14" grpId="0" animBg="1"/>
      <p:bldP spid="16" grpId="0" animBg="1"/>
      <p:bldP spid="15" grpId="0" animBg="1"/>
      <p:bldP spid="17" grpId="0" animBg="1"/>
      <p:bldP spid="19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methods and chemistry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method for each piece of equipment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methods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22960" y="1645920"/>
            <a:ext cx="777240" cy="7772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840230"/>
            <a:ext cx="388620" cy="38862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783080" y="17190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1783080" y="228600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is carried by steam through existing steam-out lines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injection points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route to entry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6172200" y="137160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6446520" y="1645920"/>
            <a:ext cx="777240" cy="7772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1840230"/>
            <a:ext cx="388620" cy="38862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7406640" y="17190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7406640" y="228600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specific vessels, exchangers and piping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where steam is not available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548640" y="384048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22960" y="4114800"/>
            <a:ext cx="777240" cy="7772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309110"/>
            <a:ext cx="388620" cy="38862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1783080" y="4187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</a:t>
            </a:r>
            <a:endParaRPr lang="en-US" sz="2000" dirty="0"/>
          </a:p>
        </p:txBody>
      </p:sp>
      <p:sp>
        <p:nvSpPr>
          <p:cNvPr id="17" name="t_15"/>
          <p:cNvSpPr txBox="1"/>
          <p:nvPr/>
        </p:nvSpPr>
        <p:spPr>
          <a:xfrm>
            <a:off x="1783080" y="475488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vessels with large volumes of sludge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+ steam + chemistry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6172200" y="384048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6446520" y="4114800"/>
            <a:ext cx="777240" cy="7772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830" y="4309110"/>
            <a:ext cx="388620" cy="38862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7406640" y="4187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/ post treatment</a:t>
            </a:r>
            <a:endParaRPr lang="en-US" sz="2000" dirty="0"/>
          </a:p>
        </p:txBody>
      </p:sp>
      <p:sp>
        <p:nvSpPr>
          <p:cNvPr id="22" name="t_20"/>
          <p:cNvSpPr txBox="1"/>
          <p:nvPr/>
        </p:nvSpPr>
        <p:spPr>
          <a:xfrm>
            <a:off x="7406640" y="475488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wash / viscosity flush of heavy circuits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 and packing pre-treatment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Neutralising post-rinse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Vapour-phase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572000" y="1600200"/>
            <a:ext cx="1097280" cy="4114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617720" y="20116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4617720" y="24231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4617720" y="28346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4617720" y="32461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461772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4617720" y="40690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4617720" y="44805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4617720" y="48920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4617720" y="53035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6675120" y="17830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>
            <a:off x="6867144" y="173736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s_13"/>
          <p:cNvSpPr/>
          <p:nvPr/>
        </p:nvSpPr>
        <p:spPr>
          <a:xfrm>
            <a:off x="6949440" y="192024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6949440" y="205740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6949440" y="219456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8778240" y="324612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9" name="s_17"/>
          <p:cNvSpPr/>
          <p:nvPr/>
        </p:nvSpPr>
        <p:spPr>
          <a:xfrm>
            <a:off x="9098280" y="452628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 rot="5400000">
            <a:off x="9221724" y="462915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21" name="t_19"/>
          <p:cNvSpPr txBox="1"/>
          <p:nvPr/>
        </p:nvSpPr>
        <p:spPr>
          <a:xfrm>
            <a:off x="4572000" y="5779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200" dirty="0"/>
          </a:p>
        </p:txBody>
      </p:sp>
      <p:sp>
        <p:nvSpPr>
          <p:cNvPr id="22" name="t_20"/>
          <p:cNvSpPr txBox="1"/>
          <p:nvPr/>
        </p:nvSpPr>
        <p:spPr>
          <a:xfrm>
            <a:off x="6675120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Condenser</a:t>
            </a:r>
            <a:endParaRPr lang="en-US" sz="1200" dirty="0"/>
          </a:p>
        </p:txBody>
      </p:sp>
      <p:sp>
        <p:nvSpPr>
          <p:cNvPr id="23" name="t_21"/>
          <p:cNvSpPr txBox="1"/>
          <p:nvPr/>
        </p:nvSpPr>
        <p:spPr>
          <a:xfrm>
            <a:off x="8778240" y="3977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Reflux drum</a:t>
            </a:r>
            <a:endParaRPr lang="en-US" sz="1200" dirty="0"/>
          </a:p>
        </p:txBody>
      </p:sp>
      <p:sp>
        <p:nvSpPr>
          <p:cNvPr id="24" name="s_22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9299448" y="3931920"/>
            <a:ext cx="0" cy="5943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H="1">
            <a:off x="6400800" y="4727448"/>
            <a:ext cx="2697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V="1">
            <a:off x="6400800" y="2377440"/>
            <a:ext cx="0" cy="235000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 flipH="1">
            <a:off x="5669280" y="2377440"/>
            <a:ext cx="731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10058400" y="499262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_32"/>
          <p:cNvSpPr txBox="1"/>
          <p:nvPr/>
        </p:nvSpPr>
        <p:spPr>
          <a:xfrm>
            <a:off x="10305288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5" name="s_33"/>
          <p:cNvSpPr/>
          <p:nvPr/>
        </p:nvSpPr>
        <p:spPr>
          <a:xfrm>
            <a:off x="10058400" y="528523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t_34"/>
          <p:cNvSpPr txBox="1"/>
          <p:nvPr/>
        </p:nvSpPr>
        <p:spPr>
          <a:xfrm>
            <a:off x="10305288" y="5230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7" name="s_35"/>
          <p:cNvSpPr/>
          <p:nvPr/>
        </p:nvSpPr>
        <p:spPr>
          <a:xfrm>
            <a:off x="10058400" y="557784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8" name="t_36"/>
          <p:cNvSpPr txBox="1"/>
          <p:nvPr/>
        </p:nvSpPr>
        <p:spPr>
          <a:xfrm>
            <a:off x="10305288" y="5522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9" name="s_37"/>
          <p:cNvSpPr/>
          <p:nvPr/>
        </p:nvSpPr>
        <p:spPr>
          <a:xfrm>
            <a:off x="10058400" y="587044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0" name="t_38"/>
          <p:cNvSpPr txBox="1"/>
          <p:nvPr/>
        </p:nvSpPr>
        <p:spPr>
          <a:xfrm>
            <a:off x="10305288" y="5815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41" name="t_39"/>
          <p:cNvSpPr txBox="1"/>
          <p:nvPr/>
        </p:nvSpPr>
        <p:spPr>
          <a:xfrm>
            <a:off x="548640" y="141732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optional pre-treatment, steam is introduced through the steam-out line.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injection points: exchangers, heaters, strippers and drums.</a:t>
            </a:r>
            <a:endParaRPr lang="en-US" sz="1500" dirty="0"/>
          </a:p>
        </p:txBody>
      </p:sp>
      <p:sp>
        <p:nvSpPr>
          <p:cNvPr id="42" name="t_40"/>
          <p:cNvSpPr txBox="1"/>
          <p:nvPr/>
        </p:nvSpPr>
        <p:spPr>
          <a:xfrm>
            <a:off x="2743200" y="5138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43" name="s_41"/>
          <p:cNvSpPr/>
          <p:nvPr/>
        </p:nvSpPr>
        <p:spPr>
          <a:xfrm>
            <a:off x="2743200" y="5440680"/>
            <a:ext cx="18288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44" name="s_42"/>
          <p:cNvSpPr/>
          <p:nvPr/>
        </p:nvSpPr>
        <p:spPr>
          <a:xfrm>
            <a:off x="4800600" y="201168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5" name="s_43"/>
          <p:cNvSpPr/>
          <p:nvPr/>
        </p:nvSpPr>
        <p:spPr>
          <a:xfrm>
            <a:off x="5257800" y="265176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6" name="s_44"/>
          <p:cNvSpPr/>
          <p:nvPr/>
        </p:nvSpPr>
        <p:spPr>
          <a:xfrm>
            <a:off x="4892040" y="3474720"/>
            <a:ext cx="146304" cy="146304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47" name="s_45"/>
          <p:cNvSpPr/>
          <p:nvPr/>
        </p:nvSpPr>
        <p:spPr>
          <a:xfrm>
            <a:off x="5303520" y="4206240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8" name="s_46"/>
          <p:cNvSpPr/>
          <p:nvPr/>
        </p:nvSpPr>
        <p:spPr>
          <a:xfrm>
            <a:off x="4846320" y="48463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9" name="s_47"/>
          <p:cNvSpPr/>
          <p:nvPr/>
        </p:nvSpPr>
        <p:spPr>
          <a:xfrm>
            <a:off x="5257800" y="521208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0" name="s_48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1" name="s_49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2" name="s_50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53" name="s_51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4" name="s_52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1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3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Vapour-phase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572000" y="1600200"/>
            <a:ext cx="1097280" cy="4114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617720" y="20116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4617720" y="24231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4617720" y="28346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4617720" y="32461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461772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4617720" y="40690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4617720" y="44805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4617720" y="48920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4617720" y="53035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6675120" y="17830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>
            <a:off x="6867144" y="173736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s_13"/>
          <p:cNvSpPr/>
          <p:nvPr/>
        </p:nvSpPr>
        <p:spPr>
          <a:xfrm>
            <a:off x="6949440" y="192024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6949440" y="205740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6949440" y="219456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8778240" y="324612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9" name="s_17"/>
          <p:cNvSpPr/>
          <p:nvPr/>
        </p:nvSpPr>
        <p:spPr>
          <a:xfrm>
            <a:off x="9098280" y="452628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 rot="5400000">
            <a:off x="9221724" y="462915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21" name="t_19"/>
          <p:cNvSpPr txBox="1"/>
          <p:nvPr/>
        </p:nvSpPr>
        <p:spPr>
          <a:xfrm>
            <a:off x="4572000" y="5779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200" dirty="0"/>
          </a:p>
        </p:txBody>
      </p:sp>
      <p:sp>
        <p:nvSpPr>
          <p:cNvPr id="22" name="t_20"/>
          <p:cNvSpPr txBox="1"/>
          <p:nvPr/>
        </p:nvSpPr>
        <p:spPr>
          <a:xfrm>
            <a:off x="6675120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Condenser</a:t>
            </a:r>
            <a:endParaRPr lang="en-US" sz="1200" dirty="0"/>
          </a:p>
        </p:txBody>
      </p:sp>
      <p:sp>
        <p:nvSpPr>
          <p:cNvPr id="23" name="t_21"/>
          <p:cNvSpPr txBox="1"/>
          <p:nvPr/>
        </p:nvSpPr>
        <p:spPr>
          <a:xfrm>
            <a:off x="8778240" y="3977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Reflux drum</a:t>
            </a:r>
            <a:endParaRPr lang="en-US" sz="1200" dirty="0"/>
          </a:p>
        </p:txBody>
      </p:sp>
      <p:sp>
        <p:nvSpPr>
          <p:cNvPr id="24" name="s_22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9299448" y="3931920"/>
            <a:ext cx="0" cy="5943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H="1">
            <a:off x="6400800" y="4727448"/>
            <a:ext cx="2697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V="1">
            <a:off x="6400800" y="2377440"/>
            <a:ext cx="0" cy="235000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 flipH="1">
            <a:off x="5669280" y="2377440"/>
            <a:ext cx="731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10058400" y="499262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_32"/>
          <p:cNvSpPr txBox="1"/>
          <p:nvPr/>
        </p:nvSpPr>
        <p:spPr>
          <a:xfrm>
            <a:off x="10305288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5" name="s_33"/>
          <p:cNvSpPr/>
          <p:nvPr/>
        </p:nvSpPr>
        <p:spPr>
          <a:xfrm>
            <a:off x="10058400" y="528523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t_34"/>
          <p:cNvSpPr txBox="1"/>
          <p:nvPr/>
        </p:nvSpPr>
        <p:spPr>
          <a:xfrm>
            <a:off x="10305288" y="5230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7" name="s_35"/>
          <p:cNvSpPr/>
          <p:nvPr/>
        </p:nvSpPr>
        <p:spPr>
          <a:xfrm>
            <a:off x="10058400" y="557784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8" name="t_36"/>
          <p:cNvSpPr txBox="1"/>
          <p:nvPr/>
        </p:nvSpPr>
        <p:spPr>
          <a:xfrm>
            <a:off x="10305288" y="5522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9" name="s_37"/>
          <p:cNvSpPr/>
          <p:nvPr/>
        </p:nvSpPr>
        <p:spPr>
          <a:xfrm>
            <a:off x="10058400" y="587044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0" name="t_38"/>
          <p:cNvSpPr txBox="1"/>
          <p:nvPr/>
        </p:nvSpPr>
        <p:spPr>
          <a:xfrm>
            <a:off x="10305288" y="5815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41" name="s_39"/>
          <p:cNvSpPr/>
          <p:nvPr/>
        </p:nvSpPr>
        <p:spPr>
          <a:xfrm>
            <a:off x="2743200" y="5440680"/>
            <a:ext cx="18288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42" name="t_40"/>
          <p:cNvSpPr txBox="1"/>
          <p:nvPr/>
        </p:nvSpPr>
        <p:spPr>
          <a:xfrm>
            <a:off x="2743200" y="5138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43" name="s_41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4" name="s_42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5" name="s_43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46" name="s_44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7" name="s_45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48" name="t_46"/>
          <p:cNvSpPr txBox="1"/>
          <p:nvPr/>
        </p:nvSpPr>
        <p:spPr>
          <a:xfrm>
            <a:off x="548640" y="141732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overhead is steaming, decon chemistry is injected into the steam line.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vapour-phase degreaser travels with the steam to every surface the steam reaches.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continues until gas tests meet the entry criteria.</a:t>
            </a:r>
            <a:endParaRPr lang="en-US" sz="1500" dirty="0"/>
          </a:p>
        </p:txBody>
      </p:sp>
      <p:sp>
        <p:nvSpPr>
          <p:cNvPr id="49" name="t_47"/>
          <p:cNvSpPr txBox="1"/>
          <p:nvPr/>
        </p:nvSpPr>
        <p:spPr>
          <a:xfrm>
            <a:off x="2743200" y="4160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CHEMISTRY</a:t>
            </a:r>
            <a:endParaRPr lang="en-US" sz="1200" dirty="0"/>
          </a:p>
        </p:txBody>
      </p:sp>
      <p:sp>
        <p:nvSpPr>
          <p:cNvPr id="50" name="s_48"/>
          <p:cNvSpPr/>
          <p:nvPr/>
        </p:nvSpPr>
        <p:spPr>
          <a:xfrm>
            <a:off x="3931920" y="4480560"/>
            <a:ext cx="0" cy="91440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51" name="s_49"/>
          <p:cNvSpPr/>
          <p:nvPr/>
        </p:nvSpPr>
        <p:spPr>
          <a:xfrm>
            <a:off x="7315200" y="11887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2" name="s_50"/>
          <p:cNvSpPr/>
          <p:nvPr/>
        </p:nvSpPr>
        <p:spPr>
          <a:xfrm>
            <a:off x="7863840" y="11887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3" name="s_51"/>
          <p:cNvSpPr/>
          <p:nvPr/>
        </p:nvSpPr>
        <p:spPr>
          <a:xfrm>
            <a:off x="9509760" y="2468880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54" name="s_52"/>
          <p:cNvSpPr/>
          <p:nvPr/>
        </p:nvSpPr>
        <p:spPr>
          <a:xfrm>
            <a:off x="9509760" y="283464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5" name="s_53"/>
          <p:cNvSpPr/>
          <p:nvPr/>
        </p:nvSpPr>
        <p:spPr>
          <a:xfrm>
            <a:off x="6126480" y="5349240"/>
            <a:ext cx="3840480" cy="548640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9050">
            <a:solidFill>
              <a:srgbClr val="3AB54A"/>
            </a:solidFill>
            <a:prstDash val="solid"/>
          </a:ln>
        </p:spPr>
      </p:sp>
      <p:sp>
        <p:nvSpPr>
          <p:cNvPr id="56" name="t_54"/>
          <p:cNvSpPr txBox="1"/>
          <p:nvPr/>
        </p:nvSpPr>
        <p:spPr>
          <a:xfrm>
            <a:off x="6126480" y="5349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Gas-free and pyrophoric-safe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Boil-out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937760" y="2331720"/>
            <a:ext cx="5120640" cy="21945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5394960" y="3977640"/>
            <a:ext cx="4206240" cy="292608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1019556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</a:t>
            </a:r>
            <a:endParaRPr lang="en-US" sz="1200" dirty="0"/>
          </a:p>
        </p:txBody>
      </p:sp>
      <p:sp>
        <p:nvSpPr>
          <p:cNvPr id="6" name="t_4"/>
          <p:cNvSpPr txBox="1"/>
          <p:nvPr/>
        </p:nvSpPr>
        <p:spPr>
          <a:xfrm>
            <a:off x="548640" y="141732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filled above the sludge level.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injected at several points to heat the vessel.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 / degreaser added at temperature.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 continues until gas tests are met; vapours vented safely.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3886200" y="2743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water</a:t>
            </a:r>
            <a:endParaRPr lang="en-US" sz="1200" dirty="0"/>
          </a:p>
        </p:txBody>
      </p:sp>
      <p:sp>
        <p:nvSpPr>
          <p:cNvPr id="8" name="s_6"/>
          <p:cNvSpPr/>
          <p:nvPr/>
        </p:nvSpPr>
        <p:spPr>
          <a:xfrm>
            <a:off x="3931920" y="3108960"/>
            <a:ext cx="100584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9" name="s_7"/>
          <p:cNvSpPr/>
          <p:nvPr/>
        </p:nvSpPr>
        <p:spPr>
          <a:xfrm>
            <a:off x="5074920" y="3063240"/>
            <a:ext cx="4846320" cy="1325880"/>
          </a:xfrm>
          <a:prstGeom prst="roundRect">
            <a:avLst>
              <a:gd name="adj" fmla="val 41379"/>
            </a:avLst>
          </a:prstGeom>
          <a:solidFill>
            <a:srgbClr val="BFDDF2">
              <a:alpha val="80000"/>
            </a:srgbClr>
          </a:solidFill>
          <a:ln/>
        </p:spPr>
      </p:sp>
      <p:sp>
        <p:nvSpPr>
          <p:cNvPr id="10" name="s_8"/>
          <p:cNvSpPr/>
          <p:nvPr/>
        </p:nvSpPr>
        <p:spPr>
          <a:xfrm flipV="1">
            <a:off x="603504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1" name="s_9"/>
          <p:cNvSpPr/>
          <p:nvPr/>
        </p:nvSpPr>
        <p:spPr>
          <a:xfrm flipV="1">
            <a:off x="749808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2" name="s_10"/>
          <p:cNvSpPr/>
          <p:nvPr/>
        </p:nvSpPr>
        <p:spPr>
          <a:xfrm flipV="1">
            <a:off x="896112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3" name="t_11"/>
          <p:cNvSpPr txBox="1"/>
          <p:nvPr/>
        </p:nvSpPr>
        <p:spPr>
          <a:xfrm>
            <a:off x="566928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4" name="t_12"/>
          <p:cNvSpPr txBox="1"/>
          <p:nvPr/>
        </p:nvSpPr>
        <p:spPr>
          <a:xfrm>
            <a:off x="713232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5" name="t_13"/>
          <p:cNvSpPr txBox="1"/>
          <p:nvPr/>
        </p:nvSpPr>
        <p:spPr>
          <a:xfrm>
            <a:off x="859536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6" name="t_14"/>
          <p:cNvSpPr txBox="1"/>
          <p:nvPr/>
        </p:nvSpPr>
        <p:spPr>
          <a:xfrm>
            <a:off x="6949440" y="1325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1200" dirty="0"/>
          </a:p>
        </p:txBody>
      </p:sp>
      <p:sp>
        <p:nvSpPr>
          <p:cNvPr id="17" name="s_15"/>
          <p:cNvSpPr/>
          <p:nvPr/>
        </p:nvSpPr>
        <p:spPr>
          <a:xfrm>
            <a:off x="7680960" y="1645920"/>
            <a:ext cx="0" cy="68580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18" name="s_16"/>
          <p:cNvSpPr/>
          <p:nvPr/>
        </p:nvSpPr>
        <p:spPr>
          <a:xfrm flipV="1">
            <a:off x="9418320" y="1463040"/>
            <a:ext cx="0" cy="105156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</a:ln>
        </p:spPr>
      </p:sp>
      <p:sp>
        <p:nvSpPr>
          <p:cNvPr id="19" name="t_17"/>
          <p:cNvSpPr txBox="1"/>
          <p:nvPr/>
        </p:nvSpPr>
        <p:spPr>
          <a:xfrm>
            <a:off x="9555480" y="14173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</a:t>
            </a:r>
            <a:endParaRPr lang="en-US" sz="1200" dirty="0"/>
          </a:p>
        </p:txBody>
      </p:sp>
      <p:sp>
        <p:nvSpPr>
          <p:cNvPr id="20" name="s_18"/>
          <p:cNvSpPr/>
          <p:nvPr/>
        </p:nvSpPr>
        <p:spPr>
          <a:xfrm>
            <a:off x="539496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573328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607161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3" name="s_21"/>
          <p:cNvSpPr/>
          <p:nvPr/>
        </p:nvSpPr>
        <p:spPr>
          <a:xfrm>
            <a:off x="640994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4" name="s_22"/>
          <p:cNvSpPr/>
          <p:nvPr/>
        </p:nvSpPr>
        <p:spPr>
          <a:xfrm>
            <a:off x="6748272" y="36301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708660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42492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776325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810158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8439912" y="36301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>
            <a:off x="877824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>
            <a:off x="911656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>
            <a:off x="945489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558698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4" name="s_32"/>
          <p:cNvSpPr/>
          <p:nvPr/>
        </p:nvSpPr>
        <p:spPr>
          <a:xfrm>
            <a:off x="10241280" y="503834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5" name="t_33"/>
          <p:cNvSpPr txBox="1"/>
          <p:nvPr/>
        </p:nvSpPr>
        <p:spPr>
          <a:xfrm>
            <a:off x="10488168" y="4983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6" name="s_34"/>
          <p:cNvSpPr/>
          <p:nvPr/>
        </p:nvSpPr>
        <p:spPr>
          <a:xfrm>
            <a:off x="10241280" y="533095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7" name="t_35"/>
          <p:cNvSpPr txBox="1"/>
          <p:nvPr/>
        </p:nvSpPr>
        <p:spPr>
          <a:xfrm>
            <a:off x="10488168" y="5276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8" name="s_36"/>
          <p:cNvSpPr/>
          <p:nvPr/>
        </p:nvSpPr>
        <p:spPr>
          <a:xfrm>
            <a:off x="10241280" y="562356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9" name="t_37"/>
          <p:cNvSpPr txBox="1"/>
          <p:nvPr/>
        </p:nvSpPr>
        <p:spPr>
          <a:xfrm>
            <a:off x="10488168" y="55686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40" name="s_38"/>
          <p:cNvSpPr/>
          <p:nvPr/>
        </p:nvSpPr>
        <p:spPr>
          <a:xfrm>
            <a:off x="10241280" y="591616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1" name="t_39"/>
          <p:cNvSpPr txBox="1"/>
          <p:nvPr/>
        </p:nvSpPr>
        <p:spPr>
          <a:xfrm>
            <a:off x="10488168" y="5861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1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6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1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7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Circulation application – viscosity flush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120640" y="1463040"/>
            <a:ext cx="1005840" cy="393192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5166360" y="189992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5166360" y="233680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5166360" y="277368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5166360" y="321056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5166360" y="364744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5166360" y="408432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5166360" y="452120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5166360" y="495808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7589520" y="356616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3" name="s_11"/>
          <p:cNvSpPr/>
          <p:nvPr/>
        </p:nvSpPr>
        <p:spPr>
          <a:xfrm>
            <a:off x="7781544" y="352044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s_12"/>
          <p:cNvSpPr/>
          <p:nvPr/>
        </p:nvSpPr>
        <p:spPr>
          <a:xfrm>
            <a:off x="7863840" y="370332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7863840" y="384048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7863840" y="397764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8412480" y="548640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 rot="5400000">
            <a:off x="8535924" y="558927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19" name="t_17"/>
          <p:cNvSpPr txBox="1"/>
          <p:nvPr/>
        </p:nvSpPr>
        <p:spPr>
          <a:xfrm>
            <a:off x="3840480" y="5440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Bottoms circuit</a:t>
            </a:r>
            <a:endParaRPr lang="en-US" sz="1200" dirty="0"/>
          </a:p>
        </p:txBody>
      </p:sp>
      <p:sp>
        <p:nvSpPr>
          <p:cNvPr id="20" name="t_18"/>
          <p:cNvSpPr txBox="1"/>
          <p:nvPr/>
        </p:nvSpPr>
        <p:spPr>
          <a:xfrm>
            <a:off x="7589520" y="4160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Exchanger</a:t>
            </a:r>
            <a:endParaRPr lang="en-US" sz="1200" dirty="0"/>
          </a:p>
        </p:txBody>
      </p:sp>
      <p:sp>
        <p:nvSpPr>
          <p:cNvPr id="21" name="t_19"/>
          <p:cNvSpPr txBox="1"/>
          <p:nvPr/>
        </p:nvSpPr>
        <p:spPr>
          <a:xfrm>
            <a:off x="548640" y="141732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shut down and de-inventoried under plant procedures.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Cutter stock / flushing oil circulated through the bottoms circuit and exchangers.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 added to penetrate and break down heavy deposits.</a:t>
            </a:r>
            <a:endParaRPr lang="en-US" sz="1500" dirty="0"/>
          </a:p>
        </p:txBody>
      </p:sp>
      <p:sp>
        <p:nvSpPr>
          <p:cNvPr id="22" name="t_20"/>
          <p:cNvSpPr txBox="1"/>
          <p:nvPr/>
        </p:nvSpPr>
        <p:spPr>
          <a:xfrm>
            <a:off x="6400800" y="4572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200" dirty="0"/>
          </a:p>
        </p:txBody>
      </p:sp>
      <p:sp>
        <p:nvSpPr>
          <p:cNvPr id="23" name="s_21"/>
          <p:cNvSpPr/>
          <p:nvPr/>
        </p:nvSpPr>
        <p:spPr>
          <a:xfrm>
            <a:off x="8613648" y="4892040"/>
            <a:ext cx="0" cy="59436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24" name="s_22"/>
          <p:cNvSpPr/>
          <p:nvPr/>
        </p:nvSpPr>
        <p:spPr>
          <a:xfrm>
            <a:off x="5623560" y="5394960"/>
            <a:ext cx="0" cy="292608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623560" y="5687568"/>
            <a:ext cx="278892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26" name="s_24"/>
          <p:cNvSpPr/>
          <p:nvPr/>
        </p:nvSpPr>
        <p:spPr>
          <a:xfrm>
            <a:off x="8823960" y="5687568"/>
            <a:ext cx="123444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 flipV="1">
            <a:off x="10058400" y="3840480"/>
            <a:ext cx="0" cy="1847088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 flipH="1">
            <a:off x="9601200" y="3840480"/>
            <a:ext cx="4572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29" name="s_27"/>
          <p:cNvSpPr/>
          <p:nvPr/>
        </p:nvSpPr>
        <p:spPr>
          <a:xfrm flipH="1">
            <a:off x="6766560" y="3840480"/>
            <a:ext cx="82296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V="1">
            <a:off x="6766560" y="2560320"/>
            <a:ext cx="0" cy="128016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H="1">
            <a:off x="6126480" y="2560320"/>
            <a:ext cx="64008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32" name="s_30"/>
          <p:cNvSpPr/>
          <p:nvPr/>
        </p:nvSpPr>
        <p:spPr>
          <a:xfrm>
            <a:off x="10424160" y="151790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t_31"/>
          <p:cNvSpPr txBox="1"/>
          <p:nvPr/>
        </p:nvSpPr>
        <p:spPr>
          <a:xfrm>
            <a:off x="10671048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4" name="s_32"/>
          <p:cNvSpPr/>
          <p:nvPr/>
        </p:nvSpPr>
        <p:spPr>
          <a:xfrm>
            <a:off x="10424160" y="181051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5" name="t_33"/>
          <p:cNvSpPr txBox="1"/>
          <p:nvPr/>
        </p:nvSpPr>
        <p:spPr>
          <a:xfrm>
            <a:off x="10671048" y="1755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6" name="s_34"/>
          <p:cNvSpPr/>
          <p:nvPr/>
        </p:nvSpPr>
        <p:spPr>
          <a:xfrm>
            <a:off x="10424160" y="210312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7" name="t_35"/>
          <p:cNvSpPr txBox="1"/>
          <p:nvPr/>
        </p:nvSpPr>
        <p:spPr>
          <a:xfrm>
            <a:off x="10671048" y="20482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8" name="s_36"/>
          <p:cNvSpPr/>
          <p:nvPr/>
        </p:nvSpPr>
        <p:spPr>
          <a:xfrm>
            <a:off x="10424160" y="239572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9" name="t_37"/>
          <p:cNvSpPr txBox="1"/>
          <p:nvPr/>
        </p:nvSpPr>
        <p:spPr>
          <a:xfrm>
            <a:off x="10671048" y="23408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1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45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5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85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chemistry toolkit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48790"/>
            <a:ext cx="297180" cy="29718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50876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77724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by steam; dissolves and lifts hydrocarbons; releases LEL and benzene for safe venting.</a:t>
            </a:r>
            <a:endParaRPr lang="en-US" sz="1300" dirty="0"/>
          </a:p>
        </p:txBody>
      </p:sp>
      <p:sp>
        <p:nvSpPr>
          <p:cNvPr id="8" name="t_6"/>
          <p:cNvSpPr txBox="1"/>
          <p:nvPr/>
        </p:nvSpPr>
        <p:spPr>
          <a:xfrm>
            <a:off x="77724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Columns, overheads, exchangers</a:t>
            </a:r>
            <a:endParaRPr lang="en-US" sz="1200" dirty="0"/>
          </a:p>
        </p:txBody>
      </p:sp>
      <p:sp>
        <p:nvSpPr>
          <p:cNvPr id="9" name="s_7"/>
          <p:cNvSpPr/>
          <p:nvPr/>
        </p:nvSpPr>
        <p:spPr>
          <a:xfrm>
            <a:off x="429768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0" name="s_8"/>
          <p:cNvSpPr/>
          <p:nvPr/>
        </p:nvSpPr>
        <p:spPr>
          <a:xfrm>
            <a:off x="4526280" y="160020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1" name="i_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1748790"/>
            <a:ext cx="297180" cy="297180"/>
          </a:xfrm>
          <a:prstGeom prst="rect">
            <a:avLst/>
          </a:prstGeom>
        </p:spPr>
      </p:pic>
      <p:sp>
        <p:nvSpPr>
          <p:cNvPr id="12" name="t_10"/>
          <p:cNvSpPr txBox="1"/>
          <p:nvPr/>
        </p:nvSpPr>
        <p:spPr>
          <a:xfrm>
            <a:off x="525780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13" name="t_11"/>
          <p:cNvSpPr txBox="1"/>
          <p:nvPr/>
        </p:nvSpPr>
        <p:spPr>
          <a:xfrm>
            <a:off x="452628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Emulsifies oil and sludge in water; non-flammable, low odour.</a:t>
            </a:r>
            <a:endParaRPr lang="en-US" sz="1300" dirty="0"/>
          </a:p>
        </p:txBody>
      </p:sp>
      <p:sp>
        <p:nvSpPr>
          <p:cNvPr id="14" name="t_12"/>
          <p:cNvSpPr txBox="1"/>
          <p:nvPr/>
        </p:nvSpPr>
        <p:spPr>
          <a:xfrm>
            <a:off x="45262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Boil-out, circulation, tanks, rinses</a:t>
            </a:r>
            <a:endParaRPr lang="en-US" sz="1200" dirty="0"/>
          </a:p>
        </p:txBody>
      </p:sp>
      <p:sp>
        <p:nvSpPr>
          <p:cNvPr id="15" name="s_13"/>
          <p:cNvSpPr/>
          <p:nvPr/>
        </p:nvSpPr>
        <p:spPr>
          <a:xfrm>
            <a:off x="804672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6" name="s_14"/>
          <p:cNvSpPr/>
          <p:nvPr/>
        </p:nvSpPr>
        <p:spPr>
          <a:xfrm>
            <a:off x="8275320" y="160020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7" name="i_1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1748790"/>
            <a:ext cx="297180" cy="297180"/>
          </a:xfrm>
          <a:prstGeom prst="rect">
            <a:avLst/>
          </a:prstGeom>
        </p:spPr>
      </p:pic>
      <p:sp>
        <p:nvSpPr>
          <p:cNvPr id="18" name="t_16"/>
          <p:cNvSpPr txBox="1"/>
          <p:nvPr/>
        </p:nvSpPr>
        <p:spPr>
          <a:xfrm>
            <a:off x="900684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500" dirty="0"/>
          </a:p>
        </p:txBody>
      </p:sp>
      <p:sp>
        <p:nvSpPr>
          <p:cNvPr id="19" name="t_17"/>
          <p:cNvSpPr txBox="1"/>
          <p:nvPr/>
        </p:nvSpPr>
        <p:spPr>
          <a:xfrm>
            <a:off x="827532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flushing oil to penetrate heavy deposits, tar and coke.</a:t>
            </a:r>
            <a:endParaRPr lang="en-US" sz="1300" dirty="0"/>
          </a:p>
        </p:txBody>
      </p:sp>
      <p:sp>
        <p:nvSpPr>
          <p:cNvPr id="20" name="t_18"/>
          <p:cNvSpPr txBox="1"/>
          <p:nvPr/>
        </p:nvSpPr>
        <p:spPr>
          <a:xfrm>
            <a:off x="827532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Bottoms circuits, coker, quench oil</a:t>
            </a:r>
            <a:endParaRPr lang="en-US" sz="1200" dirty="0"/>
          </a:p>
        </p:txBody>
      </p:sp>
      <p:sp>
        <p:nvSpPr>
          <p:cNvPr id="21" name="s_19"/>
          <p:cNvSpPr/>
          <p:nvPr/>
        </p:nvSpPr>
        <p:spPr>
          <a:xfrm>
            <a:off x="54864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2" name="s_20"/>
          <p:cNvSpPr/>
          <p:nvPr/>
        </p:nvSpPr>
        <p:spPr>
          <a:xfrm>
            <a:off x="777240" y="397764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3" name="i_2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4126230"/>
            <a:ext cx="297180" cy="297180"/>
          </a:xfrm>
          <a:prstGeom prst="rect">
            <a:avLst/>
          </a:prstGeom>
        </p:spPr>
      </p:pic>
      <p:sp>
        <p:nvSpPr>
          <p:cNvPr id="24" name="t_22"/>
          <p:cNvSpPr txBox="1"/>
          <p:nvPr/>
        </p:nvSpPr>
        <p:spPr>
          <a:xfrm>
            <a:off x="150876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</p:txBody>
      </p:sp>
      <p:sp>
        <p:nvSpPr>
          <p:cNvPr id="25" name="t_23"/>
          <p:cNvSpPr txBox="1"/>
          <p:nvPr/>
        </p:nvSpPr>
        <p:spPr>
          <a:xfrm>
            <a:off x="77724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pyrophoric iron sulphide and H₂S into safe compounds.</a:t>
            </a:r>
            <a:endParaRPr lang="en-US" sz="1300" dirty="0"/>
          </a:p>
        </p:txBody>
      </p:sp>
      <p:sp>
        <p:nvSpPr>
          <p:cNvPr id="26" name="t_24"/>
          <p:cNvSpPr txBox="1"/>
          <p:nvPr/>
        </p:nvSpPr>
        <p:spPr>
          <a:xfrm>
            <a:off x="77724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beds, amine, SWS, SRU</a:t>
            </a:r>
            <a:endParaRPr lang="en-US" sz="1200" dirty="0"/>
          </a:p>
        </p:txBody>
      </p:sp>
      <p:sp>
        <p:nvSpPr>
          <p:cNvPr id="27" name="s_25"/>
          <p:cNvSpPr/>
          <p:nvPr/>
        </p:nvSpPr>
        <p:spPr>
          <a:xfrm>
            <a:off x="429768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8" name="s_26"/>
          <p:cNvSpPr/>
          <p:nvPr/>
        </p:nvSpPr>
        <p:spPr>
          <a:xfrm>
            <a:off x="4526280" y="397764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9" name="i_2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870" y="4126230"/>
            <a:ext cx="297180" cy="297180"/>
          </a:xfrm>
          <a:prstGeom prst="rect">
            <a:avLst/>
          </a:prstGeom>
        </p:spPr>
      </p:pic>
      <p:sp>
        <p:nvSpPr>
          <p:cNvPr id="30" name="t_28"/>
          <p:cNvSpPr txBox="1"/>
          <p:nvPr/>
        </p:nvSpPr>
        <p:spPr>
          <a:xfrm>
            <a:off x="525780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Neutraliser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452628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pH and treats ammonia / acid residues for disposal.</a:t>
            </a:r>
            <a:endParaRPr lang="en-US" sz="1300" dirty="0"/>
          </a:p>
        </p:txBody>
      </p:sp>
      <p:sp>
        <p:nvSpPr>
          <p:cNvPr id="32" name="t_30"/>
          <p:cNvSpPr txBox="1"/>
          <p:nvPr/>
        </p:nvSpPr>
        <p:spPr>
          <a:xfrm>
            <a:off x="452628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Post-rinse, effluent tanks</a:t>
            </a:r>
            <a:endParaRPr lang="en-US" sz="1200" dirty="0"/>
          </a:p>
        </p:txBody>
      </p:sp>
      <p:sp>
        <p:nvSpPr>
          <p:cNvPr id="33" name="s_31"/>
          <p:cNvSpPr/>
          <p:nvPr/>
        </p:nvSpPr>
        <p:spPr>
          <a:xfrm>
            <a:off x="804672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34" name="s_32"/>
          <p:cNvSpPr/>
          <p:nvPr/>
        </p:nvSpPr>
        <p:spPr>
          <a:xfrm>
            <a:off x="8275320" y="397764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35" name="i_3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910" y="4126230"/>
            <a:ext cx="297180" cy="297180"/>
          </a:xfrm>
          <a:prstGeom prst="rect">
            <a:avLst/>
          </a:prstGeom>
        </p:spPr>
      </p:pic>
      <p:sp>
        <p:nvSpPr>
          <p:cNvPr id="36" name="t_34"/>
          <p:cNvSpPr txBox="1"/>
          <p:nvPr/>
        </p:nvSpPr>
        <p:spPr>
          <a:xfrm>
            <a:off x="900684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Antifoam / dispersant</a:t>
            </a:r>
            <a:endParaRPr lang="en-US" sz="1500" dirty="0"/>
          </a:p>
        </p:txBody>
      </p:sp>
      <p:sp>
        <p:nvSpPr>
          <p:cNvPr id="37" name="t_35"/>
          <p:cNvSpPr txBox="1"/>
          <p:nvPr/>
        </p:nvSpPr>
        <p:spPr>
          <a:xfrm>
            <a:off x="827532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foaming and keeps solids dispersed.</a:t>
            </a:r>
            <a:endParaRPr lang="en-US" sz="1300" dirty="0"/>
          </a:p>
        </p:txBody>
      </p:sp>
      <p:sp>
        <p:nvSpPr>
          <p:cNvPr id="38" name="t_36"/>
          <p:cNvSpPr txBox="1"/>
          <p:nvPr/>
        </p:nvSpPr>
        <p:spPr>
          <a:xfrm>
            <a:off x="827532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Amine systems, boil-outs</a:t>
            </a:r>
            <a:endParaRPr lang="en-US" sz="1200" dirty="0"/>
          </a:p>
        </p:txBody>
      </p:sp>
      <p:sp>
        <p:nvSpPr>
          <p:cNvPr id="39" name="t_37"/>
          <p:cNvSpPr txBox="1"/>
          <p:nvPr/>
        </p:nvSpPr>
        <p:spPr>
          <a:xfrm>
            <a:off x="54864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is selected per unit after a compatibility check; product data and SDS are shared with the client.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2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6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3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OQ Sohar Refinery units we decontaminate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challenges, chemistry and treatment options per unit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Crude &amp; Vacuum Distillation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2377440" y="1645920"/>
            <a:ext cx="1097280" cy="40233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2423160" y="204825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2423160" y="245059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2423160" y="285292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2423160" y="325526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242316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2423160" y="405993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2423160" y="446227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2423160" y="486460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2423160" y="526694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4206240" y="182880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2926080" y="146304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2926080" y="1463040"/>
            <a:ext cx="1965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4892040" y="14630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_15"/>
          <p:cNvSpPr/>
          <p:nvPr/>
        </p:nvSpPr>
        <p:spPr>
          <a:xfrm>
            <a:off x="4023360" y="48463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4183380" y="4800600"/>
            <a:ext cx="109728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_17"/>
          <p:cNvSpPr/>
          <p:nvPr/>
        </p:nvSpPr>
        <p:spPr>
          <a:xfrm>
            <a:off x="4251960" y="49606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>
            <a:off x="4251960" y="50749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4251960" y="51892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3474720" y="507492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_21"/>
          <p:cNvSpPr txBox="1"/>
          <p:nvPr/>
        </p:nvSpPr>
        <p:spPr>
          <a:xfrm>
            <a:off x="3840480" y="5349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Reboiler / pump-around</a:t>
            </a:r>
            <a:endParaRPr lang="en-US" sz="1200" dirty="0"/>
          </a:p>
        </p:txBody>
      </p:sp>
      <p:sp>
        <p:nvSpPr>
          <p:cNvPr id="24" name="t_22"/>
          <p:cNvSpPr txBox="1"/>
          <p:nvPr/>
        </p:nvSpPr>
        <p:spPr>
          <a:xfrm>
            <a:off x="4206240" y="2423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drum</a:t>
            </a:r>
            <a:endParaRPr lang="en-US" sz="12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fouling in bottoms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deposits in packed sections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 and LEL in overhead system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8" name="t_26"/>
          <p:cNvSpPr txBox="1"/>
          <p:nvPr/>
        </p:nvSpPr>
        <p:spPr>
          <a:xfrm>
            <a:off x="6309360" y="355701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500" dirty="0"/>
          </a:p>
        </p:txBody>
      </p:sp>
      <p:sp>
        <p:nvSpPr>
          <p:cNvPr id="29" name="t_27"/>
          <p:cNvSpPr txBox="1"/>
          <p:nvPr/>
        </p:nvSpPr>
        <p:spPr>
          <a:xfrm>
            <a:off x="6309360" y="4626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30" name="t_28"/>
          <p:cNvSpPr txBox="1"/>
          <p:nvPr/>
        </p:nvSpPr>
        <p:spPr>
          <a:xfrm>
            <a:off x="6309360" y="4992624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through steam-out lines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Bottoms pre-flush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RFCC Main Fractionator &amp; Gas Concentration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2377440" y="1645920"/>
            <a:ext cx="1097280" cy="40233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2423160" y="204825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2423160" y="245059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2423160" y="285292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2423160" y="325526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242316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2423160" y="405993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2423160" y="446227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2423160" y="486460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2423160" y="526694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4206240" y="182880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2926080" y="146304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2926080" y="1463040"/>
            <a:ext cx="1965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4892040" y="14630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_15"/>
          <p:cNvSpPr/>
          <p:nvPr/>
        </p:nvSpPr>
        <p:spPr>
          <a:xfrm>
            <a:off x="4023360" y="48463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4183380" y="4800600"/>
            <a:ext cx="109728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_17"/>
          <p:cNvSpPr/>
          <p:nvPr/>
        </p:nvSpPr>
        <p:spPr>
          <a:xfrm>
            <a:off x="4251960" y="49606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>
            <a:off x="4251960" y="50749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4251960" y="51892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3474720" y="507492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_21"/>
          <p:cNvSpPr txBox="1"/>
          <p:nvPr/>
        </p:nvSpPr>
        <p:spPr>
          <a:xfrm>
            <a:off x="3840480" y="5349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Reboiler / pump-around</a:t>
            </a:r>
            <a:endParaRPr lang="en-US" sz="1200" dirty="0"/>
          </a:p>
        </p:txBody>
      </p:sp>
      <p:sp>
        <p:nvSpPr>
          <p:cNvPr id="24" name="t_22"/>
          <p:cNvSpPr txBox="1"/>
          <p:nvPr/>
        </p:nvSpPr>
        <p:spPr>
          <a:xfrm>
            <a:off x="4206240" y="2423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drum</a:t>
            </a:r>
            <a:endParaRPr lang="en-US" sz="12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Slurry, catalyst fines and coke in bottoms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packing deposits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ends in gas concentration unit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8" name="t_26"/>
          <p:cNvSpPr txBox="1"/>
          <p:nvPr/>
        </p:nvSpPr>
        <p:spPr>
          <a:xfrm>
            <a:off x="6309360" y="3557016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</p:txBody>
      </p:sp>
      <p:sp>
        <p:nvSpPr>
          <p:cNvPr id="29" name="t_27"/>
          <p:cNvSpPr txBox="1"/>
          <p:nvPr/>
        </p:nvSpPr>
        <p:spPr>
          <a:xfrm>
            <a:off x="6309360" y="50109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30" name="t_28"/>
          <p:cNvSpPr txBox="1"/>
          <p:nvPr/>
        </p:nvSpPr>
        <p:spPr>
          <a:xfrm>
            <a:off x="6309360" y="5376672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Viscosity flush of slurry circuit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pre-treatment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(with boil-out where needed)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Hydrotreaters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280160" y="1645920"/>
            <a:ext cx="1188720" cy="3291840"/>
          </a:xfrm>
          <a:prstGeom prst="roundRect">
            <a:avLst>
              <a:gd name="adj" fmla="val 46154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371600" y="2286000"/>
            <a:ext cx="1005840" cy="548640"/>
          </a:xfrm>
          <a:prstGeom prst="rect">
            <a:avLst/>
          </a:prstGeom>
          <a:solidFill>
            <a:srgbClr val="B4C2D3"/>
          </a:solidFill>
          <a:ln/>
        </p:spPr>
      </p:sp>
      <p:sp>
        <p:nvSpPr>
          <p:cNvPr id="5" name="s_3"/>
          <p:cNvSpPr/>
          <p:nvPr/>
        </p:nvSpPr>
        <p:spPr>
          <a:xfrm>
            <a:off x="1371600" y="3474720"/>
            <a:ext cx="1005840" cy="548640"/>
          </a:xfrm>
          <a:prstGeom prst="rect">
            <a:avLst/>
          </a:prstGeom>
          <a:solidFill>
            <a:srgbClr val="B4C2D3"/>
          </a:solidFill>
          <a:ln/>
        </p:spPr>
      </p:sp>
      <p:sp>
        <p:nvSpPr>
          <p:cNvPr id="6" name="s_4"/>
          <p:cNvSpPr/>
          <p:nvPr/>
        </p:nvSpPr>
        <p:spPr>
          <a:xfrm>
            <a:off x="3017520" y="420624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7" name="s_5"/>
          <p:cNvSpPr/>
          <p:nvPr/>
        </p:nvSpPr>
        <p:spPr>
          <a:xfrm>
            <a:off x="3193542" y="4160520"/>
            <a:ext cx="109728" cy="5943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_6"/>
          <p:cNvSpPr/>
          <p:nvPr/>
        </p:nvSpPr>
        <p:spPr>
          <a:xfrm>
            <a:off x="3268980" y="4331970"/>
            <a:ext cx="160934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9" name="s_7"/>
          <p:cNvSpPr/>
          <p:nvPr/>
        </p:nvSpPr>
        <p:spPr>
          <a:xfrm>
            <a:off x="3268980" y="4457700"/>
            <a:ext cx="160934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s_8"/>
          <p:cNvSpPr/>
          <p:nvPr/>
        </p:nvSpPr>
        <p:spPr>
          <a:xfrm>
            <a:off x="3268980" y="4583430"/>
            <a:ext cx="160934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_9"/>
          <p:cNvSpPr/>
          <p:nvPr/>
        </p:nvSpPr>
        <p:spPr>
          <a:xfrm>
            <a:off x="3291840" y="2194560"/>
            <a:ext cx="1828800" cy="64008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2" name="s_10"/>
          <p:cNvSpPr/>
          <p:nvPr/>
        </p:nvSpPr>
        <p:spPr>
          <a:xfrm>
            <a:off x="1874520" y="493776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3" name="s_11"/>
          <p:cNvSpPr/>
          <p:nvPr/>
        </p:nvSpPr>
        <p:spPr>
          <a:xfrm>
            <a:off x="1874520" y="5394960"/>
            <a:ext cx="21488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4023360" y="4709160"/>
            <a:ext cx="0" cy="6858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_13"/>
          <p:cNvSpPr/>
          <p:nvPr/>
        </p:nvSpPr>
        <p:spPr>
          <a:xfrm>
            <a:off x="5029200" y="4462272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 flipV="1">
            <a:off x="5394960" y="2514600"/>
            <a:ext cx="0" cy="1947672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 flipH="1">
            <a:off x="5120640" y="2514600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t_16"/>
          <p:cNvSpPr txBox="1"/>
          <p:nvPr/>
        </p:nvSpPr>
        <p:spPr>
          <a:xfrm>
            <a:off x="1280160" y="5440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Reactor</a:t>
            </a:r>
            <a:endParaRPr lang="en-US" sz="1200" dirty="0"/>
          </a:p>
        </p:txBody>
      </p:sp>
      <p:sp>
        <p:nvSpPr>
          <p:cNvPr id="19" name="t_17"/>
          <p:cNvSpPr txBox="1"/>
          <p:nvPr/>
        </p:nvSpPr>
        <p:spPr>
          <a:xfrm>
            <a:off x="3017520" y="3858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exchanger</a:t>
            </a:r>
            <a:endParaRPr lang="en-US" sz="1200" dirty="0"/>
          </a:p>
        </p:txBody>
      </p:sp>
      <p:sp>
        <p:nvSpPr>
          <p:cNvPr id="20" name="t_18"/>
          <p:cNvSpPr txBox="1"/>
          <p:nvPr/>
        </p:nvSpPr>
        <p:spPr>
          <a:xfrm>
            <a:off x="3291840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</a:t>
            </a:r>
            <a:endParaRPr lang="en-US" sz="1200" dirty="0"/>
          </a:p>
        </p:txBody>
      </p:sp>
      <p:sp>
        <p:nvSpPr>
          <p:cNvPr id="21" name="t_19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2" name="t_20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in reactor effluent and separators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 in exchangers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Hydrocarbons in catalyst beds</a:t>
            </a:r>
            <a:endParaRPr lang="en-US" sz="1500" dirty="0"/>
          </a:p>
        </p:txBody>
      </p:sp>
      <p:sp>
        <p:nvSpPr>
          <p:cNvPr id="23" name="t_21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4" name="t_22"/>
          <p:cNvSpPr txBox="1"/>
          <p:nvPr/>
        </p:nvSpPr>
        <p:spPr>
          <a:xfrm>
            <a:off x="6309360" y="355701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4626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4992624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of stripper section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of separators and air coolers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Desalter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097280" y="2743200"/>
            <a:ext cx="4389120" cy="13716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206240" y="4114800"/>
            <a:ext cx="548640" cy="64008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5" name="s_3"/>
          <p:cNvSpPr/>
          <p:nvPr/>
        </p:nvSpPr>
        <p:spPr>
          <a:xfrm>
            <a:off x="1463040" y="3703320"/>
            <a:ext cx="3657600" cy="320040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6" name="s_4"/>
          <p:cNvSpPr/>
          <p:nvPr/>
        </p:nvSpPr>
        <p:spPr>
          <a:xfrm>
            <a:off x="640080" y="3108960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_5"/>
          <p:cNvSpPr/>
          <p:nvPr/>
        </p:nvSpPr>
        <p:spPr>
          <a:xfrm flipV="1">
            <a:off x="3291840" y="2194560"/>
            <a:ext cx="0" cy="54864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s_6"/>
          <p:cNvSpPr/>
          <p:nvPr/>
        </p:nvSpPr>
        <p:spPr>
          <a:xfrm>
            <a:off x="1645920" y="4114800"/>
            <a:ext cx="0" cy="6400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9" name="t_7"/>
          <p:cNvSpPr txBox="1"/>
          <p:nvPr/>
        </p:nvSpPr>
        <p:spPr>
          <a:xfrm>
            <a:off x="1554480" y="4846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 / heavy deposits</a:t>
            </a:r>
            <a:endParaRPr lang="en-US" sz="1200" dirty="0"/>
          </a:p>
        </p:txBody>
      </p:sp>
      <p:sp>
        <p:nvSpPr>
          <p:cNvPr id="10" name="t_8"/>
          <p:cNvSpPr txBox="1"/>
          <p:nvPr/>
        </p:nvSpPr>
        <p:spPr>
          <a:xfrm>
            <a:off x="4206240" y="48463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</a:t>
            </a:r>
            <a:endParaRPr lang="en-US" sz="1200" dirty="0"/>
          </a:p>
        </p:txBody>
      </p:sp>
      <p:sp>
        <p:nvSpPr>
          <p:cNvPr id="11" name="t_9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12" name="t_10"/>
          <p:cNvSpPr txBox="1"/>
          <p:nvPr/>
        </p:nvSpPr>
        <p:spPr>
          <a:xfrm>
            <a:off x="6309360" y="173736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oil / water emulsions and sludge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and distribution in a large vessel</a:t>
            </a:r>
            <a:endParaRPr lang="en-US" sz="1500" dirty="0"/>
          </a:p>
        </p:txBody>
      </p:sp>
      <p:sp>
        <p:nvSpPr>
          <p:cNvPr id="13" name="t_11"/>
          <p:cNvSpPr txBox="1"/>
          <p:nvPr/>
        </p:nvSpPr>
        <p:spPr>
          <a:xfrm>
            <a:off x="6309360" y="2807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14" name="t_12"/>
          <p:cNvSpPr txBox="1"/>
          <p:nvPr/>
        </p:nvSpPr>
        <p:spPr>
          <a:xfrm>
            <a:off x="6309360" y="317296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</p:txBody>
      </p:sp>
      <p:sp>
        <p:nvSpPr>
          <p:cNvPr id="15" name="t_13"/>
          <p:cNvSpPr txBox="1"/>
          <p:nvPr/>
        </p:nvSpPr>
        <p:spPr>
          <a:xfrm>
            <a:off x="6309360" y="42428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16" name="t_14"/>
          <p:cNvSpPr txBox="1"/>
          <p:nvPr/>
        </p:nvSpPr>
        <p:spPr>
          <a:xfrm>
            <a:off x="6309360" y="460857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</a:t>
            </a:r>
            <a:endParaRPr lang="en-US" sz="1500" dirty="0"/>
          </a:p>
        </p:txBody>
      </p:sp>
      <p:sp>
        <p:nvSpPr>
          <p:cNvPr id="17" name="t_15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 Water &amp; Amine Systems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2377440" y="1645920"/>
            <a:ext cx="1097280" cy="40233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2423160" y="204825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2423160" y="245059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2423160" y="285292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2423160" y="325526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242316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2423160" y="405993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2423160" y="446227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2423160" y="486460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2423160" y="526694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4206240" y="182880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2926080" y="146304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2926080" y="1463040"/>
            <a:ext cx="1965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4892040" y="14630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_15"/>
          <p:cNvSpPr/>
          <p:nvPr/>
        </p:nvSpPr>
        <p:spPr>
          <a:xfrm>
            <a:off x="4023360" y="48463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4183380" y="4800600"/>
            <a:ext cx="109728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_17"/>
          <p:cNvSpPr/>
          <p:nvPr/>
        </p:nvSpPr>
        <p:spPr>
          <a:xfrm>
            <a:off x="4251960" y="49606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>
            <a:off x="4251960" y="50749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4251960" y="51892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3474720" y="507492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_21"/>
          <p:cNvSpPr txBox="1"/>
          <p:nvPr/>
        </p:nvSpPr>
        <p:spPr>
          <a:xfrm>
            <a:off x="3840480" y="5349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Reboiler / pump-around</a:t>
            </a:r>
            <a:endParaRPr lang="en-US" sz="1200" dirty="0"/>
          </a:p>
        </p:txBody>
      </p:sp>
      <p:sp>
        <p:nvSpPr>
          <p:cNvPr id="24" name="t_22"/>
          <p:cNvSpPr txBox="1"/>
          <p:nvPr/>
        </p:nvSpPr>
        <p:spPr>
          <a:xfrm>
            <a:off x="4206240" y="2423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drum</a:t>
            </a:r>
            <a:endParaRPr lang="en-US" sz="12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H₂S and ammonia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 on trays and reboilers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Foaming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8" name="t_26"/>
          <p:cNvSpPr txBox="1"/>
          <p:nvPr/>
        </p:nvSpPr>
        <p:spPr>
          <a:xfrm>
            <a:off x="6309360" y="3557016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Antifoam / dispersant</a:t>
            </a:r>
            <a:endParaRPr lang="en-US" sz="1500" dirty="0"/>
          </a:p>
        </p:txBody>
      </p:sp>
      <p:sp>
        <p:nvSpPr>
          <p:cNvPr id="29" name="t_27"/>
          <p:cNvSpPr txBox="1"/>
          <p:nvPr/>
        </p:nvSpPr>
        <p:spPr>
          <a:xfrm>
            <a:off x="6309360" y="50109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30" name="t_28"/>
          <p:cNvSpPr txBox="1"/>
          <p:nvPr/>
        </p:nvSpPr>
        <p:spPr>
          <a:xfrm>
            <a:off x="6309360" y="5376672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with oxidiser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Neutralising rinse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Sulphur Recovery Unit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097280" y="2743200"/>
            <a:ext cx="4389120" cy="13716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206240" y="4114800"/>
            <a:ext cx="548640" cy="64008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5" name="s_3"/>
          <p:cNvSpPr/>
          <p:nvPr/>
        </p:nvSpPr>
        <p:spPr>
          <a:xfrm>
            <a:off x="1463040" y="3703320"/>
            <a:ext cx="3657600" cy="320040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6" name="s_4"/>
          <p:cNvSpPr/>
          <p:nvPr/>
        </p:nvSpPr>
        <p:spPr>
          <a:xfrm>
            <a:off x="640080" y="3108960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_5"/>
          <p:cNvSpPr/>
          <p:nvPr/>
        </p:nvSpPr>
        <p:spPr>
          <a:xfrm flipV="1">
            <a:off x="3291840" y="2194560"/>
            <a:ext cx="0" cy="54864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s_6"/>
          <p:cNvSpPr/>
          <p:nvPr/>
        </p:nvSpPr>
        <p:spPr>
          <a:xfrm>
            <a:off x="1645920" y="4114800"/>
            <a:ext cx="0" cy="6400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9" name="t_7"/>
          <p:cNvSpPr txBox="1"/>
          <p:nvPr/>
        </p:nvSpPr>
        <p:spPr>
          <a:xfrm>
            <a:off x="1554480" y="4846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 / heavy deposits</a:t>
            </a:r>
            <a:endParaRPr lang="en-US" sz="1200" dirty="0"/>
          </a:p>
        </p:txBody>
      </p:sp>
      <p:sp>
        <p:nvSpPr>
          <p:cNvPr id="10" name="t_8"/>
          <p:cNvSpPr txBox="1"/>
          <p:nvPr/>
        </p:nvSpPr>
        <p:spPr>
          <a:xfrm>
            <a:off x="4206240" y="48463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</a:t>
            </a:r>
            <a:endParaRPr lang="en-US" sz="1200" dirty="0"/>
          </a:p>
        </p:txBody>
      </p:sp>
      <p:sp>
        <p:nvSpPr>
          <p:cNvPr id="11" name="t_9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12" name="t_10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H₂S / SO₂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iron sulphide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Sulphur residues</a:t>
            </a:r>
            <a:endParaRPr lang="en-US" sz="1500" dirty="0"/>
          </a:p>
        </p:txBody>
      </p:sp>
      <p:sp>
        <p:nvSpPr>
          <p:cNvPr id="13" name="t_11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14" name="t_12"/>
          <p:cNvSpPr txBox="1"/>
          <p:nvPr/>
        </p:nvSpPr>
        <p:spPr>
          <a:xfrm>
            <a:off x="6309360" y="355701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15" name="t_13"/>
          <p:cNvSpPr txBox="1"/>
          <p:nvPr/>
        </p:nvSpPr>
        <p:spPr>
          <a:xfrm>
            <a:off x="6309360" y="4626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16" name="t_14"/>
          <p:cNvSpPr txBox="1"/>
          <p:nvPr/>
        </p:nvSpPr>
        <p:spPr>
          <a:xfrm>
            <a:off x="6309360" y="4992624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of quench / absorber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 of drums and pits</a:t>
            </a:r>
            <a:endParaRPr lang="en-US" sz="1500" dirty="0"/>
          </a:p>
        </p:txBody>
      </p:sp>
      <p:sp>
        <p:nvSpPr>
          <p:cNvPr id="17" name="t_15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Crude &amp; Product Tanks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280160" y="2148840"/>
            <a:ext cx="3840480" cy="301752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280160" y="4937760"/>
            <a:ext cx="3840480" cy="457200"/>
          </a:xfrm>
          <a:prstGeom prst="ellipse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5" name="s_3"/>
          <p:cNvSpPr/>
          <p:nvPr/>
        </p:nvSpPr>
        <p:spPr>
          <a:xfrm>
            <a:off x="1298448" y="4846320"/>
            <a:ext cx="3803904" cy="3200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_4"/>
          <p:cNvSpPr/>
          <p:nvPr/>
        </p:nvSpPr>
        <p:spPr>
          <a:xfrm>
            <a:off x="1280160" y="1920240"/>
            <a:ext cx="3840480" cy="457200"/>
          </a:xfrm>
          <a:prstGeom prst="ellipse">
            <a:avLst/>
          </a:prstGeom>
          <a:solidFill>
            <a:srgbClr val="DDE5EE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7" name="s_5"/>
          <p:cNvSpPr/>
          <p:nvPr/>
        </p:nvSpPr>
        <p:spPr>
          <a:xfrm>
            <a:off x="1298448" y="4572000"/>
            <a:ext cx="3803904" cy="411480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8" name="s_6"/>
          <p:cNvSpPr/>
          <p:nvPr/>
        </p:nvSpPr>
        <p:spPr>
          <a:xfrm>
            <a:off x="2971800" y="3108960"/>
            <a:ext cx="457200" cy="457200"/>
          </a:xfrm>
          <a:prstGeom prst="star8">
            <a:avLst/>
          </a:prstGeom>
          <a:solidFill>
            <a:srgbClr val="0C74BC"/>
          </a:solidFill>
          <a:ln/>
        </p:spPr>
      </p:sp>
      <p:sp>
        <p:nvSpPr>
          <p:cNvPr id="9" name="s_7"/>
          <p:cNvSpPr/>
          <p:nvPr/>
        </p:nvSpPr>
        <p:spPr>
          <a:xfrm>
            <a:off x="3200400" y="1463040"/>
            <a:ext cx="0" cy="1645920"/>
          </a:xfrm>
          <a:prstGeom prst="line">
            <a:avLst/>
          </a:prstGeom>
          <a:noFill/>
          <a:ln w="31750">
            <a:solidFill>
              <a:srgbClr val="0C74BC"/>
            </a:solidFill>
            <a:prstDash val="solid"/>
          </a:ln>
        </p:spPr>
      </p:sp>
      <p:sp>
        <p:nvSpPr>
          <p:cNvPr id="10" name="t_8"/>
          <p:cNvSpPr txBox="1"/>
          <p:nvPr/>
        </p:nvSpPr>
        <p:spPr>
          <a:xfrm>
            <a:off x="3383280" y="2468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Gamma-jet nozzle</a:t>
            </a:r>
            <a:endParaRPr lang="en-US" sz="1200" dirty="0"/>
          </a:p>
        </p:txBody>
      </p:sp>
      <p:sp>
        <p:nvSpPr>
          <p:cNvPr id="11" name="t_9"/>
          <p:cNvSpPr txBox="1"/>
          <p:nvPr/>
        </p:nvSpPr>
        <p:spPr>
          <a:xfrm>
            <a:off x="1463040" y="5440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sludge</a:t>
            </a:r>
            <a:endParaRPr lang="en-US" sz="1200" dirty="0"/>
          </a:p>
        </p:txBody>
      </p:sp>
      <p:sp>
        <p:nvSpPr>
          <p:cNvPr id="12" name="t_10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13" name="t_11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 and heavy oil on the floor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 and LEL in the vapour space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Man-entry restrictions</a:t>
            </a:r>
            <a:endParaRPr lang="en-US" sz="1500" dirty="0"/>
          </a:p>
        </p:txBody>
      </p:sp>
      <p:sp>
        <p:nvSpPr>
          <p:cNvPr id="14" name="t_12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15" name="t_13"/>
          <p:cNvSpPr txBox="1"/>
          <p:nvPr/>
        </p:nvSpPr>
        <p:spPr>
          <a:xfrm>
            <a:off x="6309360" y="355701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</p:txBody>
      </p:sp>
      <p:sp>
        <p:nvSpPr>
          <p:cNvPr id="16" name="t_14"/>
          <p:cNvSpPr txBox="1"/>
          <p:nvPr/>
        </p:nvSpPr>
        <p:spPr>
          <a:xfrm>
            <a:off x="6309360" y="4626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17" name="t_15"/>
          <p:cNvSpPr txBox="1"/>
          <p:nvPr/>
        </p:nvSpPr>
        <p:spPr>
          <a:xfrm>
            <a:off x="6309360" y="4992624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Gamma-jet circulation with decon chemistry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 where required</a:t>
            </a:r>
            <a:endParaRPr lang="en-US" sz="1500" dirty="0"/>
          </a:p>
        </p:txBody>
      </p:sp>
      <p:sp>
        <p:nvSpPr>
          <p:cNvPr id="18" name="t_16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Execution, monitoring and why Delight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site survey to handover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execute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097280" y="2423160"/>
            <a:ext cx="9966960" cy="0"/>
          </a:xfrm>
          <a:prstGeom prst="line">
            <a:avLst/>
          </a:prstGeom>
          <a:noFill/>
          <a:ln w="38100">
            <a:solidFill>
              <a:srgbClr val="E1E8EF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05156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194560"/>
            <a:ext cx="457200" cy="45720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6400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survey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64008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P&amp;IDs, isometrics, data sheets, injection points</a:t>
            </a:r>
            <a:endParaRPr lang="en-US" sz="1300" dirty="0"/>
          </a:p>
        </p:txBody>
      </p:sp>
      <p:sp>
        <p:nvSpPr>
          <p:cNvPr id="8" name="s_6"/>
          <p:cNvSpPr/>
          <p:nvPr/>
        </p:nvSpPr>
        <p:spPr>
          <a:xfrm>
            <a:off x="292608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9" name="i_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194560"/>
            <a:ext cx="457200" cy="457200"/>
          </a:xfrm>
          <a:prstGeom prst="rect">
            <a:avLst/>
          </a:prstGeom>
        </p:spPr>
      </p:pic>
      <p:sp>
        <p:nvSpPr>
          <p:cNvPr id="10" name="t_8"/>
          <p:cNvSpPr txBox="1"/>
          <p:nvPr/>
        </p:nvSpPr>
        <p:spPr>
          <a:xfrm>
            <a:off x="251460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plan</a:t>
            </a:r>
            <a:endParaRPr lang="en-US" sz="1500" dirty="0"/>
          </a:p>
        </p:txBody>
      </p:sp>
      <p:sp>
        <p:nvSpPr>
          <p:cNvPr id="11" name="t_9"/>
          <p:cNvSpPr txBox="1"/>
          <p:nvPr/>
        </p:nvSpPr>
        <p:spPr>
          <a:xfrm>
            <a:off x="251460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statement, chemistry, volumes, waste plan</a:t>
            </a:r>
            <a:endParaRPr lang="en-US" sz="1300" dirty="0"/>
          </a:p>
        </p:txBody>
      </p:sp>
      <p:sp>
        <p:nvSpPr>
          <p:cNvPr id="12" name="s_10"/>
          <p:cNvSpPr/>
          <p:nvPr/>
        </p:nvSpPr>
        <p:spPr>
          <a:xfrm>
            <a:off x="480060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3" name="i_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194560"/>
            <a:ext cx="457200" cy="457200"/>
          </a:xfrm>
          <a:prstGeom prst="rect">
            <a:avLst/>
          </a:prstGeom>
        </p:spPr>
      </p:pic>
      <p:sp>
        <p:nvSpPr>
          <p:cNvPr id="14" name="t_12"/>
          <p:cNvSpPr txBox="1"/>
          <p:nvPr/>
        </p:nvSpPr>
        <p:spPr>
          <a:xfrm>
            <a:off x="438912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 &amp; rig-up</a:t>
            </a:r>
            <a:endParaRPr lang="en-US" sz="1500" dirty="0"/>
          </a:p>
        </p:txBody>
      </p:sp>
      <p:sp>
        <p:nvSpPr>
          <p:cNvPr id="15" name="t_13"/>
          <p:cNvSpPr txBox="1"/>
          <p:nvPr/>
        </p:nvSpPr>
        <p:spPr>
          <a:xfrm>
            <a:off x="438912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Pumps, hoses, injection manifolds, effluent tanks</a:t>
            </a:r>
            <a:endParaRPr lang="en-US" sz="1300" dirty="0"/>
          </a:p>
        </p:txBody>
      </p:sp>
      <p:sp>
        <p:nvSpPr>
          <p:cNvPr id="16" name="s_14"/>
          <p:cNvSpPr/>
          <p:nvPr/>
        </p:nvSpPr>
        <p:spPr>
          <a:xfrm>
            <a:off x="667512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7" name="i_1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194560"/>
            <a:ext cx="457200" cy="457200"/>
          </a:xfrm>
          <a:prstGeom prst="rect">
            <a:avLst/>
          </a:prstGeom>
        </p:spPr>
      </p:pic>
      <p:sp>
        <p:nvSpPr>
          <p:cNvPr id="18" name="t_16"/>
          <p:cNvSpPr txBox="1"/>
          <p:nvPr/>
        </p:nvSpPr>
        <p:spPr>
          <a:xfrm>
            <a:off x="626364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Decontaminate</a:t>
            </a:r>
            <a:endParaRPr lang="en-US" sz="1500" dirty="0"/>
          </a:p>
        </p:txBody>
      </p:sp>
      <p:sp>
        <p:nvSpPr>
          <p:cNvPr id="19" name="t_17"/>
          <p:cNvSpPr txBox="1"/>
          <p:nvPr/>
        </p:nvSpPr>
        <p:spPr>
          <a:xfrm>
            <a:off x="626364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Vapour-phase, circulation or boil-out with live monitoring</a:t>
            </a:r>
            <a:endParaRPr lang="en-US" sz="1300" dirty="0"/>
          </a:p>
        </p:txBody>
      </p:sp>
      <p:sp>
        <p:nvSpPr>
          <p:cNvPr id="20" name="s_18"/>
          <p:cNvSpPr/>
          <p:nvPr/>
        </p:nvSpPr>
        <p:spPr>
          <a:xfrm>
            <a:off x="854964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1" name="i_1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194560"/>
            <a:ext cx="457200" cy="457200"/>
          </a:xfrm>
          <a:prstGeom prst="rect">
            <a:avLst/>
          </a:prstGeom>
        </p:spPr>
      </p:pic>
      <p:sp>
        <p:nvSpPr>
          <p:cNvPr id="22" name="t_20"/>
          <p:cNvSpPr txBox="1"/>
          <p:nvPr/>
        </p:nvSpPr>
        <p:spPr>
          <a:xfrm>
            <a:off x="813816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hand over</a:t>
            </a:r>
            <a:endParaRPr lang="en-US" sz="1500" dirty="0"/>
          </a:p>
        </p:txBody>
      </p:sp>
      <p:sp>
        <p:nvSpPr>
          <p:cNvPr id="23" name="t_21"/>
          <p:cNvSpPr txBox="1"/>
          <p:nvPr/>
        </p:nvSpPr>
        <p:spPr>
          <a:xfrm>
            <a:off x="813816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tests against entry criteria, sign-off</a:t>
            </a:r>
            <a:endParaRPr lang="en-US" sz="1300" dirty="0"/>
          </a:p>
        </p:txBody>
      </p:sp>
      <p:sp>
        <p:nvSpPr>
          <p:cNvPr id="24" name="s_22"/>
          <p:cNvSpPr/>
          <p:nvPr/>
        </p:nvSpPr>
        <p:spPr>
          <a:xfrm>
            <a:off x="1042416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5" name="i_2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2760" y="2194560"/>
            <a:ext cx="457200" cy="457200"/>
          </a:xfrm>
          <a:prstGeom prst="rect">
            <a:avLst/>
          </a:prstGeom>
        </p:spPr>
      </p:pic>
      <p:sp>
        <p:nvSpPr>
          <p:cNvPr id="26" name="t_24"/>
          <p:cNvSpPr txBox="1"/>
          <p:nvPr/>
        </p:nvSpPr>
        <p:spPr>
          <a:xfrm>
            <a:off x="100126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&amp; demob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1001268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Neutralise, test and dispose via licensed contractor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8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300"/>
                            </p:stCondLst>
                            <p:childTnLst>
                              <p:par>
                                <p:cTn id="7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800"/>
                            </p:stCondLst>
                            <p:childTnLst>
                              <p:par>
                                <p:cTn id="9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300"/>
                            </p:stCondLst>
                            <p:childTnLst>
                              <p:par>
                                <p:cTn id="1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 of responsibilities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22960" y="1645920"/>
            <a:ext cx="4846320" cy="548640"/>
          </a:xfrm>
          <a:prstGeom prst="roundRect">
            <a:avLst>
              <a:gd name="adj" fmla="val 50000"/>
            </a:avLst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82296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960120" y="246888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engineering and method statement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supervisors and technicians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chemistry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Pumps, injection hoses and manifolds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monitoring during decontamination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neutralisation and waste coordination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617220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8" name="s_6"/>
          <p:cNvSpPr/>
          <p:nvPr/>
        </p:nvSpPr>
        <p:spPr>
          <a:xfrm>
            <a:off x="6446520" y="1645920"/>
            <a:ext cx="4846320" cy="548640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</p:sp>
      <p:sp>
        <p:nvSpPr>
          <p:cNvPr id="9" name="t_7"/>
          <p:cNvSpPr txBox="1"/>
          <p:nvPr/>
        </p:nvSpPr>
        <p:spPr>
          <a:xfrm>
            <a:off x="644652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OQ SOHAR REFINERY</a:t>
            </a:r>
            <a:endParaRPr lang="en-US" sz="1400" dirty="0"/>
          </a:p>
        </p:txBody>
      </p:sp>
      <p:sp>
        <p:nvSpPr>
          <p:cNvPr id="10" name="t_8"/>
          <p:cNvSpPr txBox="1"/>
          <p:nvPr/>
        </p:nvSpPr>
        <p:spPr>
          <a:xfrm>
            <a:off x="6583680" y="246888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Isolation, de-inventory and permits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Steam, water, nitrogen and power utilities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control room / DCS readings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to drain low points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support for sample analysis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contact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and validation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1371600" y="1691640"/>
            <a:ext cx="960120" cy="96012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630" y="1931670"/>
            <a:ext cx="480060" cy="48006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685800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Multi-gas meter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73152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LEL, H₂S, O₂ and CO at vents and manways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3364992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4187952" y="1691640"/>
            <a:ext cx="960120" cy="96012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2" y="1931670"/>
            <a:ext cx="480060" cy="48006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3502152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 / VOC meter</a:t>
            </a:r>
            <a:endParaRPr lang="en-US" sz="1600" dirty="0"/>
          </a:p>
        </p:txBody>
      </p:sp>
      <p:sp>
        <p:nvSpPr>
          <p:cNvPr id="12" name="t_10"/>
          <p:cNvSpPr txBox="1"/>
          <p:nvPr/>
        </p:nvSpPr>
        <p:spPr>
          <a:xfrm>
            <a:off x="3547872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readings and detector tubes for benzene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6181344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7004304" y="1691640"/>
            <a:ext cx="960120" cy="96012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334" y="1931670"/>
            <a:ext cx="480060" cy="48006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6318504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sampling</a:t>
            </a:r>
            <a:endParaRPr lang="en-US" sz="1600" dirty="0"/>
          </a:p>
        </p:txBody>
      </p:sp>
      <p:sp>
        <p:nvSpPr>
          <p:cNvPr id="17" name="t_15"/>
          <p:cNvSpPr txBox="1"/>
          <p:nvPr/>
        </p:nvSpPr>
        <p:spPr>
          <a:xfrm>
            <a:off x="6364224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bombs to the client laboratory where required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8997696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9820656" y="1691640"/>
            <a:ext cx="960120" cy="96012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0686" y="1931670"/>
            <a:ext cx="480060" cy="48006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9134856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checks</a:t>
            </a:r>
            <a:endParaRPr lang="en-US" sz="1600" dirty="0"/>
          </a:p>
        </p:txBody>
      </p:sp>
      <p:sp>
        <p:nvSpPr>
          <p:cNvPr id="22" name="t_20"/>
          <p:cNvSpPr txBox="1"/>
          <p:nvPr/>
        </p:nvSpPr>
        <p:spPr>
          <a:xfrm>
            <a:off x="9180576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pH, COD and oil content before disposal</a:t>
            </a:r>
            <a:endParaRPr lang="en-US" sz="1400" dirty="0"/>
          </a:p>
        </p:txBody>
      </p:sp>
      <p:sp>
        <p:nvSpPr>
          <p:cNvPr id="23" name="s_21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AF6EC"/>
          </a:solidFill>
          <a:ln/>
        </p:spPr>
      </p:sp>
      <p:sp>
        <p:nvSpPr>
          <p:cNvPr id="24" name="t_22"/>
          <p:cNvSpPr txBox="1"/>
          <p:nvPr/>
        </p:nvSpPr>
        <p:spPr>
          <a:xfrm>
            <a:off x="777240" y="4892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is complete when the client’s entry criteria are met and confirmed by validation readings – then the equipment is handed over for opening.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2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8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waste, less exposure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731520" y="14173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4" name="i_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623060"/>
            <a:ext cx="411480" cy="411480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1828800" y="1399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water than water washing</a:t>
            </a:r>
            <a:endParaRPr lang="en-US" sz="1800" dirty="0"/>
          </a:p>
        </p:txBody>
      </p:sp>
      <p:sp>
        <p:nvSpPr>
          <p:cNvPr id="6" name="t_4"/>
          <p:cNvSpPr txBox="1"/>
          <p:nvPr/>
        </p:nvSpPr>
        <p:spPr>
          <a:xfrm>
            <a:off x="1828800" y="1828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uses steam already available on the unit.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731520" y="25603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8" name="i_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766060"/>
            <a:ext cx="411480" cy="411480"/>
          </a:xfrm>
          <a:prstGeom prst="rect">
            <a:avLst/>
          </a:prstGeom>
        </p:spPr>
      </p:pic>
      <p:sp>
        <p:nvSpPr>
          <p:cNvPr id="9" name="t_7"/>
          <p:cNvSpPr txBox="1"/>
          <p:nvPr/>
        </p:nvSpPr>
        <p:spPr>
          <a:xfrm>
            <a:off x="1828800" y="2542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confined-space entry</a:t>
            </a:r>
            <a:endParaRPr lang="en-US" sz="1800" dirty="0"/>
          </a:p>
        </p:txBody>
      </p:sp>
      <p:sp>
        <p:nvSpPr>
          <p:cNvPr id="10" name="t_8"/>
          <p:cNvSpPr txBox="1"/>
          <p:nvPr/>
        </p:nvSpPr>
        <p:spPr>
          <a:xfrm>
            <a:off x="1828800" y="2971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is gas-free and pyrophoric-safe before it is opened.</a:t>
            </a:r>
            <a:endParaRPr lang="en-US" sz="1500" dirty="0"/>
          </a:p>
        </p:txBody>
      </p:sp>
      <p:sp>
        <p:nvSpPr>
          <p:cNvPr id="11" name="s_9"/>
          <p:cNvSpPr/>
          <p:nvPr/>
        </p:nvSpPr>
        <p:spPr>
          <a:xfrm>
            <a:off x="731520" y="37033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2" name="i_1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909060"/>
            <a:ext cx="411480" cy="411480"/>
          </a:xfrm>
          <a:prstGeom prst="rect">
            <a:avLst/>
          </a:prstGeom>
        </p:spPr>
      </p:pic>
      <p:sp>
        <p:nvSpPr>
          <p:cNvPr id="13" name="t_11"/>
          <p:cNvSpPr txBox="1"/>
          <p:nvPr/>
        </p:nvSpPr>
        <p:spPr>
          <a:xfrm>
            <a:off x="1828800" y="3685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effluent</a:t>
            </a:r>
            <a:endParaRPr lang="en-US" sz="1800" dirty="0"/>
          </a:p>
        </p:txBody>
      </p:sp>
      <p:sp>
        <p:nvSpPr>
          <p:cNvPr id="14" name="t_12"/>
          <p:cNvSpPr txBox="1"/>
          <p:nvPr/>
        </p:nvSpPr>
        <p:spPr>
          <a:xfrm>
            <a:off x="1828800" y="4114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in holding tanks, neutralised and tested before disposal.</a:t>
            </a:r>
            <a:endParaRPr lang="en-US" sz="1500" dirty="0"/>
          </a:p>
        </p:txBody>
      </p:sp>
      <p:sp>
        <p:nvSpPr>
          <p:cNvPr id="15" name="s_13"/>
          <p:cNvSpPr/>
          <p:nvPr/>
        </p:nvSpPr>
        <p:spPr>
          <a:xfrm>
            <a:off x="731520" y="48463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6" name="i_1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5052060"/>
            <a:ext cx="411480" cy="411480"/>
          </a:xfrm>
          <a:prstGeom prst="rect">
            <a:avLst/>
          </a:prstGeom>
        </p:spPr>
      </p:pic>
      <p:sp>
        <p:nvSpPr>
          <p:cNvPr id="17" name="t_15"/>
          <p:cNvSpPr txBox="1"/>
          <p:nvPr/>
        </p:nvSpPr>
        <p:spPr>
          <a:xfrm>
            <a:off x="1828800" y="4828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disposal</a:t>
            </a:r>
            <a:endParaRPr lang="en-US" sz="1800" dirty="0"/>
          </a:p>
        </p:txBody>
      </p:sp>
      <p:sp>
        <p:nvSpPr>
          <p:cNvPr id="18" name="t_16"/>
          <p:cNvSpPr txBox="1"/>
          <p:nvPr/>
        </p:nvSpPr>
        <p:spPr>
          <a:xfrm>
            <a:off x="1828800" y="5257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handled through approved contractors with full documentation.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Delight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777240" y="164592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817370"/>
            <a:ext cx="342900" cy="34290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60020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QHSE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77724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9001, ISO 14001 and ISO 45001 management system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429768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4526280" y="164592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1817370"/>
            <a:ext cx="342900" cy="34290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534924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presence</a:t>
            </a:r>
            <a:endParaRPr lang="en-US" sz="1600" dirty="0"/>
          </a:p>
        </p:txBody>
      </p:sp>
      <p:sp>
        <p:nvSpPr>
          <p:cNvPr id="12" name="t_10"/>
          <p:cNvSpPr txBox="1"/>
          <p:nvPr/>
        </p:nvSpPr>
        <p:spPr>
          <a:xfrm>
            <a:off x="452628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UAE, Saudi Arabia, Oman, Qatar and India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804672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275320" y="164592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1817370"/>
            <a:ext cx="342900" cy="34290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909828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services</a:t>
            </a:r>
            <a:endParaRPr lang="en-US" sz="1600" dirty="0"/>
          </a:p>
        </p:txBody>
      </p:sp>
      <p:sp>
        <p:nvSpPr>
          <p:cNvPr id="17" name="t_15"/>
          <p:cNvSpPr txBox="1"/>
          <p:nvPr/>
        </p:nvSpPr>
        <p:spPr>
          <a:xfrm>
            <a:off x="827532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Decontamination, chemical cleaning, hydro jetting, bundle extraction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54864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777240" y="402336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194810"/>
            <a:ext cx="342900" cy="34290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160020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fleet</a:t>
            </a:r>
            <a:endParaRPr lang="en-US" sz="1600" dirty="0"/>
          </a:p>
        </p:txBody>
      </p:sp>
      <p:sp>
        <p:nvSpPr>
          <p:cNvPr id="22" name="t_20"/>
          <p:cNvSpPr txBox="1"/>
          <p:nvPr/>
        </p:nvSpPr>
        <p:spPr>
          <a:xfrm>
            <a:off x="77724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/ UHP units and 22 T – 65 T bundle extractors</a:t>
            </a:r>
            <a:endParaRPr lang="en-US" sz="1400" dirty="0"/>
          </a:p>
        </p:txBody>
      </p:sp>
      <p:sp>
        <p:nvSpPr>
          <p:cNvPr id="23" name="s_21"/>
          <p:cNvSpPr/>
          <p:nvPr/>
        </p:nvSpPr>
        <p:spPr>
          <a:xfrm>
            <a:off x="429768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4" name="s_22"/>
          <p:cNvSpPr/>
          <p:nvPr/>
        </p:nvSpPr>
        <p:spPr>
          <a:xfrm>
            <a:off x="4526280" y="402336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5" name="i_2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730" y="4194810"/>
            <a:ext cx="342900" cy="342900"/>
          </a:xfrm>
          <a:prstGeom prst="rect">
            <a:avLst/>
          </a:prstGeom>
        </p:spPr>
      </p:pic>
      <p:sp>
        <p:nvSpPr>
          <p:cNvPr id="26" name="t_24"/>
          <p:cNvSpPr txBox="1"/>
          <p:nvPr/>
        </p:nvSpPr>
        <p:spPr>
          <a:xfrm>
            <a:off x="534924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crews</a:t>
            </a:r>
            <a:endParaRPr lang="en-US" sz="1600" dirty="0"/>
          </a:p>
        </p:txBody>
      </p:sp>
      <p:sp>
        <p:nvSpPr>
          <p:cNvPr id="27" name="t_25"/>
          <p:cNvSpPr txBox="1"/>
          <p:nvPr/>
        </p:nvSpPr>
        <p:spPr>
          <a:xfrm>
            <a:off x="452628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supervisors and technicians for shutdown work</a:t>
            </a:r>
            <a:endParaRPr lang="en-US" sz="1400" dirty="0"/>
          </a:p>
        </p:txBody>
      </p:sp>
      <p:sp>
        <p:nvSpPr>
          <p:cNvPr id="28" name="s_26"/>
          <p:cNvSpPr/>
          <p:nvPr/>
        </p:nvSpPr>
        <p:spPr>
          <a:xfrm>
            <a:off x="804672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9" name="s_27"/>
          <p:cNvSpPr/>
          <p:nvPr/>
        </p:nvSpPr>
        <p:spPr>
          <a:xfrm>
            <a:off x="8275320" y="402336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30" name="i_2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70" y="4194810"/>
            <a:ext cx="342900" cy="342900"/>
          </a:xfrm>
          <a:prstGeom prst="rect">
            <a:avLst/>
          </a:prstGeom>
        </p:spPr>
      </p:pic>
      <p:sp>
        <p:nvSpPr>
          <p:cNvPr id="31" name="t_29"/>
          <p:cNvSpPr txBox="1"/>
          <p:nvPr/>
        </p:nvSpPr>
        <p:spPr>
          <a:xfrm>
            <a:off x="909828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of responsibility</a:t>
            </a:r>
            <a:endParaRPr lang="en-US" sz="1600" dirty="0"/>
          </a:p>
        </p:txBody>
      </p:sp>
      <p:sp>
        <p:nvSpPr>
          <p:cNvPr id="32" name="t_30"/>
          <p:cNvSpPr txBox="1"/>
          <p:nvPr/>
        </p:nvSpPr>
        <p:spPr>
          <a:xfrm>
            <a:off x="827532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survey and planning to waste handling and handover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6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229600" y="-1280160"/>
            <a:ext cx="5303520" cy="5303520"/>
          </a:xfrm>
          <a:prstGeom prst="ellipse">
            <a:avLst/>
          </a:prstGeom>
          <a:solidFill>
            <a:srgbClr val="D3E6F4"/>
          </a:solidFill>
          <a:ln/>
        </p:spPr>
      </p:sp>
      <p:sp>
        <p:nvSpPr>
          <p:cNvPr id="3" name="s_2"/>
          <p:cNvSpPr/>
          <p:nvPr/>
        </p:nvSpPr>
        <p:spPr>
          <a:xfrm>
            <a:off x="9692640" y="3931920"/>
            <a:ext cx="3474720" cy="3474720"/>
          </a:xfrm>
          <a:prstGeom prst="ellipse">
            <a:avLst/>
          </a:prstGeom>
          <a:solidFill>
            <a:srgbClr val="D9EFD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914400" cy="1197864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685800" y="2148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3108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plan the decontamination for your next OQ Sohar Refinery shutdown.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685800" y="4297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Equipment International L.L.C.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P.O. Box 2932, Abu Dhabi, United Arab Emirates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 +971 2 5515641  ·  info@delightintl.ae  ·  www.delightintl.ae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(Jubail) +966 59348 1459  ·  India (Udupi) +91 9686433661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Delight Soft Blue">
  <a:themeElements>
    <a:clrScheme name="Delight Soft Blue">
      <a:dk1>
        <a:srgbClr val="1F2937"/>
      </a:dk1>
      <a:lt1>
        <a:srgbClr val="FFFFFF"/>
      </a:lt1>
      <a:dk2>
        <a:srgbClr val="1F5F8B"/>
      </a:dk2>
      <a:lt2>
        <a:srgbClr val="E9F2F9"/>
      </a:lt2>
      <a:accent1>
        <a:srgbClr val="0C74BC"/>
      </a:accent1>
      <a:accent2>
        <a:srgbClr val="3AB54A"/>
      </a:accent2>
      <a:accent3>
        <a:srgbClr val="1F5F8B"/>
      </a:accent3>
      <a:accent4>
        <a:srgbClr val="7FB8E3"/>
      </a:accent4>
      <a:accent5>
        <a:srgbClr val="2E8B3A"/>
      </a:accent5>
      <a:accent6>
        <a:srgbClr val="5B7085"/>
      </a:accent6>
      <a:hlink>
        <a:srgbClr val="0C74BC"/>
      </a:hlink>
      <a:folHlink>
        <a:srgbClr val="1F5F8B"/>
      </a:folHlink>
    </a:clrScheme>
    <a:fontScheme name="Delight Soft Bl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Delight Equipment International L.L.C.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Decontamination – OQ – Sohar Refinery</dc:title>
  <dc:subject>PptxGenJS Presentation</dc:subject>
  <dc:creator>Delight International</dc:creator>
  <cp:lastModifiedBy>Delight International</cp:lastModifiedBy>
  <cp:revision>1</cp:revision>
  <dcterms:created xsi:type="dcterms:W3CDTF">2026-10-05T13:20:38Z</dcterms:created>
  <dcterms:modified xsi:type="dcterms:W3CDTF">2026-10-05T13:20:38Z</dcterms:modified>
</cp:coreProperties>
</file>